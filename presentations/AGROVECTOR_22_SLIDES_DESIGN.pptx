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Выручка</c:v>
                </c:pt>
              </c:strCache>
            </c:strRef>
          </c:tx>
          <c:spPr>
            <a:solidFill>
              <a:srgbClr val="164C38"/>
            </a:solidFill>
            <a:ln w="25400">
              <a:solidFill>
                <a:srgbClr val="164C38"/>
              </a:solidFill>
            </a:ln>
          </c:spPr>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7EB94A"/>
            </a:solidFill>
            <a:ln w="25400">
              <a:solidFill>
                <a:srgbClr val="7EB94A"/>
              </a:solidFill>
            </a:ln>
          </c:spPr>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c:v>
                </c:pt>
                <c:pt idx="4">
                  <c:v>10.540193564000003</c:v>
                </c:pt>
              </c:numCache>
            </c:numRef>
          </c:val>
        </c:ser>
        <c:ser>
          <c:idx val="2"/>
          <c:order val="2"/>
          <c:tx>
            <c:strRef>
              <c:f>Sheet1!$D$1</c:f>
              <c:strCache>
                <c:ptCount val="1"/>
                <c:pt idx="0">
                  <c:v>Свободный CF</c:v>
                </c:pt>
              </c:strCache>
            </c:strRef>
          </c:tx>
          <c:spPr>
            <a:solidFill>
              <a:srgbClr val="739DAB"/>
            </a:solidFill>
            <a:ln w="25400">
              <a:solidFill>
                <a:srgbClr val="739DAB"/>
              </a:solidFill>
            </a:ln>
          </c:spPr>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1.432</c:v>
                </c:pt>
                <c:pt idx="1">
                  <c:v>4.03632</c:v>
                </c:pt>
                <c:pt idx="2">
                  <c:v>5.961575200000003</c:v>
                </c:pt>
                <c:pt idx="3">
                  <c:v>6.930350556000001</c:v>
                </c:pt>
                <c:pt idx="4">
                  <c:v>10.578478200160003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500"/>
            </a:pPr>
          </a:p>
        </c:txPr>
        <c:crossAx val="-2068027336"/>
        <c:crosses val="autoZero"/>
      </c:valAx>
    </c:plotArea>
    <c:legend>
      <c:legendPos val="b"/>
      <c:overlay val="0"/>
      <c:txPr>
        <a:bodyPr/>
        <a:lstStyle/>
        <a:p>
          <a:pPr>
            <a:defRPr sz="1500"/>
          </a:pPr>
        </a:p>
      </c:txPr>
    </c:legend>
    <c:dispBlanksAs val="gap"/>
  </c:chart>
  <c:txPr>
    <a:bodyPr/>
    <a:lstStyle/>
    <a:p>
      <a:pPr>
        <a:defRPr sz="15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NPV</c:v>
                </c:pt>
              </c:strCache>
            </c:strRef>
          </c:tx>
          <c:spPr>
            <a:solidFill>
              <a:srgbClr val="164C38"/>
            </a:solidFill>
            <a:ln w="25400">
              <a:solidFill>
                <a:srgbClr val="164C38"/>
              </a:solidFill>
            </a:ln>
          </c:spPr>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0.04487293632982997</c:v>
                </c:pt>
                <c:pt idx="2">
                  <c:v>-2.6388362920894077</c:v>
                </c:pt>
                <c:pt idx="3">
                  <c:v>1.4115262854426354</c:v>
                </c:pt>
                <c:pt idx="4">
                  <c:v>-1.4330412442990532</c:v>
                </c:pt>
                <c:pt idx="5">
                  <c:v>-6.605370129557806</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500"/>
            </a:pPr>
          </a:p>
        </c:txPr>
        <c:crossAx val="-2068027336"/>
        <c:crosses val="autoZero"/>
      </c:valAx>
    </c:plotArea>
    <c:dispBlanksAs val="gap"/>
  </c:chart>
  <c:txPr>
    <a:bodyPr/>
    <a:lstStyle/>
    <a:p>
      <a:pPr>
        <a:defRPr sz="15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a:t>
            </a:r>
          </a:p>
          <a:p/>
          <a:p>
            <a:r>
              <a:t>[ДОПУЩЕНИЕ]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a:t>
            </a:r>
          </a:p>
          <a:p/>
          <a:p>
            <a:r>
              <a:t>[ДОПУЩЕНИЕ]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a:t>
            </a:r>
          </a:p>
          <a:p/>
          <a:p>
            <a:r>
              <a:t>[РАСЧЕТ] Ключевые показатели условного базового сценария:</a:t>
            </a:r>
          </a:p>
          <a:p/>
          <a:p>
            <a:r>
              <a:t>| Показатель | Значение |</a:t>
            </a:r>
          </a:p>
          <a:p>
            <a:r>
              <a:t>| --- | --- |</a:t>
            </a:r>
          </a:p>
          <a:p>
            <a:r>
              <a:t>| Начальная потребность | 9 500 000 руб. |</a:t>
            </a:r>
          </a:p>
          <a:p>
            <a:r>
              <a:t>| CAPEX / запуск / ликвидность | 7 000 000 / 500 000 / 2 000 000 руб. |</a:t>
            </a:r>
          </a:p>
          <a:p>
            <a:r>
              <a:t>| Выручка 2027 / EBITDA2027 | 8 800 000 / 1 960 000 руб. |</a:t>
            </a:r>
          </a:p>
          <a:p>
            <a:r>
              <a:t>| NPV за 5 лет, ставка 24% | 3 946 443 руб. |</a:t>
            </a:r>
          </a:p>
          <a:p>
            <a:r>
              <a:t>| Простая / дисконтированная окупаемость | 2,68 / 3,88 года |</a:t>
            </a:r>
          </a:p>
          <a:p/>
          <a:p>
            <a:r>
              <a:t>[ДОПУЩЕНИЕ]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Положительная NPV не компенсирует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a:t>
            </a:r>
          </a:p>
          <a:p/>
          <a:p>
            <a:r>
              <a:t>| Цель | Измеримый результат | Срок | Ответственный и доказательство |</a:t>
            </a:r>
          </a:p>
          <a:p>
            <a:r>
              <a:t>| --- | --- | --- | --- |</a:t>
            </a:r>
          </a:p>
          <a:p>
            <a:r>
              <a:t>| Правовая применимость | Осуществимость разрешительного маршрута по полям; не выданное разрешение | 01.11.2026 | Директор; письменное заключение юриста |</a:t>
            </a:r>
          </a:p>
          <a:p>
            <a:r>
              <a:t>| Подтверждение спроса | 20 интервью; заявки на 6 000 га-проходов и 4 000 га-обследований | 29.11.2026 | Директор; реестр полей и заявок, без объявления их продажами |</a:t>
            </a:r>
          </a:p>
          <a:p>
            <a:r>
              <a:t>| Коммерческий портфель | 10 клиентов; суммарно 6 000 га-проходов и 4 000 га-обследований | 21.03.2027 | Директор; подписанные договоры и календарь |</a:t>
            </a:r>
          </a:p>
          <a:p>
            <a:r>
              <a:t>|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a:t>
            </a:r>
          </a:p>
          <a:p>
            <a:r>
              <a:t>| Первый сезон | 6 000 га-проходов, 4 000 га-обследований; выручка 8,8 млн руб. без НДС | 12.09.2027 | Директор; акты, журнал операций, бухгалтерский учет |</a:t>
            </a:r>
          </a:p>
          <a:p>
            <a:r>
              <a:t>|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a:t>
            </a:r>
          </a:p>
          <a:p/>
          <a:p>
            <a:r>
              <a:t>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a:t>
            </a:r>
          </a:p>
          <a:p/>
          <a:p>
            <a:r>
              <a:t>Комментарий к слайду:</a:t>
            </a:r>
          </a:p>
          <a:p>
            <a:r>
              <a:t>Объемы на слайде: внесение / мониторинг. Полные цели и критерии — в разделе 2. Готовность до 11.04; пилот в апреле входит в сезонный объем.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a:t>
            </a:r>
          </a:p>
          <a:p/>
          <a:p>
            <a:r>
              <a:t>### Стратегическая канва предложения</a:t>
            </a:r>
          </a:p>
          <a:p/>
          <a:p>
            <a:r>
              <a:t>[ДОПУЩЕНИЕ]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a:t>
            </a:r>
          </a:p>
          <a:p/>
          <a:p>
            <a:r>
              <a:t>[ДОПУЩЕНИЕ]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Business Model Canvas фиксирует проверяемые гипотезы раннего проекта. До подтверждения договоров указанные сегменты и партнерства не считаются сформированным рынком сбыта.</a:t>
            </a:r>
          </a:p>
          <a:p/>
          <a:p>
            <a:r>
              <a:t>| Блок | Содержание модели | Проверка гипотезы |</a:t>
            </a:r>
          </a:p>
          <a:p>
            <a:r>
              <a:t>|---|---|---|</a:t>
            </a:r>
          </a:p>
          <a:p>
            <a:r>
              <a:t>| 1. Потребительские сегменты | КФХ и малые/средние хозяйства Татарстана — основной сегмент; агрохолдинги — вторичный; руководитель покупает, агроном принимает результат | Интервью по конкретным полям, культурам и календарям |</a:t>
            </a:r>
          </a:p>
          <a:p>
            <a:r>
              <a:t>| 2. Ценностное предложение | Мониторинг, карта задания, подходящее точечное внесение и отчет в одном договорном контуре | Платный пилот, согласованные критерии приемки |</a:t>
            </a:r>
          </a:p>
          <a:p>
            <a:r>
              <a:t>| 3. Каналы | Прямые продажи директора, рекомендации агрономов, демонстрации на согласованных площадках | Стоимость привлечения и переход заявки в договор |</a:t>
            </a:r>
          </a:p>
          <a:p>
            <a:r>
              <a:t>| 4. Отношения с клиентами | Персональное планирование сезона, единый контакт, уведомления о переносах, разбор отклонений | Продление договора и реестр претензий |</a:t>
            </a:r>
          </a:p>
          <a:p>
            <a:r>
              <a:t>| 5. Потоки доходов | Оплата внесения за га-проход; отдельная оплата согласованного мониторинга за га-обследование | Акты, отсутствие повторного выставления одного объема |</a:t>
            </a:r>
          </a:p>
          <a:p>
            <a:r>
              <a:t>| 6. Ключевые ресурсы | Одна бригада, основной и резервный аппараты внесения, мониторинговый аппарат, транспорт, документы и оборотный резерв | Приемка, ресурсный календарь и кассовый план |</a:t>
            </a:r>
          </a:p>
          <a:p>
            <a:r>
              <a:t>| 7. Ключевые действия | Продажи, правовая проверка, планирование, подготовка задания, безопасное исполнение, обслуживание и отчетность | Регламенты, журналы и контроль качества |</a:t>
            </a:r>
          </a:p>
          <a:p>
            <a:r>
              <a:t>| 8. Ключевые партнеры | Внешний агроном, учебный партнер, сервис техники, юрист, бухгалтер; поставщики препаратов взаимодействуют с клиентом | Договоры, квалификация, сроки реакции |</a:t>
            </a:r>
          </a:p>
          <a:p>
            <a:r>
              <a:t>| 9. Структура затрат | OPEX: труд, логистика, обслуживание, специалисты, страхование, маркетинг, IT и учет; CAPEX и запуск отдельно; резерв ликвидности не является расходом | Сметы, предложения поставщиков, ежемесячный план-факт |</a:t>
            </a:r>
          </a:p>
          <a:p/>
          <a:p>
            <a:r>
              <a:t>[ДОПУЩЕНИЕ] Выпуск энтомофагов относится к согласованной операции внесения, а не формирует третью строку выручки. Повторный проход учитывается только при отдельном задании и фактическом выполнении. Площадь мониторинга может совпадать с обработанными полями; это разные услуги, но не дополнительные уникальные гектары территории.</a:t>
            </a:r>
          </a:p>
          <a:p/>
          <a:p>
            <a:r>
              <a:t>[ДОПУЩЕНИЕ] Все партнеры — кандидаты до подписания договоров; ресурсы — план закупки до внесения капитала. Два потока доходов и три FTE соответствуют финансовому плану. Резерв 2 млн руб. — ресурс покрытия кассового разрыва, а не себестоимость услуги.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Приоритет — КФХ и малые/средние сельхозпредприятия с фрагментированными полями, культурами высокой ценности, переувлажненными участками и недостаточной собственной техникой. Покупатель — руководитель хозяйства; технический заказчик и приемщик — агроном. Агрохолдинги — вторичный сегмент для пиков нагрузки и сложных участков, а не якорь первого сезона.</a:t>
            </a:r>
          </a:p>
          <a:p/>
          <a:p>
            <a:r>
              <a:t>### TAM SAM SOM и проверка расчета</a:t>
            </a:r>
          </a:p>
          <a:p/>
          <a:p>
            <a:r>
              <a:t>Рынок проекта — платные услуги агродронов по внесению и мониторингу для КФХ и малых/средних хозяйств. Оценка — годовая, в ценах 2027 года, без НДС, препаратов клиента и продажи дронов. TAM — потенциальный спрос выбранного сегмента РФ; SAM — его доступная часть в кластере Татарстана до 150 км; SOM — объем, который одна бригада планирует продать и выполнить в первом сезоне. SAM вложен в TAM. Доступность требует проверки конкретного поля.</a:t>
            </a:r>
          </a:p>
          <a:p/>
          <a:p>
            <a:r>
              <a:t>[ДОПУЩЕНИЕ] База 2000 хозяйств РФ и 200 хозяйств кластера, средняя площадь 2000 га, пригодность 15%, 1,5 прохода внесения и 0,5 обследования на пригодный гектар — параметры сценария. Список хозяйств и пригодность не подтверждены. Поэтому эти результаты называются сценарной емкостью выбранного сегмента, а не установленной емкостью всей России. До адресного реестра точность 1,245 млрд руб. арифметическая, а не статистическая.</a:t>
            </a:r>
          </a:p>
          <a:p/>
          <a:p>
            <a:r>
              <a:t>[РАСЧЕТ] Пригодная площадь = число хозяйств × средняя площадь × доля пригодности. Внесение = пригодная площадь × 1,5; мониторинг = пригодная площадь × 0,5. Емкость = внесение × 1300 + мониторинг × 250.</a:t>
            </a:r>
          </a:p>
          <a:p/>
          <a:p>
            <a:r>
              <a:t>| Уровень | Хозяйства | Пригодная площадь, га | Внесение, га-проходы | Мониторинг, га-обследования | Емкость, руб./год |</a:t>
            </a:r>
          </a:p>
          <a:p>
            <a:r>
              <a:t>|---|---:|---:|---:|---:|---:|</a:t>
            </a:r>
          </a:p>
          <a:p>
            <a:r>
              <a:t>| TAM выбранного сегмента, сценарий | 2000 | 600000 | 900000 | 300000 | 1245000000 |</a:t>
            </a:r>
          </a:p>
          <a:p>
            <a:r>
              <a:t>| SAM кластера, сценарий | 200 | 60000 | 90000 | 30000 | 124500000 |</a:t>
            </a:r>
          </a:p>
          <a:p>
            <a:r>
              <a:t>| SOM сезона 2027, цель | 10 | Не суммируется по услугам | 6000 | 4000 | 8800000 |</a:t>
            </a:r>
          </a:p>
          <a:p/>
          <a:p>
            <a:r>
              <a:t>[РАСЧЕТ] TAM = 2000 × 2000 × 0,15 × (1,5 × 1300 + 0,5 × 250). SAM использует ту же формулу для 200 хозяйств. SOM = 6000 × 1300 + 4000 × 250 = 7,8 млн + 1,0 млн = 8,8 млн руб. Средние 600 га-проходов на каждого из 10 клиентов относятся к внесению; 400 га-обследований на клиента — отдельная целевая услуга, если все 10 заказывают мониторинг.</a:t>
            </a:r>
          </a:p>
          <a:p/>
          <a:p>
            <a:r>
              <a:t>| Доля SOM в SAM | Расчет | Результат |</a:t>
            </a:r>
          </a:p>
          <a:p>
            <a:r>
              <a:t>|---|---|---:|</a:t>
            </a:r>
          </a:p>
          <a:p>
            <a:r>
              <a:t>| По внесению | 6000 / 90000 × 100% | 6,67% |</a:t>
            </a:r>
          </a:p>
          <a:p>
            <a:r>
              <a:t>| По мониторингу | 4000 / 30000 × 100% | 13,33% |</a:t>
            </a:r>
          </a:p>
          <a:p>
            <a:r>
              <a:t>| По выручке двух услуг | 8800000 / 124500000 × 100% | 7,07% |</a:t>
            </a:r>
          </a:p>
          <a:p/>
          <a:p>
            <a:r>
              <a:t>Основной SOM: 6 000 га-проходов и 4 000 га-обследований. Отношение обследований к проходам 0,667 против 0,333 в SAM. Дополнительный спрос на мониторинг подтверждается отдельно; поэтому денежная доля 7,07% не равна доле по внесению 6,67%.</a:t>
            </a:r>
          </a:p>
          <a:p/>
          <a:p>
            <a:r>
              <a:t>### Альтернативный микс — не базовая выручка</a:t>
            </a:r>
          </a:p>
          <a:p/>
          <a:p>
            <a:r>
              <a:t>При среднем миксе SAM мониторинг составил бы 2 000 обследований, выручка — 8,3 млн руб., денежная доля — 6,67%. Это отдельный тест гипотезы, не замена 8,8 млн в финансовой базе. Снижение мониторинга на 2 000 обследований уменьшает денежный вклад 2027 после УСН на 350 000 руб. при неизменных фиксированных расходах.</a:t>
            </a:r>
          </a:p>
          <a:p/>
          <a:p>
            <a:r>
              <a:t>[РАСЧЕТ] Ограничение мощности: 6000 / 130 + 4000 / 500 = 54,15 полевых дня при плановых производительностях проекта. Это ниже потолка 120 дней, однако пики агрономических окон, погода, транспорт и отдых могут ограничить загрузку. SOM проверяется одновременно по договорам, кадрам и календарю. Резервный борт не создает вторую бригаду.</a:t>
            </a:r>
          </a:p>
          <a:p/>
          <a:p>
            <a:r>
              <a:t>### Чувствительность сценарной емкости</a:t>
            </a:r>
          </a:p>
          <a:p/>
          <a:p>
            <a:r>
              <a:t>При прежних числе хозяйств, площади, частоте и тарифах меняется только пригодность. Диапазон не является доверительным интервалом.</a:t>
            </a:r>
          </a:p>
          <a:p/>
          <a:p>
            <a:r>
              <a:t>| Пригодность | TAM, руб./год | SAM, руб./год | Цель SOM / SAM |</a:t>
            </a:r>
          </a:p>
          <a:p>
            <a:r>
              <a:t>|---|---:|---:|---:|</a:t>
            </a:r>
          </a:p>
          <a:p>
            <a:r>
              <a:t>| 10% | 830000000 | 83000000 | 10,60% |</a:t>
            </a:r>
          </a:p>
          <a:p>
            <a:r>
              <a:t>| 15%, база | 1245000000 | 124500000 | 7,07% |</a:t>
            </a:r>
          </a:p>
          <a:p>
            <a:r>
              <a:t>| 20% | 1660000000 | 166000000 | 5,30% |</a:t>
            </a:r>
          </a:p>
          <a:p/>
          <a:p>
            <a:r>
              <a:t>Для подтверждения оценки нужны адресный список хозяйств, площадь и культуры по каждому клиенту, агрономически подходящие операции, доступность участков, частота заказов и готовность оплатить тариф. Национальная площадь обработок не подменяет выручку подрядчиков и не служит знаменателем региональных долей.</a:t>
            </a:r>
          </a:p>
          <a:p/>
          <a:p>
            <a:r>
              <a:t>### Выход на рынок</a:t>
            </a:r>
          </a:p>
          <a:p/>
          <a:p>
            <a:r>
              <a:t>[ДОПУЩЕНИЕ] Каналы: прямые продажи через агрономов, партнеры по биопрепаратам и удобрениям, фермерские объединения, демонстрации на поле и рекомендации. Плановая воронка: 100 адресных контактов → 40 квалифицированных разговоров → 20 квалифицированных предложений → 10 сезонных клиентов. Ни одно соглашение пока не подписано. Предварительное интервью не считается продажей.</a:t>
            </a:r>
          </a:p>
          <a:p/>
          <a:p>
            <a:r>
              <a:t>[ДОПУЩЕНИЕ] Годовой маркетинговый бюджет 240000 руб. входит в постоянный OPEX. Денежный CAC при 10 новых клиентах — 24000 руб. без распределения зарплаты директора; это не fully-loaded CAC. Средняя выручка на клиента в первом сезоне — 880000 руб. при условном распределении всех услуг между десятью клиентами. Агрономические консультации, дорога в согласованном радиусе и отчет включены; дальний выезд и малый участок требуют отдельной сметы и не заложены как дополнительная выручка.</a:t>
            </a:r>
          </a:p>
          <a:p/>
          <a:p>
            <a:r>
              <a:t>[ДОПУЩЕНИЕ] Коммерческие условия: минимальный планируемый маршрут 100 га-проходов, 30% аванс, остаток после акта; модель ликвидности консервативно не опирается на аванс. Ценность проверяется на сопоставимых контрольных участках: сроки, площадь, качество покрытия, повреждение колеи, расход состава. Процент экономии СЗР и прирост урожая до испытаний не обещаются.</a:t>
            </a:r>
          </a:p>
          <a:p/>
          <a:p>
            <a:r>
              <a:t>[ДОПУЩЕНИЕ] Контроль спроса: если к решению о закупке нет подтвержденного доступного портфеля на 6000 га-проходов, капиталоемкий запуск переносится; допускается отдельный малый пилот через законного оператора. Его экономика не подменяет базовую модель собственной бригады.</a:t>
            </a:r>
          </a:p>
          <a:p/>
          <a:p>
            <a:r>
              <a:t>### Наблюдаемая отрасль и динамика</a:t>
            </a:r>
          </a:p>
          <a:p/>
          <a:p>
            <a:r>
              <a:t>[ФАКТ]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a:t>
            </a:r>
          </a:p>
          <a:p/>
          <a:p>
            <a:r>
              <a:t>[ДОПУЩЕНИЕ]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a:t>
            </a:r>
          </a:p>
          <a:p/>
          <a:p>
            <a:r>
              <a:t>[РАСЧЕТ]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a:t>
            </a:r>
          </a:p>
          <a:p/>
          <a:p>
            <a:r>
              <a:t>[ДОПУЩЕНИЕ] Основная база — 6 000 га-проходов и 4 000 га-обследований, 8,8 млн руб. Альтернативные 8,3 млн — только тест среднего микса SAM, а не исправленная выручка базы. Требуются отдельные заявки на мониторинг; его спрос нельзя выводить из числа проходов внесения.</a:t>
            </a:r>
          </a:p>
          <a:p/>
          <a:p>
            <a:r>
              <a:t>[ДОПУЩЕНИЕ] Двадцать интервью SMART — исследование спроса; двадцать предложений воронки — отдельная стадия, не автоматическое следствие интервью. Заявки должны раскрывать клиентов, культуры, контуры полей, обе услуги, кратность, цену и агрономическое окно. Предварительная заявка не равна обязательному договору. Подтвержденных заказов нет.</a:t>
            </a:r>
          </a:p>
          <a:p/>
          <a:p>
            <a:r>
              <a:t>Комментарий к слайду:</a:t>
            </a:r>
          </a:p>
          <a:p>
            <a:r>
              <a:t>TAM/SAM — собственная гипотеза снизу вверх. Вести: около 600 тыс. га обработано в 2025, со слов министра; РСХБ: 781 тыс. га в 2025 и прогноз 1058 тыс. га в 2026. Различия определений не разрешены; ряды не смешиваются. Все числа рынка на слайде сценарные. Бюджет маркетинга 240 тыс. рублей; денежный CAC 24 тыс. рублей без зарплаты директора. URL — контекст отрасли, не источник TAM/SAM.</a:t>
            </a:r>
          </a:p>
          <a:p/>
          <a:p>
            <a:r>
              <a:t>Внешние URL:</a:t>
            </a:r>
          </a:p>
          <a:p>
            <a:r>
              <a:t>https://www.vesti.ru/article/4893778</a:t>
            </a:r>
          </a:p>
          <a:p>
            <a:r>
              <a:t>https://www.rshb.ru/news/16072026-000004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a:t>
            </a:r>
          </a:p>
          <a:p/>
          <a:p>
            <a:r>
              <a:t>| Исполнитель / статус | Услуги, территория и цена | Комплект, маршрут и отчетность | Опыт, доля и доказательства |</a:t>
            </a:r>
          </a:p>
          <a:p>
            <a:r>
              <a:t>| --- | --- | --- | --- |</a:t>
            </a:r>
          </a:p>
          <a:p>
            <a:r>
              <a:t>|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a:t>
            </a:r>
          </a:p>
          <a:p>
            <a:r>
              <a:t>|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a:t>
            </a:r>
          </a:p>
          <a:p>
            <a:r>
              <a:t>|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a:t>
            </a:r>
          </a:p>
          <a:p>
            <a:r>
              <a:t>|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a:t>
            </a:r>
          </a:p>
          <a:p>
            <a:r>
              <a:t>|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a:t>
            </a:r>
          </a:p>
          <a:p>
            <a:r>
              <a:t>|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a:t>
            </a:r>
          </a:p>
          <a:p/>
          <a:p/>
          <a:p>
            <a:r>
              <a:t>[ДОПУЩЕНИЕ]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a:t>
            </a:r>
          </a:p>
          <a:p/>
          <a:p>
            <a:r>
              <a:t>[ФАКТ]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a:t>
            </a:r>
          </a:p>
          <a:p/>
          <a:p>
            <a:r>
              <a:t>[ДОПУЩЕНИЕ]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a:t>
            </a:r>
          </a:p>
          <a:p/>
          <a:p>
            <a:r>
              <a:t>Комментарий к слайду:</a:t>
            </a:r>
          </a:p>
          <a:p>
            <a:r>
              <a:t>Сокращенная проекция единственной полной матрицы раздела 6. Все критерии, источники и даты сохранены в тексте заметок выше. Полная матрица строится из data/competitors.csv. Цены услуг не сопоставлены по НДС, логистике и составу; данные поставщиков не являются независимым аудитом.</a:t>
            </a:r>
          </a:p>
          <a:p>
            <a:r>
              <a:t>Источники строк (проверка 20.10.2026):</a:t>
            </a:r>
          </a:p>
          <a:p>
            <a:r>
              <a:t>[2] https://beeuav.ru/uslugi/obrabotka-polej/</a:t>
            </a:r>
          </a:p>
          <a:p>
            <a:r>
              <a:t>[3] https://xag-ap.ru/</a:t>
            </a:r>
          </a:p>
          <a:p>
            <a:r>
              <a:t>[4] https://xag-ap.ru/spraying.php</a:t>
            </a:r>
          </a:p>
          <a:p>
            <a:r>
              <a:t>[5] https://xn--80aai6cg.xn--p1ai/</a:t>
            </a:r>
          </a:p>
          <a:p>
            <a:r>
              <a:t>[6] https://germes-technology.ru/</a:t>
            </a:r>
          </a:p>
          <a:p>
            <a:r>
              <a:t>[7] https://agrdron.ru/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SWOT отражает внутреннюю конструкцию проекта и сценарии внешней среды, а не доказанные преимущества действующей компании.</a:t>
            </a:r>
          </a:p>
          <a:p/>
          <a:p>
            <a:r>
              <a:t>| Группа | Фактор | Коммерческое последствие | Управленческое действие |</a:t>
            </a:r>
          </a:p>
          <a:p>
            <a:r>
              <a:t>|---|---|---|---|</a:t>
            </a:r>
          </a:p>
          <a:p>
            <a:r>
              <a:t>| S | Связка мониторинга, задания и отчета | Возможность продавать понятный результат | Единый паспорт заказа и критерии приемки |</a:t>
            </a:r>
          </a:p>
          <a:p>
            <a:r>
              <a:t>| S | Резервный аппарат внесения | Снижение зависимости от единичного отказа | Проверять готовность резерва перед выездом |</a:t>
            </a:r>
          </a:p>
          <a:p>
            <a:r>
              <a:t>| S | Компактная команда | Короткая цепочка согласования | Закрепить полномочия остановки работ |</a:t>
            </a:r>
          </a:p>
          <a:p>
            <a:r>
              <a:t>| W | Отсутствие подтвержденного портфеля | Риск недозагрузки после закупки | Условное инвестиционное решение после проверки заявок |</a:t>
            </a:r>
          </a:p>
          <a:p>
            <a:r>
              <a:t>| W | Одна бригада и совмещение ролей | Конфликты сроков и зависимость от людей | Единый календарь, ограничение принимаемых обязательств |</a:t>
            </a:r>
          </a:p>
          <a:p>
            <a:r>
              <a:t>| W | Экономный фонд труда | Риск вакансий, текучести и перегрузки | Проверить предложения кандидатам до закупок |</a:t>
            </a:r>
          </a:p>
          <a:p>
            <a:r>
              <a:t>| O | Неудовлетворенные локальные задачи клиентов | Возможность повторных заказов | Проверять проблему на конкретном поле |</a:t>
            </a:r>
          </a:p>
          <a:p>
            <a:r>
              <a:t>| O | Гражданская переподготовка кандидатов с опытом БПЛА | Потенциальный кадровый канал | Добровольный отбор и обучение на равных условиях |</a:t>
            </a:r>
          </a:p>
          <a:p>
            <a:r>
              <a:t>| T | Ограничения полетов и технологий | Невозможность исполнения части договоров | Юридический стоп-фактор и прозрачные условия переноса |</a:t>
            </a:r>
          </a:p>
          <a:p>
            <a:r>
              <a:t>| T | Несовпадение погоды и агрономических окон | Потеря объемов без технической поломки | Приоритеты заданий, запас времени, отказ от перегруза |</a:t>
            </a:r>
          </a:p>
          <a:p>
            <a:r>
              <a:t>| T | Ценовое давление или задержка оплаты | Снижение маржи и кассовый разрыв | Авансирование, проверка дебиторской задолженности |</a:t>
            </a:r>
          </a:p>
          <a:p/>
          <a:p>
            <a:r>
              <a:t>[ДОПУЩЕНИЕ] SO-стратегия — тестировать комплексное предложение на локальных задачах; WO — закрывать дефицит компетенций наставником и внешним агрономом. ST — использовать отчетность и технический резерв для управляемого исполнения. WT — не расширять парк и географию до подтверждения юридической доступности, кадров и фактической экономики сезона.</a:t>
            </a:r>
          </a:p>
          <a:p/>
          <a:p>
            <a:r>
              <a:t>[ДОПУЩЕНИЕ] Владельцы стратегий: директор проверяет спрос и тариф до D; операционный руководитель проверяет общий риск основного/резервного борта до G; агроном согласует применимость до каждого выезда. Совместимость АКБ, зарядок и сервиса может создавать общий отказ обоих бортов.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Пять сил Портера оцениваются сценарно; уровни не являются результатом измерения регионального рынка.</a:t>
            </a:r>
          </a:p>
          <a:p/>
          <a:p>
            <a:r>
              <a:t>| Сила | Уровень гипотезы | Механизм воздействия | Ответ проекта | Что проверить |</a:t>
            </a:r>
          </a:p>
          <a:p>
            <a:r>
              <a:t>|---|---|---|---|---|</a:t>
            </a:r>
          </a:p>
          <a:p>
            <a:r>
              <a:t>| Конкуренция действующих исполнителей | Высокий | Сравнение тарифов и свободных окон | Продавать определенное задание, сроки и приемку | Сопоставимые предложения по одинаковому полю |</a:t>
            </a:r>
          </a:p>
          <a:p>
            <a:r>
              <a:t>| Угроза новых участников | Средний | Появление дополнительной услуги у действующих подрядчиков | Развивать повторные договоры и дисциплину качества | Реальные сроки запуска и стоимость готовности |</a:t>
            </a:r>
          </a:p>
          <a:p>
            <a:r>
              <a:t>| Угроза заменителей | Высокий | Наземная обработка, собственная техника, отказ от операции | Отбирать задачи, где клиент видит ценность сервиса | Полная стоимость и применимость альтернатив |</a:t>
            </a:r>
          </a:p>
          <a:p>
            <a:r>
              <a:t>| Власть покупателей | Высокий | Сезонный торг и концентрация заказов | Разделять объемы по клиентам, фиксировать условия заранее | Концентрацию портфеля и причины отказов |</a:t>
            </a:r>
          </a:p>
          <a:p>
            <a:r>
              <a:t>| Власть поставщиков | Средний–высокий | Зависимость от техники, аккумуляторов и ремонта | Резервный аппарат, запас критичных деталей, сервисный договор | Совместимость, гарантийные условия, сроки ремонта |</a:t>
            </a:r>
          </a:p>
          <a:p/>
          <a:p>
            <a:r>
              <a:t>[ДОПУЩЕНИЕ] Гипотеза зависит от повторного спроса и исполнения в сезонном окне. Устойчивое преимущество до полевой проверки не подтверждено.</a:t>
            </a:r>
          </a:p>
          <a:p/>
          <a:p>
            <a:r>
              <a:t>[ДОПУЩЕНИЕ] Барьеры входа включают капитал, подготовку людей, ремонт и разрешительную процедуру. Эти же барьеры ограничивают AgroVector, поэтому не считаются уже полученной защитой от новых игроков.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a:t>
            </a:r>
          </a:p>
          <a:p/>
          <a:p>
            <a:r>
              <a:t>[ФАКТ]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a:t>
            </a:r>
          </a:p>
          <a:p/>
          <a:p>
            <a:r>
              <a:t>[ФАКТ]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a:t>
            </a:r>
          </a:p>
          <a:p/>
          <a:p>
            <a:r>
              <a:t>[ДОПУЩЕНИЕ]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a:t>
            </a:r>
          </a:p>
          <a:p/>
          <a:p>
            <a:r>
              <a:t>[ФАКТ]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a:t>
            </a:r>
          </a:p>
          <a:p/>
          <a:p>
            <a:r>
              <a:t>[ДОПУЩЕНИЕ]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a:t>
            </a:r>
          </a:p>
          <a:p/>
          <a:p>
            <a:r>
              <a:t>### Санитарный и региональный контроль допуска</a:t>
            </a:r>
          </a:p>
          <a:p/>
          <a:p>
            <a:r>
              <a:t>[ДОПУЩЕНИЕ]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a:t>
            </a:r>
          </a:p>
          <a:p/>
          <a:p>
            <a:r>
              <a:t>[ДОПУЩЕНИЕ]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a:t>
            </a:r>
          </a:p>
          <a:p/>
          <a:p>
            <a:r>
              <a:t>Комментарий к слайду:</a:t>
            </a:r>
          </a:p>
          <a:p>
            <a:r>
              <a:t>До закупки требуется письменная карта применимых норм от юриста, а перед выездом — повторная проверка. Базовые URL Росавиации и портала правовой информации — точки входа для проверки, не подтверждение выданного разрешения. При наличии окончательной секции 9 ее конкретные внешние ссылки автоматически подхватываются. Не смешивать массу пустого БВС, полезную нагрузку и максимальную взлетную массу. Мониторинг-only не доказан как прибыльная замена базовой модели.</a:t>
            </a:r>
          </a:p>
          <a:p/>
          <a:p>
            <a:r>
              <a:t>Внешние URL:</a:t>
            </a:r>
          </a:p>
          <a:p>
            <a:r>
              <a:t>https://base.garant.ru/414829385/</a:t>
            </a:r>
          </a:p>
          <a:p>
            <a:r>
              <a:t>http://publication.pravo.gov.ru/Document/View/1600202211300002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Матрица власти и интереса используется для распределения коммуникаций. Высокая власть означает способность остановить финансирование, разрешение либо исполнение заказа, а не особый статус участника.</a:t>
            </a:r>
          </a:p>
          <a:p/>
          <a:p>
            <a:r>
              <a:t>| Стейкхолдер | Власть / интерес | Ожидание или конфликт | Взаимодействие | Ответственный |</a:t>
            </a:r>
          </a:p>
          <a:p>
            <a:r>
              <a:t>|---|---|---|---|---|</a:t>
            </a:r>
          </a:p>
          <a:p>
            <a:r>
              <a:t>| Учредитель | Высокая / высокий | Сохранение капитала и управляемость | Еженедельный контроль запуска, месячный план-факт | Директор |</a:t>
            </a:r>
          </a:p>
          <a:p>
            <a:r>
              <a:t>| Долевой инвестор | Высокая / высокий | Прозрачность расходов и условий участия | Отчетность, согласование крупных решений | Директор |</a:t>
            </a:r>
          </a:p>
          <a:p>
            <a:r>
              <a:t>| Клиенты и их агрономы | Высокая / высокий | Соблюдение окна, качество, понятная приемка | Паспорт поля, календарь, отчет, разбор претензий | Директор и операционный руководитель |</a:t>
            </a:r>
          </a:p>
          <a:p>
            <a:r>
              <a:t>| Уполномоченные органы | Высокая / переменный | Соблюдение применимых требований | Документы и согласования по конкретной территории | Внешний юрист |</a:t>
            </a:r>
          </a:p>
          <a:p>
            <a:r>
              <a:t>| Операторы | Средняя / высокий | Безопасность, оплата, реалистичная нагрузка | Инструктаж, обратная связь, право остановки | Операционный руководитель |</a:t>
            </a:r>
          </a:p>
          <a:p>
            <a:r>
              <a:t>| Кандидаты после СВО | Низкая / высокий | Добровольный переход в гражданскую профессию | Конфиденциальный отбор, наставник, ясные требования | Директор |</a:t>
            </a:r>
          </a:p>
          <a:p>
            <a:r>
              <a:t>| Учебный партнер и агроном | Средняя / высокий | Корректные задания и границы ответственности | Программа обучения, проверка знаний, согласование карт | Операционный руководитель |</a:t>
            </a:r>
          </a:p>
          <a:p>
            <a:r>
              <a:t>| Сервис оборудования | Средняя / средний | Оплата и планируемое обслуживание | Регламент ремонтов, сроки реакции | Операционный руководитель |</a:t>
            </a:r>
          </a:p>
          <a:p>
            <a:r>
              <a:t>| Соседи полей и местное сообщество | Низкая / переменный | Отсутствие недопустимого воздействия | Канал обращений, предусмотренное уведомление | Директор |</a:t>
            </a:r>
          </a:p>
          <a:p/>
          <a:p>
            <a:r>
              <a:t>[ДОПУЩЕНИЕ] Социальная коммуникация не раскрывает персональную историю сотрудников без согласия и не обещает привилегированного допуска к полетам. Жалобы на безопасность рассматриваются независимо от коммерческой ценности заказа.</a:t>
            </a:r>
          </a:p>
          <a:p/>
          <a:p>
            <a:r>
              <a:t>[ДОПУЩЕНИЕ] Пчеловоды и владельцы соседних участков — отдельная группа с высоким интересом к безопасности: директор обеспечивает предусмотренные уведомления и канал жалоб; агроном проверяет ограничения. Жалоба или выявление угрозы может остановить работу независимо от формальной власти заявителя. Страховщик согласует покрытие и порядок сообщения об инциденте до допуска G.</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a:t>
            </a:r>
          </a:p>
          <a:p/>
          <a:p>
            <a:r>
              <a:t>[ДОПУЩЕНИЕ]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a:t>
            </a:r>
          </a:p>
          <a:p/>
          <a:p>
            <a:r>
              <a:t>[РАСЧЕТ]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a:t>
            </a:r>
          </a:p>
          <a:p/>
          <a:p>
            <a:r>
              <a:t>| Год | Внесение, га-проходы | Мониторинг, га-обследования |</a:t>
            </a:r>
          </a:p>
          <a:p>
            <a:r>
              <a:t>|---|---:|---:|</a:t>
            </a:r>
          </a:p>
          <a:p>
            <a:r>
              <a:t>| 2027 | 6000 | 4000 |</a:t>
            </a:r>
          </a:p>
          <a:p>
            <a:r>
              <a:t>| 2028 | 9000 | 6000 |</a:t>
            </a:r>
          </a:p>
          <a:p>
            <a:r>
              <a:t>| 2029 | 11000 | 8000 |</a:t>
            </a:r>
          </a:p>
          <a:p>
            <a:r>
              <a:t>| 2030 | 12000 | 9000 |</a:t>
            </a:r>
          </a:p>
          <a:p>
            <a:r>
              <a:t>| 2031 | 13000 | 10000 |</a:t>
            </a:r>
          </a:p>
          <a:p/>
          <a:p>
            <a:r>
              <a:t>[ДОПУЩЕНИЕ]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a:t>
            </a:r>
          </a:p>
          <a:p/>
          <a:p>
            <a:r>
              <a:t>[ДОПУЩЕНИЕ]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a:t>
            </a:r>
          </a:p>
          <a:p/>
          <a:p>
            <a:r>
              <a:t>[РАСЧЕТ]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a:t>
            </a:r>
          </a:p>
          <a:p/>
          <a:p>
            <a:r>
              <a:t>[ДОПУЩЕНИЕ]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a:t>
            </a:r>
          </a:p>
          <a:p/>
          <a:p>
            <a:r>
              <a:t>[РАСЧЕТ]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a:t>
            </a:r>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a:t>
            </a:r>
          </a:p>
          <a:p/>
          <a:p>
            <a:r>
              <a:t>| Роль | Основные обязанности | Ограничение полномочий |</a:t>
            </a:r>
          </a:p>
          <a:p>
            <a:r>
              <a:t>|---|---|---|</a:t>
            </a:r>
          </a:p>
          <a:p>
            <a:r>
              <a:t>| Директор / продажи | Клиенты, договоры, деньги, партнеры, персонал | Не отменяет профессиональный запрет на выполнение |</a:t>
            </a:r>
          </a:p>
          <a:p>
            <a:r>
              <a:t>| Оператор / операционный руководитель | Календарь, техника, безопасность, наставничество | Не заменяет агронома и юридическую проверку |</a:t>
            </a:r>
          </a:p>
          <a:p>
            <a:r>
              <a:t>| Второй оператор / помощник | Подготовка, контроль, мониторинг в отдельных окнах | Самостоятельные действия только после проверки компетенций |</a:t>
            </a:r>
          </a:p>
          <a:p>
            <a:r>
              <a:t>| Внешний агроном | Задания, технологическая применимость, качество | Не предоставляет автоматического разрешения на полеты |</a:t>
            </a:r>
          </a:p>
          <a:p>
            <a:r>
              <a:t>| Внешние юрист и бухгалтер | Правовая готовность, учет, договорные и налоговые вопросы | Работают в согласованном объеме услуг |</a:t>
            </a:r>
          </a:p>
          <a:p/>
          <a:p>
            <a:r>
              <a:t>[ДОПУЩЕНИЕ] Полная стоимость штатного труда принята на уровне 3 млн руб. в год. Это экономный и рискованный бюджет, требующий проверки начислений, условий кандидатов и сезонной нагрузки; рост обязательных выплат нельзя скрывать за неоплачиваемыми переработками.</a:t>
            </a:r>
          </a:p>
          <a:p/>
          <a:p>
            <a:r>
              <a:t>[ДОПУЩЕНИЕ]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a:t>
            </a:r>
          </a:p>
          <a:p/>
          <a:p>
            <a:r>
              <a:t>[ДОПУЩЕНИЕ]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a:t>
            </a:r>
          </a:p>
          <a:p/>
          <a:p>
            <a:r>
              <a:t>| WBS | ID | Работа | Результат |</a:t>
            </a:r>
          </a:p>
          <a:p>
            <a:r>
              <a:t>| --- | --- | --- | --- |</a:t>
            </a:r>
          </a:p>
          <a:p>
            <a:r>
              <a:t>| 1.1 | A | Проверка региона, полетов и схемы АХР | Осуществимость разрешительного маршрута; не выданное разрешение |</a:t>
            </a:r>
          </a:p>
          <a:p>
            <a:r>
              <a:t>| 1.2 | B | Интервью и предварительные заявки хозяйств | 20 интервью; заявки на 6000 га-проходов и 4000 га-обследований |</a:t>
            </a:r>
          </a:p>
          <a:p>
            <a:r>
              <a:t>| 1.3 | C | ООО, договоры, учет и страховой проект | ООО; договоры; страховые предложения |</a:t>
            </a:r>
          </a:p>
          <a:p>
            <a:r>
              <a:t>|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a:t>
            </a:r>
          </a:p>
          <a:p>
            <a:r>
              <a:t>| 2.2 | E | Закупка и приемка оборудования | Комплектность; серийные номера; акты |</a:t>
            </a:r>
          </a:p>
          <a:p>
            <a:r>
              <a:t>| 2.3 | F | Подбор и гражданская переподготовка | Два оператора; экзамен и допуск |</a:t>
            </a:r>
          </a:p>
          <a:p>
            <a:r>
              <a:t>| 2.4 | G | Разрешительная готовность и учет БВС | Документы на конкретные БВС/работы; либо no-go |</a:t>
            </a:r>
          </a:p>
          <a:p>
            <a:r>
              <a:t>| 3.1 | H | SOP, CRM, карты и контроль качества | Чек-листы; шаблон отчета; аварийный план |</a:t>
            </a:r>
          </a:p>
          <a:p>
            <a:r>
              <a:t>| 3.2 | I | Стендовые и контролируемые приемочные испытания | Акт стендовой приемки; полевой пилот отдельно в K до 30.04.2027 |</a:t>
            </a:r>
          </a:p>
          <a:p>
            <a:r>
              <a:t>| 3.3 | J | Сезонные договоры и маршрутизация | 10 клиентов; согласованный календарь |</a:t>
            </a:r>
          </a:p>
          <a:p>
            <a:r>
              <a:t>| 3.4 | M | Предсезонная готовность и ожидание погодного окна | Повторная проверка разрешений и погодного окна |</a:t>
            </a:r>
          </a:p>
          <a:p>
            <a:r>
              <a:t>| 4.1 | K | Первый коммерческий сезон | 6000 га-проходов; 4000 га-обследований |</a:t>
            </a:r>
          </a:p>
          <a:p>
            <a:r>
              <a:t>| 4.2 | L | Аудит сезона и решение о продолжении | Факт P&amp;L/ДДС; претензии; продления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a:t>
            </a:r>
          </a:p>
          <a:p/>
          <a:p>
            <a:r>
              <a:t>[ДОПУЩЕНИЕ]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a:t>
            </a:r>
          </a:p>
          <a:p/>
          <a:p>
            <a:r>
              <a:t>[РАСЧЕТ]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a:t>
            </a:r>
          </a:p>
          <a:p/>
          <a:p>
            <a:r>
              <a:t>| ID | Начало | Окончание | Недели | Резерв, нед. |</a:t>
            </a:r>
          </a:p>
          <a:p>
            <a:r>
              <a:t>| --- | --- | --- | --- | --- |</a:t>
            </a:r>
          </a:p>
          <a:p>
            <a:r>
              <a:t>| A | 2026-10-19 | 2026-11-01 | 2 | 1 |</a:t>
            </a:r>
          </a:p>
          <a:p>
            <a:r>
              <a:t>| B | 2026-10-19 | 2026-11-29 | 6 | 0 |</a:t>
            </a:r>
          </a:p>
          <a:p>
            <a:r>
              <a:t>| C | 2026-11-02 | 2026-11-22 | 3 | 1 |</a:t>
            </a:r>
          </a:p>
          <a:p>
            <a:r>
              <a:t>| D | 2026-11-30 | 2026-12-06 | 1 | 0 |</a:t>
            </a:r>
          </a:p>
          <a:p>
            <a:r>
              <a:t>| E | 2026-12-07 | 2027-01-10 | 5 | 0 |</a:t>
            </a:r>
          </a:p>
          <a:p>
            <a:r>
              <a:t>| F | 2026-12-07 | 2027-01-17 | 6 | 2 |</a:t>
            </a:r>
          </a:p>
          <a:p>
            <a:r>
              <a:t>| G | 2027-01-11 | 2027-02-21 | 6 | 0 |</a:t>
            </a:r>
          </a:p>
          <a:p>
            <a:r>
              <a:t>| H | 2027-01-18 | 2027-02-07 | 3 | 2 |</a:t>
            </a:r>
          </a:p>
          <a:p>
            <a:r>
              <a:t>| I | 2027-02-22 | 2027-03-07 | 2 | 0 |</a:t>
            </a:r>
          </a:p>
          <a:p>
            <a:r>
              <a:t>| J | 2027-03-08 | 2027-03-21 | 2 | 0 |</a:t>
            </a:r>
          </a:p>
          <a:p>
            <a:r>
              <a:t>| M | 2027-03-22 | 2027-04-11 | 3 | 0 |</a:t>
            </a:r>
          </a:p>
          <a:p>
            <a:r>
              <a:t>| K | 2027-04-12 | 2027-09-12 | 22 | 0 |</a:t>
            </a:r>
          </a:p>
          <a:p>
            <a:r>
              <a:t>| L | 2027-09-13 | 2027-09-26 | 2 | 0 |</a:t>
            </a:r>
          </a:p>
          <a:p/>
          <a:p>
            <a:r>
              <a:t>```mermaid</a:t>
            </a:r>
          </a:p>
          <a:p>
            <a:r>
              <a:t>gantt</a:t>
            </a:r>
          </a:p>
          <a:p>
            <a:r>
              <a:t>    title АгроВектор — подготовка и первый сезон</a:t>
            </a:r>
          </a:p>
          <a:p>
            <a:r>
              <a:t>    dateFormat YYYY-MM-DD</a:t>
            </a:r>
          </a:p>
          <a:p>
            <a:r>
              <a:t>    A Проверка региона, полетов и схемы АХР :A, 2026-10-19, 14d</a:t>
            </a:r>
          </a:p>
          <a:p>
            <a:r>
              <a:t>    B Интервью и предварительные заявки хозяйств :crit, B, 2026-10-19, 42d</a:t>
            </a:r>
          </a:p>
          <a:p>
            <a:r>
              <a:t>    C ООО, договоры, учет и страховой проект :C, 2026-11-02, 21d</a:t>
            </a:r>
          </a:p>
          <a:p>
            <a:r>
              <a:t>    D Инвестиционное решение и финансирование :crit, D, 2026-11-30, 7d</a:t>
            </a:r>
          </a:p>
          <a:p>
            <a:r>
              <a:t>    E Закупка и приемка оборудования :crit, E, 2026-12-07, 35d</a:t>
            </a:r>
          </a:p>
          <a:p>
            <a:r>
              <a:t>    F Подбор и гражданская переподготовка :F, 2026-12-07, 42d</a:t>
            </a:r>
          </a:p>
          <a:p>
            <a:r>
              <a:t>    G Разрешительная готовность и учет БВС :crit, G, 2027-01-11, 42d</a:t>
            </a:r>
          </a:p>
          <a:p>
            <a:r>
              <a:t>    H SOP, CRM, карты и контроль качества :H, 2027-01-18, 21d</a:t>
            </a:r>
          </a:p>
          <a:p>
            <a:r>
              <a:t>    I Стендовые и контролируемые приемочные испытания :crit, I, 2027-02-22, 14d</a:t>
            </a:r>
          </a:p>
          <a:p>
            <a:r>
              <a:t>    J Сезонные договоры и маршрутизация :crit, J, 2027-03-08, 14d</a:t>
            </a:r>
          </a:p>
          <a:p>
            <a:r>
              <a:t>    M Предсезонная готовность и ожидание погодного окна :crit, M, 2027-03-22, 21d</a:t>
            </a:r>
          </a:p>
          <a:p>
            <a:r>
              <a:t>    K Первый коммерческий сезон :crit, K, 2027-04-12, 154d</a:t>
            </a:r>
          </a:p>
          <a:p>
            <a:r>
              <a:t>    L Аудит сезона и решение о продолжении :crit, L, 2027-09-13, 14d</a:t>
            </a:r>
          </a:p>
          <a:p>
            <a:r>
              <a:t>```</a:t>
            </a:r>
          </a:p>
          <a:p/>
          <a:p>
            <a:r>
              <a:t>[ДОПУЩЕНИЕ] Контрольные точки внутри сезона, без добавления объема или параллельной бригады:</a:t>
            </a:r>
          </a:p>
          <a:p/>
          <a:p>
            <a:r>
              <a:t>| ID | Дата | Работа | Результат | Ответственный |</a:t>
            </a:r>
          </a:p>
          <a:p>
            <a:r>
              <a:t>| --- | --- | --- | --- | --- |</a:t>
            </a:r>
          </a:p>
          <a:p>
            <a:r>
              <a:t>| PILOT | 2027-04-30 | K | Пилот 100 га внутри 6000; акт и хронометраж | Операционный руководитель |</a:t>
            </a:r>
          </a:p>
          <a:p>
            <a:r>
              <a:t>| RETENTION | 2027-07-12 | K | Контроль занятости и адаптации после подготовки | Директор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a:t>
            </a:r>
          </a:p>
          <a:p/>
          <a:p>
            <a:r>
              <a:t>[ДОПУЩЕНИЕ]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a:t>
            </a:r>
          </a:p>
          <a:p/>
          <a:p>
            <a:r>
              <a:t>[РАСЧЕТ]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a:t>
            </a:r>
          </a:p>
          <a:p/>
          <a:p>
            <a:r>
              <a:t>| ID | Предшественники | ES | EF | LS | LF | Резерв |</a:t>
            </a:r>
          </a:p>
          <a:p>
            <a:r>
              <a:t>| --- | --- | --- | --- | --- | --- | --- |</a:t>
            </a:r>
          </a:p>
          <a:p>
            <a:r>
              <a:t>| A | — | 0 | 2 | 1 | 3 | 1 |</a:t>
            </a:r>
          </a:p>
          <a:p>
            <a:r>
              <a:t>| B | — | 0 | 6 | 0 | 6 | 0 |</a:t>
            </a:r>
          </a:p>
          <a:p>
            <a:r>
              <a:t>| C | A | 2 | 5 | 3 | 6 | 1 |</a:t>
            </a:r>
          </a:p>
          <a:p>
            <a:r>
              <a:t>| D | B;C | 6 | 7 | 6 | 7 | 0 |</a:t>
            </a:r>
          </a:p>
          <a:p>
            <a:r>
              <a:t>| E | D | 7 | 12 | 7 | 12 | 0 |</a:t>
            </a:r>
          </a:p>
          <a:p>
            <a:r>
              <a:t>| F | D | 7 | 13 | 9 | 15 | 2 |</a:t>
            </a:r>
          </a:p>
          <a:p>
            <a:r>
              <a:t>| G | E | 12 | 18 | 12 | 18 | 0 |</a:t>
            </a:r>
          </a:p>
          <a:p>
            <a:r>
              <a:t>| H | E;F | 13 | 16 | 15 | 18 | 2 |</a:t>
            </a:r>
          </a:p>
          <a:p>
            <a:r>
              <a:t>| I | G;H | 18 | 20 | 18 | 20 | 0 |</a:t>
            </a:r>
          </a:p>
          <a:p>
            <a:r>
              <a:t>| J | I | 20 | 22 | 20 | 22 | 0 |</a:t>
            </a:r>
          </a:p>
          <a:p>
            <a:r>
              <a:t>| M | J | 22 | 25 | 22 | 25 | 0 |</a:t>
            </a:r>
          </a:p>
          <a:p>
            <a:r>
              <a:t>| K | M | 25 | 47 | 25 | 47 | 0 |</a:t>
            </a:r>
          </a:p>
          <a:p>
            <a:r>
              <a:t>| L | K | 47 | 49 | 47 | 49 | 0 |</a:t>
            </a:r>
          </a:p>
          <a:p/>
          <a:p>
            <a:r>
              <a:t>```mermaid</a:t>
            </a:r>
          </a:p>
          <a:p>
            <a:r>
              <a:t>flowchart LR</a:t>
            </a:r>
          </a:p>
          <a:p>
            <a:r>
              <a:t>    A["A: 2 нед."]</a:t>
            </a:r>
          </a:p>
          <a:p>
            <a:r>
              <a:t>    B["B: 6 нед."]</a:t>
            </a:r>
          </a:p>
          <a:p>
            <a:r>
              <a:t>    C["C: 3 нед."]</a:t>
            </a:r>
          </a:p>
          <a:p>
            <a:r>
              <a:t>    A --&gt; C</a:t>
            </a:r>
          </a:p>
          <a:p>
            <a:r>
              <a:t>    D["D: 1 нед."]</a:t>
            </a:r>
          </a:p>
          <a:p>
            <a:r>
              <a:t>    B --&gt; D</a:t>
            </a:r>
          </a:p>
          <a:p>
            <a:r>
              <a:t>    C --&gt; D</a:t>
            </a:r>
          </a:p>
          <a:p>
            <a:r>
              <a:t>    E["E: 5 нед."]</a:t>
            </a:r>
          </a:p>
          <a:p>
            <a:r>
              <a:t>    D --&gt; E</a:t>
            </a:r>
          </a:p>
          <a:p>
            <a:r>
              <a:t>    F["F: 6 нед."]</a:t>
            </a:r>
          </a:p>
          <a:p>
            <a:r>
              <a:t>    D --&gt; F</a:t>
            </a:r>
          </a:p>
          <a:p>
            <a:r>
              <a:t>    G["G: 6 нед."]</a:t>
            </a:r>
          </a:p>
          <a:p>
            <a:r>
              <a:t>    E --&gt; G</a:t>
            </a:r>
          </a:p>
          <a:p>
            <a:r>
              <a:t>    H["H: 3 нед."]</a:t>
            </a:r>
          </a:p>
          <a:p>
            <a:r>
              <a:t>    E --&gt; H</a:t>
            </a:r>
          </a:p>
          <a:p>
            <a:r>
              <a:t>    F --&gt; H</a:t>
            </a:r>
          </a:p>
          <a:p>
            <a:r>
              <a:t>    I["I: 2 нед."]</a:t>
            </a:r>
          </a:p>
          <a:p>
            <a:r>
              <a:t>    G --&gt; I</a:t>
            </a:r>
          </a:p>
          <a:p>
            <a:r>
              <a:t>    H --&gt; I</a:t>
            </a:r>
          </a:p>
          <a:p>
            <a:r>
              <a:t>    J["J: 2 нед."]</a:t>
            </a:r>
          </a:p>
          <a:p>
            <a:r>
              <a:t>    I --&gt; J</a:t>
            </a:r>
          </a:p>
          <a:p>
            <a:r>
              <a:t>    M["M: 3 нед."]</a:t>
            </a:r>
          </a:p>
          <a:p>
            <a:r>
              <a:t>    J --&gt; M</a:t>
            </a:r>
          </a:p>
          <a:p>
            <a:r>
              <a:t>    K["K: 22 нед."]</a:t>
            </a:r>
          </a:p>
          <a:p>
            <a:r>
              <a:t>    M --&gt; K</a:t>
            </a:r>
          </a:p>
          <a:p>
            <a:r>
              <a:t>    L["L: 2 нед."]</a:t>
            </a:r>
          </a:p>
          <a:p>
            <a:r>
              <a:t>    K --&gt; L</a:t>
            </a:r>
          </a:p>
          <a:p>
            <a:r>
              <a:t>```</a:t>
            </a:r>
          </a:p>
          <a:p/>
          <a:p>
            <a:r>
              <a:t>Комментарий к слайду:</a:t>
            </a:r>
          </a:p>
          <a:p>
            <a:r>
              <a:t>Связи и длительности полностью извлечены из project_plan.csv.</a:t>
            </a:r>
          </a:p>
          <a:p>
            <a:r>
              <a:t>A Проверка региона, полетов и схемы АХР: предшественники нет, ES 0, EF 2, LS 1, LF 3, резерв 1</a:t>
            </a:r>
          </a:p>
          <a:p>
            <a:r>
              <a:t>B Интервью и предварительные заявки хозяйств: предшественники нет, ES 0, EF 6, LS 0, LF 6, резерв 0</a:t>
            </a:r>
          </a:p>
          <a:p>
            <a:r>
              <a:t>C ООО, договоры, учет и страховой проект: предшественники A, ES 2, EF 5, LS 3, LF 6, резерв 1</a:t>
            </a:r>
          </a:p>
          <a:p>
            <a:r>
              <a:t>D Инвестиционное решение и финансирование: предшественники B;C, ES 6, EF 7, LS 6, LF 7, резерв 0</a:t>
            </a:r>
          </a:p>
          <a:p>
            <a:r>
              <a:t>E Закупка и приемка оборудования: предшественники D, ES 7, EF 12, LS 7, LF 12, резерв 0</a:t>
            </a:r>
          </a:p>
          <a:p>
            <a:r>
              <a:t>F Подбор и гражданская переподготовка: предшественники D, ES 7, EF 13, LS 9, LF 15, резерв 2</a:t>
            </a:r>
          </a:p>
          <a:p>
            <a:r>
              <a:t>G Разрешительная готовность и учет БВС: предшественники E, ES 12, EF 18, LS 12, LF 18, резерв 0</a:t>
            </a:r>
          </a:p>
          <a:p>
            <a:r>
              <a:t>H SOP, CRM, карты и контроль качества: предшественники E;F, ES 13, EF 16, LS 15, LF 18, резерв 2</a:t>
            </a:r>
          </a:p>
          <a:p>
            <a:r>
              <a:t>I Стендовые и контролируемые приемочные испытания: предшественники G;H, ES 18, EF 20, LS 18, LF 20, резерв 0</a:t>
            </a:r>
          </a:p>
          <a:p>
            <a:r>
              <a:t>J Сезонные договоры и маршрутизация: предшественники I, ES 20, EF 22, LS 20, LF 22, резерв 0</a:t>
            </a:r>
          </a:p>
          <a:p>
            <a:r>
              <a:t>M Предсезонная готовность и ожидание погодного окна: предшественники J, ES 22, EF 25, LS 22, LF 25, резерв 0</a:t>
            </a:r>
          </a:p>
          <a:p>
            <a:r>
              <a:t>K Первый коммерческий сезон: предшественники M, ES 25, EF 47, LS 25, LF 47, резерв 0</a:t>
            </a:r>
          </a:p>
          <a:p>
            <a:r>
              <a:t>L Аудит сезона и решение о продолжении: предшественники K, ES 47, EF 49, LS 47, LF 49, резерв 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a:t>
            </a:r>
          </a:p>
          <a:p/>
          <a:p>
            <a:r>
              <a:t>[ДОПУЩЕНИЕ]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a:t>
            </a:r>
          </a:p>
          <a:p/>
          <a:p>
            <a:r>
              <a:t>| ID | R — выполняет | A — принимает | C — консультирует | I — информируется |</a:t>
            </a:r>
          </a:p>
          <a:p>
            <a:r>
              <a:t>| --- | --- | --- | --- | --- |</a:t>
            </a:r>
          </a:p>
          <a:p>
            <a:r>
              <a:t>| A | Юрист | Директор | Агроном;Операционный руководитель | Инвестор |</a:t>
            </a:r>
          </a:p>
          <a:p>
            <a:r>
              <a:t>| B | Продажи | Директор | Агроном | Инвестор |</a:t>
            </a:r>
          </a:p>
          <a:p>
            <a:r>
              <a:t>| C | Юрист | Директор | Бухгалтер | Инвестор |</a:t>
            </a:r>
          </a:p>
          <a:p>
            <a:r>
              <a:t>| D | Директор | Инвестор | Бухгалтер;Юрист | Команда |</a:t>
            </a:r>
          </a:p>
          <a:p>
            <a:r>
              <a:t>| E | Операционный руководитель | Директор | Агроном | Бухгалтер |</a:t>
            </a:r>
          </a:p>
          <a:p>
            <a:r>
              <a:t>| F | Операционный руководитель | Директор | Учебный партнер;Агроном | Инвестор |</a:t>
            </a:r>
          </a:p>
          <a:p>
            <a:r>
              <a:t>| G | Юрист | Директор | Операционный руководитель | Клиенты |</a:t>
            </a:r>
          </a:p>
          <a:p>
            <a:r>
              <a:t>| H | Агроном | Операционный руководитель | Юрист | Продажи |</a:t>
            </a:r>
          </a:p>
          <a:p>
            <a:r>
              <a:t>| I | Оператор | Операционный руководитель | Агроном;Клиент | Директор |</a:t>
            </a:r>
          </a:p>
          <a:p>
            <a:r>
              <a:t>| J | Продажи | Директор | Агроном;Клиент | Бухгалтер |</a:t>
            </a:r>
          </a:p>
          <a:p>
            <a:r>
              <a:t>| M | Операционный руководитель | Директор | Агроном;Клиент | Инвестор |</a:t>
            </a:r>
          </a:p>
          <a:p>
            <a:r>
              <a:t>| K | Оператор | Операционный руководитель | Агроном;Клиент | Директор |</a:t>
            </a:r>
          </a:p>
          <a:p>
            <a:r>
              <a:t>| L | Бухгалтер | Директор | Агроном;Операционный руководитель | Инвестор |</a:t>
            </a:r>
          </a:p>
          <a:p/>
          <a:p>
            <a:r>
              <a:t>Комментарий к слайду:</a:t>
            </a:r>
          </a:p>
          <a:p>
            <a:r>
              <a:t>Матрица извлечена из CSV без изменения распределения ответственности. Опер. рук. — операционный руководитель; учеб. партнер — учебный партнер.</a:t>
            </a:r>
          </a:p>
          <a:p>
            <a:r>
              <a:t>A Проверка региона, полетов и схемы АХР: R Юрист; A Директор; C Агроном;Операционный руководитель; I Инвестор</a:t>
            </a:r>
          </a:p>
          <a:p>
            <a:r>
              <a:t>B Интервью и предварительные заявки хозяйств: R Продажи; A Директор; C Агроном; I Инвестор</a:t>
            </a:r>
          </a:p>
          <a:p>
            <a:r>
              <a:t>C ООО, договоры, учет и страховой проект: R Юрист; A Директор; C Бухгалтер; I Инвестор</a:t>
            </a:r>
          </a:p>
          <a:p>
            <a:r>
              <a:t>D Инвестиционное решение и финансирование: R Директор; A Инвестор; C Бухгалтер;Юрист; I Команда</a:t>
            </a:r>
          </a:p>
          <a:p>
            <a:r>
              <a:t>E Закупка и приемка оборудования: R Операционный руководитель; A Директор; C Агроном; I Бухгалтер</a:t>
            </a:r>
          </a:p>
          <a:p>
            <a:r>
              <a:t>F Подбор и гражданская переподготовка: R Операционный руководитель; A Директор; C Учебный партнер;Агроном; I Инвестор</a:t>
            </a:r>
          </a:p>
          <a:p>
            <a:r>
              <a:t>G Разрешительная готовность и учет БВС: R Юрист; A Директор; C Операционный руководитель; I Клиенты</a:t>
            </a:r>
          </a:p>
          <a:p>
            <a:r>
              <a:t>H SOP, CRM, карты и контроль качества: R Агроном; A Операционный руководитель; C Юрист; I Продажи</a:t>
            </a:r>
          </a:p>
          <a:p>
            <a:r>
              <a:t>I Стендовые и контролируемые приемочные испытания: R Оператор; A Операционный руководитель; C Агроном;Клиент; I Директор</a:t>
            </a:r>
          </a:p>
          <a:p>
            <a:r>
              <a:t>J Сезонные договоры и маршрутизация: R Продажи; A Директор; C Агроном;Клиент; I Бухгалтер</a:t>
            </a:r>
          </a:p>
          <a:p>
            <a:r>
              <a:t>M Предсезонная готовность и ожидание погодного окна: R Операционный руководитель; A Директор; C Агроном;Клиент; I Инвестор</a:t>
            </a:r>
          </a:p>
          <a:p>
            <a:r>
              <a:t>K Первый коммерческий сезон: R Оператор; A Операционный руководитель; C Агроном;Клиент; I Директор</a:t>
            </a:r>
          </a:p>
          <a:p>
            <a:r>
              <a:t>L Аудит сезона и решение о продолжении: R Бухгалтер; A Директор; C Агроном;Операционный руководитель; I Инвестор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a:t>
            </a:r>
          </a:p>
          <a:p/>
          <a:p>
            <a:r>
              <a:t>### CAPEX, OPEX и единичная экономика</a:t>
            </a:r>
          </a:p>
          <a:p/>
          <a:p>
            <a:r>
              <a:t>[ДОПУЩЕНИЕ]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a:t>
            </a:r>
          </a:p>
          <a:p/>
          <a:p>
            <a:r>
              <a:t>[ДОПУЩЕНИЕ]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a:t>
            </a:r>
          </a:p>
          <a:p/>
          <a:p>
            <a:r>
              <a:t>[ДОПУЩЕНИЕ] Постоянный OPEX2027 — 4,2млнруб.: штат с начислениями3млн;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a:t>
            </a:r>
          </a:p>
          <a:p/>
          <a:p>
            <a:r>
              <a:t>[РАСЧЕТ]</a:t>
            </a:r>
          </a:p>
          <a:p/>
          <a:p>
            <a:r>
              <a:t>| Услуга2027 | Тариф | Переменные | Вклад до УСН | УСН6% | Вклад после УСН |</a:t>
            </a:r>
          </a:p>
          <a:p>
            <a:r>
              <a:t>| --- | --- | --- | --- | --- | --- |</a:t>
            </a:r>
          </a:p>
          <a:p>
            <a:r>
              <a:t>| Внесение, руб./га-проход | 1300 | 400 | 900 | 78 | 822 |</a:t>
            </a:r>
          </a:p>
          <a:p>
            <a:r>
              <a:t>| Мониторинг, руб./га-обследование | 250 | 60 | 190 | 15 | 175 |</a:t>
            </a:r>
          </a:p>
          <a:p/>
          <a:p>
            <a:r>
              <a:t>[РАСЧЕТ] Вклад до постоянных затрат2027:6,16млнруб., маржинальность70%. После УСН вклад5,632млн. EBITDA-безубыточность при постоянном миксе услуг:6млнруб. выручки; денежная операционная безубыточность после УСН — 6 562 500руб., или одновременно 4 474,4га-проходов и 2 983,0га-обследований. Это пропорциональный набор услуг, не два независимых порога. CAPEX и возврат инвестиций этим порогом не покрываются.</a:t>
            </a:r>
          </a:p>
          <a:p/>
          <a:p>
            <a:r>
              <a:t>### Налоги и денежный поток</a:t>
            </a:r>
          </a:p>
          <a:p/>
          <a:p>
            <a:r>
              <a:t>[ДОПУЩЕНИЕ]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a:t>
            </a:r>
          </a:p>
          <a:p/>
          <a:p>
            <a:r>
              <a:t>[ДОПУЩЕНИЕ]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a:t>
            </a:r>
          </a:p>
          <a:p/>
          <a:p>
            <a:r>
              <a:t>[РАСЧЕТ]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a:t>
            </a:r>
          </a:p>
          <a:p/>
          <a:p>
            <a:r>
              <a:t>[ДОПУЩЕНИЕ]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a:t>
            </a:r>
          </a:p>
          <a:p/>
          <a:p>
            <a:r>
              <a:t>[РАСЧЕТ]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a:t>
            </a:r>
          </a:p>
          <a:p/>
          <a:p>
            <a:r>
              <a:t>[РАСЧЕТ] Все суммы таблицы — рубли, без округления исходных формул:</a:t>
            </a:r>
          </a:p>
          <a:p/>
          <a:p>
            <a:r>
              <a:t>| Год | Выручка | Переменные | Фикс.OPEX | EBITDA | Амортизация | УСН | Чистая прибыль | CAPEX замен | FCF |</a:t>
            </a:r>
          </a:p>
          <a:p>
            <a:r>
              <a:t>| --- | --- | --- | --- | --- | --- | --- | --- | --- | --- |</a:t>
            </a:r>
          </a:p>
          <a:p>
            <a:r>
              <a:t>| 2027 | 8 800 000,00 | 2 640 000,00 | 4 200 000,00 | 1 960 000,00 | 1 400 000,00 | 528 000,00 | 32 000,00 | 0,00 | 1 432 000,00 |</a:t>
            </a:r>
          </a:p>
          <a:p>
            <a:r>
              <a:t>| 2028 | 13 728 000,00 | 4 158 000,00 | 4 410 000,00 | 5 160 000,00 | 1 500 000,00 | 823 680,00 | 2 836 320,00 | 300 000,00 | 4 036 320,00 |</a:t>
            </a:r>
          </a:p>
          <a:p>
            <a:r>
              <a:t>| 2029 | 17 630 080,00 | 5 380 200,00 | 4 630 500,00 | 7 619 380,00 | 1 700 000,00 | 1 057 804,80 | 4 861 575,20 | 600 000,00 | 5 961 575,20 |</a:t>
            </a:r>
          </a:p>
          <a:p>
            <a:r>
              <a:t>| 2030 | 20 078 822,40 | 6 181 717,50 | 4 862 025,00 | 9 035 079,90 | 2 000 000,00 | 1 204 729,34 | 5 830 350,56 | 900 000,00 | 6 930 350,56 |</a:t>
            </a:r>
          </a:p>
          <a:p>
            <a:r>
              <a:t>| 2031 | 22 695 256,06 | 7 049 936,25 | 5 105 126,25 | 10 540 193,56 | 2 100 000,00 | 1 361 715,36 | 7 078 478,20 | 600 000,00 | 10 578 478,20 |</a:t>
            </a:r>
          </a:p>
          <a:p/>
          <a:p>
            <a:r>
              <a:t>### Ликвидность и сезонность</a:t>
            </a:r>
          </a:p>
          <a:p/>
          <a:p>
            <a:r>
              <a:t>[ДОПУЩЕНИЕ]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расходы350000руб./месяц. Подготовительные расходы2026 свернуты в t0; годовая модель оценивается на условную дату31.12.2026, не заменяет календарь траншей осени2026.</a:t>
            </a:r>
          </a:p>
          <a:p/>
          <a:p>
            <a:r>
              <a:t>[РАСЧЕТ] После оплаты оборудования и запуска на счете2млнруб. Минимум месячного остатка2027 — 950 000руб., конец года — 3 432 000руб. Без поступлений резерв покрывает 5,71месяца постоянных расходов. Отдельная таблица: `data/monthly_cashflow_2027.csv`; отсутствие месячного минуса не исключает внутримесячного разрыва.</a:t>
            </a:r>
          </a:p>
          <a:p/>
          <a:p>
            <a:r>
              <a:t>[ДОПУЩЕНИЕ]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a:t>
            </a:r>
          </a:p>
          <a:p/>
          <a:p>
            <a:r>
              <a:t>### Проверка закупочного бюджета</a:t>
            </a:r>
          </a:p>
          <a:p/>
          <a:p>
            <a:r>
              <a:t>[ДОПУЩЕНИЕ]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a:t>
            </a:r>
          </a:p>
          <a:p/>
          <a:p>
            <a:r>
              <a:t>[ФАКТ]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a:t>
            </a:r>
          </a:p>
          <a:p/>
          <a:p>
            <a:r>
              <a:t>[РАСЧЕТ] Два комплекта стоят 5 980 000 руб., превышение базового лимита — 1 980 000 руб. При прочих равных CAPEX — 8 980 000 руб., финансирование — 11 480 000 руб., NPV — 1 966 443 руб. Это изолированный тест удорожания закупки, не новая полноценная база. Обучение и сопровождение в комплекте нужно исключить из повторного счета после получения КП.</a:t>
            </a:r>
          </a:p>
          <a:p/>
          <a:p>
            <a:r>
              <a:t>[ДОПУЩЕНИЕ]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a:t>
            </a:r>
          </a:p>
          <a:p/>
          <a:p/>
          <a:p>
            <a:r>
              <a:t>[ФАКТ]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a:t>
            </a:r>
          </a:p>
          <a:p/>
          <a:p>
            <a:r>
              <a:t>### Стресс отсрочки оплаты</a:t>
            </a:r>
          </a:p>
          <a:p/>
          <a:p>
            <a:r>
              <a:t>[ДОПУЩЕНИЕ]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a:t>
            </a:r>
          </a:p>
          <a:p/>
          <a:p>
            <a:r>
              <a:t>[РАСЧЕТ]</a:t>
            </a:r>
          </a:p>
          <a:p/>
          <a:p>
            <a:r>
              <a:t>| Отсрочка, мес. | Минимум денег, руб. | Дополнительная ликвидность, руб. |</a:t>
            </a:r>
          </a:p>
          <a:p>
            <a:r>
              <a:t>| --- | --- | --- |</a:t>
            </a:r>
          </a:p>
          <a:p>
            <a:r>
              <a:t>| 1 | 285 200 | 0 |</a:t>
            </a:r>
          </a:p>
          <a:p>
            <a:r>
              <a:t>| 2 | -724 800 | 724 800 |</a:t>
            </a:r>
          </a:p>
          <a:p>
            <a:r>
              <a:t>| 3 | -1 602 800 | 1 602 800 |</a:t>
            </a:r>
          </a:p>
          <a:p/>
          <a:p>
            <a:r>
              <a:t>[ДОПУЩЕНИЕ]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a:t>
            </a:r>
          </a:p>
          <a:p/>
          <a:p>
            <a:r>
              <a:t>[РАСЧЕТ] NPV=−9500000+Σ(FCFₜ/1,24ᵗ)=3 946 443,10 руб. Простая окупаемость 2,676 года; дисконтированная 3,885 года. Доля года — условная интерполяция, а не точная дата при сезонном потоке.</a:t>
            </a:r>
          </a:p>
          <a:p/>
          <a:p>
            <a:r>
              <a:t>| Период | FCF, руб. | Коэффициент | PV, руб. | Накопленный PV |</a:t>
            </a:r>
          </a:p>
          <a:p>
            <a:r>
              <a:t>| --- | --- | --- | --- | --- |</a:t>
            </a:r>
          </a:p>
          <a:p>
            <a:r>
              <a:t>| 0 | -9 500 000,00 | 1,000000 | -9 500 000,00 | -9 500 000,00 |</a:t>
            </a:r>
          </a:p>
          <a:p>
            <a:r>
              <a:t>| 1 | 1 432 000,00 | 0,806452 | 1 154 838,71 | -8 345 161,29 |</a:t>
            </a:r>
          </a:p>
          <a:p>
            <a:r>
              <a:t>| 2 | 4 036 320,00 | 0,650364 | 2 625 078,04 | -5 720 083,25 |</a:t>
            </a:r>
          </a:p>
          <a:p>
            <a:r>
              <a:t>| 3 | 5 961 575,20 | 0,524487 | 3 126 770,25 | -2 593 313,00 |</a:t>
            </a:r>
          </a:p>
          <a:p>
            <a:r>
              <a:t>| 4 | 6 930 350,56 | 0,422974 | 2 931 355,31 | 338 042,31 |</a:t>
            </a:r>
          </a:p>
          <a:p>
            <a:r>
              <a:t>| 5 | 10 578 478,20 | 0,341108 | 3 608 400,79 | 3 946 443,10 |</a:t>
            </a:r>
          </a:p>
          <a:p/>
          <a:p>
            <a:r>
              <a:t>[РАСЧЕТ] Если бизнес продолжает работу и резерв не высвобождается, NPV без возврата 2 млн составляет 3 264 227,62 руб. Это отдельная проверка терминального допущения, не прибавка стоимости бизнеса.</a:t>
            </a:r>
          </a:p>
          <a:p/>
          <a:p>
            <a:r>
              <a:t>[РАСЧЕТ] Чувствительность (каждый стресс отдельно, горизонт не удлиняется):</a:t>
            </a:r>
          </a:p>
          <a:p/>
          <a:p>
            <a:r>
              <a:t>| Сценарий | NPV,руб. | Простая окупаемость,лет | Дисконтированная,лет |</a:t>
            </a:r>
          </a:p>
          <a:p>
            <a:r>
              <a:t>| --- | --- | --- | --- |</a:t>
            </a:r>
          </a:p>
          <a:p>
            <a:r>
              <a:t>| База | 3 946 443,10 | 2,676 | 3,885 |</a:t>
            </a:r>
          </a:p>
          <a:p>
            <a:r>
              <a:t>| Оба тарифа−10% | 44 872,94 | 3,366 | 5,000 |</a:t>
            </a:r>
          </a:p>
          <a:p>
            <a:r>
              <a:t>| Оба объема−25% | -2 638 836,29 | 4,141 | Не достигнута |</a:t>
            </a:r>
          </a:p>
          <a:p>
            <a:r>
              <a:t>| Переменные+20% | 1 411 526,29 | 3,089 | 4,702 |</a:t>
            </a:r>
          </a:p>
          <a:p>
            <a:r>
              <a:t>| Задержка 1 год | -1 433 041,24 | 3,793 | Не достигнута |</a:t>
            </a:r>
          </a:p>
          <a:p>
            <a:r>
              <a:t>| Внесение 900 руб. в 2027; мониторинг без изменения | -6 605 370,13 | Не достигнута | Не достигнута |</a:t>
            </a:r>
          </a:p>
          <a:p/>
          <a:p>
            <a:r>
              <a:t>[ДОПУЩЕНИЕ]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a:t>
            </a:r>
          </a:p>
          <a:p/>
          <a:p>
            <a:r>
              <a:t>[РАСЧЕТ] Снижение тарифа на 10% почти обнуляет NPV; дисконтированная окупаемость этого стресса наступает только в конце Y5 с возвратом резерва. При недозагрузке 25% либо годовой задержке дисконтированная окупаемость за 5 лет не достигается. Основное условие вложения капитала — проверка готовности клиентов оплачивать именно плановый тариф.</a:t>
            </a:r>
          </a:p>
          <a:p/>
          <a:p>
            <a:r>
              <a:t>### Дополнительные воспроизводимые сценарии</a:t>
            </a:r>
          </a:p>
          <a:p/>
          <a:p>
            <a:r>
              <a:t>[ДОПУЩЕНИЕ]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a:t>
            </a:r>
          </a:p>
          <a:p/>
          <a:p>
            <a:r>
              <a:t>[РАСЧЕТ]</a:t>
            </a:r>
          </a:p>
          <a:p/>
          <a:p>
            <a:r>
              <a:t>| Сценарий | Финансирование, руб. | Выручка 2027, руб. | NPV, руб. |</a:t>
            </a:r>
          </a:p>
          <a:p>
            <a:r>
              <a:t>| --- | --- | --- | --- |</a:t>
            </a:r>
          </a:p>
          <a:p>
            <a:r>
              <a:t>| Мониторинг = внесение / 3 во все пять лет; не базовая выручка | 9 500 000 | 8 300 000 | 2 080 329,92 |</a:t>
            </a:r>
          </a:p>
          <a:p>
            <a:r>
              <a:t>| Два публичных ценника по 2,99 млн вместо лимита 4 млн; прочее неизменно; не полное КП | 11 480 000 | 8 800 000 | 1 966 443,10 |</a:t>
            </a:r>
          </a:p>
          <a:p>
            <a:r>
              <a:t>| Оба тарифа −10%; оба объема −25%; CAPEX +1,98 млн; исходный горизонт | 11 480 000 | 5 940 000 | -7 545 013,92 |</a:t>
            </a:r>
          </a:p>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a:t>
            </a:r>
          </a:p>
          <a:p/>
          <a:p>
            <a:r>
              <a:t>| Назначение | Сумма, млн руб. | Контроль использования |</a:t>
            </a:r>
          </a:p>
          <a:p>
            <a:r>
              <a:t>|---|---:|---|</a:t>
            </a:r>
          </a:p>
          <a:p>
            <a:r>
              <a:t>| CAPEX | 7,0 | Спецификация основного, резервного и мониторингового аппаратов, транспорта и оснащения; приемка |</a:t>
            </a:r>
          </a:p>
          <a:p>
            <a:r>
              <a:t>| Стартовые расходы | 0,5 | Подготовка запуска, первоначальное обучение и организационные услуги без повторного учета в CAPEX |</a:t>
            </a:r>
          </a:p>
          <a:p>
            <a:r>
              <a:t>| Оборотный резерв | 2,0 | Покрытие временного дефицита денег по платежному календарю |</a:t>
            </a:r>
          </a:p>
          <a:p>
            <a:r>
              <a:t>| Всего | 9,5 | [РАСЧЕТ] 7,0 + 0,5 + 2,0 |</a:t>
            </a:r>
          </a:p>
          <a:p/>
          <a:p>
            <a:r>
              <a:t>[ДОПУЩЕНИЕ]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a:t>
            </a:r>
          </a:p>
          <a:p/>
          <a:p>
            <a:r>
              <a:t>| Источник | Вклад, млн руб. | Условие |</a:t>
            </a:r>
          </a:p>
          <a:p>
            <a:r>
              <a:t>|---|---:|---|</a:t>
            </a:r>
          </a:p>
          <a:p>
            <a:r>
              <a:t>| Учредитель | 2,5 | Подтвержденная доступность денег и оформление вклада |</a:t>
            </a:r>
          </a:p>
          <a:p>
            <a:r>
              <a:t>| Внешний долевой инвестор | 7,0 | Проверка модели, юридическая готовность и подписанные условия |</a:t>
            </a:r>
          </a:p>
          <a:p>
            <a:r>
              <a:t>| Итого | 9,5 | [РАСЧЕТ] 2,5 + 7,0; соответствует стартовой потребности |</a:t>
            </a:r>
          </a:p>
          <a:p/>
          <a:p>
            <a:r>
              <a:t>[ДОПУЩЕНИЕ]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a:t>
            </a:r>
          </a:p>
          <a:p/>
          <a:p>
            <a:r>
              <a:t>[ДОПУЩЕНИЕ]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a:t>
            </a:r>
          </a:p>
          <a:p/>
          <a:p>
            <a:r>
              <a:t>[ДОПУЩЕНИЕ]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a:t>
            </a:r>
          </a:p>
          <a:p/>
          <a:p>
            <a:r>
              <a:t>Комментарий к слайду:</a:t>
            </a:r>
          </a:p>
          <a:p>
            <a:r>
              <a:t>2,5 + 7,0 млн покрывают только базовые 9,5 млн. При закупочном стрессе нужно еще 1,98 млн; при неизменном вкладе учредителя внешний вклад 8,98 млн. Дополнительное финансирование не подтверждено. Без нового решения закупка не проводится.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[РАСЧЕТ] Сводные показатели из тех же исходных данных:</a:t>
            </a:r>
          </a:p>
          <a:p/>
          <a:p>
            <a:r>
              <a:t>| Показатель | 2027 | 2031 |</a:t>
            </a:r>
          </a:p>
          <a:p>
            <a:r>
              <a:t>| --- | --- | --- |</a:t>
            </a:r>
          </a:p>
          <a:p>
            <a:r>
              <a:t>| Га-проходы внесения | 6000 | 13000 |</a:t>
            </a:r>
          </a:p>
          <a:p>
            <a:r>
              <a:t>| Га-обследования | 4000 | 10000 |</a:t>
            </a:r>
          </a:p>
          <a:p>
            <a:r>
              <a:t>| Загрузка потолка внесения | 46,2% | 100% |</a:t>
            </a:r>
          </a:p>
          <a:p>
            <a:r>
              <a:t>| Бригады / штат | 1 /3FTE | 1 /3FTE |</a:t>
            </a:r>
          </a:p>
          <a:p>
            <a:r>
              <a:t>| Выручка,руб. | 8 800 000 | 22 695 256 |</a:t>
            </a:r>
          </a:p>
          <a:p>
            <a:r>
              <a:t>| EBITDA,руб. | 1 960 000 | 10 540 194 |</a:t>
            </a:r>
          </a:p>
          <a:p>
            <a:r>
              <a:t>| Рентабельность EBITDA | 22,3% | 46,4% |</a:t>
            </a:r>
          </a:p>
          <a:p>
            <a:r>
              <a:t>| FCF,руб. | 1 432 000 | 10 578 478 |</a:t>
            </a:r>
          </a:p>
          <a:p>
            <a:r>
              <a:t>| Выручка на FTE,руб. | 2 933 333 | 7 565 085 |</a:t>
            </a:r>
          </a:p>
          <a:p/>
          <a:p>
            <a:r>
              <a:t>[ДОПУЩЕНИЕ]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a:t>
            </a:r>
          </a:p>
          <a:p/>
          <a:p>
            <a:r>
              <a:t>[РАСЧЕТ] Обе услуги требуют 54,15 эффективного дня в 2027 и 120 в 2031; это не гарантированные доступные смены. FCF 2031 до высвобождения резерва: 8 578 478,20 руб.; возврат резерва отдельно 2 млн руб. [ДОПУЩЕНИЕ] Поздняя база ресурсно не подтверждена.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a:t>
            </a:r>
          </a:p>
          <a:p/>
          <a:p>
            <a:r>
              <a:t>| Риск | Вероятность | Воздействие | Меры снижения | Остаточный риск В/У | Владелец | Триггер |</a:t>
            </a:r>
          </a:p>
          <a:p>
            <a:r>
              <a:t>|---|---|---|---|---|---|---|</a:t>
            </a:r>
          </a:p>
          <a:p>
            <a:r>
              <a:t>|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a:t>
            </a:r>
          </a:p>
          <a:p>
            <a:r>
              <a:t>|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a:t>
            </a:r>
          </a:p>
          <a:p>
            <a:r>
              <a:t>| Недозагрузка | С | В | Проверка заявок, пилот, договоры до сезона; отказ от расширения | С/С | Директор | Объем подтвержденных заказов ниже плана |</a:t>
            </a:r>
          </a:p>
          <a:p>
            <a:r>
              <a:t>|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a:t>
            </a:r>
          </a:p>
          <a:p>
            <a:r>
              <a:t>|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a:t>
            </a:r>
          </a:p>
          <a:p>
            <a:r>
              <a:t>|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a:t>
            </a:r>
          </a:p>
          <a:p>
            <a:r>
              <a:t>|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a:t>
            </a:r>
          </a:p>
          <a:p>
            <a:r>
              <a:t>|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a:t>
            </a:r>
          </a:p>
          <a:p>
            <a:r>
              <a:t>|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a:t>
            </a:r>
          </a:p>
          <a:p>
            <a:r>
              <a:t>|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a:t>
            </a:r>
          </a:p>
          <a:p/>
          <a:p>
            <a:r>
              <a:t>[ДОПУЩЕНИЕ]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a:t>
            </a:r>
          </a:p>
          <a:p/>
          <a:p>
            <a:r>
              <a:t>[ДОПУЩЕНИЕ]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a:t>
            </a:r>
          </a:p>
          <a:p/>
          <a:p>
            <a:r>
              <a:t>## Sources</a:t>
            </a:r>
          </a:p>
          <a:p/>
          <a:p>
            <a:r>
              <a:t>[2] https://beeuav.ru/uslugi/obrabotka-polej — Обработка полей дронами в сельском хозяйстве | Точное опрыскивание до 10 га/час</a:t>
            </a:r>
          </a:p>
          <a:p>
            <a:r>
              <a:t>[3] https://xag-ap.ru — Агродроны XAG для опрыскивания полей — купить в Поволжье</a:t>
            </a:r>
          </a:p>
          <a:p>
            <a:r>
              <a:t>[4] https://xag-ap.ru/spraying.php — Обработка полей дроном — опрыскивание, посев | Агропрофи</a:t>
            </a:r>
          </a:p>
          <a:p>
            <a:r>
              <a:t>[5] https://xn--80aai6cg.xn--p1ai — Агродроны и инновации для сельского хозяйства</a:t>
            </a:r>
          </a:p>
          <a:p>
            <a:r>
              <a:t>[6] https://germes-technology.ru — Агродроны «Гермес»</a:t>
            </a:r>
          </a:p>
          <a:p>
            <a:r>
              <a:t>[7] https://agrdron.ru — Агродроны ЮФО — обработка полей агродронами</a:t>
            </a:r>
          </a:p>
          <a:p>
            <a:r>
              <a:t>[8] https://www.vesti.ru/article/4893778 — Лут: в 2025 году в РФ обработали около 600 тысяч га полей с помощью агродронов - Новости на Вести.ru</a:t>
            </a:r>
          </a:p>
          <a:p>
            <a:r>
              <a:t>[9] https://www.rshb.ru/news/16072026-000004 — День поля: площадь обработанных агродронами полей в России в 2026 году вырастет на треть – РСХБ</a:t>
            </a:r>
          </a:p>
          <a:p>
            <a:r>
              <a:t>[11] https://pravo.ppt.ru/fz/228-fz-343389 — Федеральный закон от 04.07.2026 № 228-ФЗ О внесении изменений в статью 145 части второй Налогового кодекса Российской Федерации (в редакции от 05.09.2026)</a:t>
            </a:r>
          </a:p>
          <a:p>
            <a:r>
              <a:t>[12] https://www.nalog.gov.ru/rn33/news/tax_doc_news/16636398 — Порог доходов для уплаты НДС на УСН сохранён на уровне 20 млн рублей до 2029 года |  ФНС России  | 33 Владимирская область</a:t>
            </a:r>
          </a:p>
          <a:p>
            <a:r>
              <a:t>[14] https://www.nalog.gov.ru/rn77/taxation/taxes/usn — Упрощенная система налогообложения |  ФНС России  | 77 город Москва</a:t>
            </a:r>
          </a:p>
          <a:p>
            <a:r>
              <a:t>[15] https://www.consultant.ru/document/cons_doc_LAW_13744/009711b4b9730b8597cfd79d7160a30bcae04d60 — ВЗК РФ Статья 33. Государственная регистрация и государственный учет воздушных судов \ КонсультантПлюс</a:t>
            </a:r>
          </a:p>
          <a:p>
            <a:r>
              <a:t>[16] http://publication.pravo.gov.ru/document/0001202608280041 — Приказ Министерства транспорта Российской Федерации от 02.07.2026 № 303 ∙ Официальное опубликование правовых актов</a:t>
            </a:r>
          </a:p>
          <a:p>
            <a:r>
              <a:t>[17] https://base.garant.ru/414829385 — Приказ Министерства транспорта Российской Федерации от 02.07.2026 № 303 “Об утверждении Федеральных авиационных правил «Требования к эксплуатанту, выполняющему авиационные работы, и порядок выдачи ему документа, подтверждающего соответствие требованиям федеральных авиационных правил” | ГАРАНТ</a:t>
            </a:r>
          </a:p>
          <a:p>
            <a:r>
              <a:t>[18] http://publication.pravo.gov.ru/document/0001202602270023?index=2 — Постановление Главного государственного санитарного врача Российской Федерации от 12.02.2026 № 2 ∙ Официальное опубликование правовых актов</a:t>
            </a:r>
          </a:p>
          <a:p>
            <a:r>
              <a:t>[19] https://www.consultant.ru/document/cons_doc_LAW_527669/4e1be0f3b6a61b723c0f41a8cdd22c5410404e57 — ИЗМЕНЕНИЯ, ВНОСИМЫЕ В САНИТАРНЫЕ ПРАВИЛА И НОРМЫ САНПИН 2.1.3684-21 "САНИТАРНО-ЭПИДЕМИОЛОГИЧЕСКИЕ ТРЕБОВАНИЯ К СОДЕРЖАНИЮ ТЕРРИТОРИЙ ГОРОДСКИХ И СЕЛЬСКИХ ПОСЕЛЕНИЙ, К ВОДНЫМ ОБЪЕКТАМ, ПИТЬЕВОЙ ВОДЕ И ПИТЬЕВОМУ ВОДОСНАБЖЕНИЮ, АТМОСФЕРНОМУ ВОЗДУХУ,... \ КонсультантПлюс</a:t>
            </a:r>
          </a:p>
          <a:p>
            <a:r>
              <a:t>[20] http://publication.pravo.gov.ru/document/0001202606020080?index=49 — Постановление Главного государственного санитарного врача Российской Федерации от 02.06.2026 № 15 ∙ Официальное опубликование правовых актов</a:t>
            </a:r>
          </a:p>
          <a:p>
            <a:r>
              <a:t>[21] https://www.consultant.ru/document/cons_doc_LAW_535845/92d969e26a4326c5d02fa79b8f9cf4994ee5633b — ФЕДЕРАЛЬНАЯ СЛУЖБА ПО НАДЗОРУ В СФЕРЕ ЗАЩИТЫ ПРАВ ПОТРЕБИТЕЛЕЙ И БЛАГОПОЛУЧИЯ ЧЕЛОВЕКА ГЛАВНЫЙ ГОСУДАРСТВЕННЫЙ САНИТАРНЫЙ ВРАЧ РОССИЙСКОЙ ФЕДЕРАЦИИ ПОСТАНОВЛЕНИЕ от 2 июня 2026 г. N 15 ОБ УТВЕРЖДЕНИИ САНИТАРНЫХ ПРАВИЛ СП 2.2.4285-26... \ КонсультантПлюс</a:t>
            </a:r>
          </a:p>
          <a:p>
            <a:r>
              <a:t>[26] http://static.government.ru/media/files/3m4AHa9s3PrYTDr316ibUtyEVUpnRT2x.pdf — Стратегия БАС, распоряжение 1630-р</a:t>
            </a:r>
          </a:p>
          <a:p>
            <a:r>
              <a:t>[27] https://tk-expert.ru/uploads/files/docs/%D0%9F%D0%9E%D0%A1%D0%A2%D0%90%D0%9D%D0%9E%D0%92%D0%9B%D0%95%D0%9D%D0%98%D0%95%2002.06.2026%20N15%20%D0%A1%D0%90%D0%9D%D0%98%D0%A2%D0%90%D0%A0%D0%9D%D0%AB%D0%A5%20%D0%9F%D0%A0%D0%90%D0%92%D0%98%D0%9B%20%D0%A1%D0%9F%2002.2.4285-26%20%D0%A1%D0%90%D0%9D%D0%98%D0%A2%D0%90%D0%A0%D0%9D%D0%9E-%D0%AD%D0%9F%D0%98%D0%94%D0%95%D0%9C%D0%98%D0%9E%D0%9B%D0%9E%D0%93%D0%98%D0%A7%D0%95%D0%A1%D0%9A%D0%98%D0%95%20%D0%A2%D0%A0%D0%95%D0%91.%D0%9A%20%D0%A3%D0%A1%D0%9B%D0%9E%D0%92%D0%98%D0%AF%D0%9C%20%D0%A2%D0%A0%D0%A3%D0%94%D0%90.pdf — СП 2.2.4285-26, текст постановления 02.06.2026 №15 (копия)</a:t>
            </a:r>
          </a:p>
          <a:p>
            <a:r>
              <a:t>[28] https://www.nalog.gov.ru/rn77/taxation/taxes/nds_usn — https://www.nalog.gov.ru/rn77/taxation/taxes/nds_usn/</a:t>
            </a:r>
          </a:p>
          <a:p>
            <a:r>
              <a:t>[29] https://xag-ap.ru/p100pro.php — Агропрофи: XAG P100 Pro, карточка модели</a:t>
            </a:r>
          </a:p>
          <a:p>
            <a:r>
              <a:t>[30] https://www.xa.com/en/p100pro/p100prospecs — XAG P100 Pro: официальная спецификация</a:t>
            </a:r>
          </a:p>
          <a:p>
            <a:r>
              <a:t>[31] https://16.fsvps.gov.ru/news/s-1-marta-2026-goda-vstupili-v-zakonnuyu-silu-izmeneniya-v-zakonodatelstvo-rf-kasayushhiesya-primeneniya-pesticzidov-i-agrohimikatov — Россельхознадзор: уведомления и ФГИС Сатурн с 01.03.2026</a:t>
            </a:r>
          </a:p>
          <a:p>
            <a:r>
              <a:t>[32] http://publication.pravo.gov.ru/Document/View/1600202211300002 — Указ Республики Татарстан от 25.11.2022 № УП-813</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Резюме</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Концепция сервиса  •  [РАСЧЕТ] Финансы базового сценария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01 / 22</a:t>
            </a:r>
          </a:p>
        </p:txBody>
      </p:sp>
      <p:sp>
        <p:nvSpPr>
          <p:cNvPr id="7" name="TextBox 6"/>
          <p:cNvSpPr txBox="1"/>
          <p:nvPr/>
        </p:nvSpPr>
        <p:spPr>
          <a:xfrm>
            <a:off x="594360" y="1764792"/>
            <a:ext cx="6400800" cy="914400"/>
          </a:xfrm>
          <a:prstGeom prst="rect">
            <a:avLst/>
          </a:prstGeom>
          <a:noFill/>
        </p:spPr>
        <p:txBody>
          <a:bodyPr wrap="square" lIns="13716" rIns="13716" tIns="0" bIns="0">
            <a:spAutoFit/>
          </a:bodyPr>
          <a:lstStyle/>
          <a:p>
            <a:pPr>
              <a:spcBef>
                <a:spcPts val="0"/>
              </a:spcBef>
              <a:spcAft>
                <a:spcPts val="500"/>
              </a:spcAft>
              <a:defRPr sz="4800" b="1">
                <a:solidFill>
                  <a:srgbClr val="FFFFFF"/>
                </a:solidFill>
                <a:latin typeface="Aptos"/>
              </a:defRPr>
            </a:pPr>
            <a:r>
              <a:t>АгроВектор</a:t>
            </a:r>
          </a:p>
        </p:txBody>
      </p:sp>
      <p:sp>
        <p:nvSpPr>
          <p:cNvPr id="8" name="TextBox 7"/>
          <p:cNvSpPr txBox="1"/>
          <p:nvPr/>
        </p:nvSpPr>
        <p:spPr>
          <a:xfrm>
            <a:off x="640080" y="2743200"/>
            <a:ext cx="5943600" cy="1051560"/>
          </a:xfrm>
          <a:prstGeom prst="rect">
            <a:avLst/>
          </a:prstGeom>
          <a:noFill/>
        </p:spPr>
        <p:txBody>
          <a:bodyPr wrap="square" lIns="13716" rIns="13716" tIns="0" bIns="0">
            <a:spAutoFit/>
          </a:bodyPr>
          <a:lstStyle/>
          <a:p>
            <a:pPr>
              <a:spcBef>
                <a:spcPts val="0"/>
              </a:spcBef>
              <a:spcAft>
                <a:spcPts val="500"/>
              </a:spcAft>
              <a:defRPr sz="2500" b="0">
                <a:solidFill>
                  <a:srgbClr val="FFFFFF"/>
                </a:solidFill>
                <a:latin typeface="Aptos"/>
              </a:defRPr>
            </a:pPr>
            <a:r>
              <a:t>Мониторинг посевов и точечное внесение</a:t>
            </a:r>
          </a:p>
          <a:p>
            <a:pPr>
              <a:spcBef>
                <a:spcPts val="0"/>
              </a:spcBef>
              <a:spcAft>
                <a:spcPts val="500"/>
              </a:spcAft>
              <a:defRPr sz="2500" b="0">
                <a:solidFill>
                  <a:srgbClr val="FFFFFF"/>
                </a:solidFill>
                <a:latin typeface="Aptos"/>
              </a:defRPr>
            </a:pPr>
            <a:r>
              <a:t>с проверяемым заданием и отчетом</a:t>
            </a:r>
          </a:p>
        </p:txBody>
      </p:sp>
      <p:sp>
        <p:nvSpPr>
          <p:cNvPr id="9" name="TextBox 8"/>
          <p:cNvSpPr txBox="1"/>
          <p:nvPr/>
        </p:nvSpPr>
        <p:spPr>
          <a:xfrm>
            <a:off x="640080" y="4142232"/>
            <a:ext cx="5669280" cy="914400"/>
          </a:xfrm>
          <a:prstGeom prst="rect">
            <a:avLst/>
          </a:prstGeom>
          <a:noFill/>
        </p:spPr>
        <p:txBody>
          <a:bodyPr wrap="square" lIns="13716" rIns="13716" tIns="0" bIns="0">
            <a:spAutoFit/>
          </a:bodyPr>
          <a:lstStyle/>
          <a:p>
            <a:pPr>
              <a:spcBef>
                <a:spcPts val="0"/>
              </a:spcBef>
              <a:spcAft>
                <a:spcPts val="500"/>
              </a:spcAft>
              <a:defRPr sz="1800" b="0">
                <a:solidFill>
                  <a:srgbClr val="B4C4B8"/>
                </a:solidFill>
                <a:latin typeface="Aptos"/>
              </a:defRPr>
            </a:pPr>
            <a:r>
              <a:t>Одна бригада • Татарстан — условная зона</a:t>
            </a:r>
          </a:p>
          <a:p>
            <a:pPr>
              <a:spcBef>
                <a:spcPts val="0"/>
              </a:spcBef>
              <a:spcAft>
                <a:spcPts val="500"/>
              </a:spcAft>
              <a:defRPr sz="1800" b="0">
                <a:solidFill>
                  <a:srgbClr val="B4C4B8"/>
                </a:solidFill>
                <a:latin typeface="Aptos"/>
              </a:defRPr>
            </a:pPr>
            <a:r>
              <a:t>Гражданская переподготовка специалистов БПЛА</a:t>
            </a:r>
          </a:p>
        </p:txBody>
      </p:sp>
      <p:sp>
        <p:nvSpPr>
          <p:cNvPr id="10" name="Rounded Rectangle 9"/>
          <p:cNvSpPr/>
          <p:nvPr/>
        </p:nvSpPr>
        <p:spPr>
          <a:xfrm>
            <a:off x="6629400" y="1755648"/>
            <a:ext cx="2423160" cy="341071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12280" y="1938528"/>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9,5</a:t>
            </a:r>
          </a:p>
        </p:txBody>
      </p:sp>
      <p:sp>
        <p:nvSpPr>
          <p:cNvPr id="13" name="TextBox 12"/>
          <p:cNvSpPr txBox="1"/>
          <p:nvPr/>
        </p:nvSpPr>
        <p:spPr>
          <a:xfrm>
            <a:off x="6830568"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млн ₽</a:t>
            </a:r>
          </a:p>
        </p:txBody>
      </p:sp>
      <p:sp>
        <p:nvSpPr>
          <p:cNvPr id="14" name="TextBox 13"/>
          <p:cNvSpPr txBox="1"/>
          <p:nvPr/>
        </p:nvSpPr>
        <p:spPr>
          <a:xfrm>
            <a:off x="6830568"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Стартовая потребность</a:t>
            </a:r>
          </a:p>
        </p:txBody>
      </p:sp>
      <p:sp>
        <p:nvSpPr>
          <p:cNvPr id="15" name="Rounded Rectangle 14"/>
          <p:cNvSpPr/>
          <p:nvPr/>
        </p:nvSpPr>
        <p:spPr>
          <a:xfrm>
            <a:off x="9253728" y="1755648"/>
            <a:ext cx="2423160" cy="341071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36607" y="1938528"/>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4896"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3,95</a:t>
            </a:r>
          </a:p>
        </p:txBody>
      </p:sp>
      <p:sp>
        <p:nvSpPr>
          <p:cNvPr id="18" name="TextBox 17"/>
          <p:cNvSpPr txBox="1"/>
          <p:nvPr/>
        </p:nvSpPr>
        <p:spPr>
          <a:xfrm>
            <a:off x="9454896"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млн ₽ NPV</a:t>
            </a:r>
          </a:p>
        </p:txBody>
      </p:sp>
      <p:sp>
        <p:nvSpPr>
          <p:cNvPr id="19" name="TextBox 18"/>
          <p:cNvSpPr txBox="1"/>
          <p:nvPr/>
        </p:nvSpPr>
        <p:spPr>
          <a:xfrm>
            <a:off x="9454896"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Ставка 24%; горизонт 5 лет</a:t>
            </a:r>
          </a:p>
        </p:txBody>
      </p:sp>
      <p:sp>
        <p:nvSpPr>
          <p:cNvPr id="20" name="Rounded Rectangle 19"/>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Решение: поэтапное финансирование после правовой проверки и подтверждения спроса</a:t>
            </a:r>
          </a:p>
        </p:txBody>
      </p:sp>
      <p:sp>
        <p:nvSpPr>
          <p:cNvPr id="22"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6720840" y="4261104"/>
            <a:ext cx="914400"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214616" y="4261104"/>
            <a:ext cx="813815"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708392" y="4261104"/>
            <a:ext cx="713232"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202167" y="4261104"/>
            <a:ext cx="612649"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695944" y="4261104"/>
            <a:ext cx="512064"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189720" y="4261104"/>
            <a:ext cx="411480"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683496" y="4261104"/>
            <a:ext cx="310896"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177272" y="4261104"/>
            <a:ext cx="210312"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671048" y="4261104"/>
            <a:ext cx="109728" cy="987552"/>
          </a:xfrm>
          <a:prstGeom prst="line">
            <a:avLst/>
          </a:prstGeom>
          <a:ln w="15240">
            <a:solidFill>
              <a:srgbClr val="3C5D4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8366759" y="4416552"/>
            <a:ext cx="731521"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129015" y="4334256"/>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9098280" y="4416552"/>
            <a:ext cx="731520"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9592056" y="4334256"/>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8366759" y="4617720"/>
            <a:ext cx="731521"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129015" y="4736592"/>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9098280" y="4617720"/>
            <a:ext cx="731520" cy="201168"/>
          </a:xfrm>
          <a:prstGeom prst="line">
            <a:avLst/>
          </a:prstGeom>
          <a:ln w="38100">
            <a:solidFill>
              <a:srgbClr val="D7EF8B"/>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9592056" y="4736592"/>
            <a:ext cx="475488" cy="164592"/>
          </a:xfrm>
          <a:prstGeom prst="ellipse">
            <a:avLst/>
          </a:prstGeom>
          <a:noFill/>
          <a:ln w="22860">
            <a:solidFill>
              <a:srgbClr val="D7EF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897111" y="4489704"/>
            <a:ext cx="402336" cy="256032"/>
          </a:xfrm>
          <a:prstGeom prst="round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SMART-цели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02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4709160"/>
                <a:gridCol w="2103120"/>
                <a:gridCol w="4370832"/>
              </a:tblGrid>
              <a:tr h="502920">
                <a:tc>
                  <a:txBody>
                    <a:bodyPr/>
                    <a:lstStyle/>
                    <a:p>
                      <a:pPr>
                        <a:spcAft>
                          <a:spcPts val="0"/>
                        </a:spcAft>
                        <a:defRPr sz="1500" b="1">
                          <a:solidFill>
                            <a:srgbClr val="FFFFFF"/>
                          </a:solidFill>
                          <a:latin typeface="Arial"/>
                        </a:defRPr>
                      </a:pPr>
                      <a:r>
                        <a:t>Цель / результат</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Срок</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Подтверждение</a:t>
                      </a:r>
                    </a:p>
                  </a:txBody>
                  <a:tcPr marL="91440" marR="91440" marT="45720" marB="45720">
                    <a:solidFill>
                      <a:srgbClr val="224C3B"/>
                    </a:solidFill>
                  </a:tcPr>
                </a:tc>
              </a:tr>
              <a:tr h="502920">
                <a:tc>
                  <a:txBody>
                    <a:bodyPr/>
                    <a:lstStyle/>
                    <a:p>
                      <a:pPr>
                        <a:spcAft>
                          <a:spcPts val="0"/>
                        </a:spcAft>
                        <a:defRPr sz="1500" b="0">
                          <a:solidFill>
                            <a:srgbClr val="182F28"/>
                          </a:solidFill>
                          <a:latin typeface="Arial"/>
                        </a:defRPr>
                      </a:pPr>
                      <a:r>
                        <a:t>Правовая карта всех полей; GO/NO-GO</a:t>
                      </a:r>
                    </a:p>
                  </a:txBody>
                  <a:tcPr marL="91440" marR="91440" marT="45720" marB="45720">
                    <a:solidFill>
                      <a:srgbClr val="FFFFFF"/>
                    </a:solidFill>
                  </a:tcPr>
                </a:tc>
                <a:tc>
                  <a:txBody>
                    <a:bodyPr/>
                    <a:lstStyle/>
                    <a:p>
                      <a:pPr>
                        <a:spcAft>
                          <a:spcPts val="0"/>
                        </a:spcAft>
                        <a:defRPr sz="1500" b="0">
                          <a:solidFill>
                            <a:srgbClr val="182F28"/>
                          </a:solidFill>
                          <a:latin typeface="Arial"/>
                        </a:defRPr>
                      </a:pPr>
                      <a:r>
                        <a:t>01.11.2026</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заключение юриста</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20 интервью; заявки: 6 000 / 4 000</a:t>
                      </a:r>
                    </a:p>
                  </a:txBody>
                  <a:tcPr marL="91440" marR="91440" marT="45720" marB="45720">
                    <a:solidFill>
                      <a:srgbClr val="F4F2E9"/>
                    </a:solidFill>
                  </a:tcPr>
                </a:tc>
                <a:tc>
                  <a:txBody>
                    <a:bodyPr/>
                    <a:lstStyle/>
                    <a:p>
                      <a:pPr>
                        <a:spcAft>
                          <a:spcPts val="0"/>
                        </a:spcAft>
                        <a:defRPr sz="1500" b="0">
                          <a:solidFill>
                            <a:srgbClr val="182F28"/>
                          </a:solidFill>
                          <a:latin typeface="Arial"/>
                        </a:defRPr>
                      </a:pPr>
                      <a:r>
                        <a:t>29.11.2026</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Директор; реестр заявок</a:t>
                      </a:r>
                    </a:p>
                  </a:txBody>
                  <a:tcPr marL="91440" marR="91440" marT="45720" marB="45720">
                    <a:solidFill>
                      <a:srgbClr val="F4F2E9"/>
                    </a:solidFill>
                  </a:tcPr>
                </a:tc>
              </a:tr>
              <a:tr h="502920">
                <a:tc>
                  <a:txBody>
                    <a:bodyPr/>
                    <a:lstStyle/>
                    <a:p>
                      <a:pPr>
                        <a:spcAft>
                          <a:spcPts val="0"/>
                        </a:spcAft>
                        <a:defRPr sz="1500" b="0">
                          <a:solidFill>
                            <a:srgbClr val="182F28"/>
                          </a:solidFill>
                          <a:latin typeface="Arial"/>
                        </a:defRPr>
                      </a:pPr>
                      <a:r>
                        <a:t>10 клиентов; договоры: 6 000 / 4 000</a:t>
                      </a:r>
                    </a:p>
                  </a:txBody>
                  <a:tcPr marL="91440" marR="91440" marT="45720" marB="45720">
                    <a:solidFill>
                      <a:srgbClr val="FFFFFF"/>
                    </a:solidFill>
                  </a:tcPr>
                </a:tc>
                <a:tc>
                  <a:txBody>
                    <a:bodyPr/>
                    <a:lstStyle/>
                    <a:p>
                      <a:pPr>
                        <a:spcAft>
                          <a:spcPts val="0"/>
                        </a:spcAft>
                        <a:defRPr sz="1500" b="0">
                          <a:solidFill>
                            <a:srgbClr val="182F28"/>
                          </a:solidFill>
                          <a:latin typeface="Arial"/>
                        </a:defRPr>
                      </a:pPr>
                      <a:r>
                        <a:t>21.03.2027</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договоры и календарь</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3 аппарата; 2 оператора; пилот 100 га</a:t>
                      </a:r>
                    </a:p>
                  </a:txBody>
                  <a:tcPr marL="91440" marR="91440" marT="45720" marB="45720">
                    <a:solidFill>
                      <a:srgbClr val="F4F2E9"/>
                    </a:solidFill>
                  </a:tcPr>
                </a:tc>
                <a:tc>
                  <a:txBody>
                    <a:bodyPr/>
                    <a:lstStyle/>
                    <a:p>
                      <a:pPr>
                        <a:spcAft>
                          <a:spcPts val="0"/>
                        </a:spcAft>
                        <a:defRPr sz="1500" b="0">
                          <a:solidFill>
                            <a:srgbClr val="182F28"/>
                          </a:solidFill>
                          <a:latin typeface="Arial"/>
                        </a:defRPr>
                      </a:pPr>
                      <a:r>
                        <a:t>30.04.2027</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Опер. руководитель; акты и допуски</a:t>
                      </a:r>
                    </a:p>
                  </a:txBody>
                  <a:tcPr marL="91440" marR="91440" marT="45720" marB="45720">
                    <a:solidFill>
                      <a:srgbClr val="F4F2E9"/>
                    </a:solidFill>
                  </a:tcPr>
                </a:tc>
              </a:tr>
              <a:tr h="502920">
                <a:tc>
                  <a:txBody>
                    <a:bodyPr/>
                    <a:lstStyle/>
                    <a:p>
                      <a:pPr>
                        <a:spcAft>
                          <a:spcPts val="0"/>
                        </a:spcAft>
                        <a:defRPr sz="1500" b="0">
                          <a:solidFill>
                            <a:srgbClr val="182F28"/>
                          </a:solidFill>
                          <a:latin typeface="Arial"/>
                        </a:defRPr>
                      </a:pPr>
                      <a:r>
                        <a:t>6 000 / 4 000; выручка 8,8 млн ₽</a:t>
                      </a:r>
                    </a:p>
                  </a:txBody>
                  <a:tcPr marL="91440" marR="91440" marT="45720" marB="45720">
                    <a:solidFill>
                      <a:srgbClr val="FFFFFF"/>
                    </a:solidFill>
                  </a:tcPr>
                </a:tc>
                <a:tc>
                  <a:txBody>
                    <a:bodyPr/>
                    <a:lstStyle/>
                    <a:p>
                      <a:pPr>
                        <a:spcAft>
                          <a:spcPts val="0"/>
                        </a:spcAft>
                        <a:defRPr sz="1500" b="0">
                          <a:solidFill>
                            <a:srgbClr val="182F28"/>
                          </a:solidFill>
                          <a:latin typeface="Arial"/>
                        </a:defRPr>
                      </a:pPr>
                      <a:r>
                        <a:t>12.09.2027</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Директор; акты и учет</a:t>
                      </a:r>
                    </a:p>
                  </a:txBody>
                  <a:tcPr marL="91440" marR="91440" marT="45720" marB="45720">
                    <a:solidFill>
                      <a:srgbClr val="FFFFFF"/>
                    </a:solidFill>
                  </a:tcPr>
                </a:tc>
              </a:tr>
              <a:tr h="502920">
                <a:tc>
                  <a:txBody>
                    <a:bodyPr/>
                    <a:lstStyle/>
                    <a:p>
                      <a:pPr>
                        <a:spcAft>
                          <a:spcPts val="0"/>
                        </a:spcAft>
                        <a:defRPr sz="1500" b="0">
                          <a:solidFill>
                            <a:srgbClr val="182F28"/>
                          </a:solidFill>
                          <a:latin typeface="Arial"/>
                        </a:defRPr>
                      </a:pPr>
                      <a:r>
                        <a:t>2 оператора: обучение и наставник</a:t>
                      </a:r>
                    </a:p>
                  </a:txBody>
                  <a:tcPr marL="91440" marR="91440" marT="45720" marB="45720">
                    <a:solidFill>
                      <a:srgbClr val="F4F2E9"/>
                    </a:solidFill>
                  </a:tcPr>
                </a:tc>
                <a:tc>
                  <a:txBody>
                    <a:bodyPr/>
                    <a:lstStyle/>
                    <a:p>
                      <a:pPr>
                        <a:spcAft>
                          <a:spcPts val="0"/>
                        </a:spcAft>
                        <a:defRPr sz="1500" b="0">
                          <a:solidFill>
                            <a:srgbClr val="182F28"/>
                          </a:solidFill>
                          <a:latin typeface="Arial"/>
                        </a:defRPr>
                      </a:pPr>
                      <a:r>
                        <a:t>11.04.2027; контроль 12.07.2027</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Опер. руководитель; протоколы</a:t>
                      </a:r>
                    </a:p>
                  </a:txBody>
                  <a:tcPr marL="91440" marR="91440" marT="45720" marB="45720">
                    <a:solidFill>
                      <a:srgbClr val="F4F2E9"/>
                    </a:solidFill>
                  </a:tcPr>
                </a:tc>
              </a:tr>
            </a:tbl>
          </a:graphicData>
        </a:graphic>
      </p:graphicFrame>
      <p:sp>
        <p:nvSpPr>
          <p:cNvPr id="8" name="Rounded Rectangle 7"/>
          <p:cNvSpPr/>
          <p:nvPr/>
        </p:nvSpPr>
        <p:spPr>
          <a:xfrm>
            <a:off x="502920" y="571500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Коммерческие цели не отменяют право остановить небезопасное задание</a:t>
            </a:r>
          </a:p>
        </p:txBody>
      </p:sp>
      <p:sp>
        <p:nvSpPr>
          <p:cNvPr id="10" name="TextBox 9"/>
          <p:cNvSpPr txBox="1"/>
          <p:nvPr/>
        </p:nvSpPr>
        <p:spPr>
          <a:xfrm>
            <a:off x="594360" y="5321808"/>
            <a:ext cx="10972800" cy="329184"/>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Объемы: га-проходы внесения / га-обследования. Это разные операции, не сумма площади.</a:t>
            </a:r>
          </a:p>
        </p:txBody>
      </p:sp>
      <p:sp>
        <p:nvSpPr>
          <p:cNvPr id="11"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Описание продукта и стратегическая канва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Стратегическая канва предложения; сравнение компаний — только на слайде 6</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03 / 22</a:t>
            </a:r>
          </a:p>
        </p:txBody>
      </p:sp>
      <p:sp>
        <p:nvSpPr>
          <p:cNvPr id="7" name="Rounded Rectangle 6"/>
          <p:cNvSpPr/>
          <p:nvPr/>
        </p:nvSpPr>
        <p:spPr>
          <a:xfrm>
            <a:off x="50292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Один договор</a:t>
            </a:r>
          </a:p>
        </p:txBody>
      </p:sp>
      <p:sp>
        <p:nvSpPr>
          <p:cNvPr id="10" name="TextBox 9"/>
          <p:cNvSpPr txBox="1"/>
          <p:nvPr/>
        </p:nvSpPr>
        <p:spPr>
          <a:xfrm>
            <a:off x="70408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Задание → обследование → внесение → отчет. Мониторинг оплачивается отдельно.</a:t>
            </a:r>
          </a:p>
        </p:txBody>
      </p:sp>
      <p:sp>
        <p:nvSpPr>
          <p:cNvPr id="11" name="Rounded Rectangle 10"/>
          <p:cNvSpPr/>
          <p:nvPr/>
        </p:nvSpPr>
        <p:spPr>
          <a:xfrm>
            <a:off x="429768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Локальный маршрут</a:t>
            </a:r>
          </a:p>
        </p:txBody>
      </p:sp>
      <p:sp>
        <p:nvSpPr>
          <p:cNvPr id="14" name="TextBox 13"/>
          <p:cNvSpPr txBox="1"/>
          <p:nvPr/>
        </p:nvSpPr>
        <p:spPr>
          <a:xfrm>
            <a:off x="449884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Татарстан до 150 км; от 100 га-проходов. Только при подтвержденном допуске.</a:t>
            </a:r>
          </a:p>
        </p:txBody>
      </p:sp>
      <p:sp>
        <p:nvSpPr>
          <p:cNvPr id="15" name="Rounded Rectangle 14"/>
          <p:cNvSpPr/>
          <p:nvPr/>
        </p:nvSpPr>
        <p:spPr>
          <a:xfrm>
            <a:off x="8092440" y="1737360"/>
            <a:ext cx="3593592" cy="356616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9"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Проверяемый результат</a:t>
            </a:r>
          </a:p>
        </p:txBody>
      </p:sp>
      <p:sp>
        <p:nvSpPr>
          <p:cNvPr id="18" name="TextBox 17"/>
          <p:cNvSpPr txBox="1"/>
          <p:nvPr/>
        </p:nvSpPr>
        <p:spPr>
          <a:xfrm>
            <a:off x="829360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182F28"/>
                </a:solidFill>
                <a:latin typeface="Aptos"/>
              </a:defRPr>
            </a:pPr>
            <a:r>
              <a:t>Объем, параметры и отклонения; отчет до 48 часов — цель, не доказанное преимущество.</a:t>
            </a:r>
          </a:p>
        </p:txBody>
      </p:sp>
      <p:sp>
        <p:nvSpPr>
          <p:cNvPr id="19" name="Rounded Rectangle 18"/>
          <p:cNvSpPr/>
          <p:nvPr/>
        </p:nvSpPr>
        <p:spPr>
          <a:xfrm>
            <a:off x="502920" y="571500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Не обещаем универсальную экономию препаратов или гарантированный рост урожайности</a:t>
            </a:r>
          </a:p>
        </p:txBody>
      </p:sp>
      <p:sp>
        <p:nvSpPr>
          <p:cNvPr id="21"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Business Model Canvas</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04 / 22</a:t>
            </a:r>
          </a:p>
        </p:txBody>
      </p:sp>
      <p:sp>
        <p:nvSpPr>
          <p:cNvPr id="7" name="Rounded Rectangle 6"/>
          <p:cNvSpPr/>
          <p:nvPr/>
        </p:nvSpPr>
        <p:spPr>
          <a:xfrm>
            <a:off x="50292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1 / Сегменты</a:t>
            </a:r>
          </a:p>
        </p:txBody>
      </p:sp>
      <p:sp>
        <p:nvSpPr>
          <p:cNvPr id="9" name="TextBox 8"/>
          <p:cNvSpPr txBox="1"/>
          <p:nvPr/>
        </p:nvSpPr>
        <p:spPr>
          <a:xfrm>
            <a:off x="66751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КФХ, малые и средние; агрохолдинги — вторично</a:t>
            </a:r>
          </a:p>
        </p:txBody>
      </p:sp>
      <p:sp>
        <p:nvSpPr>
          <p:cNvPr id="10" name="Rounded Rectangle 9"/>
          <p:cNvSpPr/>
          <p:nvPr/>
        </p:nvSpPr>
        <p:spPr>
          <a:xfrm>
            <a:off x="429768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2 / Ценность</a:t>
            </a:r>
          </a:p>
        </p:txBody>
      </p:sp>
      <p:sp>
        <p:nvSpPr>
          <p:cNvPr id="12" name="TextBox 11"/>
          <p:cNvSpPr txBox="1"/>
          <p:nvPr/>
        </p:nvSpPr>
        <p:spPr>
          <a:xfrm>
            <a:off x="446227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Обследование, карта задания, внесение и отчет</a:t>
            </a:r>
          </a:p>
        </p:txBody>
      </p:sp>
      <p:sp>
        <p:nvSpPr>
          <p:cNvPr id="13" name="Rounded Rectangle 12"/>
          <p:cNvSpPr/>
          <p:nvPr/>
        </p:nvSpPr>
        <p:spPr>
          <a:xfrm>
            <a:off x="8092440" y="1691640"/>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3 / Каналы</a:t>
            </a:r>
          </a:p>
        </p:txBody>
      </p:sp>
      <p:sp>
        <p:nvSpPr>
          <p:cNvPr id="15" name="TextBox 14"/>
          <p:cNvSpPr txBox="1"/>
          <p:nvPr/>
        </p:nvSpPr>
        <p:spPr>
          <a:xfrm>
            <a:off x="825703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Директор; агрономы; демонстрации; рекомендации</a:t>
            </a:r>
          </a:p>
        </p:txBody>
      </p:sp>
      <p:sp>
        <p:nvSpPr>
          <p:cNvPr id="16" name="Rounded Rectangle 15"/>
          <p:cNvSpPr/>
          <p:nvPr/>
        </p:nvSpPr>
        <p:spPr>
          <a:xfrm>
            <a:off x="50292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4 / Отношения</a:t>
            </a:r>
          </a:p>
        </p:txBody>
      </p:sp>
      <p:sp>
        <p:nvSpPr>
          <p:cNvPr id="18" name="TextBox 17"/>
          <p:cNvSpPr txBox="1"/>
          <p:nvPr/>
        </p:nvSpPr>
        <p:spPr>
          <a:xfrm>
            <a:off x="66751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Один контакт; календарь сезона; разбор отклонений</a:t>
            </a:r>
          </a:p>
        </p:txBody>
      </p:sp>
      <p:sp>
        <p:nvSpPr>
          <p:cNvPr id="19" name="Rounded Rectangle 18"/>
          <p:cNvSpPr/>
          <p:nvPr/>
        </p:nvSpPr>
        <p:spPr>
          <a:xfrm>
            <a:off x="429768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227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5 / Доходы</a:t>
            </a:r>
          </a:p>
        </p:txBody>
      </p:sp>
      <p:sp>
        <p:nvSpPr>
          <p:cNvPr id="21" name="TextBox 20"/>
          <p:cNvSpPr txBox="1"/>
          <p:nvPr/>
        </p:nvSpPr>
        <p:spPr>
          <a:xfrm>
            <a:off x="446227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₽/га-проход и ₽/га-обследование; отдельно</a:t>
            </a:r>
          </a:p>
        </p:txBody>
      </p:sp>
      <p:sp>
        <p:nvSpPr>
          <p:cNvPr id="22" name="Rounded Rectangle 21"/>
          <p:cNvSpPr/>
          <p:nvPr/>
        </p:nvSpPr>
        <p:spPr>
          <a:xfrm>
            <a:off x="8092440" y="3072384"/>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6 / Ресурсы</a:t>
            </a:r>
          </a:p>
        </p:txBody>
      </p:sp>
      <p:sp>
        <p:nvSpPr>
          <p:cNvPr id="24" name="TextBox 23"/>
          <p:cNvSpPr txBox="1"/>
          <p:nvPr/>
        </p:nvSpPr>
        <p:spPr>
          <a:xfrm>
            <a:off x="825703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Одна бригада; 3 БВС; резерв ликвидности</a:t>
            </a:r>
          </a:p>
        </p:txBody>
      </p:sp>
      <p:sp>
        <p:nvSpPr>
          <p:cNvPr id="25" name="Rounded Rectangle 24"/>
          <p:cNvSpPr/>
          <p:nvPr/>
        </p:nvSpPr>
        <p:spPr>
          <a:xfrm>
            <a:off x="50292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7 / Действия</a:t>
            </a:r>
          </a:p>
        </p:txBody>
      </p:sp>
      <p:sp>
        <p:nvSpPr>
          <p:cNvPr id="27" name="TextBox 26"/>
          <p:cNvSpPr txBox="1"/>
          <p:nvPr/>
        </p:nvSpPr>
        <p:spPr>
          <a:xfrm>
            <a:off x="66751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Правовая проверка; выполнение; контроль; сервис</a:t>
            </a:r>
          </a:p>
        </p:txBody>
      </p:sp>
      <p:sp>
        <p:nvSpPr>
          <p:cNvPr id="28" name="Rounded Rectangle 27"/>
          <p:cNvSpPr/>
          <p:nvPr/>
        </p:nvSpPr>
        <p:spPr>
          <a:xfrm>
            <a:off x="429768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8 / Партнеры</a:t>
            </a:r>
          </a:p>
        </p:txBody>
      </p:sp>
      <p:sp>
        <p:nvSpPr>
          <p:cNvPr id="30" name="TextBox 29"/>
          <p:cNvSpPr txBox="1"/>
          <p:nvPr/>
        </p:nvSpPr>
        <p:spPr>
          <a:xfrm>
            <a:off x="446227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Агроном; обучение; сервис; юрист; бухгалтер</a:t>
            </a:r>
          </a:p>
        </p:txBody>
      </p:sp>
      <p:sp>
        <p:nvSpPr>
          <p:cNvPr id="31" name="Rounded Rectangle 30"/>
          <p:cNvSpPr/>
          <p:nvPr/>
        </p:nvSpPr>
        <p:spPr>
          <a:xfrm>
            <a:off x="8092440" y="4453128"/>
            <a:ext cx="3593592" cy="123444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274D3B"/>
                </a:solidFill>
                <a:latin typeface="Aptos"/>
              </a:defRPr>
            </a:pPr>
            <a:r>
              <a:t>9 / Затраты</a:t>
            </a:r>
          </a:p>
        </p:txBody>
      </p:sp>
      <p:sp>
        <p:nvSpPr>
          <p:cNvPr id="33" name="TextBox 32"/>
          <p:cNvSpPr txBox="1"/>
          <p:nvPr/>
        </p:nvSpPr>
        <p:spPr>
          <a:xfrm>
            <a:off x="825703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Труд; эксплуатация; услуги; CAPEX отдельно</a:t>
            </a:r>
          </a:p>
        </p:txBody>
      </p:sp>
      <p:sp>
        <p:nvSpPr>
          <p:cNvPr id="3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Маркетинговый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на [ДОПУЩЕНИЕ]: TAM / SAM / SOM — сценарные, не внешняя статистика</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05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B4C4B8"/>
                </a:solidFill>
                <a:latin typeface="Aptos"/>
              </a:defRPr>
            </a:pPr>
            <a:r>
              <a:t>Источники: https://www.vesti.ru/article/4893778 · https://www.rshb.ru/news/16072026-000004</a:t>
            </a:r>
          </a:p>
        </p:txBody>
      </p:sp>
      <p:sp>
        <p:nvSpPr>
          <p:cNvPr id="8" name="Rounded Rectangle 7"/>
          <p:cNvSpPr/>
          <p:nvPr/>
        </p:nvSpPr>
        <p:spPr>
          <a:xfrm>
            <a:off x="50292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1,245 млрд</a:t>
            </a:r>
          </a:p>
        </p:txBody>
      </p:sp>
      <p:sp>
        <p:nvSpPr>
          <p:cNvPr id="11" name="TextBox 10"/>
          <p:cNvSpPr txBox="1"/>
          <p:nvPr/>
        </p:nvSpPr>
        <p:spPr>
          <a:xfrm>
            <a:off x="70408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TAM / ₽ в год</a:t>
            </a:r>
          </a:p>
        </p:txBody>
      </p:sp>
      <p:sp>
        <p:nvSpPr>
          <p:cNvPr id="12" name="TextBox 11"/>
          <p:cNvSpPr txBox="1"/>
          <p:nvPr/>
        </p:nvSpPr>
        <p:spPr>
          <a:xfrm>
            <a:off x="70408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2 000 хозяйств × 2 000 га</a:t>
            </a:r>
          </a:p>
          <a:p>
            <a:pPr>
              <a:spcBef>
                <a:spcPts val="0"/>
              </a:spcBef>
              <a:spcAft>
                <a:spcPts val="500"/>
              </a:spcAft>
              <a:defRPr sz="1600" b="0">
                <a:solidFill>
                  <a:srgbClr val="101F1B"/>
                </a:solidFill>
                <a:latin typeface="Aptos"/>
              </a:defRPr>
            </a:pPr>
            <a:r>
              <a:t>15% пригодной площади</a:t>
            </a:r>
          </a:p>
        </p:txBody>
      </p:sp>
      <p:sp>
        <p:nvSpPr>
          <p:cNvPr id="13" name="Rounded Rectangle 12"/>
          <p:cNvSpPr/>
          <p:nvPr/>
        </p:nvSpPr>
        <p:spPr>
          <a:xfrm>
            <a:off x="429768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124,5 млн</a:t>
            </a:r>
          </a:p>
        </p:txBody>
      </p:sp>
      <p:sp>
        <p:nvSpPr>
          <p:cNvPr id="16" name="TextBox 15"/>
          <p:cNvSpPr txBox="1"/>
          <p:nvPr/>
        </p:nvSpPr>
        <p:spPr>
          <a:xfrm>
            <a:off x="449884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SAM / ₽ в год</a:t>
            </a:r>
          </a:p>
        </p:txBody>
      </p:sp>
      <p:sp>
        <p:nvSpPr>
          <p:cNvPr id="17" name="TextBox 16"/>
          <p:cNvSpPr txBox="1"/>
          <p:nvPr/>
        </p:nvSpPr>
        <p:spPr>
          <a:xfrm>
            <a:off x="449884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200 хозяйств × 2 000 га</a:t>
            </a:r>
          </a:p>
          <a:p>
            <a:pPr>
              <a:spcBef>
                <a:spcPts val="0"/>
              </a:spcBef>
              <a:spcAft>
                <a:spcPts val="500"/>
              </a:spcAft>
              <a:defRPr sz="1600" b="0">
                <a:solidFill>
                  <a:srgbClr val="101F1B"/>
                </a:solidFill>
                <a:latin typeface="Aptos"/>
              </a:defRPr>
            </a:pPr>
            <a:r>
              <a:t>Условный доступный кластер</a:t>
            </a:r>
          </a:p>
        </p:txBody>
      </p:sp>
      <p:sp>
        <p:nvSpPr>
          <p:cNvPr id="18" name="Rounded Rectangle 17"/>
          <p:cNvSpPr/>
          <p:nvPr/>
        </p:nvSpPr>
        <p:spPr>
          <a:xfrm>
            <a:off x="8092440" y="1737360"/>
            <a:ext cx="3593592" cy="254203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8,8 млн</a:t>
            </a:r>
          </a:p>
        </p:txBody>
      </p:sp>
      <p:sp>
        <p:nvSpPr>
          <p:cNvPr id="21" name="TextBox 20"/>
          <p:cNvSpPr txBox="1"/>
          <p:nvPr/>
        </p:nvSpPr>
        <p:spPr>
          <a:xfrm>
            <a:off x="829360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SOM / первый сезон</a:t>
            </a:r>
          </a:p>
        </p:txBody>
      </p:sp>
      <p:sp>
        <p:nvSpPr>
          <p:cNvPr id="22" name="TextBox 21"/>
          <p:cNvSpPr txBox="1"/>
          <p:nvPr/>
        </p:nvSpPr>
        <p:spPr>
          <a:xfrm>
            <a:off x="829360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101F1B"/>
                </a:solidFill>
                <a:latin typeface="Aptos"/>
              </a:defRPr>
            </a:pPr>
            <a:r>
              <a:t>6 000 га-проходов × 1 300 ₽</a:t>
            </a:r>
          </a:p>
          <a:p>
            <a:pPr>
              <a:spcBef>
                <a:spcPts val="0"/>
              </a:spcBef>
              <a:spcAft>
                <a:spcPts val="500"/>
              </a:spcAft>
              <a:defRPr sz="1600" b="0">
                <a:solidFill>
                  <a:srgbClr val="101F1B"/>
                </a:solidFill>
                <a:latin typeface="Aptos"/>
              </a:defRPr>
            </a:pPr>
            <a:r>
              <a:t>+ 4 000 обследований × 250 ₽</a:t>
            </a:r>
          </a:p>
        </p:txBody>
      </p:sp>
      <p:sp>
        <p:nvSpPr>
          <p:cNvPr id="23" name="TextBox 22"/>
          <p:cNvSpPr txBox="1"/>
          <p:nvPr/>
        </p:nvSpPr>
        <p:spPr>
          <a:xfrm>
            <a:off x="594360" y="4480560"/>
            <a:ext cx="10972800" cy="594360"/>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ptos"/>
              </a:defRPr>
            </a:pPr>
            <a:r>
              <a:t>TAM = 2 000 × 2 000 × 15% × (1,5 × 1 300 + 0,5 × 250); SAM — для 200 хозяйств.</a:t>
            </a:r>
          </a:p>
        </p:txBody>
      </p:sp>
      <p:sp>
        <p:nvSpPr>
          <p:cNvPr id="24" name="TextBox 23"/>
          <p:cNvSpPr txBox="1"/>
          <p:nvPr/>
        </p:nvSpPr>
        <p:spPr>
          <a:xfrm>
            <a:off x="594360" y="5138928"/>
            <a:ext cx="10972800" cy="768096"/>
          </a:xfrm>
          <a:prstGeom prst="rect">
            <a:avLst/>
          </a:prstGeom>
          <a:noFill/>
        </p:spPr>
        <p:txBody>
          <a:bodyPr wrap="square" lIns="13716" rIns="13716" tIns="0" bIns="0">
            <a:spAutoFit/>
          </a:bodyPr>
          <a:lstStyle/>
          <a:p>
            <a:pPr>
              <a:spcBef>
                <a:spcPts val="0"/>
              </a:spcBef>
              <a:spcAft>
                <a:spcPts val="500"/>
              </a:spcAft>
              <a:defRPr sz="1600" b="0">
                <a:solidFill>
                  <a:srgbClr val="B4C4B8"/>
                </a:solidFill>
                <a:latin typeface="Aptos"/>
              </a:defRPr>
            </a:pPr>
            <a:r>
              <a:t>SOM / SAM: 7,07% выручки; 6,67% внесения; 13,33% мониторинга.</a:t>
            </a:r>
          </a:p>
          <a:p>
            <a:pPr>
              <a:spcBef>
                <a:spcPts val="0"/>
              </a:spcBef>
              <a:spcAft>
                <a:spcPts val="500"/>
              </a:spcAft>
              <a:defRPr sz="1600" b="0">
                <a:solidFill>
                  <a:srgbClr val="B4C4B8"/>
                </a:solidFill>
                <a:latin typeface="Aptos"/>
              </a:defRPr>
            </a:pPr>
            <a:r>
              <a:t>2 000 / 200 хозяйств — гипотезы, не реестр. Микс SOM отличается от SAM.</a:t>
            </a:r>
          </a:p>
        </p:txBody>
      </p:sp>
      <p:sp>
        <p:nvSpPr>
          <p:cNvPr id="2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Анализ конкурентов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Проверка 20.10.2026: [ФАКТ] заявления компаний; АгроВектор — [ДОПУЩЕНИЕ]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1828800"/>
                <a:gridCol w="2880360"/>
                <a:gridCol w="2743200"/>
                <a:gridCol w="3730752"/>
              </a:tblGrid>
              <a:tr h="607422">
                <a:tc>
                  <a:txBody>
                    <a:bodyPr/>
                    <a:lstStyle/>
                    <a:p>
                      <a:pPr>
                        <a:spcAft>
                          <a:spcPts val="0"/>
                        </a:spcAft>
                        <a:defRPr sz="1500" b="1">
                          <a:solidFill>
                            <a:srgbClr val="FFFFFF"/>
                          </a:solidFill>
                          <a:latin typeface="Arial"/>
                        </a:defRPr>
                      </a:pPr>
                      <a:r>
                        <a:t>Исполнитель</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Услуги / территория</a:t>
                      </a:r>
                    </a:p>
                  </a:txBody>
                  <a:tcPr marL="91440" marR="91440" marT="45720" marB="45720">
                    <a:solidFill>
                      <a:srgbClr val="224C3B"/>
                    </a:solidFill>
                  </a:tcPr>
                </a:tc>
                <a:tc>
                  <a:txBody>
                    <a:bodyPr/>
                    <a:lstStyle/>
                    <a:p>
                      <a:pPr>
                        <a:spcAft>
                          <a:spcPts val="0"/>
                        </a:spcAft>
                        <a:defRPr sz="1500" b="1">
                          <a:solidFill>
                            <a:srgbClr val="FFFFFF"/>
                          </a:solidFill>
                          <a:latin typeface="Arial"/>
                        </a:defRPr>
                      </a:pPr>
                      <a:r>
                        <a:t>Цена и база, руб./га</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Доказательства / ограничения</a:t>
                      </a:r>
                    </a:p>
                  </a:txBody>
                  <a:tcPr marL="91440" marR="91440" marT="45720" marB="45720">
                    <a:solidFill>
                      <a:srgbClr val="224C3B"/>
                    </a:solidFill>
                  </a:tcPr>
                </a:tc>
              </a:tr>
              <a:tr h="607422">
                <a:tc>
                  <a:txBody>
                    <a:bodyPr/>
                    <a:lstStyle/>
                    <a:p>
                      <a:pPr>
                        <a:spcAft>
                          <a:spcPts val="0"/>
                        </a:spcAft>
                        <a:defRPr sz="1500" b="0">
                          <a:solidFill>
                            <a:srgbClr val="182F28"/>
                          </a:solidFill>
                          <a:latin typeface="Arial"/>
                        </a:defRPr>
                      </a:pPr>
                      <a:r>
                        <a:t>BeeUAV</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Внесение; Татарстан упомянут</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Объем и доля не раскрыты [2]</a:t>
                      </a:r>
                    </a:p>
                  </a:txBody>
                  <a:tcPr marL="91440" marR="91440" marT="45720" marB="45720">
                    <a:solidFill>
                      <a:srgbClr val="FFFFFF"/>
                    </a:solidFill>
                  </a:tcPr>
                </a:tc>
              </a:tr>
              <a:tr h="607422">
                <a:tc>
                  <a:txBody>
                    <a:bodyPr/>
                    <a:lstStyle/>
                    <a:p>
                      <a:pPr>
                        <a:spcAft>
                          <a:spcPts val="0"/>
                        </a:spcAft>
                        <a:defRPr sz="1500" b="0">
                          <a:solidFill>
                            <a:srgbClr val="182F28"/>
                          </a:solidFill>
                          <a:latin typeface="Arial"/>
                        </a:defRPr>
                      </a:pPr>
                      <a:r>
                        <a:t>Агропрофи</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посев; Поволжье</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4F2E9"/>
                    </a:solidFill>
                  </a:tcPr>
                </a:tc>
                <a:tc>
                  <a:txBody>
                    <a:bodyPr/>
                    <a:lstStyle/>
                    <a:p>
                      <a:pPr>
                        <a:spcAft>
                          <a:spcPts val="0"/>
                        </a:spcAft>
                        <a:defRPr sz="1500" b="0">
                          <a:solidFill>
                            <a:srgbClr val="182F28"/>
                          </a:solidFill>
                          <a:latin typeface="Arial"/>
                        </a:defRPr>
                      </a:pPr>
                      <a:r>
                        <a:t>50 тыс.+ га без периода; доля н/д [3][4]</a:t>
                      </a:r>
                    </a:p>
                  </a:txBody>
                  <a:tcPr marL="91440" marR="91440" marT="45720" marB="45720">
                    <a:solidFill>
                      <a:srgbClr val="F4F2E9"/>
                    </a:solidFill>
                  </a:tcPr>
                </a:tc>
              </a:tr>
              <a:tr h="607422">
                <a:tc>
                  <a:txBody>
                    <a:bodyPr/>
                    <a:lstStyle/>
                    <a:p>
                      <a:pPr>
                        <a:spcAft>
                          <a:spcPts val="0"/>
                        </a:spcAft>
                        <a:defRPr sz="1500" b="0">
                          <a:solidFill>
                            <a:srgbClr val="182F28"/>
                          </a:solidFill>
                          <a:latin typeface="Arial"/>
                        </a:defRPr>
                      </a:pPr>
                      <a:r>
                        <a:t>Аграс</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Аренда и сервис; Татарстан заявлен</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Не раскрыта; НДС услуги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Проекты РТ &gt;40 тыс. га за 2025; доля н/д [5]</a:t>
                      </a:r>
                    </a:p>
                  </a:txBody>
                  <a:tcPr marL="91440" marR="91440" marT="45720" marB="45720">
                    <a:solidFill>
                      <a:srgbClr val="FFFFFF"/>
                    </a:solidFill>
                  </a:tcPr>
                </a:tc>
              </a:tr>
              <a:tr h="607422">
                <a:tc>
                  <a:txBody>
                    <a:bodyPr/>
                    <a:lstStyle/>
                    <a:p>
                      <a:pPr>
                        <a:spcAft>
                          <a:spcPts val="0"/>
                        </a:spcAft>
                        <a:defRPr sz="1500" b="0">
                          <a:solidFill>
                            <a:srgbClr val="182F28"/>
                          </a:solidFill>
                          <a:latin typeface="Arial"/>
                        </a:defRPr>
                      </a:pPr>
                      <a:r>
                        <a:t>Гермес</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мониторинг; Краснодар/Адыгея</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 раскрыта; НДС н/д</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Кейс 500 га без даты; доля н/д [6]</a:t>
                      </a:r>
                    </a:p>
                  </a:txBody>
                  <a:tcPr marL="91440" marR="91440" marT="45720" marB="45720">
                    <a:solidFill>
                      <a:srgbClr val="F4F2E9"/>
                    </a:solidFill>
                  </a:tcPr>
                </a:tc>
              </a:tr>
              <a:tr h="607422">
                <a:tc>
                  <a:txBody>
                    <a:bodyPr/>
                    <a:lstStyle/>
                    <a:p>
                      <a:pPr>
                        <a:spcAft>
                          <a:spcPts val="0"/>
                        </a:spcAft>
                        <a:defRPr sz="1500" b="0">
                          <a:solidFill>
                            <a:srgbClr val="182F28"/>
                          </a:solidFill>
                          <a:latin typeface="Arial"/>
                        </a:defRPr>
                      </a:pPr>
                      <a:r>
                        <a:t>Агродроны ЮФО</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Внесение; юг РФ; не Татарстан</a:t>
                      </a:r>
                    </a:p>
                  </a:txBody>
                  <a:tcPr marL="91440" marR="91440" marT="45720" marB="45720">
                    <a:solidFill>
                      <a:srgbClr val="FFFFFF"/>
                    </a:solidFill>
                  </a:tcPr>
                </a:tc>
                <a:tc>
                  <a:txBody>
                    <a:bodyPr/>
                    <a:lstStyle/>
                    <a:p>
                      <a:pPr>
                        <a:spcAft>
                          <a:spcPts val="0"/>
                        </a:spcAft>
                        <a:defRPr sz="1500" b="0">
                          <a:solidFill>
                            <a:srgbClr val="182F28"/>
                          </a:solidFill>
                          <a:latin typeface="Arial"/>
                        </a:defRPr>
                      </a:pPr>
                      <a:r>
                        <a:t>900 средняя; НДС и логистика н/д</a:t>
                      </a:r>
                    </a:p>
                  </a:txBody>
                  <a:tcPr marL="91440" marR="91440" marT="45720" marB="45720">
                    <a:solidFill>
                      <a:srgbClr val="FFFFFF"/>
                    </a:solidFill>
                  </a:tcPr>
                </a:tc>
                <a:tc>
                  <a:txBody>
                    <a:bodyPr/>
                    <a:lstStyle/>
                    <a:p>
                      <a:pPr>
                        <a:spcAft>
                          <a:spcPts val="0"/>
                        </a:spcAft>
                        <a:defRPr sz="1500" b="0">
                          <a:solidFill>
                            <a:srgbClr val="182F28"/>
                          </a:solidFill>
                          <a:latin typeface="Arial"/>
                        </a:defRPr>
                      </a:pPr>
                      <a:r>
                        <a:t>Акты заявлены; объем и доля н/д [7]</a:t>
                      </a:r>
                    </a:p>
                  </a:txBody>
                  <a:tcPr marL="91440" marR="91440" marT="45720" marB="45720">
                    <a:solidFill>
                      <a:srgbClr val="FFFFFF"/>
                    </a:solidFill>
                  </a:tcPr>
                </a:tc>
              </a:tr>
              <a:tr h="607428">
                <a:tc>
                  <a:txBody>
                    <a:bodyPr/>
                    <a:lstStyle/>
                    <a:p>
                      <a:pPr>
                        <a:spcAft>
                          <a:spcPts val="0"/>
                        </a:spcAft>
                        <a:defRPr sz="1500" b="0">
                          <a:solidFill>
                            <a:srgbClr val="182F28"/>
                          </a:solidFill>
                          <a:latin typeface="Arial"/>
                        </a:defRPr>
                      </a:pPr>
                      <a:r>
                        <a:t>АгроВектор (план)</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Внесение и мониторинг; Татарстан условно</a:t>
                      </a:r>
                    </a:p>
                  </a:txBody>
                  <a:tcPr marL="91440" marR="91440" marT="45720" marB="45720">
                    <a:solidFill>
                      <a:srgbClr val="F4F2E9"/>
                    </a:solidFill>
                  </a:tcPr>
                </a:tc>
                <a:tc>
                  <a:txBody>
                    <a:bodyPr/>
                    <a:lstStyle/>
                    <a:p>
                      <a:pPr>
                        <a:spcAft>
                          <a:spcPts val="0"/>
                        </a:spcAft>
                        <a:defRPr sz="1500" b="0">
                          <a:solidFill>
                            <a:srgbClr val="182F28"/>
                          </a:solidFill>
                          <a:latin typeface="Arial"/>
                        </a:defRPr>
                      </a:pPr>
                      <a:r>
                        <a:t>1300 / 250 план; без НДС и препаратов</a:t>
                      </a:r>
                    </a:p>
                  </a:txBody>
                  <a:tcPr marL="91440" marR="91440" marT="45720" marB="45720">
                    <a:solidFill>
                      <a:srgbClr val="F4F2E9"/>
                    </a:solidFill>
                  </a:tcPr>
                </a:tc>
                <a:tc>
                  <a:txBody>
                    <a:bodyPr/>
                    <a:lstStyle/>
                    <a:p>
                      <a:pPr>
                        <a:spcAft>
                          <a:spcPts val="0"/>
                        </a:spcAft>
                        <a:defRPr sz="1500" b="0">
                          <a:solidFill>
                            <a:srgbClr val="182F28"/>
                          </a:solidFill>
                          <a:latin typeface="Arial"/>
                        </a:defRPr>
                      </a:pPr>
                      <a:r>
                        <a:t>Нет выполненного сезона и установленной доли</a:t>
                      </a:r>
                    </a:p>
                  </a:txBody>
                  <a:tcPr marL="91440" marR="91440" marT="45720" marB="45720">
                    <a:solidFill>
                      <a:srgbClr val="F4F2E9"/>
                    </a:solidFill>
                  </a:tcPr>
                </a:tc>
              </a:tr>
            </a:tbl>
          </a:graphicData>
        </a:graphic>
      </p:graphicFrame>
      <p:sp>
        <p:nvSpPr>
          <p:cNvPr id="8" name="TextBox 7"/>
          <p:cNvSpPr txBox="1"/>
          <p:nvPr/>
        </p:nvSpPr>
        <p:spPr>
          <a:xfrm>
            <a:off x="594360" y="6080760"/>
            <a:ext cx="10972800" cy="29260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Доли публично не раскрыты. 900 ₽ — не сопоставимое КП Татарстана. Н/д ≠ 0.</a:t>
            </a:r>
          </a:p>
        </p:txBody>
      </p:sp>
      <p:sp>
        <p:nvSpPr>
          <p:cNvPr id="9"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Развернутый SWOT</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07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S / Конструкция сервиса</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Мониторинг + задание + отчет</a:t>
            </a:r>
          </a:p>
          <a:p>
            <a:pPr>
              <a:spcBef>
                <a:spcPts val="0"/>
              </a:spcBef>
              <a:spcAft>
                <a:spcPts val="500"/>
              </a:spcAft>
              <a:defRPr sz="1700" b="0">
                <a:solidFill>
                  <a:srgbClr val="182F28"/>
                </a:solidFill>
                <a:latin typeface="Aptos"/>
              </a:defRPr>
            </a:pPr>
            <a:r>
              <a:t>Резервный аппарат</a:t>
            </a:r>
          </a:p>
          <a:p>
            <a:pPr>
              <a:spcBef>
                <a:spcPts val="0"/>
              </a:spcBef>
              <a:spcAft>
                <a:spcPts val="500"/>
              </a:spcAft>
              <a:defRPr sz="1700" b="0">
                <a:solidFill>
                  <a:srgbClr val="182F28"/>
                </a:solidFill>
                <a:latin typeface="Aptos"/>
              </a:defRPr>
            </a:pPr>
            <a:r>
              <a:t>→ Единая приемка и готовность резерва</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W / Ограничения</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Нет подтвержденного портфеля</a:t>
            </a:r>
          </a:p>
          <a:p>
            <a:pPr>
              <a:spcBef>
                <a:spcPts val="0"/>
              </a:spcBef>
              <a:spcAft>
                <a:spcPts val="500"/>
              </a:spcAft>
              <a:defRPr sz="1700" b="0">
                <a:solidFill>
                  <a:srgbClr val="182F28"/>
                </a:solidFill>
                <a:latin typeface="Aptos"/>
              </a:defRPr>
            </a:pPr>
            <a:r>
              <a:t>Одна бригада; экономный ФОТ</a:t>
            </a:r>
          </a:p>
          <a:p>
            <a:pPr>
              <a:spcBef>
                <a:spcPts val="0"/>
              </a:spcBef>
              <a:spcAft>
                <a:spcPts val="500"/>
              </a:spcAft>
              <a:defRPr sz="1700" b="0">
                <a:solidFill>
                  <a:srgbClr val="182F28"/>
                </a:solidFill>
                <a:latin typeface="Aptos"/>
              </a:defRPr>
            </a:pPr>
            <a:r>
              <a:t>→ Заявки до закупки, лимит нагрузки</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O / Возможности</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Локальные задачи хозяйств</a:t>
            </a:r>
          </a:p>
          <a:p>
            <a:pPr>
              <a:spcBef>
                <a:spcPts val="0"/>
              </a:spcBef>
              <a:spcAft>
                <a:spcPts val="500"/>
              </a:spcAft>
              <a:defRPr sz="1700" b="0">
                <a:solidFill>
                  <a:srgbClr val="182F28"/>
                </a:solidFill>
                <a:latin typeface="Aptos"/>
              </a:defRPr>
            </a:pPr>
            <a:r>
              <a:t>Гражданская переподготовка</a:t>
            </a:r>
          </a:p>
          <a:p>
            <a:pPr>
              <a:spcBef>
                <a:spcPts val="0"/>
              </a:spcBef>
              <a:spcAft>
                <a:spcPts val="500"/>
              </a:spcAft>
              <a:defRPr sz="1700" b="0">
                <a:solidFill>
                  <a:srgbClr val="182F28"/>
                </a:solidFill>
                <a:latin typeface="Aptos"/>
              </a:defRPr>
            </a:pPr>
            <a:r>
              <a:t>→ Платный пилот и наставничество</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T / Угрозы</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Запреты; погода; ценовое давление</a:t>
            </a:r>
          </a:p>
          <a:p>
            <a:pPr>
              <a:spcBef>
                <a:spcPts val="0"/>
              </a:spcBef>
              <a:spcAft>
                <a:spcPts val="500"/>
              </a:spcAft>
              <a:defRPr sz="1700" b="0">
                <a:solidFill>
                  <a:srgbClr val="182F28"/>
                </a:solidFill>
                <a:latin typeface="Aptos"/>
              </a:defRPr>
            </a:pPr>
            <a:r>
              <a:t>Просрочка платежей</a:t>
            </a:r>
          </a:p>
          <a:p>
            <a:pPr>
              <a:spcBef>
                <a:spcPts val="0"/>
              </a:spcBef>
              <a:spcAft>
                <a:spcPts val="500"/>
              </a:spcAft>
              <a:defRPr sz="1700" b="0">
                <a:solidFill>
                  <a:srgbClr val="182F28"/>
                </a:solidFill>
                <a:latin typeface="Aptos"/>
              </a:defRPr>
            </a:pPr>
            <a:r>
              <a:t>→ No-go, резерв времени и аванс</a:t>
            </a:r>
          </a:p>
        </p:txBody>
      </p:sp>
      <p:sp>
        <p:nvSpPr>
          <p:cNvPr id="23" name="Rounded Rectangle 22"/>
          <p:cNvSpPr/>
          <p:nvPr/>
        </p:nvSpPr>
        <p:spPr>
          <a:xfrm>
            <a:off x="502920" y="587959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96188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Стратегия WT: не расширять парк до подтверждения правовой доступности, кадров и экономики</a:t>
            </a:r>
          </a:p>
        </p:txBody>
      </p:sp>
      <p:sp>
        <p:nvSpPr>
          <p:cNvPr id="25"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Пять сил Портера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08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3108960"/>
                <a:gridCol w="2331720"/>
                <a:gridCol w="5742432"/>
              </a:tblGrid>
              <a:tr h="586740">
                <a:tc>
                  <a:txBody>
                    <a:bodyPr/>
                    <a:lstStyle/>
                    <a:p>
                      <a:pPr>
                        <a:spcAft>
                          <a:spcPts val="0"/>
                        </a:spcAft>
                        <a:defRPr sz="1800" b="1">
                          <a:solidFill>
                            <a:srgbClr val="FFFFFF"/>
                          </a:solidFill>
                          <a:latin typeface="Arial"/>
                        </a:defRPr>
                      </a:pPr>
                      <a:r>
                        <a:t>Сила</a:t>
                      </a:r>
                    </a:p>
                  </a:txBody>
                  <a:tcPr marL="91440" marR="91440" marT="45720" marB="45720">
                    <a:solidFill>
                      <a:srgbClr val="224C3B"/>
                    </a:solidFill>
                  </a:tcPr>
                </a:tc>
                <a:tc>
                  <a:txBody>
                    <a:bodyPr/>
                    <a:lstStyle/>
                    <a:p>
                      <a:pPr>
                        <a:spcAft>
                          <a:spcPts val="0"/>
                        </a:spcAft>
                        <a:defRPr sz="1800" b="1">
                          <a:solidFill>
                            <a:srgbClr val="FFFFFF"/>
                          </a:solidFill>
                          <a:latin typeface="Arial"/>
                        </a:defRPr>
                      </a:pPr>
                      <a:r>
                        <a:t>Уровень гипотезы</a:t>
                      </a:r>
                    </a:p>
                  </a:txBody>
                  <a:tcPr marL="91440" marR="91440" marT="45720" marB="45720">
                    <a:solidFill>
                      <a:srgbClr val="224C3B"/>
                    </a:solidFill>
                  </a:tcPr>
                </a:tc>
                <a:tc>
                  <a:txBody>
                    <a:bodyPr/>
                    <a:lstStyle/>
                    <a:p>
                      <a:pPr>
                        <a:spcAft>
                          <a:spcPts val="0"/>
                        </a:spcAft>
                        <a:defRPr sz="1800" b="1">
                          <a:solidFill>
                            <a:srgbClr val="FFFFFF"/>
                          </a:solidFill>
                          <a:latin typeface="Arial"/>
                        </a:defRPr>
                      </a:pPr>
                      <a:r>
                        <a:t>Ответ проекта / что проверить</a:t>
                      </a:r>
                    </a:p>
                  </a:txBody>
                  <a:tcPr marL="91440" marR="91440" marT="45720" marB="45720">
                    <a:solidFill>
                      <a:srgbClr val="224C3B"/>
                    </a:solidFill>
                  </a:tcPr>
                </a:tc>
              </a:tr>
              <a:tr h="586740">
                <a:tc>
                  <a:txBody>
                    <a:bodyPr/>
                    <a:lstStyle/>
                    <a:p>
                      <a:pPr>
                        <a:spcAft>
                          <a:spcPts val="0"/>
                        </a:spcAft>
                        <a:defRPr sz="1800" b="0">
                          <a:solidFill>
                            <a:srgbClr val="182F28"/>
                          </a:solidFill>
                          <a:latin typeface="Arial"/>
                        </a:defRPr>
                      </a:pPr>
                      <a:r>
                        <a:t>Соперничество</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Приемка и сроки; сопоставимые КП</a:t>
                      </a:r>
                    </a:p>
                  </a:txBody>
                  <a:tcPr marL="91440" marR="91440" marT="45720" marB="45720">
                    <a:solidFill>
                      <a:srgbClr val="FFFFFF"/>
                    </a:solidFill>
                  </a:tcPr>
                </a:tc>
              </a:tr>
              <a:tr h="586740">
                <a:tc>
                  <a:txBody>
                    <a:bodyPr/>
                    <a:lstStyle/>
                    <a:p>
                      <a:pPr>
                        <a:spcAft>
                          <a:spcPts val="0"/>
                        </a:spcAft>
                        <a:defRPr sz="1800" b="0">
                          <a:solidFill>
                            <a:srgbClr val="182F28"/>
                          </a:solidFill>
                          <a:latin typeface="Arial"/>
                        </a:defRPr>
                      </a:pPr>
                      <a:r>
                        <a:t>Новые участники</a:t>
                      </a:r>
                    </a:p>
                  </a:txBody>
                  <a:tcPr marL="91440" marR="91440" marT="45720" marB="45720">
                    <a:solidFill>
                      <a:srgbClr val="F4F2E9"/>
                    </a:solidFill>
                  </a:tcPr>
                </a:tc>
                <a:tc>
                  <a:txBody>
                    <a:bodyPr/>
                    <a:lstStyle/>
                    <a:p>
                      <a:pPr>
                        <a:spcAft>
                          <a:spcPts val="0"/>
                        </a:spcAft>
                        <a:defRPr sz="1800" b="0">
                          <a:solidFill>
                            <a:srgbClr val="182F28"/>
                          </a:solidFill>
                          <a:latin typeface="Arial"/>
                        </a:defRPr>
                      </a:pPr>
                      <a:r>
                        <a:t>Средний</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Повторные договоры; стоимость готовности</a:t>
                      </a:r>
                    </a:p>
                  </a:txBody>
                  <a:tcPr marL="91440" marR="91440" marT="45720" marB="45720">
                    <a:solidFill>
                      <a:srgbClr val="F4F2E9"/>
                    </a:solidFill>
                  </a:tcPr>
                </a:tc>
              </a:tr>
              <a:tr h="586740">
                <a:tc>
                  <a:txBody>
                    <a:bodyPr/>
                    <a:lstStyle/>
                    <a:p>
                      <a:pPr>
                        <a:spcAft>
                          <a:spcPts val="0"/>
                        </a:spcAft>
                        <a:defRPr sz="1800" b="0">
                          <a:solidFill>
                            <a:srgbClr val="182F28"/>
                          </a:solidFill>
                          <a:latin typeface="Arial"/>
                        </a:defRPr>
                      </a:pPr>
                      <a:r>
                        <a:t>Заменители</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Отбор задач; полная стоимость альтернатив</a:t>
                      </a:r>
                    </a:p>
                  </a:txBody>
                  <a:tcPr marL="91440" marR="91440" marT="45720" marB="45720">
                    <a:solidFill>
                      <a:srgbClr val="FFFFFF"/>
                    </a:solidFill>
                  </a:tcPr>
                </a:tc>
              </a:tr>
              <a:tr h="586740">
                <a:tc>
                  <a:txBody>
                    <a:bodyPr/>
                    <a:lstStyle/>
                    <a:p>
                      <a:pPr>
                        <a:spcAft>
                          <a:spcPts val="0"/>
                        </a:spcAft>
                        <a:defRPr sz="1800" b="0">
                          <a:solidFill>
                            <a:srgbClr val="182F28"/>
                          </a:solidFill>
                          <a:latin typeface="Arial"/>
                        </a:defRPr>
                      </a:pPr>
                      <a:r>
                        <a:t>Покупатели</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Высокий</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Лимит концентрации; причины отказов</a:t>
                      </a:r>
                    </a:p>
                  </a:txBody>
                  <a:tcPr marL="91440" marR="91440" marT="45720" marB="45720">
                    <a:solidFill>
                      <a:srgbClr val="F4F2E9"/>
                    </a:solidFill>
                  </a:tcPr>
                </a:tc>
              </a:tr>
              <a:tr h="586740">
                <a:tc>
                  <a:txBody>
                    <a:bodyPr/>
                    <a:lstStyle/>
                    <a:p>
                      <a:pPr>
                        <a:spcAft>
                          <a:spcPts val="0"/>
                        </a:spcAft>
                        <a:defRPr sz="1800" b="0">
                          <a:solidFill>
                            <a:srgbClr val="182F28"/>
                          </a:solidFill>
                          <a:latin typeface="Arial"/>
                        </a:defRPr>
                      </a:pPr>
                      <a:r>
                        <a:t>Поставщики</a:t>
                      </a:r>
                    </a:p>
                  </a:txBody>
                  <a:tcPr marL="91440" marR="91440" marT="45720" marB="45720">
                    <a:solidFill>
                      <a:srgbClr val="FFFFFF"/>
                    </a:solidFill>
                  </a:tcPr>
                </a:tc>
                <a:tc>
                  <a:txBody>
                    <a:bodyPr/>
                    <a:lstStyle/>
                    <a:p>
                      <a:pPr>
                        <a:spcAft>
                          <a:spcPts val="0"/>
                        </a:spcAft>
                        <a:defRPr sz="1800" b="0">
                          <a:solidFill>
                            <a:srgbClr val="182F28"/>
                          </a:solidFill>
                          <a:latin typeface="Arial"/>
                        </a:defRPr>
                      </a:pPr>
                      <a:r>
                        <a:t>Средний–высокий</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Запчасти, резерв, сервис; реальные сроки ремонта</a:t>
                      </a:r>
                    </a:p>
                  </a:txBody>
                  <a:tcPr marL="91440" marR="91440" marT="45720" marB="45720">
                    <a:solidFill>
                      <a:srgbClr val="FFFFFF"/>
                    </a:solidFill>
                  </a:tcPr>
                </a:tc>
              </a:tr>
            </a:tbl>
          </a:graphicData>
        </a:graphic>
      </p:graphicFrame>
      <p:sp>
        <p:nvSpPr>
          <p:cNvPr id="8" name="Rounded Rectangle 7"/>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Устойчивое конкурентное преимущество до полевой проверки не подтверждено</a:t>
            </a:r>
          </a:p>
        </p:txBody>
      </p:sp>
      <p:sp>
        <p:nvSpPr>
          <p:cNvPr id="1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2600" b="1">
                <a:solidFill>
                  <a:srgbClr val="182F28"/>
                </a:solidFill>
                <a:latin typeface="Aptos"/>
              </a:defRPr>
            </a:pPr>
            <a:r>
              <a:t>Организационно-правовая форма и регуляторный контур</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ООО и порядок проверки; не юридическое заключение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09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65766D"/>
                </a:solidFill>
                <a:latin typeface="Aptos"/>
              </a:defRPr>
            </a:pPr>
            <a:r>
              <a:t>Источники: https://base.garant.ru/414829385/ · http://publication.pravo.gov.ru/Document/View/1600202211300002</a:t>
            </a:r>
          </a:p>
        </p:txBody>
      </p:sp>
      <p:sp>
        <p:nvSpPr>
          <p:cNvPr id="8" name="Rounded Rectangle 7"/>
          <p:cNvSpPr/>
          <p:nvPr/>
        </p:nvSpPr>
        <p:spPr>
          <a:xfrm>
            <a:off x="502920" y="1719072"/>
            <a:ext cx="3566160" cy="350215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103120"/>
            <a:ext cx="3163824"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ООО</a:t>
            </a:r>
          </a:p>
        </p:txBody>
      </p:sp>
      <p:sp>
        <p:nvSpPr>
          <p:cNvPr id="11" name="TextBox 10"/>
          <p:cNvSpPr txBox="1"/>
          <p:nvPr/>
        </p:nvSpPr>
        <p:spPr>
          <a:xfrm>
            <a:off x="704088" y="2706624"/>
            <a:ext cx="3163824" cy="2441448"/>
          </a:xfrm>
          <a:prstGeom prst="rect">
            <a:avLst/>
          </a:prstGeom>
          <a:noFill/>
        </p:spPr>
        <p:txBody>
          <a:bodyPr wrap="square" lIns="13716" rIns="13716" tIns="0" bIns="0">
            <a:spAutoFit/>
          </a:bodyPr>
          <a:lstStyle/>
          <a:p>
            <a:pPr>
              <a:spcBef>
                <a:spcPts val="0"/>
              </a:spcBef>
              <a:spcAft>
                <a:spcPts val="500"/>
              </a:spcAft>
              <a:defRPr sz="1800" b="0">
                <a:solidFill>
                  <a:srgbClr val="182F28"/>
                </a:solidFill>
                <a:latin typeface="Aptos"/>
              </a:defRPr>
            </a:pPr>
            <a:r>
              <a:t>Договорный контур и долевое финансирование.</a:t>
            </a:r>
          </a:p>
          <a:p>
            <a:pPr>
              <a:spcBef>
                <a:spcPts val="0"/>
              </a:spcBef>
              <a:spcAft>
                <a:spcPts val="500"/>
              </a:spcAft>
              <a:defRPr sz="1800" b="0">
                <a:solidFill>
                  <a:srgbClr val="182F28"/>
                </a:solidFill>
                <a:latin typeface="Aptos"/>
              </a:defRPr>
            </a:pPr>
          </a:p>
          <a:p>
            <a:pPr>
              <a:spcBef>
                <a:spcPts val="0"/>
              </a:spcBef>
              <a:spcAft>
                <a:spcPts val="500"/>
              </a:spcAft>
              <a:defRPr sz="1800" b="0">
                <a:solidFill>
                  <a:srgbClr val="182F28"/>
                </a:solidFill>
                <a:latin typeface="Aptos"/>
              </a:defRPr>
            </a:pPr>
            <a:r>
              <a:t>Статус БВС определяется по максимальной взлетной массе, не по массе пустого аппарата.</a:t>
            </a:r>
          </a:p>
        </p:txBody>
      </p:sp>
      <p:graphicFrame>
        <p:nvGraphicFramePr>
          <p:cNvPr id="12" name="Table 11"/>
          <p:cNvGraphicFramePr>
            <a:graphicFrameLocks noGrp="1"/>
          </p:cNvGraphicFramePr>
          <p:nvPr/>
        </p:nvGraphicFramePr>
        <p:xfrm>
          <a:off x="4297680" y="1737360"/>
          <a:ext cx="7388352" cy="3502152"/>
        </p:xfrm>
        <a:graphic>
          <a:graphicData uri="http://schemas.openxmlformats.org/drawingml/2006/table">
            <a:tbl>
              <a:tblPr firstRow="1" bandRow="1">
                <a:tableStyleId>{5C22544A-7EE6-4342-B048-85BDC9FD1C3A}</a:tableStyleId>
              </a:tblPr>
              <a:tblGrid>
                <a:gridCol w="1737360"/>
                <a:gridCol w="5650992"/>
              </a:tblGrid>
              <a:tr h="583692">
                <a:tc>
                  <a:txBody>
                    <a:bodyPr/>
                    <a:lstStyle/>
                    <a:p>
                      <a:pPr>
                        <a:spcAft>
                          <a:spcPts val="0"/>
                        </a:spcAft>
                        <a:defRPr sz="1700" b="1">
                          <a:solidFill>
                            <a:srgbClr val="FFFFFF"/>
                          </a:solidFill>
                          <a:latin typeface="Arial"/>
                        </a:defRPr>
                      </a:pPr>
                      <a:r>
                        <a:t>Отдельный gate</a:t>
                      </a:r>
                    </a:p>
                  </a:txBody>
                  <a:tcPr marL="91440" marR="91440" marT="45720" marB="45720">
                    <a:solidFill>
                      <a:srgbClr val="224C3B"/>
                    </a:solidFill>
                  </a:tcPr>
                </a:tc>
                <a:tc>
                  <a:txBody>
                    <a:bodyPr/>
                    <a:lstStyle/>
                    <a:p>
                      <a:pPr>
                        <a:spcAft>
                          <a:spcPts val="0"/>
                        </a:spcAft>
                        <a:defRPr sz="1700" b="1">
                          <a:solidFill>
                            <a:srgbClr val="FFFFFF"/>
                          </a:solidFill>
                          <a:latin typeface="Arial"/>
                        </a:defRPr>
                      </a:pPr>
                      <a:r>
                        <a:t>Что подтвердить до работы</a:t>
                      </a:r>
                    </a:p>
                  </a:txBody>
                  <a:tcPr marL="91440" marR="91440" marT="45720" marB="45720">
                    <a:solidFill>
                      <a:srgbClr val="224C3B"/>
                    </a:solidFill>
                  </a:tcPr>
                </a:tc>
              </a:tr>
              <a:tr h="583692">
                <a:tc>
                  <a:txBody>
                    <a:bodyPr/>
                    <a:lstStyle/>
                    <a:p>
                      <a:pPr>
                        <a:spcAft>
                          <a:spcPts val="0"/>
                        </a:spcAft>
                        <a:defRPr sz="1700" b="0">
                          <a:solidFill>
                            <a:srgbClr val="182F28"/>
                          </a:solidFill>
                          <a:latin typeface="Arial"/>
                        </a:defRPr>
                      </a:pPr>
                      <a:r>
                        <a:t>БВС</a:t>
                      </a:r>
                    </a:p>
                  </a:txBody>
                  <a:tcPr marL="91440" marR="91440" marT="45720" marB="45720">
                    <a:solidFill>
                      <a:srgbClr val="FFFFFF"/>
                    </a:solidFill>
                  </a:tcPr>
                </a:tc>
                <a:tc>
                  <a:txBody>
                    <a:bodyPr/>
                    <a:lstStyle/>
                    <a:p>
                      <a:pPr>
                        <a:spcAft>
                          <a:spcPts val="0"/>
                        </a:spcAft>
                        <a:defRPr sz="1700" b="0">
                          <a:solidFill>
                            <a:srgbClr val="182F28"/>
                          </a:solidFill>
                          <a:latin typeface="Arial"/>
                        </a:defRPr>
                      </a:pPr>
                      <a:r>
                        <a:t>Учет / регистрация и применимые документы</a:t>
                      </a:r>
                    </a:p>
                  </a:txBody>
                  <a:tcPr marL="91440" marR="91440" marT="45720" marB="45720">
                    <a:solidFill>
                      <a:srgbClr val="FFFFFF"/>
                    </a:solidFill>
                  </a:tcPr>
                </a:tc>
              </a:tr>
              <a:tr h="583692">
                <a:tc>
                  <a:txBody>
                    <a:bodyPr/>
                    <a:lstStyle/>
                    <a:p>
                      <a:pPr>
                        <a:spcAft>
                          <a:spcPts val="0"/>
                        </a:spcAft>
                        <a:defRPr sz="1700" b="0">
                          <a:solidFill>
                            <a:srgbClr val="182F28"/>
                          </a:solidFill>
                          <a:latin typeface="Arial"/>
                        </a:defRPr>
                      </a:pPr>
                      <a:r>
                        <a:t>Полет</a:t>
                      </a:r>
                    </a:p>
                  </a:txBody>
                  <a:tcPr marL="91440" marR="91440" marT="45720" marB="45720">
                    <a:solidFill>
                      <a:srgbClr val="F4F2E9"/>
                    </a:solidFill>
                  </a:tcPr>
                </a:tc>
                <a:tc>
                  <a:txBody>
                    <a:bodyPr/>
                    <a:lstStyle/>
                    <a:p>
                      <a:pPr>
                        <a:spcAft>
                          <a:spcPts val="0"/>
                        </a:spcAft>
                        <a:defRPr sz="1700" b="0">
                          <a:solidFill>
                            <a:srgbClr val="182F28"/>
                          </a:solidFill>
                          <a:latin typeface="Arial"/>
                        </a:defRPr>
                      </a:pPr>
                      <a:r>
                        <a:t>Территория, маршрут и условия использования</a:t>
                      </a:r>
                    </a:p>
                  </a:txBody>
                  <a:tcPr marL="91440" marR="91440" marT="45720" marB="45720">
                    <a:solidFill>
                      <a:srgbClr val="F4F2E9"/>
                    </a:solidFill>
                  </a:tcPr>
                </a:tc>
              </a:tr>
              <a:tr h="583692">
                <a:tc>
                  <a:txBody>
                    <a:bodyPr/>
                    <a:lstStyle/>
                    <a:p>
                      <a:pPr>
                        <a:spcAft>
                          <a:spcPts val="0"/>
                        </a:spcAft>
                        <a:defRPr sz="1700" b="0">
                          <a:solidFill>
                            <a:srgbClr val="182F28"/>
                          </a:solidFill>
                          <a:latin typeface="Arial"/>
                        </a:defRPr>
                      </a:pPr>
                      <a:r>
                        <a:t>АХР</a:t>
                      </a:r>
                    </a:p>
                  </a:txBody>
                  <a:tcPr marL="91440" marR="91440" marT="45720" marB="45720">
                    <a:solidFill>
                      <a:srgbClr val="FFFFFF"/>
                    </a:solidFill>
                  </a:tcPr>
                </a:tc>
                <a:tc>
                  <a:txBody>
                    <a:bodyPr/>
                    <a:lstStyle/>
                    <a:p>
                      <a:pPr>
                        <a:spcAft>
                          <a:spcPts val="0"/>
                        </a:spcAft>
                        <a:defRPr sz="1700" b="0">
                          <a:solidFill>
                            <a:srgbClr val="182F28"/>
                          </a:solidFill>
                          <a:latin typeface="Arial"/>
                        </a:defRPr>
                      </a:pPr>
                      <a:r>
                        <a:t>Правомерность конкретной схемы выполнения</a:t>
                      </a:r>
                    </a:p>
                  </a:txBody>
                  <a:tcPr marL="91440" marR="91440" marT="45720" marB="45720">
                    <a:solidFill>
                      <a:srgbClr val="FFFFFF"/>
                    </a:solidFill>
                  </a:tcPr>
                </a:tc>
              </a:tr>
              <a:tr h="583692">
                <a:tc>
                  <a:txBody>
                    <a:bodyPr/>
                    <a:lstStyle/>
                    <a:p>
                      <a:pPr>
                        <a:spcAft>
                          <a:spcPts val="0"/>
                        </a:spcAft>
                        <a:defRPr sz="1700" b="0">
                          <a:solidFill>
                            <a:srgbClr val="182F28"/>
                          </a:solidFill>
                          <a:latin typeface="Arial"/>
                        </a:defRPr>
                      </a:pPr>
                      <a:r>
                        <a:t>Препарат</a:t>
                      </a:r>
                    </a:p>
                  </a:txBody>
                  <a:tcPr marL="91440" marR="91440" marT="45720" marB="45720">
                    <a:solidFill>
                      <a:srgbClr val="F4F2E9"/>
                    </a:solidFill>
                  </a:tcPr>
                </a:tc>
                <a:tc>
                  <a:txBody>
                    <a:bodyPr/>
                    <a:lstStyle/>
                    <a:p>
                      <a:pPr>
                        <a:spcAft>
                          <a:spcPts val="0"/>
                        </a:spcAft>
                        <a:defRPr sz="1700" b="0">
                          <a:solidFill>
                            <a:srgbClr val="182F28"/>
                          </a:solidFill>
                          <a:latin typeface="Arial"/>
                        </a:defRPr>
                      </a:pPr>
                      <a:r>
                        <a:t>Допустимость технологии и регламент применения</a:t>
                      </a:r>
                    </a:p>
                  </a:txBody>
                  <a:tcPr marL="91440" marR="91440" marT="45720" marB="45720">
                    <a:solidFill>
                      <a:srgbClr val="F4F2E9"/>
                    </a:solidFill>
                  </a:tcPr>
                </a:tc>
              </a:tr>
              <a:tr h="583692">
                <a:tc>
                  <a:txBody>
                    <a:bodyPr/>
                    <a:lstStyle/>
                    <a:p>
                      <a:pPr>
                        <a:spcAft>
                          <a:spcPts val="0"/>
                        </a:spcAft>
                        <a:defRPr sz="1700" b="0">
                          <a:solidFill>
                            <a:srgbClr val="182F28"/>
                          </a:solidFill>
                          <a:latin typeface="Arial"/>
                        </a:defRPr>
                      </a:pPr>
                      <a:r>
                        <a:t>Регион</a:t>
                      </a:r>
                    </a:p>
                  </a:txBody>
                  <a:tcPr marL="91440" marR="91440" marT="45720" marB="45720">
                    <a:solidFill>
                      <a:srgbClr val="FFFFFF"/>
                    </a:solidFill>
                  </a:tcPr>
                </a:tc>
                <a:tc>
                  <a:txBody>
                    <a:bodyPr/>
                    <a:lstStyle/>
                    <a:p>
                      <a:pPr>
                        <a:spcAft>
                          <a:spcPts val="0"/>
                        </a:spcAft>
                        <a:defRPr sz="1700" b="0">
                          <a:solidFill>
                            <a:srgbClr val="182F28"/>
                          </a:solidFill>
                          <a:latin typeface="Arial"/>
                        </a:defRPr>
                      </a:pPr>
                      <a:r>
                        <a:t>Действующий запрет / исключения, если применимы</a:t>
                      </a:r>
                    </a:p>
                  </a:txBody>
                  <a:tcPr marL="91440" marR="91440" marT="45720" marB="45720">
                    <a:solidFill>
                      <a:srgbClr val="FFFFFF"/>
                    </a:solidFill>
                  </a:tcPr>
                </a:tc>
              </a:tr>
            </a:tbl>
          </a:graphicData>
        </a:graphic>
      </p:graphicFrame>
      <p:sp>
        <p:nvSpPr>
          <p:cNvPr id="13" name="Rounded Rectangle 12"/>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ФАП-303 прочитан во вторичном тексте; режим Татарстана и санитарные условия требуют сверки</a:t>
            </a:r>
          </a:p>
        </p:txBody>
      </p:sp>
      <p:sp>
        <p:nvSpPr>
          <p:cNvPr id="15"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Стейкхолдеры: власть и интерес</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10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Высокая власть / высокий интерес</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Учредитель, инвестор, клиенты и агрономы</a:t>
            </a:r>
          </a:p>
          <a:p>
            <a:pPr>
              <a:spcBef>
                <a:spcPts val="0"/>
              </a:spcBef>
              <a:spcAft>
                <a:spcPts val="500"/>
              </a:spcAft>
              <a:defRPr sz="1600" b="0">
                <a:solidFill>
                  <a:srgbClr val="182F28"/>
                </a:solidFill>
                <a:latin typeface="Aptos"/>
              </a:defRPr>
            </a:pPr>
            <a:r>
              <a:t>→ План-факт; договоры; приемка</a:t>
            </a:r>
          </a:p>
          <a:p>
            <a:pPr>
              <a:spcBef>
                <a:spcPts val="0"/>
              </a:spcBef>
              <a:spcAft>
                <a:spcPts val="500"/>
              </a:spcAft>
              <a:defRPr sz="1600" b="0">
                <a:solidFill>
                  <a:srgbClr val="182F28"/>
                </a:solidFill>
                <a:latin typeface="Aptos"/>
              </a:defRPr>
            </a:pPr>
            <a:r>
              <a:t>Владелец: директор</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Высокая власть / переменный интерес</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Уполномоченные органы</a:t>
            </a:r>
          </a:p>
          <a:p>
            <a:pPr>
              <a:spcBef>
                <a:spcPts val="0"/>
              </a:spcBef>
              <a:spcAft>
                <a:spcPts val="500"/>
              </a:spcAft>
              <a:defRPr sz="1600" b="0">
                <a:solidFill>
                  <a:srgbClr val="182F28"/>
                </a:solidFill>
                <a:latin typeface="Aptos"/>
              </a:defRPr>
            </a:pPr>
            <a:r>
              <a:t>→ Документы по конкретной территории</a:t>
            </a:r>
          </a:p>
          <a:p>
            <a:pPr>
              <a:spcBef>
                <a:spcPts val="0"/>
              </a:spcBef>
              <a:spcAft>
                <a:spcPts val="500"/>
              </a:spcAft>
              <a:defRPr sz="1600" b="0">
                <a:solidFill>
                  <a:srgbClr val="182F28"/>
                </a:solidFill>
                <a:latin typeface="Aptos"/>
              </a:defRPr>
            </a:pPr>
            <a:r>
              <a:t>Владелец: внешний юрист</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Средняя власть / высокий интерес</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Операторы, учебный партнер, агроном</a:t>
            </a:r>
          </a:p>
          <a:p>
            <a:pPr>
              <a:spcBef>
                <a:spcPts val="0"/>
              </a:spcBef>
              <a:spcAft>
                <a:spcPts val="500"/>
              </a:spcAft>
              <a:defRPr sz="1600" b="0">
                <a:solidFill>
                  <a:srgbClr val="182F28"/>
                </a:solidFill>
                <a:latin typeface="Aptos"/>
              </a:defRPr>
            </a:pPr>
            <a:r>
              <a:t>→ Инструктаж, нагрузка, компетенции</a:t>
            </a:r>
          </a:p>
          <a:p>
            <a:pPr>
              <a:spcBef>
                <a:spcPts val="0"/>
              </a:spcBef>
              <a:spcAft>
                <a:spcPts val="500"/>
              </a:spcAft>
              <a:defRPr sz="1600" b="0">
                <a:solidFill>
                  <a:srgbClr val="182F28"/>
                </a:solidFill>
                <a:latin typeface="Aptos"/>
              </a:defRPr>
            </a:pPr>
            <a:r>
              <a:t>Владелец: операционный руководитель</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Низкая власть / высокий или переменный</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Кандидаты после СВО, соседи полей</a:t>
            </a:r>
          </a:p>
          <a:p>
            <a:pPr>
              <a:spcBef>
                <a:spcPts val="0"/>
              </a:spcBef>
              <a:spcAft>
                <a:spcPts val="500"/>
              </a:spcAft>
              <a:defRPr sz="1600" b="0">
                <a:solidFill>
                  <a:srgbClr val="182F28"/>
                </a:solidFill>
                <a:latin typeface="Aptos"/>
              </a:defRPr>
            </a:pPr>
            <a:r>
              <a:t>→ Добровольность; канал обращений</a:t>
            </a:r>
          </a:p>
          <a:p>
            <a:pPr>
              <a:spcBef>
                <a:spcPts val="0"/>
              </a:spcBef>
              <a:spcAft>
                <a:spcPts val="500"/>
              </a:spcAft>
              <a:defRPr sz="1600" b="0">
                <a:solidFill>
                  <a:srgbClr val="182F28"/>
                </a:solidFill>
                <a:latin typeface="Aptos"/>
              </a:defRPr>
            </a:pPr>
            <a:r>
              <a:t>Владелец: директор</a:t>
            </a:r>
          </a:p>
        </p:txBody>
      </p:sp>
      <p:sp>
        <p:nvSpPr>
          <p:cNvPr id="23" name="TextBox 22"/>
          <p:cNvSpPr txBox="1"/>
          <p:nvPr/>
        </p:nvSpPr>
        <p:spPr>
          <a:xfrm>
            <a:off x="594360" y="5897880"/>
            <a:ext cx="10972800" cy="502920"/>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Сервис техники: средняя власть / средний интерес; регламент реакции — операционный руководитель.</a:t>
            </a:r>
          </a:p>
        </p:txBody>
      </p:sp>
      <p:sp>
        <p:nvSpPr>
          <p:cNvPr id="2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Производственный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Производительность  •  [РАСЧЕТ] Календарная емкость бригады</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11 / 22</a:t>
            </a:r>
          </a:p>
        </p:txBody>
      </p:sp>
      <p:sp>
        <p:nvSpPr>
          <p:cNvPr id="7" name="Rounded Rectangle 6"/>
          <p:cNvSpPr/>
          <p:nvPr/>
        </p:nvSpPr>
        <p:spPr>
          <a:xfrm>
            <a:off x="50292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13 000</a:t>
            </a:r>
          </a:p>
        </p:txBody>
      </p:sp>
      <p:sp>
        <p:nvSpPr>
          <p:cNvPr id="10" name="TextBox 9"/>
          <p:cNvSpPr txBox="1"/>
          <p:nvPr/>
        </p:nvSpPr>
        <p:spPr>
          <a:xfrm>
            <a:off x="70408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га-проходов / потолок</a:t>
            </a:r>
          </a:p>
        </p:txBody>
      </p:sp>
      <p:sp>
        <p:nvSpPr>
          <p:cNvPr id="11" name="TextBox 10"/>
          <p:cNvSpPr txBox="1"/>
          <p:nvPr/>
        </p:nvSpPr>
        <p:spPr>
          <a:xfrm>
            <a:off x="70408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100 эффективных дней × 130 га</a:t>
            </a:r>
          </a:p>
          <a:p>
            <a:pPr>
              <a:spcBef>
                <a:spcPts val="0"/>
              </a:spcBef>
              <a:spcAft>
                <a:spcPts val="500"/>
              </a:spcAft>
              <a:defRPr sz="1700" b="0">
                <a:solidFill>
                  <a:srgbClr val="101F1B"/>
                </a:solidFill>
                <a:latin typeface="Aptos"/>
              </a:defRPr>
            </a:pPr>
            <a:r>
              <a:t>Основной + резервный аппарат</a:t>
            </a:r>
          </a:p>
          <a:p>
            <a:pPr>
              <a:spcBef>
                <a:spcPts val="0"/>
              </a:spcBef>
              <a:spcAft>
                <a:spcPts val="500"/>
              </a:spcAft>
              <a:defRPr sz="1700" b="0">
                <a:solidFill>
                  <a:srgbClr val="101F1B"/>
                </a:solidFill>
                <a:latin typeface="Aptos"/>
              </a:defRPr>
            </a:pPr>
            <a:r>
              <a:t>Резерв не удваивает мощность</a:t>
            </a:r>
          </a:p>
        </p:txBody>
      </p:sp>
      <p:sp>
        <p:nvSpPr>
          <p:cNvPr id="12" name="Rounded Rectangle 11"/>
          <p:cNvSpPr/>
          <p:nvPr/>
        </p:nvSpPr>
        <p:spPr>
          <a:xfrm>
            <a:off x="429768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10 000</a:t>
            </a:r>
          </a:p>
        </p:txBody>
      </p:sp>
      <p:sp>
        <p:nvSpPr>
          <p:cNvPr id="15" name="TextBox 14"/>
          <p:cNvSpPr txBox="1"/>
          <p:nvPr/>
        </p:nvSpPr>
        <p:spPr>
          <a:xfrm>
            <a:off x="449884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га-обследований</a:t>
            </a:r>
          </a:p>
        </p:txBody>
      </p:sp>
      <p:sp>
        <p:nvSpPr>
          <p:cNvPr id="16" name="TextBox 15"/>
          <p:cNvSpPr txBox="1"/>
          <p:nvPr/>
        </p:nvSpPr>
        <p:spPr>
          <a:xfrm>
            <a:off x="449884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20 отдельных дней × 500 га</a:t>
            </a:r>
          </a:p>
          <a:p>
            <a:pPr>
              <a:spcBef>
                <a:spcPts val="0"/>
              </a:spcBef>
              <a:spcAft>
                <a:spcPts val="500"/>
              </a:spcAft>
              <a:defRPr sz="1700" b="0">
                <a:solidFill>
                  <a:srgbClr val="101F1B"/>
                </a:solidFill>
                <a:latin typeface="Aptos"/>
              </a:defRPr>
            </a:pPr>
            <a:r>
              <a:t>Без одновременных полетов</a:t>
            </a:r>
          </a:p>
          <a:p>
            <a:pPr>
              <a:spcBef>
                <a:spcPts val="0"/>
              </a:spcBef>
              <a:spcAft>
                <a:spcPts val="500"/>
              </a:spcAft>
              <a:defRPr sz="1700" b="0">
                <a:solidFill>
                  <a:srgbClr val="101F1B"/>
                </a:solidFill>
                <a:latin typeface="Aptos"/>
              </a:defRPr>
            </a:pPr>
            <a:r>
              <a:t>Одной бригадой — по очереди</a:t>
            </a:r>
          </a:p>
        </p:txBody>
      </p:sp>
      <p:sp>
        <p:nvSpPr>
          <p:cNvPr id="17" name="Rounded Rectangle 16"/>
          <p:cNvSpPr/>
          <p:nvPr/>
        </p:nvSpPr>
        <p:spPr>
          <a:xfrm>
            <a:off x="8092440" y="1719072"/>
            <a:ext cx="3584448" cy="33192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19"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224C3B"/>
                </a:solidFill>
                <a:latin typeface="Aptos"/>
              </a:defRPr>
            </a:pPr>
            <a:r>
              <a:t>34</a:t>
            </a:r>
          </a:p>
        </p:txBody>
      </p:sp>
      <p:sp>
        <p:nvSpPr>
          <p:cNvPr id="20" name="TextBox 19"/>
          <p:cNvSpPr txBox="1"/>
          <p:nvPr/>
        </p:nvSpPr>
        <p:spPr>
          <a:xfrm>
            <a:off x="829360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дня резерва</a:t>
            </a:r>
          </a:p>
        </p:txBody>
      </p:sp>
      <p:sp>
        <p:nvSpPr>
          <p:cNvPr id="21" name="TextBox 20"/>
          <p:cNvSpPr txBox="1"/>
          <p:nvPr/>
        </p:nvSpPr>
        <p:spPr>
          <a:xfrm>
            <a:off x="829360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101F1B"/>
                </a:solidFill>
                <a:latin typeface="Aptos"/>
              </a:defRPr>
            </a:pPr>
            <a:r>
              <a:t>154 календарных дня сезона</a:t>
            </a:r>
          </a:p>
          <a:p>
            <a:pPr>
              <a:spcBef>
                <a:spcPts val="0"/>
              </a:spcBef>
              <a:spcAft>
                <a:spcPts val="500"/>
              </a:spcAft>
              <a:defRPr sz="1700" b="0">
                <a:solidFill>
                  <a:srgbClr val="101F1B"/>
                </a:solidFill>
                <a:latin typeface="Aptos"/>
              </a:defRPr>
            </a:pPr>
            <a:r>
              <a:t>− 100 дней внесения</a:t>
            </a:r>
          </a:p>
          <a:p>
            <a:pPr>
              <a:spcBef>
                <a:spcPts val="0"/>
              </a:spcBef>
              <a:spcAft>
                <a:spcPts val="500"/>
              </a:spcAft>
              <a:defRPr sz="1700" b="0">
                <a:solidFill>
                  <a:srgbClr val="101F1B"/>
                </a:solidFill>
                <a:latin typeface="Aptos"/>
              </a:defRPr>
            </a:pPr>
            <a:r>
              <a:t>− 20 дней мониторинга</a:t>
            </a:r>
          </a:p>
        </p:txBody>
      </p:sp>
      <p:sp>
        <p:nvSpPr>
          <p:cNvPr id="22" name="TextBox 21"/>
          <p:cNvSpPr txBox="1"/>
          <p:nvPr/>
        </p:nvSpPr>
        <p:spPr>
          <a:xfrm>
            <a:off x="594360" y="5175504"/>
            <a:ext cx="10972800" cy="457200"/>
          </a:xfrm>
          <a:prstGeom prst="rect">
            <a:avLst/>
          </a:prstGeom>
          <a:noFill/>
        </p:spPr>
        <p:txBody>
          <a:bodyPr wrap="square" lIns="13716" rIns="13716" tIns="0" bIns="0">
            <a:spAutoFit/>
          </a:bodyPr>
          <a:lstStyle/>
          <a:p>
            <a:pPr>
              <a:spcBef>
                <a:spcPts val="0"/>
              </a:spcBef>
              <a:spcAft>
                <a:spcPts val="500"/>
              </a:spcAft>
              <a:defRPr sz="2000" b="1">
                <a:solidFill>
                  <a:srgbClr val="FFFFFF"/>
                </a:solidFill>
                <a:latin typeface="Aptos"/>
              </a:defRPr>
            </a:pPr>
            <a:r>
              <a:t>Проверка → обследование → подготовка → выполнение → контроль и акт</a:t>
            </a:r>
          </a:p>
        </p:txBody>
      </p:sp>
      <p:sp>
        <p:nvSpPr>
          <p:cNvPr id="23" name="Rounded Rectangle 22"/>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Июнь 2031: 30 полевых дней из 30. Поздняя база ресурсно не подтверждена</a:t>
            </a:r>
          </a:p>
        </p:txBody>
      </p:sp>
      <p:sp>
        <p:nvSpPr>
          <p:cNvPr id="2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Организационный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12 / 22</a:t>
            </a:r>
          </a:p>
        </p:txBody>
      </p:sp>
      <p:sp>
        <p:nvSpPr>
          <p:cNvPr id="7" name="TextBox 6"/>
          <p:cNvSpPr txBox="1"/>
          <p:nvPr/>
        </p:nvSpPr>
        <p:spPr>
          <a:xfrm>
            <a:off x="594360" y="1755648"/>
            <a:ext cx="3657600" cy="914400"/>
          </a:xfrm>
          <a:prstGeom prst="rect">
            <a:avLst/>
          </a:prstGeom>
          <a:noFill/>
        </p:spPr>
        <p:txBody>
          <a:bodyPr wrap="square" lIns="13716" rIns="13716" tIns="0" bIns="0">
            <a:spAutoFit/>
          </a:bodyPr>
          <a:lstStyle/>
          <a:p>
            <a:pPr>
              <a:spcBef>
                <a:spcPts val="0"/>
              </a:spcBef>
              <a:spcAft>
                <a:spcPts val="500"/>
              </a:spcAft>
              <a:defRPr sz="4400" b="1">
                <a:solidFill>
                  <a:srgbClr val="386349"/>
                </a:solidFill>
                <a:latin typeface="Aptos"/>
              </a:defRPr>
            </a:pPr>
            <a:r>
              <a:t>3 FTE</a:t>
            </a:r>
          </a:p>
        </p:txBody>
      </p:sp>
      <p:sp>
        <p:nvSpPr>
          <p:cNvPr id="8" name="TextBox 7"/>
          <p:cNvSpPr txBox="1"/>
          <p:nvPr/>
        </p:nvSpPr>
        <p:spPr>
          <a:xfrm>
            <a:off x="3200400" y="1847088"/>
            <a:ext cx="8321040" cy="786384"/>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3,0 млн ₽ / год — бюджет штатного труда; требует проверки рынка и начислений</a:t>
            </a:r>
          </a:p>
        </p:txBody>
      </p:sp>
      <p:graphicFrame>
        <p:nvGraphicFramePr>
          <p:cNvPr id="9" name="Table 8"/>
          <p:cNvGraphicFramePr>
            <a:graphicFrameLocks noGrp="1"/>
          </p:cNvGraphicFramePr>
          <p:nvPr/>
        </p:nvGraphicFramePr>
        <p:xfrm>
          <a:off x="502920" y="2761488"/>
          <a:ext cx="11183112" cy="1746504"/>
        </p:xfrm>
        <a:graphic>
          <a:graphicData uri="http://schemas.openxmlformats.org/drawingml/2006/table">
            <a:tbl>
              <a:tblPr firstRow="1" bandRow="1">
                <a:tableStyleId>{5C22544A-7EE6-4342-B048-85BDC9FD1C3A}</a:tableStyleId>
              </a:tblPr>
              <a:tblGrid>
                <a:gridCol w="3931920"/>
                <a:gridCol w="7251192"/>
              </a:tblGrid>
              <a:tr h="436626">
                <a:tc>
                  <a:txBody>
                    <a:bodyPr/>
                    <a:lstStyle/>
                    <a:p>
                      <a:pPr>
                        <a:spcAft>
                          <a:spcPts val="0"/>
                        </a:spcAft>
                        <a:defRPr sz="1800" b="1">
                          <a:solidFill>
                            <a:srgbClr val="FFFFFF"/>
                          </a:solidFill>
                          <a:latin typeface="Arial"/>
                        </a:defRPr>
                      </a:pPr>
                      <a:r>
                        <a:t>Штатная роль</a:t>
                      </a:r>
                    </a:p>
                  </a:txBody>
                  <a:tcPr marL="91440" marR="91440" marT="45720" marB="45720">
                    <a:solidFill>
                      <a:srgbClr val="224C3B"/>
                    </a:solidFill>
                  </a:tcPr>
                </a:tc>
                <a:tc>
                  <a:txBody>
                    <a:bodyPr/>
                    <a:lstStyle/>
                    <a:p>
                      <a:pPr>
                        <a:spcAft>
                          <a:spcPts val="0"/>
                        </a:spcAft>
                        <a:defRPr sz="1800" b="1">
                          <a:solidFill>
                            <a:srgbClr val="FFFFFF"/>
                          </a:solidFill>
                          <a:latin typeface="Arial"/>
                        </a:defRPr>
                      </a:pPr>
                      <a:r>
                        <a:t>Функции</a:t>
                      </a:r>
                    </a:p>
                  </a:txBody>
                  <a:tcPr marL="91440" marR="91440" marT="45720" marB="45720">
                    <a:solidFill>
                      <a:srgbClr val="224C3B"/>
                    </a:solidFill>
                  </a:tcPr>
                </a:tc>
              </a:tr>
              <a:tr h="436626">
                <a:tc>
                  <a:txBody>
                    <a:bodyPr/>
                    <a:lstStyle/>
                    <a:p>
                      <a:pPr>
                        <a:spcAft>
                          <a:spcPts val="0"/>
                        </a:spcAft>
                        <a:defRPr sz="18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Продажи, договоры, деньги и партнеры</a:t>
                      </a:r>
                    </a:p>
                  </a:txBody>
                  <a:tcPr marL="91440" marR="91440" marT="45720" marB="45720">
                    <a:solidFill>
                      <a:srgbClr val="FFFFFF"/>
                    </a:solidFill>
                  </a:tcPr>
                </a:tc>
              </a:tr>
              <a:tr h="436626">
                <a:tc>
                  <a:txBody>
                    <a:bodyPr/>
                    <a:lstStyle/>
                    <a:p>
                      <a:pPr>
                        <a:spcAft>
                          <a:spcPts val="0"/>
                        </a:spcAft>
                        <a:defRPr sz="1800" b="0">
                          <a:solidFill>
                            <a:srgbClr val="182F28"/>
                          </a:solidFill>
                          <a:latin typeface="Arial"/>
                        </a:defRPr>
                      </a:pPr>
                      <a:r>
                        <a:t>Оператор / операционный руководитель</a:t>
                      </a:r>
                    </a:p>
                  </a:txBody>
                  <a:tcPr marL="91440" marR="91440" marT="45720" marB="45720">
                    <a:solidFill>
                      <a:srgbClr val="F4F2E9"/>
                    </a:solidFill>
                  </a:tcPr>
                </a:tc>
                <a:tc>
                  <a:txBody>
                    <a:bodyPr/>
                    <a:lstStyle/>
                    <a:p>
                      <a:pPr>
                        <a:spcAft>
                          <a:spcPts val="0"/>
                        </a:spcAft>
                        <a:defRPr sz="1800" b="0">
                          <a:solidFill>
                            <a:srgbClr val="182F28"/>
                          </a:solidFill>
                          <a:latin typeface="Arial"/>
                        </a:defRPr>
                      </a:pPr>
                      <a:r>
                        <a:t>Календарь, техника, безопасность и наставник</a:t>
                      </a:r>
                    </a:p>
                  </a:txBody>
                  <a:tcPr marL="91440" marR="91440" marT="45720" marB="45720">
                    <a:solidFill>
                      <a:srgbClr val="F4F2E9"/>
                    </a:solidFill>
                  </a:tcPr>
                </a:tc>
              </a:tr>
              <a:tr h="436626">
                <a:tc>
                  <a:txBody>
                    <a:bodyPr/>
                    <a:lstStyle/>
                    <a:p>
                      <a:pPr>
                        <a:spcAft>
                          <a:spcPts val="0"/>
                        </a:spcAft>
                        <a:defRPr sz="1800" b="0">
                          <a:solidFill>
                            <a:srgbClr val="182F28"/>
                          </a:solidFill>
                          <a:latin typeface="Arial"/>
                        </a:defRPr>
                      </a:pPr>
                      <a:r>
                        <a:t>Второй оператор / помощник</a:t>
                      </a:r>
                    </a:p>
                  </a:txBody>
                  <a:tcPr marL="91440" marR="91440" marT="45720" marB="45720">
                    <a:solidFill>
                      <a:srgbClr val="FFFFFF"/>
                    </a:solidFill>
                  </a:tcPr>
                </a:tc>
                <a:tc>
                  <a:txBody>
                    <a:bodyPr/>
                    <a:lstStyle/>
                    <a:p>
                      <a:pPr>
                        <a:spcAft>
                          <a:spcPts val="0"/>
                        </a:spcAft>
                        <a:defRPr sz="1800" b="0">
                          <a:solidFill>
                            <a:srgbClr val="182F28"/>
                          </a:solidFill>
                          <a:latin typeface="Arial"/>
                        </a:defRPr>
                      </a:pPr>
                      <a:r>
                        <a:t>Подготовка; мониторинг в отдельных окнах</a:t>
                      </a:r>
                    </a:p>
                  </a:txBody>
                  <a:tcPr marL="91440" marR="91440" marT="45720" marB="45720">
                    <a:solidFill>
                      <a:srgbClr val="FFFFFF"/>
                    </a:solidFill>
                  </a:tcPr>
                </a:tc>
              </a:tr>
            </a:tbl>
          </a:graphicData>
        </a:graphic>
      </p:graphicFrame>
      <p:sp>
        <p:nvSpPr>
          <p:cNvPr id="10" name="TextBox 9"/>
          <p:cNvSpPr txBox="1"/>
          <p:nvPr/>
        </p:nvSpPr>
        <p:spPr>
          <a:xfrm>
            <a:off x="594360" y="4709160"/>
            <a:ext cx="10972800" cy="548640"/>
          </a:xfrm>
          <a:prstGeom prst="rect">
            <a:avLst/>
          </a:prstGeom>
          <a:noFill/>
        </p:spPr>
        <p:txBody>
          <a:bodyPr wrap="square" lIns="13716" rIns="13716" tIns="0" bIns="0">
            <a:spAutoFit/>
          </a:bodyPr>
          <a:lstStyle/>
          <a:p>
            <a:pPr>
              <a:spcBef>
                <a:spcPts val="0"/>
              </a:spcBef>
              <a:spcAft>
                <a:spcPts val="500"/>
              </a:spcAft>
              <a:defRPr sz="1800" b="0">
                <a:solidFill>
                  <a:srgbClr val="65766D"/>
                </a:solidFill>
                <a:latin typeface="Aptos"/>
              </a:defRPr>
            </a:pPr>
            <a:r>
              <a:t>Вне штата: агроном, юрист, бухгалтер и учебный партнер — оплачиваемые услуги.</a:t>
            </a:r>
          </a:p>
        </p:txBody>
      </p:sp>
      <p:sp>
        <p:nvSpPr>
          <p:cNvPr id="11" name="Rounded Rectangle 10"/>
          <p:cNvSpPr/>
          <p:nvPr/>
        </p:nvSpPr>
        <p:spPr>
          <a:xfrm>
            <a:off x="502920" y="5513832"/>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После СВО: добровольный отбор → гражданское обучение → наставник → проверка компетенций</a:t>
            </a:r>
          </a:p>
        </p:txBody>
      </p:sp>
      <p:sp>
        <p:nvSpPr>
          <p:cNvPr id="13" name="TextBox 12"/>
          <p:cNvSpPr txBox="1"/>
          <p:nvPr/>
        </p:nvSpPr>
        <p:spPr>
          <a:xfrm>
            <a:off x="594360" y="6080760"/>
            <a:ext cx="10972800" cy="356616"/>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Одинаковые требования для всех; опыт не дает автоматического допуска. Личные данные — конфиденциально.</a:t>
            </a:r>
          </a:p>
        </p:txBody>
      </p:sp>
      <p:sp>
        <p:nvSpPr>
          <p:cNvPr id="1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WBS / иерархическая структура работ</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WBS из data/project_plan.csv; каждый пакет имеет результат</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13 / 22</a:t>
            </a:r>
          </a:p>
        </p:txBody>
      </p:sp>
      <p:sp>
        <p:nvSpPr>
          <p:cNvPr id="7" name="Rounded Rectangle 6"/>
          <p:cNvSpPr/>
          <p:nvPr/>
        </p:nvSpPr>
        <p:spPr>
          <a:xfrm>
            <a:off x="502920"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1 / Проверка модели</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1.1 A — правовая карта</a:t>
            </a:r>
          </a:p>
          <a:p>
            <a:pPr>
              <a:spcBef>
                <a:spcPts val="0"/>
              </a:spcBef>
              <a:spcAft>
                <a:spcPts val="500"/>
              </a:spcAft>
              <a:defRPr sz="1700" b="0">
                <a:solidFill>
                  <a:srgbClr val="182F28"/>
                </a:solidFill>
                <a:latin typeface="Aptos"/>
              </a:defRPr>
            </a:pPr>
            <a:r>
              <a:t>1.2 B — интервью и заявки</a:t>
            </a:r>
          </a:p>
          <a:p>
            <a:pPr>
              <a:spcBef>
                <a:spcPts val="0"/>
              </a:spcBef>
              <a:spcAft>
                <a:spcPts val="500"/>
              </a:spcAft>
              <a:defRPr sz="1700" b="0">
                <a:solidFill>
                  <a:srgbClr val="182F28"/>
                </a:solidFill>
                <a:latin typeface="Aptos"/>
              </a:defRPr>
            </a:pPr>
            <a:r>
              <a:t>1.3 C — ООО и договоры</a:t>
            </a:r>
          </a:p>
        </p:txBody>
      </p:sp>
      <p:sp>
        <p:nvSpPr>
          <p:cNvPr id="11" name="Rounded Rectangle 10"/>
          <p:cNvSpPr/>
          <p:nvPr/>
        </p:nvSpPr>
        <p:spPr>
          <a:xfrm>
            <a:off x="6208776" y="1719072"/>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2 / Ресурсы</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2.1 D — инвестиционное решение</a:t>
            </a:r>
          </a:p>
          <a:p>
            <a:pPr>
              <a:spcBef>
                <a:spcPts val="0"/>
              </a:spcBef>
              <a:spcAft>
                <a:spcPts val="500"/>
              </a:spcAft>
              <a:defRPr sz="1700" b="0">
                <a:solidFill>
                  <a:srgbClr val="182F28"/>
                </a:solidFill>
                <a:latin typeface="Aptos"/>
              </a:defRPr>
            </a:pPr>
            <a:r>
              <a:t>2.2 E — приемка техники</a:t>
            </a:r>
          </a:p>
          <a:p>
            <a:pPr>
              <a:spcBef>
                <a:spcPts val="0"/>
              </a:spcBef>
              <a:spcAft>
                <a:spcPts val="500"/>
              </a:spcAft>
              <a:defRPr sz="1700" b="0">
                <a:solidFill>
                  <a:srgbClr val="182F28"/>
                </a:solidFill>
                <a:latin typeface="Aptos"/>
              </a:defRPr>
            </a:pPr>
            <a:r>
              <a:t>2.3 F — обучение</a:t>
            </a:r>
          </a:p>
          <a:p>
            <a:pPr>
              <a:spcBef>
                <a:spcPts val="0"/>
              </a:spcBef>
              <a:spcAft>
                <a:spcPts val="500"/>
              </a:spcAft>
              <a:defRPr sz="1700" b="0">
                <a:solidFill>
                  <a:srgbClr val="182F28"/>
                </a:solidFill>
                <a:latin typeface="Aptos"/>
              </a:defRPr>
            </a:pPr>
            <a:r>
              <a:t>2.4 G — готовность БВС</a:t>
            </a:r>
          </a:p>
        </p:txBody>
      </p:sp>
      <p:sp>
        <p:nvSpPr>
          <p:cNvPr id="15" name="Rounded Rectangle 14"/>
          <p:cNvSpPr/>
          <p:nvPr/>
        </p:nvSpPr>
        <p:spPr>
          <a:xfrm>
            <a:off x="502920"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3 / Предсезонная готовность</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3.1 H — SOP, CRM, карты</a:t>
            </a:r>
          </a:p>
          <a:p>
            <a:pPr>
              <a:spcBef>
                <a:spcPts val="0"/>
              </a:spcBef>
              <a:spcAft>
                <a:spcPts val="500"/>
              </a:spcAft>
              <a:defRPr sz="1700" b="0">
                <a:solidFill>
                  <a:srgbClr val="182F28"/>
                </a:solidFill>
                <a:latin typeface="Aptos"/>
              </a:defRPr>
            </a:pPr>
            <a:r>
              <a:t>3.2 I — приемочные испытания</a:t>
            </a:r>
          </a:p>
          <a:p>
            <a:pPr>
              <a:spcBef>
                <a:spcPts val="0"/>
              </a:spcBef>
              <a:spcAft>
                <a:spcPts val="500"/>
              </a:spcAft>
              <a:defRPr sz="1700" b="0">
                <a:solidFill>
                  <a:srgbClr val="182F28"/>
                </a:solidFill>
                <a:latin typeface="Aptos"/>
              </a:defRPr>
            </a:pPr>
            <a:r>
              <a:t>3.3 J — договоры сезона</a:t>
            </a:r>
          </a:p>
          <a:p>
            <a:pPr>
              <a:spcBef>
                <a:spcPts val="0"/>
              </a:spcBef>
              <a:spcAft>
                <a:spcPts val="500"/>
              </a:spcAft>
              <a:defRPr sz="1700" b="0">
                <a:solidFill>
                  <a:srgbClr val="182F28"/>
                </a:solidFill>
                <a:latin typeface="Aptos"/>
              </a:defRPr>
            </a:pPr>
            <a:r>
              <a:t>3.4 M — ожидание окна</a:t>
            </a:r>
          </a:p>
        </p:txBody>
      </p:sp>
      <p:sp>
        <p:nvSpPr>
          <p:cNvPr id="19" name="Rounded Rectangle 18"/>
          <p:cNvSpPr/>
          <p:nvPr/>
        </p:nvSpPr>
        <p:spPr>
          <a:xfrm>
            <a:off x="6208776" y="3758183"/>
            <a:ext cx="5477256"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4 / Исполнение и контроль</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182F28"/>
                </a:solidFill>
                <a:latin typeface="Aptos"/>
              </a:defRPr>
            </a:pPr>
            <a:r>
              <a:t>4.1 K — коммерческий сезон</a:t>
            </a:r>
          </a:p>
          <a:p>
            <a:pPr>
              <a:spcBef>
                <a:spcPts val="0"/>
              </a:spcBef>
              <a:spcAft>
                <a:spcPts val="500"/>
              </a:spcAft>
              <a:defRPr sz="1700" b="0">
                <a:solidFill>
                  <a:srgbClr val="182F28"/>
                </a:solidFill>
                <a:latin typeface="Aptos"/>
              </a:defRPr>
            </a:pPr>
            <a:r>
              <a:t>4.2 L — аудит и решение</a:t>
            </a:r>
          </a:p>
        </p:txBody>
      </p:sp>
      <p:sp>
        <p:nvSpPr>
          <p:cNvPr id="23" name="TextBox 22"/>
          <p:cNvSpPr txBox="1"/>
          <p:nvPr/>
        </p:nvSpPr>
        <p:spPr>
          <a:xfrm>
            <a:off x="594360" y="5925312"/>
            <a:ext cx="10972800" cy="47548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Закупка ≠ разрешение на работы. Полевой пилот 100 га включен в апрельский сезон, не прибавлен сверху.</a:t>
            </a:r>
          </a:p>
        </p:txBody>
      </p:sp>
      <p:sp>
        <p:nvSpPr>
          <p:cNvPr id="24"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Диаграмма Ганта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Гант из CSV  •  [ДОПУЩЕНИЕ] Даты и длительности — план, не выданные разрешения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14 / 22</a:t>
            </a:r>
          </a:p>
        </p:txBody>
      </p:sp>
      <p:sp>
        <p:nvSpPr>
          <p:cNvPr id="7" name="Rounded Rectangle 6"/>
          <p:cNvSpPr/>
          <p:nvPr/>
        </p:nvSpPr>
        <p:spPr>
          <a:xfrm>
            <a:off x="502920" y="1700784"/>
            <a:ext cx="11183112" cy="4160520"/>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76472"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0</a:t>
            </a:r>
          </a:p>
        </p:txBody>
      </p:sp>
      <p:sp>
        <p:nvSpPr>
          <p:cNvPr id="10" name="Rectangle 9"/>
          <p:cNvSpPr/>
          <p:nvPr/>
        </p:nvSpPr>
        <p:spPr>
          <a:xfrm>
            <a:off x="453691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9975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5</a:t>
            </a:r>
          </a:p>
        </p:txBody>
      </p:sp>
      <p:sp>
        <p:nvSpPr>
          <p:cNvPr id="12" name="Rectangle 11"/>
          <p:cNvSpPr/>
          <p:nvPr/>
        </p:nvSpPr>
        <p:spPr>
          <a:xfrm>
            <a:off x="529736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020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10</a:t>
            </a:r>
          </a:p>
        </p:txBody>
      </p:sp>
      <p:sp>
        <p:nvSpPr>
          <p:cNvPr id="14" name="Rectangle 13"/>
          <p:cNvSpPr/>
          <p:nvPr/>
        </p:nvSpPr>
        <p:spPr>
          <a:xfrm>
            <a:off x="605780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2064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15</a:t>
            </a:r>
          </a:p>
        </p:txBody>
      </p:sp>
      <p:sp>
        <p:nvSpPr>
          <p:cNvPr id="16" name="Rectangle 15"/>
          <p:cNvSpPr/>
          <p:nvPr/>
        </p:nvSpPr>
        <p:spPr>
          <a:xfrm>
            <a:off x="681825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109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20</a:t>
            </a:r>
          </a:p>
        </p:txBody>
      </p:sp>
      <p:sp>
        <p:nvSpPr>
          <p:cNvPr id="18" name="Rectangle 17"/>
          <p:cNvSpPr/>
          <p:nvPr/>
        </p:nvSpPr>
        <p:spPr>
          <a:xfrm>
            <a:off x="757869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153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25</a:t>
            </a:r>
          </a:p>
        </p:txBody>
      </p:sp>
      <p:sp>
        <p:nvSpPr>
          <p:cNvPr id="20" name="Rectangle 19"/>
          <p:cNvSpPr/>
          <p:nvPr/>
        </p:nvSpPr>
        <p:spPr>
          <a:xfrm>
            <a:off x="833914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198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30</a:t>
            </a:r>
          </a:p>
        </p:txBody>
      </p:sp>
      <p:sp>
        <p:nvSpPr>
          <p:cNvPr id="22" name="Rectangle 21"/>
          <p:cNvSpPr/>
          <p:nvPr/>
        </p:nvSpPr>
        <p:spPr>
          <a:xfrm>
            <a:off x="909958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242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35</a:t>
            </a:r>
          </a:p>
        </p:txBody>
      </p:sp>
      <p:sp>
        <p:nvSpPr>
          <p:cNvPr id="24" name="Rectangle 23"/>
          <p:cNvSpPr/>
          <p:nvPr/>
        </p:nvSpPr>
        <p:spPr>
          <a:xfrm>
            <a:off x="9860031"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287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40</a:t>
            </a:r>
          </a:p>
        </p:txBody>
      </p:sp>
      <p:sp>
        <p:nvSpPr>
          <p:cNvPr id="26" name="Rectangle 25"/>
          <p:cNvSpPr/>
          <p:nvPr/>
        </p:nvSpPr>
        <p:spPr>
          <a:xfrm>
            <a:off x="10620476" y="1965960"/>
            <a:ext cx="7315" cy="3630168"/>
          </a:xfrm>
          <a:prstGeom prst="rect">
            <a:avLst/>
          </a:prstGeom>
          <a:solidFill>
            <a:srgbClr val="F4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8331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45</a:t>
            </a:r>
          </a:p>
        </p:txBody>
      </p:sp>
      <p:sp>
        <p:nvSpPr>
          <p:cNvPr id="28" name="TextBox 27"/>
          <p:cNvSpPr txBox="1"/>
          <p:nvPr/>
        </p:nvSpPr>
        <p:spPr>
          <a:xfrm>
            <a:off x="640080" y="1965960"/>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A  Правовой gate</a:t>
            </a:r>
          </a:p>
        </p:txBody>
      </p:sp>
      <p:sp>
        <p:nvSpPr>
          <p:cNvPr id="29" name="Rounded Rectangle 28"/>
          <p:cNvSpPr/>
          <p:nvPr/>
        </p:nvSpPr>
        <p:spPr>
          <a:xfrm>
            <a:off x="3776472" y="2007107"/>
            <a:ext cx="304177"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231136"/>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B  Спрос / заявки</a:t>
            </a:r>
          </a:p>
        </p:txBody>
      </p:sp>
      <p:sp>
        <p:nvSpPr>
          <p:cNvPr id="31" name="Rounded Rectangle 30"/>
          <p:cNvSpPr/>
          <p:nvPr/>
        </p:nvSpPr>
        <p:spPr>
          <a:xfrm>
            <a:off x="3776472" y="2272284"/>
            <a:ext cx="912533"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2496312"/>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C  ООО и договоры</a:t>
            </a:r>
          </a:p>
        </p:txBody>
      </p:sp>
      <p:sp>
        <p:nvSpPr>
          <p:cNvPr id="33" name="Rounded Rectangle 32"/>
          <p:cNvSpPr/>
          <p:nvPr/>
        </p:nvSpPr>
        <p:spPr>
          <a:xfrm>
            <a:off x="4080649" y="2537460"/>
            <a:ext cx="456266"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2761487"/>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D  Финансирование</a:t>
            </a:r>
          </a:p>
        </p:txBody>
      </p:sp>
      <p:sp>
        <p:nvSpPr>
          <p:cNvPr id="35" name="Rounded Rectangle 34"/>
          <p:cNvSpPr/>
          <p:nvPr/>
        </p:nvSpPr>
        <p:spPr>
          <a:xfrm>
            <a:off x="4689005" y="2802635"/>
            <a:ext cx="152088"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026663"/>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E  Закупка</a:t>
            </a:r>
          </a:p>
        </p:txBody>
      </p:sp>
      <p:sp>
        <p:nvSpPr>
          <p:cNvPr id="37" name="Rounded Rectangle 36"/>
          <p:cNvSpPr/>
          <p:nvPr/>
        </p:nvSpPr>
        <p:spPr>
          <a:xfrm>
            <a:off x="4841094" y="3067811"/>
            <a:ext cx="760444"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3291839"/>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F  Обучение</a:t>
            </a:r>
          </a:p>
        </p:txBody>
      </p:sp>
      <p:sp>
        <p:nvSpPr>
          <p:cNvPr id="39" name="Rounded Rectangle 38"/>
          <p:cNvSpPr/>
          <p:nvPr/>
        </p:nvSpPr>
        <p:spPr>
          <a:xfrm>
            <a:off x="4841094" y="3332987"/>
            <a:ext cx="912533"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557015"/>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G  Готовность БВС</a:t>
            </a:r>
          </a:p>
        </p:txBody>
      </p:sp>
      <p:sp>
        <p:nvSpPr>
          <p:cNvPr id="41" name="Rounded Rectangle 40"/>
          <p:cNvSpPr/>
          <p:nvPr/>
        </p:nvSpPr>
        <p:spPr>
          <a:xfrm>
            <a:off x="5601539" y="3598163"/>
            <a:ext cx="912533"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822191"/>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H  SOP / CRM</a:t>
            </a:r>
          </a:p>
        </p:txBody>
      </p:sp>
      <p:sp>
        <p:nvSpPr>
          <p:cNvPr id="43" name="Rounded Rectangle 42"/>
          <p:cNvSpPr/>
          <p:nvPr/>
        </p:nvSpPr>
        <p:spPr>
          <a:xfrm>
            <a:off x="5753628" y="3863339"/>
            <a:ext cx="456266" cy="164592"/>
          </a:xfrm>
          <a:prstGeom prst="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087368"/>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I  Испытания</a:t>
            </a:r>
          </a:p>
        </p:txBody>
      </p:sp>
      <p:sp>
        <p:nvSpPr>
          <p:cNvPr id="45" name="Rounded Rectangle 44"/>
          <p:cNvSpPr/>
          <p:nvPr/>
        </p:nvSpPr>
        <p:spPr>
          <a:xfrm>
            <a:off x="6514073" y="4128515"/>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352544"/>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J  Договоры сезона</a:t>
            </a:r>
          </a:p>
        </p:txBody>
      </p:sp>
      <p:sp>
        <p:nvSpPr>
          <p:cNvPr id="47" name="Rounded Rectangle 46"/>
          <p:cNvSpPr/>
          <p:nvPr/>
        </p:nvSpPr>
        <p:spPr>
          <a:xfrm>
            <a:off x="6818251" y="4393692"/>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617720"/>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M  Ожидание окна</a:t>
            </a:r>
          </a:p>
        </p:txBody>
      </p:sp>
      <p:sp>
        <p:nvSpPr>
          <p:cNvPr id="49" name="Rounded Rectangle 48"/>
          <p:cNvSpPr/>
          <p:nvPr/>
        </p:nvSpPr>
        <p:spPr>
          <a:xfrm>
            <a:off x="7122429" y="4658868"/>
            <a:ext cx="456266"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4882896"/>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K  Сезон</a:t>
            </a:r>
          </a:p>
        </p:txBody>
      </p:sp>
      <p:sp>
        <p:nvSpPr>
          <p:cNvPr id="51" name="Rounded Rectangle 50"/>
          <p:cNvSpPr/>
          <p:nvPr/>
        </p:nvSpPr>
        <p:spPr>
          <a:xfrm>
            <a:off x="7578696" y="4924044"/>
            <a:ext cx="334595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148071"/>
            <a:ext cx="3017520" cy="265176"/>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L  Аудит</a:t>
            </a:r>
          </a:p>
        </p:txBody>
      </p:sp>
      <p:sp>
        <p:nvSpPr>
          <p:cNvPr id="53" name="Rounded Rectangle 52"/>
          <p:cNvSpPr/>
          <p:nvPr/>
        </p:nvSpPr>
        <p:spPr>
          <a:xfrm>
            <a:off x="10924654" y="5189219"/>
            <a:ext cx="304177" cy="164592"/>
          </a:xfrm>
          <a:prstGeom prst="rect">
            <a:avLst>
              <a:gd name="adj" fmla="val 8000"/>
            </a:avLst>
          </a:prstGeom>
          <a:solidFill>
            <a:srgbClr val="22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522976"/>
            <a:ext cx="10698480" cy="301752"/>
          </a:xfrm>
          <a:prstGeom prst="rect">
            <a:avLst/>
          </a:prstGeom>
          <a:noFill/>
        </p:spPr>
        <p:txBody>
          <a:bodyPr wrap="square" lIns="13716" rIns="13716" tIns="0" bIns="0">
            <a:spAutoFit/>
          </a:bodyPr>
          <a:lstStyle/>
          <a:p>
            <a:pPr>
              <a:spcBef>
                <a:spcPts val="0"/>
              </a:spcBef>
              <a:spcAft>
                <a:spcPts val="500"/>
              </a:spcAft>
              <a:defRPr sz="1500" b="0">
                <a:solidFill>
                  <a:srgbClr val="274D3B"/>
                </a:solidFill>
                <a:latin typeface="Aptos"/>
              </a:defRPr>
            </a:pPr>
            <a:r>
              <a:t>Недели от 2026-10-19  •  Конец 2027-09-26  •  Темный = критический путь</a:t>
            </a:r>
          </a:p>
        </p:txBody>
      </p:sp>
      <p:sp>
        <p:nvSpPr>
          <p:cNvPr id="55" name="TextBox 54"/>
          <p:cNvSpPr txBox="1"/>
          <p:nvPr/>
        </p:nvSpPr>
        <p:spPr>
          <a:xfrm>
            <a:off x="594360" y="6025896"/>
            <a:ext cx="10972800" cy="411480"/>
          </a:xfrm>
          <a:prstGeom prst="rect">
            <a:avLst/>
          </a:prstGeom>
          <a:noFill/>
        </p:spPr>
        <p:txBody>
          <a:bodyPr wrap="square" lIns="13716" rIns="13716" tIns="0" bIns="0">
            <a:spAutoFit/>
          </a:bodyPr>
          <a:lstStyle/>
          <a:p>
            <a:pPr>
              <a:spcBef>
                <a:spcPts val="0"/>
              </a:spcBef>
              <a:spcAft>
                <a:spcPts val="500"/>
              </a:spcAft>
              <a:defRPr sz="1600" b="0">
                <a:solidFill>
                  <a:srgbClr val="65766D"/>
                </a:solidFill>
                <a:latin typeface="Aptos"/>
              </a:defRPr>
            </a:pPr>
            <a:r>
              <a:t>Сезон K: 2027-04-12 — 2027-09-12; пакет M: 3 недель ожидания окна.</a:t>
            </a:r>
          </a:p>
        </p:txBody>
      </p:sp>
      <p:sp>
        <p:nvSpPr>
          <p:cNvPr id="56"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Сетевой график</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Сеть finish-to-start из CSV; длительности — календарные недели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15 / 22</a:t>
            </a:r>
          </a:p>
        </p:txBody>
      </p:sp>
      <p:cxnSp>
        <p:nvCxnSpPr>
          <p:cNvPr id="7" name="Connector 6"/>
          <p:cNvCxnSpPr/>
          <p:nvPr/>
        </p:nvCxnSpPr>
        <p:spPr>
          <a:xfrm>
            <a:off x="1472184" y="2770632"/>
            <a:ext cx="210311"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472184" y="2770632"/>
            <a:ext cx="1298448" cy="1600199"/>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60320" y="2770632"/>
            <a:ext cx="210312"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48456"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48456"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36592"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36592"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36592" y="4370831"/>
            <a:ext cx="210312" cy="0"/>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4728"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824728" y="2770632"/>
            <a:ext cx="210312" cy="1600199"/>
          </a:xfrm>
          <a:prstGeom prst="line">
            <a:avLst/>
          </a:prstGeom>
          <a:ln w="21590">
            <a:solidFill>
              <a:srgbClr val="B4C4B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12864"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01000"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89136"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177272" y="2770632"/>
            <a:ext cx="210312" cy="0"/>
          </a:xfrm>
          <a:prstGeom prst="line">
            <a:avLst/>
          </a:prstGeom>
          <a:ln w="21590">
            <a:solidFill>
              <a:srgbClr val="D7EF8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4360" y="23317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A</a:t>
            </a:r>
          </a:p>
        </p:txBody>
      </p:sp>
      <p:sp>
        <p:nvSpPr>
          <p:cNvPr id="23" name="TextBox 22"/>
          <p:cNvSpPr txBox="1"/>
          <p:nvPr/>
        </p:nvSpPr>
        <p:spPr>
          <a:xfrm>
            <a:off x="65836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24" name="Rounded Rectangle 23"/>
          <p:cNvSpPr/>
          <p:nvPr/>
        </p:nvSpPr>
        <p:spPr>
          <a:xfrm>
            <a:off x="594360" y="39319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B</a:t>
            </a:r>
          </a:p>
        </p:txBody>
      </p:sp>
      <p:sp>
        <p:nvSpPr>
          <p:cNvPr id="26" name="TextBox 25"/>
          <p:cNvSpPr txBox="1"/>
          <p:nvPr/>
        </p:nvSpPr>
        <p:spPr>
          <a:xfrm>
            <a:off x="658368"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27" name="Rounded Rectangle 26"/>
          <p:cNvSpPr/>
          <p:nvPr/>
        </p:nvSpPr>
        <p:spPr>
          <a:xfrm>
            <a:off x="1682495" y="23317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6479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C</a:t>
            </a:r>
          </a:p>
        </p:txBody>
      </p:sp>
      <p:sp>
        <p:nvSpPr>
          <p:cNvPr id="29" name="TextBox 28"/>
          <p:cNvSpPr txBox="1"/>
          <p:nvPr/>
        </p:nvSpPr>
        <p:spPr>
          <a:xfrm>
            <a:off x="174650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30" name="Rounded Rectangle 29"/>
          <p:cNvSpPr/>
          <p:nvPr/>
        </p:nvSpPr>
        <p:spPr>
          <a:xfrm>
            <a:off x="2770632"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7"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D</a:t>
            </a:r>
          </a:p>
        </p:txBody>
      </p:sp>
      <p:sp>
        <p:nvSpPr>
          <p:cNvPr id="32" name="TextBox 31"/>
          <p:cNvSpPr txBox="1"/>
          <p:nvPr/>
        </p:nvSpPr>
        <p:spPr>
          <a:xfrm>
            <a:off x="2834639"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1 нед.</a:t>
            </a:r>
          </a:p>
        </p:txBody>
      </p:sp>
      <p:sp>
        <p:nvSpPr>
          <p:cNvPr id="33" name="Rounded Rectangle 32"/>
          <p:cNvSpPr/>
          <p:nvPr/>
        </p:nvSpPr>
        <p:spPr>
          <a:xfrm>
            <a:off x="3858768"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E</a:t>
            </a:r>
          </a:p>
        </p:txBody>
      </p:sp>
      <p:sp>
        <p:nvSpPr>
          <p:cNvPr id="35" name="TextBox 34"/>
          <p:cNvSpPr txBox="1"/>
          <p:nvPr/>
        </p:nvSpPr>
        <p:spPr>
          <a:xfrm>
            <a:off x="392277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5 нед.</a:t>
            </a:r>
          </a:p>
        </p:txBody>
      </p:sp>
      <p:sp>
        <p:nvSpPr>
          <p:cNvPr id="36" name="Rounded Rectangle 35"/>
          <p:cNvSpPr/>
          <p:nvPr/>
        </p:nvSpPr>
        <p:spPr>
          <a:xfrm>
            <a:off x="3858768" y="39319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41063"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F</a:t>
            </a:r>
          </a:p>
        </p:txBody>
      </p:sp>
      <p:sp>
        <p:nvSpPr>
          <p:cNvPr id="38" name="TextBox 37"/>
          <p:cNvSpPr txBox="1"/>
          <p:nvPr/>
        </p:nvSpPr>
        <p:spPr>
          <a:xfrm>
            <a:off x="3922776"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39" name="Rounded Rectangle 38"/>
          <p:cNvSpPr/>
          <p:nvPr/>
        </p:nvSpPr>
        <p:spPr>
          <a:xfrm>
            <a:off x="4946904"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G</a:t>
            </a:r>
          </a:p>
        </p:txBody>
      </p:sp>
      <p:sp>
        <p:nvSpPr>
          <p:cNvPr id="41" name="TextBox 40"/>
          <p:cNvSpPr txBox="1"/>
          <p:nvPr/>
        </p:nvSpPr>
        <p:spPr>
          <a:xfrm>
            <a:off x="501091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6 нед.</a:t>
            </a:r>
          </a:p>
        </p:txBody>
      </p:sp>
      <p:sp>
        <p:nvSpPr>
          <p:cNvPr id="42" name="Rounded Rectangle 41"/>
          <p:cNvSpPr/>
          <p:nvPr/>
        </p:nvSpPr>
        <p:spPr>
          <a:xfrm>
            <a:off x="4946904" y="3931920"/>
            <a:ext cx="877824" cy="87782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0"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H</a:t>
            </a:r>
          </a:p>
        </p:txBody>
      </p:sp>
      <p:sp>
        <p:nvSpPr>
          <p:cNvPr id="44" name="TextBox 43"/>
          <p:cNvSpPr txBox="1"/>
          <p:nvPr/>
        </p:nvSpPr>
        <p:spPr>
          <a:xfrm>
            <a:off x="5010912"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45" name="Rounded Rectangle 44"/>
          <p:cNvSpPr/>
          <p:nvPr/>
        </p:nvSpPr>
        <p:spPr>
          <a:xfrm>
            <a:off x="6035040"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1733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I</a:t>
            </a:r>
          </a:p>
        </p:txBody>
      </p:sp>
      <p:sp>
        <p:nvSpPr>
          <p:cNvPr id="47" name="TextBox 46"/>
          <p:cNvSpPr txBox="1"/>
          <p:nvPr/>
        </p:nvSpPr>
        <p:spPr>
          <a:xfrm>
            <a:off x="609904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48" name="Rounded Rectangle 47"/>
          <p:cNvSpPr/>
          <p:nvPr/>
        </p:nvSpPr>
        <p:spPr>
          <a:xfrm>
            <a:off x="7123176"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0547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J</a:t>
            </a:r>
          </a:p>
        </p:txBody>
      </p:sp>
      <p:sp>
        <p:nvSpPr>
          <p:cNvPr id="50" name="TextBox 49"/>
          <p:cNvSpPr txBox="1"/>
          <p:nvPr/>
        </p:nvSpPr>
        <p:spPr>
          <a:xfrm>
            <a:off x="718718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51" name="Rounded Rectangle 50"/>
          <p:cNvSpPr/>
          <p:nvPr/>
        </p:nvSpPr>
        <p:spPr>
          <a:xfrm>
            <a:off x="8211312"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93608"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M</a:t>
            </a:r>
          </a:p>
        </p:txBody>
      </p:sp>
      <p:sp>
        <p:nvSpPr>
          <p:cNvPr id="53" name="TextBox 52"/>
          <p:cNvSpPr txBox="1"/>
          <p:nvPr/>
        </p:nvSpPr>
        <p:spPr>
          <a:xfrm>
            <a:off x="8275320"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3 нед.</a:t>
            </a:r>
          </a:p>
        </p:txBody>
      </p:sp>
      <p:sp>
        <p:nvSpPr>
          <p:cNvPr id="54" name="Rounded Rectangle 53"/>
          <p:cNvSpPr/>
          <p:nvPr/>
        </p:nvSpPr>
        <p:spPr>
          <a:xfrm>
            <a:off x="9299448"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K</a:t>
            </a:r>
          </a:p>
        </p:txBody>
      </p:sp>
      <p:sp>
        <p:nvSpPr>
          <p:cNvPr id="56" name="TextBox 55"/>
          <p:cNvSpPr txBox="1"/>
          <p:nvPr/>
        </p:nvSpPr>
        <p:spPr>
          <a:xfrm>
            <a:off x="936345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22 нед.</a:t>
            </a:r>
          </a:p>
        </p:txBody>
      </p:sp>
      <p:sp>
        <p:nvSpPr>
          <p:cNvPr id="57" name="Rounded Rectangle 56"/>
          <p:cNvSpPr/>
          <p:nvPr/>
        </p:nvSpPr>
        <p:spPr>
          <a:xfrm>
            <a:off x="10387584" y="2331720"/>
            <a:ext cx="877824" cy="877824"/>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6988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274D3B"/>
                </a:solidFill>
                <a:latin typeface="Aptos"/>
              </a:defRPr>
            </a:pPr>
            <a:r>
              <a:t>L</a:t>
            </a:r>
          </a:p>
        </p:txBody>
      </p:sp>
      <p:sp>
        <p:nvSpPr>
          <p:cNvPr id="59" name="TextBox 58"/>
          <p:cNvSpPr txBox="1"/>
          <p:nvPr/>
        </p:nvSpPr>
        <p:spPr>
          <a:xfrm>
            <a:off x="1045159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2 нед.</a:t>
            </a:r>
          </a:p>
        </p:txBody>
      </p:sp>
      <p:sp>
        <p:nvSpPr>
          <p:cNvPr id="60" name="TextBox 59"/>
          <p:cNvSpPr txBox="1"/>
          <p:nvPr/>
        </p:nvSpPr>
        <p:spPr>
          <a:xfrm>
            <a:off x="594360" y="5138928"/>
            <a:ext cx="10972800" cy="402336"/>
          </a:xfrm>
          <a:prstGeom prst="rect">
            <a:avLst/>
          </a:prstGeom>
          <a:noFill/>
        </p:spPr>
        <p:txBody>
          <a:bodyPr wrap="square" lIns="13716" rIns="13716" tIns="0" bIns="0">
            <a:spAutoFit/>
          </a:bodyPr>
          <a:lstStyle/>
          <a:p>
            <a:pPr>
              <a:spcBef>
                <a:spcPts val="0"/>
              </a:spcBef>
              <a:spcAft>
                <a:spcPts val="500"/>
              </a:spcAft>
              <a:defRPr sz="2000" b="1">
                <a:solidFill>
                  <a:srgbClr val="182F28"/>
                </a:solidFill>
                <a:latin typeface="Aptos"/>
              </a:defRPr>
            </a:pPr>
            <a:r>
              <a:t>Критический путь: B → D → E → G → I → J → M → K → L</a:t>
            </a:r>
          </a:p>
        </p:txBody>
      </p:sp>
      <p:sp>
        <p:nvSpPr>
          <p:cNvPr id="61" name="Rounded Rectangle 6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49 недель от проверки до аудита; M — явная работа ожидания, не свободный резерв</a:t>
            </a:r>
          </a:p>
        </p:txBody>
      </p:sp>
      <p:sp>
        <p:nvSpPr>
          <p:cNvPr id="63"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Матрица ответственности RACI</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R — выполняет; A — принимает; C — консультирует; I — информируется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2395728"/>
                <a:gridCol w="1828800"/>
                <a:gridCol w="1737360"/>
                <a:gridCol w="3410712"/>
                <a:gridCol w="1810512"/>
              </a:tblGrid>
              <a:tr h="303711">
                <a:tc>
                  <a:txBody>
                    <a:bodyPr/>
                    <a:lstStyle/>
                    <a:p>
                      <a:pPr>
                        <a:spcAft>
                          <a:spcPts val="0"/>
                        </a:spcAft>
                        <a:defRPr sz="1200" b="1">
                          <a:solidFill>
                            <a:srgbClr val="FFFFFF"/>
                          </a:solidFill>
                          <a:latin typeface="Arial"/>
                        </a:defRPr>
                      </a:pPr>
                      <a:r>
                        <a:t>Работа</a:t>
                      </a:r>
                    </a:p>
                  </a:txBody>
                  <a:tcPr marL="91440" marR="91440" marT="45720" marB="45720">
                    <a:solidFill>
                      <a:srgbClr val="224C3B"/>
                    </a:solidFill>
                  </a:tcPr>
                </a:tc>
                <a:tc>
                  <a:txBody>
                    <a:bodyPr/>
                    <a:lstStyle/>
                    <a:p>
                      <a:pPr>
                        <a:spcAft>
                          <a:spcPts val="0"/>
                        </a:spcAft>
                        <a:defRPr sz="1200" b="1">
                          <a:solidFill>
                            <a:srgbClr val="FFFFFF"/>
                          </a:solidFill>
                          <a:latin typeface="Arial"/>
                        </a:defRPr>
                      </a:pPr>
                      <a:r>
                        <a:t>R</a:t>
                      </a:r>
                    </a:p>
                  </a:txBody>
                  <a:tcPr marL="91440" marR="91440" marT="45720" marB="45720">
                    <a:solidFill>
                      <a:srgbClr val="224C3B"/>
                    </a:solidFill>
                  </a:tcPr>
                </a:tc>
                <a:tc>
                  <a:txBody>
                    <a:bodyPr/>
                    <a:lstStyle/>
                    <a:p>
                      <a:pPr>
                        <a:spcAft>
                          <a:spcPts val="0"/>
                        </a:spcAft>
                        <a:defRPr sz="1200" b="1">
                          <a:solidFill>
                            <a:srgbClr val="FFFFFF"/>
                          </a:solidFill>
                          <a:latin typeface="Arial"/>
                        </a:defRPr>
                      </a:pPr>
                      <a:r>
                        <a:t>A</a:t>
                      </a:r>
                    </a:p>
                  </a:txBody>
                  <a:tcPr marL="91440" marR="91440" marT="45720" marB="45720">
                    <a:solidFill>
                      <a:srgbClr val="224C3B"/>
                    </a:solidFill>
                  </a:tcPr>
                </a:tc>
                <a:tc>
                  <a:txBody>
                    <a:bodyPr/>
                    <a:lstStyle/>
                    <a:p>
                      <a:pPr>
                        <a:spcAft>
                          <a:spcPts val="0"/>
                        </a:spcAft>
                        <a:defRPr sz="1200" b="1">
                          <a:solidFill>
                            <a:srgbClr val="FFFFFF"/>
                          </a:solidFill>
                          <a:latin typeface="Arial"/>
                        </a:defRPr>
                      </a:pPr>
                      <a:r>
                        <a:t>C</a:t>
                      </a:r>
                    </a:p>
                  </a:txBody>
                  <a:tcPr marL="91440" marR="91440" marT="45720" marB="45720">
                    <a:solidFill>
                      <a:srgbClr val="224C3B"/>
                    </a:solidFill>
                  </a:tcPr>
                </a:tc>
                <a:tc>
                  <a:txBody>
                    <a:bodyPr/>
                    <a:lstStyle/>
                    <a:p>
                      <a:pPr>
                        <a:spcAft>
                          <a:spcPts val="0"/>
                        </a:spcAft>
                        <a:defRPr sz="1200" b="1">
                          <a:solidFill>
                            <a:srgbClr val="FFFFFF"/>
                          </a:solidFill>
                          <a:latin typeface="Arial"/>
                        </a:defRPr>
                      </a:pPr>
                      <a:r>
                        <a:t>I</a:t>
                      </a:r>
                    </a:p>
                  </a:txBody>
                  <a:tcPr marL="91440" marR="91440" marT="45720" marB="45720">
                    <a:solidFill>
                      <a:srgbClr val="224C3B"/>
                    </a:solidFill>
                  </a:tcPr>
                </a:tc>
              </a:tr>
              <a:tr h="303711">
                <a:tc>
                  <a:txBody>
                    <a:bodyPr/>
                    <a:lstStyle/>
                    <a:p>
                      <a:pPr>
                        <a:spcAft>
                          <a:spcPts val="0"/>
                        </a:spcAft>
                        <a:defRPr sz="1200" b="0">
                          <a:solidFill>
                            <a:srgbClr val="182F28"/>
                          </a:solidFill>
                          <a:latin typeface="Arial"/>
                        </a:defRPr>
                      </a:pPr>
                      <a:r>
                        <a:t>A Правовой gate</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B Спрос / заявки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C ООО и договоры</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D Финансирование</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Бухгалтер, Юрист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Команда</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E Закупка</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F Обучение</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Учеб. партнер, 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G Готовность БВС</a:t>
                      </a:r>
                    </a:p>
                  </a:txBody>
                  <a:tcPr marL="91440" marR="91440" marT="45720" marB="45720">
                    <a:solidFill>
                      <a:srgbClr val="FFFFFF"/>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Клиенты</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H SOP / CRM</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Юрист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I Испытания</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Оператор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J Договоры сезона</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Продажи</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4F2E9"/>
                    </a:solidFill>
                  </a:tcPr>
                </a:tc>
              </a:tr>
              <a:tr h="303711">
                <a:tc>
                  <a:txBody>
                    <a:bodyPr/>
                    <a:lstStyle/>
                    <a:p>
                      <a:pPr>
                        <a:spcAft>
                          <a:spcPts val="0"/>
                        </a:spcAft>
                        <a:defRPr sz="1200" b="0">
                          <a:solidFill>
                            <a:srgbClr val="182F28"/>
                          </a:solidFill>
                          <a:latin typeface="Arial"/>
                        </a:defRPr>
                      </a:pPr>
                      <a:r>
                        <a:t>M Ожидание окна</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182F28"/>
                          </a:solidFill>
                          <a:latin typeface="Arial"/>
                        </a:defRPr>
                      </a:pPr>
                      <a:r>
                        <a:t>K Сезон</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Оператор</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Опер. рук.</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Агроном, Клиент</a:t>
                      </a:r>
                    </a:p>
                  </a:txBody>
                  <a:tcPr marL="91440" marR="91440" marT="45720" marB="45720">
                    <a:solidFill>
                      <a:srgbClr val="F4F2E9"/>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4F2E9"/>
                    </a:solidFill>
                  </a:tcPr>
                </a:tc>
              </a:tr>
              <a:tr h="303717">
                <a:tc>
                  <a:txBody>
                    <a:bodyPr/>
                    <a:lstStyle/>
                    <a:p>
                      <a:pPr>
                        <a:spcAft>
                          <a:spcPts val="0"/>
                        </a:spcAft>
                        <a:defRPr sz="1200" b="0">
                          <a:solidFill>
                            <a:srgbClr val="182F28"/>
                          </a:solidFill>
                          <a:latin typeface="Arial"/>
                        </a:defRPr>
                      </a:pPr>
                      <a:r>
                        <a:t>L Аудит</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182F28"/>
                          </a:solidFill>
                          <a:latin typeface="Arial"/>
                        </a:defRPr>
                      </a:pPr>
                      <a:r>
                        <a:t>Инвестор</a:t>
                      </a:r>
                    </a:p>
                  </a:txBody>
                  <a:tcPr marL="91440" marR="91440" marT="45720" marB="45720">
                    <a:solidFill>
                      <a:srgbClr val="FFFFFF"/>
                    </a:solidFill>
                  </a:tcPr>
                </a:tc>
              </a:tr>
            </a:tbl>
          </a:graphicData>
        </a:graphic>
      </p:graphicFrame>
      <p:sp>
        <p:nvSpPr>
          <p:cNvPr id="8" name="TextBox 7"/>
          <p:cNvSpPr txBox="1"/>
          <p:nvPr/>
        </p:nvSpPr>
        <p:spPr>
          <a:xfrm>
            <a:off x="594360" y="6062472"/>
            <a:ext cx="10972800" cy="384048"/>
          </a:xfrm>
          <a:prstGeom prst="rect">
            <a:avLst/>
          </a:prstGeom>
          <a:noFill/>
        </p:spPr>
        <p:txBody>
          <a:bodyPr wrap="square" lIns="13716" rIns="13716" tIns="0" bIns="0">
            <a:spAutoFit/>
          </a:bodyPr>
          <a:lstStyle/>
          <a:p>
            <a:pPr>
              <a:spcBef>
                <a:spcPts val="0"/>
              </a:spcBef>
              <a:spcAft>
                <a:spcPts val="500"/>
              </a:spcAft>
              <a:defRPr sz="1500" b="0">
                <a:solidFill>
                  <a:srgbClr val="65766D"/>
                </a:solidFill>
                <a:latin typeface="Aptos"/>
              </a:defRPr>
            </a:pPr>
            <a:r>
              <a:t>Все 13 задач; один A в каждой строке. Продажи = директор; опер. рук. = один из двух операторов.</a:t>
            </a:r>
          </a:p>
        </p:txBody>
      </p:sp>
      <p:sp>
        <p:nvSpPr>
          <p:cNvPr id="9"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Финансовая модель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Базовый сценарий; млн ₽, выручка без НДС. Входные данные — допущения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17 / 22</a:t>
            </a:r>
          </a:p>
        </p:txBody>
      </p:sp>
      <p:sp>
        <p:nvSpPr>
          <p:cNvPr id="7" name="Rounded Rectangle 6"/>
          <p:cNvSpPr/>
          <p:nvPr/>
        </p:nvSpPr>
        <p:spPr>
          <a:xfrm>
            <a:off x="502920" y="1700784"/>
            <a:ext cx="6537960" cy="375818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0512"/>
          <a:ext cx="6263640" cy="3538728"/>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251192" y="1700784"/>
          <a:ext cx="4434840" cy="2798064"/>
        </p:xfrm>
        <a:graphic>
          <a:graphicData uri="http://schemas.openxmlformats.org/drawingml/2006/table">
            <a:tbl>
              <a:tblPr firstRow="1" bandRow="1">
                <a:tableStyleId>{5C22544A-7EE6-4342-B048-85BDC9FD1C3A}</a:tableStyleId>
              </a:tblPr>
              <a:tblGrid>
                <a:gridCol w="868680"/>
                <a:gridCol w="1188720"/>
                <a:gridCol w="1188720"/>
                <a:gridCol w="1188720"/>
              </a:tblGrid>
              <a:tr h="466344">
                <a:tc>
                  <a:txBody>
                    <a:bodyPr/>
                    <a:lstStyle/>
                    <a:p>
                      <a:pPr>
                        <a:spcAft>
                          <a:spcPts val="0"/>
                        </a:spcAft>
                        <a:defRPr sz="1500" b="1">
                          <a:solidFill>
                            <a:srgbClr val="FFFFFF"/>
                          </a:solidFill>
                          <a:latin typeface="Arial"/>
                        </a:defRPr>
                      </a:pPr>
                      <a:r>
                        <a:t>Год</a:t>
                      </a:r>
                    </a:p>
                  </a:txBody>
                  <a:tcPr marL="91440" marR="91440" marT="45720" marB="45720">
                    <a:solidFill>
                      <a:srgbClr val="224C3B"/>
                    </a:solidFill>
                  </a:tcPr>
                </a:tc>
                <a:tc>
                  <a:txBody>
                    <a:bodyPr/>
                    <a:lstStyle/>
                    <a:p>
                      <a:pPr>
                        <a:spcAft>
                          <a:spcPts val="0"/>
                        </a:spcAft>
                        <a:defRPr sz="1500" b="1">
                          <a:solidFill>
                            <a:srgbClr val="FFFFFF"/>
                          </a:solidFill>
                          <a:latin typeface="Arial"/>
                        </a:defRPr>
                      </a:pPr>
                      <a:r>
                        <a:t>Выручка</a:t>
                      </a:r>
                    </a:p>
                  </a:txBody>
                  <a:tcPr marL="91440" marR="91440" marT="45720" marB="45720">
                    <a:solidFill>
                      <a:srgbClr val="224C3B"/>
                    </a:solidFill>
                  </a:tcPr>
                </a:tc>
                <a:tc>
                  <a:txBody>
                    <a:bodyPr/>
                    <a:lstStyle/>
                    <a:p>
                      <a:pPr>
                        <a:spcAft>
                          <a:spcPts val="0"/>
                        </a:spcAft>
                        <a:defRPr sz="1500" b="1">
                          <a:solidFill>
                            <a:srgbClr val="FFFFFF"/>
                          </a:solidFill>
                          <a:latin typeface="Arial"/>
                        </a:defRPr>
                      </a:pPr>
                      <a:r>
                        <a:t>EBITDA</a:t>
                      </a:r>
                    </a:p>
                  </a:txBody>
                  <a:tcPr marL="91440" marR="91440" marT="45720" marB="45720">
                    <a:solidFill>
                      <a:srgbClr val="224C3B"/>
                    </a:solidFill>
                  </a:tcPr>
                </a:tc>
                <a:tc>
                  <a:txBody>
                    <a:bodyPr/>
                    <a:lstStyle/>
                    <a:p>
                      <a:pPr>
                        <a:spcAft>
                          <a:spcPts val="0"/>
                        </a:spcAft>
                        <a:defRPr sz="1500" b="1">
                          <a:solidFill>
                            <a:srgbClr val="FFFFFF"/>
                          </a:solidFill>
                          <a:latin typeface="Arial"/>
                        </a:defRPr>
                      </a:pPr>
                      <a:r>
                        <a:t>CF</a:t>
                      </a:r>
                    </a:p>
                  </a:txBody>
                  <a:tcPr marL="91440" marR="91440" marT="45720" marB="45720">
                    <a:solidFill>
                      <a:srgbClr val="224C3B"/>
                    </a:solidFill>
                  </a:tcPr>
                </a:tc>
              </a:tr>
              <a:tr h="466344">
                <a:tc>
                  <a:txBody>
                    <a:bodyPr/>
                    <a:lstStyle/>
                    <a:p>
                      <a:pPr>
                        <a:spcAft>
                          <a:spcPts val="0"/>
                        </a:spcAft>
                        <a:defRPr sz="1500" b="0">
                          <a:solidFill>
                            <a:srgbClr val="101F1B"/>
                          </a:solidFill>
                          <a:latin typeface="Arial"/>
                        </a:defRPr>
                      </a:pPr>
                      <a:r>
                        <a:t>2027</a:t>
                      </a:r>
                    </a:p>
                  </a:txBody>
                  <a:tcPr marL="91440" marR="91440" marT="45720" marB="45720">
                    <a:solidFill>
                      <a:srgbClr val="FFFFFF"/>
                    </a:solidFill>
                  </a:tcPr>
                </a:tc>
                <a:tc>
                  <a:txBody>
                    <a:bodyPr/>
                    <a:lstStyle/>
                    <a:p>
                      <a:pPr>
                        <a:spcAft>
                          <a:spcPts val="0"/>
                        </a:spcAft>
                        <a:defRPr sz="1500" b="0">
                          <a:solidFill>
                            <a:srgbClr val="101F1B"/>
                          </a:solidFill>
                          <a:latin typeface="Arial"/>
                        </a:defRPr>
                      </a:pPr>
                      <a:r>
                        <a:t>8,80</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1,96</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1,43</a:t>
                      </a:r>
                    </a:p>
                  </a:txBody>
                  <a:tcPr marL="91440" marR="91440" marT="45720" marB="45720">
                    <a:solidFill>
                      <a:srgbClr val="FFFFFF"/>
                    </a:solidFill>
                  </a:tcPr>
                </a:tc>
              </a:tr>
              <a:tr h="466344">
                <a:tc>
                  <a:txBody>
                    <a:bodyPr/>
                    <a:lstStyle/>
                    <a:p>
                      <a:pPr>
                        <a:spcAft>
                          <a:spcPts val="0"/>
                        </a:spcAft>
                        <a:defRPr sz="1500" b="0">
                          <a:solidFill>
                            <a:srgbClr val="101F1B"/>
                          </a:solidFill>
                          <a:latin typeface="Arial"/>
                        </a:defRPr>
                      </a:pPr>
                      <a:r>
                        <a:t>2028</a:t>
                      </a:r>
                    </a:p>
                  </a:txBody>
                  <a:tcPr marL="91440" marR="91440" marT="45720" marB="45720">
                    <a:solidFill>
                      <a:srgbClr val="F4F2E9"/>
                    </a:solidFill>
                  </a:tcPr>
                </a:tc>
                <a:tc>
                  <a:txBody>
                    <a:bodyPr/>
                    <a:lstStyle/>
                    <a:p>
                      <a:pPr>
                        <a:spcAft>
                          <a:spcPts val="0"/>
                        </a:spcAft>
                        <a:defRPr sz="1500" b="0">
                          <a:solidFill>
                            <a:srgbClr val="101F1B"/>
                          </a:solidFill>
                          <a:latin typeface="Arial"/>
                        </a:defRPr>
                      </a:pPr>
                      <a:r>
                        <a:t>13,73</a:t>
                      </a:r>
                    </a:p>
                  </a:txBody>
                  <a:tcPr marL="91440" marR="91440" marT="45720" marB="45720">
                    <a:solidFill>
                      <a:srgbClr val="F4F2E9"/>
                    </a:solidFill>
                  </a:tcPr>
                </a:tc>
                <a:tc>
                  <a:txBody>
                    <a:bodyPr/>
                    <a:lstStyle/>
                    <a:p>
                      <a:pPr>
                        <a:spcAft>
                          <a:spcPts val="0"/>
                        </a:spcAft>
                        <a:defRPr sz="1500" b="0">
                          <a:solidFill>
                            <a:srgbClr val="101F1B"/>
                          </a:solidFill>
                          <a:latin typeface="Arial"/>
                        </a:defRPr>
                      </a:pPr>
                      <a:r>
                        <a:t>5,16</a:t>
                      </a:r>
                    </a:p>
                  </a:txBody>
                  <a:tcPr marL="91440" marR="91440" marT="45720" marB="45720">
                    <a:solidFill>
                      <a:srgbClr val="F4F2E9"/>
                    </a:solidFill>
                  </a:tcPr>
                </a:tc>
                <a:tc>
                  <a:txBody>
                    <a:bodyPr/>
                    <a:lstStyle/>
                    <a:p>
                      <a:pPr>
                        <a:spcAft>
                          <a:spcPts val="0"/>
                        </a:spcAft>
                        <a:defRPr sz="1500" b="0">
                          <a:solidFill>
                            <a:srgbClr val="101F1B"/>
                          </a:solidFill>
                          <a:latin typeface="Arial"/>
                        </a:defRPr>
                      </a:pPr>
                      <a:r>
                        <a:t>4,04</a:t>
                      </a:r>
                    </a:p>
                  </a:txBody>
                  <a:tcPr marL="91440" marR="91440" marT="45720" marB="45720">
                    <a:solidFill>
                      <a:srgbClr val="F4F2E9"/>
                    </a:solidFill>
                  </a:tcPr>
                </a:tc>
              </a:tr>
              <a:tr h="466344">
                <a:tc>
                  <a:txBody>
                    <a:bodyPr/>
                    <a:lstStyle/>
                    <a:p>
                      <a:pPr>
                        <a:spcAft>
                          <a:spcPts val="0"/>
                        </a:spcAft>
                        <a:defRPr sz="1500" b="0">
                          <a:solidFill>
                            <a:srgbClr val="101F1B"/>
                          </a:solidFill>
                          <a:latin typeface="Arial"/>
                        </a:defRPr>
                      </a:pPr>
                      <a:r>
                        <a:t>2029</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17,63</a:t>
                      </a:r>
                    </a:p>
                  </a:txBody>
                  <a:tcPr marL="91440" marR="91440" marT="45720" marB="45720">
                    <a:solidFill>
                      <a:srgbClr val="FFFFFF"/>
                    </a:solidFill>
                  </a:tcPr>
                </a:tc>
                <a:tc>
                  <a:txBody>
                    <a:bodyPr/>
                    <a:lstStyle/>
                    <a:p>
                      <a:pPr>
                        <a:spcAft>
                          <a:spcPts val="0"/>
                        </a:spcAft>
                        <a:defRPr sz="1500" b="0">
                          <a:solidFill>
                            <a:srgbClr val="101F1B"/>
                          </a:solidFill>
                          <a:latin typeface="Arial"/>
                        </a:defRPr>
                      </a:pPr>
                      <a:r>
                        <a:t>7,62</a:t>
                      </a:r>
                    </a:p>
                  </a:txBody>
                  <a:tcPr marL="91440" marR="91440" marT="45720" marB="45720">
                    <a:solidFill>
                      <a:srgbClr val="FFFFFF"/>
                    </a:solidFill>
                  </a:tcPr>
                </a:tc>
                <a:tc>
                  <a:txBody>
                    <a:bodyPr/>
                    <a:lstStyle/>
                    <a:p>
                      <a:pPr>
                        <a:spcAft>
                          <a:spcPts val="0"/>
                        </a:spcAft>
                        <a:defRPr sz="1500" b="0">
                          <a:solidFill>
                            <a:srgbClr val="101F1B"/>
                          </a:solidFill>
                          <a:latin typeface="Arial"/>
                        </a:defRPr>
                      </a:pPr>
                      <a:r>
                        <a:t>5,96</a:t>
                      </a:r>
                    </a:p>
                  </a:txBody>
                  <a:tcPr marL="91440" marR="91440" marT="45720" marB="45720">
                    <a:solidFill>
                      <a:srgbClr val="FFFFFF"/>
                    </a:solidFill>
                  </a:tcPr>
                </a:tc>
              </a:tr>
              <a:tr h="466344">
                <a:tc>
                  <a:txBody>
                    <a:bodyPr/>
                    <a:lstStyle/>
                    <a:p>
                      <a:pPr>
                        <a:spcAft>
                          <a:spcPts val="0"/>
                        </a:spcAft>
                        <a:defRPr sz="1500" b="0">
                          <a:solidFill>
                            <a:srgbClr val="101F1B"/>
                          </a:solidFill>
                          <a:latin typeface="Arial"/>
                        </a:defRPr>
                      </a:pPr>
                      <a:r>
                        <a:t>2030</a:t>
                      </a:r>
                    </a:p>
                  </a:txBody>
                  <a:tcPr marL="91440" marR="91440" marT="45720" marB="45720">
                    <a:solidFill>
                      <a:srgbClr val="F4F2E9"/>
                    </a:solidFill>
                  </a:tcPr>
                </a:tc>
                <a:tc>
                  <a:txBody>
                    <a:bodyPr/>
                    <a:lstStyle/>
                    <a:p>
                      <a:pPr>
                        <a:spcAft>
                          <a:spcPts val="0"/>
                        </a:spcAft>
                        <a:defRPr sz="1500" b="0">
                          <a:solidFill>
                            <a:srgbClr val="101F1B"/>
                          </a:solidFill>
                          <a:latin typeface="Arial"/>
                        </a:defRPr>
                      </a:pPr>
                      <a:r>
                        <a:t>20,08</a:t>
                      </a:r>
                    </a:p>
                  </a:txBody>
                  <a:tcPr marL="91440" marR="91440" marT="45720" marB="45720">
                    <a:solidFill>
                      <a:srgbClr val="F4F2E9"/>
                    </a:solidFill>
                  </a:tcPr>
                </a:tc>
                <a:tc>
                  <a:txBody>
                    <a:bodyPr/>
                    <a:lstStyle/>
                    <a:p>
                      <a:pPr>
                        <a:spcAft>
                          <a:spcPts val="0"/>
                        </a:spcAft>
                        <a:defRPr sz="1500" b="0">
                          <a:solidFill>
                            <a:srgbClr val="101F1B"/>
                          </a:solidFill>
                          <a:latin typeface="Arial"/>
                        </a:defRPr>
                      </a:pPr>
                      <a:r>
                        <a:t>9,04</a:t>
                      </a:r>
                    </a:p>
                  </a:txBody>
                  <a:tcPr marL="91440" marR="91440" marT="45720" marB="45720">
                    <a:solidFill>
                      <a:srgbClr val="F4F2E9"/>
                    </a:solidFill>
                  </a:tcPr>
                </a:tc>
                <a:tc>
                  <a:txBody>
                    <a:bodyPr/>
                    <a:lstStyle/>
                    <a:p>
                      <a:pPr>
                        <a:spcAft>
                          <a:spcPts val="0"/>
                        </a:spcAft>
                        <a:defRPr sz="1500" b="0">
                          <a:solidFill>
                            <a:srgbClr val="101F1B"/>
                          </a:solidFill>
                          <a:latin typeface="Arial"/>
                        </a:defRPr>
                      </a:pPr>
                      <a:r>
                        <a:t>6,93</a:t>
                      </a:r>
                    </a:p>
                  </a:txBody>
                  <a:tcPr marL="91440" marR="91440" marT="45720" marB="45720">
                    <a:solidFill>
                      <a:srgbClr val="F4F2E9"/>
                    </a:solidFill>
                  </a:tcPr>
                </a:tc>
              </a:tr>
              <a:tr h="466344">
                <a:tc>
                  <a:txBody>
                    <a:bodyPr/>
                    <a:lstStyle/>
                    <a:p>
                      <a:pPr>
                        <a:spcAft>
                          <a:spcPts val="0"/>
                        </a:spcAft>
                        <a:defRPr sz="1500" b="0">
                          <a:solidFill>
                            <a:srgbClr val="101F1B"/>
                          </a:solidFill>
                          <a:latin typeface="Arial"/>
                        </a:defRPr>
                      </a:pPr>
                      <a:r>
                        <a:t>2031</a:t>
                      </a:r>
                    </a:p>
                  </a:txBody>
                  <a:tcPr marL="91440" marR="91440" marT="45720" marB="45720">
                    <a:solidFill>
                      <a:srgbClr val="FFFFFF"/>
                    </a:solidFill>
                  </a:tcPr>
                </a:tc>
                <a:tc>
                  <a:txBody>
                    <a:bodyPr/>
                    <a:lstStyle/>
                    <a:p>
                      <a:pPr>
                        <a:spcAft>
                          <a:spcPts val="0"/>
                        </a:spcAft>
                        <a:defRPr sz="1500" b="0">
                          <a:solidFill>
                            <a:srgbClr val="101F1B"/>
                          </a:solidFill>
                          <a:latin typeface="Arial"/>
                        </a:defRPr>
                      </a:pPr>
                      <a:r>
                        <a:t>22,70</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10,54</a:t>
                      </a:r>
                    </a:p>
                  </a:txBody>
                  <a:tcPr marL="91440" marR="91440" marT="45720" marB="45720">
                    <a:solidFill>
                      <a:srgbClr val="FFFFFF"/>
                    </a:solidFill>
                  </a:tcPr>
                </a:tc>
                <a:tc>
                  <a:txBody>
                    <a:bodyPr/>
                    <a:lstStyle/>
                    <a:p>
                      <a:pPr>
                        <a:spcAft>
                          <a:spcPts val="0"/>
                        </a:spcAft>
                        <a:defRPr sz="1500" b="0">
                          <a:solidFill>
                            <a:srgbClr val="101F1B"/>
                          </a:solidFill>
                          <a:latin typeface="Arial"/>
                        </a:defRPr>
                      </a:pPr>
                      <a:r>
                        <a:t>10,58</a:t>
                      </a:r>
                    </a:p>
                  </a:txBody>
                  <a:tcPr marL="91440" marR="91440" marT="45720" marB="45720">
                    <a:solidFill>
                      <a:srgbClr val="FFFFFF"/>
                    </a:solidFill>
                  </a:tcPr>
                </a:tc>
              </a:tr>
            </a:tbl>
          </a:graphicData>
        </a:graphic>
      </p:graphicFrame>
      <p:sp>
        <p:nvSpPr>
          <p:cNvPr id="10" name="TextBox 9"/>
          <p:cNvSpPr txBox="1"/>
          <p:nvPr/>
        </p:nvSpPr>
        <p:spPr>
          <a:xfrm>
            <a:off x="7342631" y="4663440"/>
            <a:ext cx="4160520" cy="850392"/>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ptos"/>
              </a:defRPr>
            </a:pPr>
            <a:r>
              <a:t>CF₀ = −9,50 млн ₽</a:t>
            </a:r>
          </a:p>
          <a:p>
            <a:pPr>
              <a:spcBef>
                <a:spcPts val="0"/>
              </a:spcBef>
              <a:spcAft>
                <a:spcPts val="500"/>
              </a:spcAft>
              <a:defRPr sz="1700" b="0">
                <a:solidFill>
                  <a:srgbClr val="FFFFFF"/>
                </a:solidFill>
                <a:latin typeface="Aptos"/>
              </a:defRPr>
            </a:pPr>
            <a:r>
              <a:t>CF 2031 включает возврат</a:t>
            </a:r>
          </a:p>
          <a:p>
            <a:pPr>
              <a:spcBef>
                <a:spcPts val="0"/>
              </a:spcBef>
              <a:spcAft>
                <a:spcPts val="500"/>
              </a:spcAft>
              <a:defRPr sz="1700" b="0">
                <a:solidFill>
                  <a:srgbClr val="FFFFFF"/>
                </a:solidFill>
                <a:latin typeface="Aptos"/>
              </a:defRPr>
            </a:pPr>
            <a:r>
              <a:t>резерва 2,00 млн ₽.</a:t>
            </a:r>
          </a:p>
        </p:txBody>
      </p:sp>
      <p:sp>
        <p:nvSpPr>
          <p:cNvPr id="11" name="Rounded Rectangle 1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Продажа оборудования в терминале = 0. Балансовая стоимость не превращена в денежный поток</a:t>
            </a:r>
          </a:p>
        </p:txBody>
      </p:sp>
      <p:sp>
        <p:nvSpPr>
          <p:cNvPr id="13"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NPV и окупаемость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[РАСЧЕТ] NPV на 5 лет; ставка дисконтирования 24%; млн ₽</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18 / 22</a:t>
            </a:r>
          </a:p>
        </p:txBody>
      </p:sp>
      <p:sp>
        <p:nvSpPr>
          <p:cNvPr id="7" name="Rounded Rectangle 6"/>
          <p:cNvSpPr/>
          <p:nvPr/>
        </p:nvSpPr>
        <p:spPr>
          <a:xfrm>
            <a:off x="502920" y="1709928"/>
            <a:ext cx="6428232" cy="3776472"/>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9656"/>
          <a:ext cx="6153912" cy="3557015"/>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141464" y="1709928"/>
          <a:ext cx="4544568" cy="2670048"/>
        </p:xfrm>
        <a:graphic>
          <a:graphicData uri="http://schemas.openxmlformats.org/drawingml/2006/table">
            <a:tbl>
              <a:tblPr firstRow="1" bandRow="1">
                <a:tableStyleId>{5C22544A-7EE6-4342-B048-85BDC9FD1C3A}</a:tableStyleId>
              </a:tblPr>
              <a:tblGrid>
                <a:gridCol w="3127248"/>
                <a:gridCol w="1417320"/>
              </a:tblGrid>
              <a:tr h="381435">
                <a:tc>
                  <a:txBody>
                    <a:bodyPr/>
                    <a:lstStyle/>
                    <a:p>
                      <a:pPr>
                        <a:spcAft>
                          <a:spcPts val="0"/>
                        </a:spcAft>
                        <a:defRPr sz="1600" b="1">
                          <a:solidFill>
                            <a:srgbClr val="FFFFFF"/>
                          </a:solidFill>
                          <a:latin typeface="Arial"/>
                        </a:defRPr>
                      </a:pPr>
                      <a:r>
                        <a:t>Сценарий</a:t>
                      </a:r>
                    </a:p>
                  </a:txBody>
                  <a:tcPr marL="91440" marR="91440" marT="45720" marB="45720">
                    <a:solidFill>
                      <a:srgbClr val="224C3B"/>
                    </a:solidFill>
                  </a:tcPr>
                </a:tc>
                <a:tc>
                  <a:txBody>
                    <a:bodyPr/>
                    <a:lstStyle/>
                    <a:p>
                      <a:pPr>
                        <a:spcAft>
                          <a:spcPts val="0"/>
                        </a:spcAft>
                        <a:defRPr sz="1600" b="1">
                          <a:solidFill>
                            <a:srgbClr val="FFFFFF"/>
                          </a:solidFill>
                          <a:latin typeface="Arial"/>
                        </a:defRPr>
                      </a:pPr>
                      <a:r>
                        <a:t>NPV, млн ₽</a:t>
                      </a:r>
                    </a:p>
                  </a:txBody>
                  <a:tcPr marL="91440" marR="91440" marT="45720" marB="45720">
                    <a:solidFill>
                      <a:srgbClr val="224C3B"/>
                    </a:solidFill>
                  </a:tcPr>
                </a:tc>
              </a:tr>
              <a:tr h="381435">
                <a:tc>
                  <a:txBody>
                    <a:bodyPr/>
                    <a:lstStyle/>
                    <a:p>
                      <a:pPr>
                        <a:spcAft>
                          <a:spcPts val="0"/>
                        </a:spcAft>
                        <a:defRPr sz="1600" b="0">
                          <a:solidFill>
                            <a:srgbClr val="101F1B"/>
                          </a:solidFill>
                          <a:latin typeface="Arial"/>
                        </a:defRPr>
                      </a:pPr>
                      <a:r>
                        <a:t>База</a:t>
                      </a:r>
                    </a:p>
                  </a:txBody>
                  <a:tcPr marL="91440" marR="91440" marT="45720" marB="45720">
                    <a:solidFill>
                      <a:srgbClr val="FFFFFF"/>
                    </a:solidFill>
                  </a:tcPr>
                </a:tc>
                <a:tc>
                  <a:txBody>
                    <a:bodyPr/>
                    <a:lstStyle/>
                    <a:p>
                      <a:pPr>
                        <a:spcAft>
                          <a:spcPts val="0"/>
                        </a:spcAft>
                        <a:defRPr sz="1600" b="0">
                          <a:solidFill>
                            <a:srgbClr val="101F1B"/>
                          </a:solidFill>
                          <a:latin typeface="Arial"/>
                        </a:defRPr>
                      </a:pPr>
                      <a:r>
                        <a:t>3,946</a:t>
                      </a:r>
                    </a:p>
                  </a:txBody>
                  <a:tcPr marL="91440" marR="91440" marT="45720" marB="45720">
                    <a:solidFill>
                      <a:srgbClr val="FFFFFF"/>
                    </a:solidFill>
                  </a:tcPr>
                </a:tc>
              </a:tr>
              <a:tr h="381435">
                <a:tc>
                  <a:txBody>
                    <a:bodyPr/>
                    <a:lstStyle/>
                    <a:p>
                      <a:pPr>
                        <a:spcAft>
                          <a:spcPts val="0"/>
                        </a:spcAft>
                        <a:defRPr sz="1600" b="0">
                          <a:solidFill>
                            <a:srgbClr val="101F1B"/>
                          </a:solidFill>
                          <a:latin typeface="Arial"/>
                        </a:defRPr>
                      </a:pPr>
                      <a:r>
                        <a:t>Цена −10%</a:t>
                      </a:r>
                    </a:p>
                  </a:txBody>
                  <a:tcPr marL="91440" marR="91440" marT="45720" marB="45720">
                    <a:solidFill>
                      <a:srgbClr val="F4F2E9"/>
                    </a:solidFill>
                  </a:tcPr>
                </a:tc>
                <a:tc>
                  <a:txBody>
                    <a:bodyPr/>
                    <a:lstStyle/>
                    <a:p>
                      <a:pPr>
                        <a:spcAft>
                          <a:spcPts val="0"/>
                        </a:spcAft>
                        <a:defRPr sz="1600" b="0">
                          <a:solidFill>
                            <a:srgbClr val="101F1B"/>
                          </a:solidFill>
                          <a:latin typeface="Arial"/>
                        </a:defRPr>
                      </a:pPr>
                      <a:r>
                        <a:t>0,045</a:t>
                      </a:r>
                    </a:p>
                  </a:txBody>
                  <a:tcPr marL="91440" marR="91440" marT="45720" marB="45720">
                    <a:solidFill>
                      <a:srgbClr val="F4F2E9"/>
                    </a:solidFill>
                  </a:tcPr>
                </a:tc>
              </a:tr>
              <a:tr h="381435">
                <a:tc>
                  <a:txBody>
                    <a:bodyPr/>
                    <a:lstStyle/>
                    <a:p>
                      <a:pPr>
                        <a:spcAft>
                          <a:spcPts val="0"/>
                        </a:spcAft>
                        <a:defRPr sz="1600" b="0">
                          <a:solidFill>
                            <a:srgbClr val="101F1B"/>
                          </a:solidFill>
                          <a:latin typeface="Arial"/>
                        </a:defRPr>
                      </a:pPr>
                      <a:r>
                        <a:t>Объем −25%</a:t>
                      </a:r>
                    </a:p>
                  </a:txBody>
                  <a:tcPr marL="91440" marR="91440" marT="45720" marB="45720">
                    <a:solidFill>
                      <a:srgbClr val="FFFFFF"/>
                    </a:solidFill>
                  </a:tcPr>
                </a:tc>
                <a:tc>
                  <a:txBody>
                    <a:bodyPr/>
                    <a:lstStyle/>
                    <a:p>
                      <a:pPr>
                        <a:spcAft>
                          <a:spcPts val="0"/>
                        </a:spcAft>
                        <a:defRPr sz="1600" b="0">
                          <a:solidFill>
                            <a:srgbClr val="101F1B"/>
                          </a:solidFill>
                          <a:latin typeface="Arial"/>
                        </a:defRPr>
                      </a:pPr>
                      <a:r>
                        <a:t>-2,639</a:t>
                      </a:r>
                    </a:p>
                  </a:txBody>
                  <a:tcPr marL="91440" marR="91440" marT="45720" marB="45720">
                    <a:solidFill>
                      <a:srgbClr val="FFFFFF"/>
                    </a:solidFill>
                  </a:tcPr>
                </a:tc>
              </a:tr>
              <a:tr h="381435">
                <a:tc>
                  <a:txBody>
                    <a:bodyPr/>
                    <a:lstStyle/>
                    <a:p>
                      <a:pPr>
                        <a:spcAft>
                          <a:spcPts val="0"/>
                        </a:spcAft>
                        <a:defRPr sz="1600" b="0">
                          <a:solidFill>
                            <a:srgbClr val="101F1B"/>
                          </a:solidFill>
                          <a:latin typeface="Arial"/>
                        </a:defRPr>
                      </a:pPr>
                      <a:r>
                        <a:t>Переменные +20%</a:t>
                      </a:r>
                    </a:p>
                  </a:txBody>
                  <a:tcPr marL="91440" marR="91440" marT="45720" marB="45720">
                    <a:solidFill>
                      <a:srgbClr val="F4F2E9"/>
                    </a:solidFill>
                  </a:tcPr>
                </a:tc>
                <a:tc>
                  <a:txBody>
                    <a:bodyPr/>
                    <a:lstStyle/>
                    <a:p>
                      <a:pPr>
                        <a:spcAft>
                          <a:spcPts val="0"/>
                        </a:spcAft>
                        <a:defRPr sz="1600" b="0">
                          <a:solidFill>
                            <a:srgbClr val="101F1B"/>
                          </a:solidFill>
                          <a:latin typeface="Arial"/>
                        </a:defRPr>
                      </a:pPr>
                      <a:r>
                        <a:t>1,412</a:t>
                      </a:r>
                    </a:p>
                  </a:txBody>
                  <a:tcPr marL="91440" marR="91440" marT="45720" marB="45720">
                    <a:solidFill>
                      <a:srgbClr val="F4F2E9"/>
                    </a:solidFill>
                  </a:tcPr>
                </a:tc>
              </a:tr>
              <a:tr h="381435">
                <a:tc>
                  <a:txBody>
                    <a:bodyPr/>
                    <a:lstStyle/>
                    <a:p>
                      <a:pPr>
                        <a:spcAft>
                          <a:spcPts val="0"/>
                        </a:spcAft>
                        <a:defRPr sz="1600" b="0">
                          <a:solidFill>
                            <a:srgbClr val="101F1B"/>
                          </a:solidFill>
                          <a:latin typeface="Arial"/>
                        </a:defRPr>
                      </a:pPr>
                      <a:r>
                        <a:t>Задержка на год</a:t>
                      </a:r>
                    </a:p>
                  </a:txBody>
                  <a:tcPr marL="91440" marR="91440" marT="45720" marB="45720">
                    <a:solidFill>
                      <a:srgbClr val="FFFFFF"/>
                    </a:solidFill>
                  </a:tcPr>
                </a:tc>
                <a:tc>
                  <a:txBody>
                    <a:bodyPr/>
                    <a:lstStyle/>
                    <a:p>
                      <a:pPr>
                        <a:spcAft>
                          <a:spcPts val="0"/>
                        </a:spcAft>
                        <a:defRPr sz="1600" b="0">
                          <a:solidFill>
                            <a:srgbClr val="101F1B"/>
                          </a:solidFill>
                          <a:latin typeface="Arial"/>
                        </a:defRPr>
                      </a:pPr>
                      <a:r>
                        <a:t>-1,433</a:t>
                      </a:r>
                    </a:p>
                  </a:txBody>
                  <a:tcPr marL="91440" marR="91440" marT="45720" marB="45720">
                    <a:solidFill>
                      <a:srgbClr val="FFFFFF"/>
                    </a:solidFill>
                  </a:tcPr>
                </a:tc>
              </a:tr>
              <a:tr h="381438">
                <a:tc>
                  <a:txBody>
                    <a:bodyPr/>
                    <a:lstStyle/>
                    <a:p>
                      <a:pPr>
                        <a:spcAft>
                          <a:spcPts val="0"/>
                        </a:spcAft>
                        <a:defRPr sz="1600" b="0">
                          <a:solidFill>
                            <a:srgbClr val="101F1B"/>
                          </a:solidFill>
                          <a:latin typeface="Arial"/>
                        </a:defRPr>
                      </a:pPr>
                      <a:r>
                        <a:t>Внесение 900 ₽/га</a:t>
                      </a:r>
                    </a:p>
                  </a:txBody>
                  <a:tcPr marL="91440" marR="91440" marT="45720" marB="45720">
                    <a:solidFill>
                      <a:srgbClr val="F4F2E9"/>
                    </a:solidFill>
                  </a:tcPr>
                </a:tc>
                <a:tc>
                  <a:txBody>
                    <a:bodyPr/>
                    <a:lstStyle/>
                    <a:p>
                      <a:pPr>
                        <a:spcAft>
                          <a:spcPts val="0"/>
                        </a:spcAft>
                        <a:defRPr sz="1600" b="0">
                          <a:solidFill>
                            <a:srgbClr val="101F1B"/>
                          </a:solidFill>
                          <a:latin typeface="Arial"/>
                        </a:defRPr>
                      </a:pPr>
                      <a:r>
                        <a:t>-6,605</a:t>
                      </a:r>
                    </a:p>
                  </a:txBody>
                  <a:tcPr marL="91440" marR="91440" marT="45720" marB="45720">
                    <a:solidFill>
                      <a:srgbClr val="F4F2E9"/>
                    </a:solidFill>
                  </a:tcPr>
                </a:tc>
              </a:tr>
            </a:tbl>
          </a:graphicData>
        </a:graphic>
      </p:graphicFrame>
      <p:sp>
        <p:nvSpPr>
          <p:cNvPr id="10" name="TextBox 9"/>
          <p:cNvSpPr txBox="1"/>
          <p:nvPr/>
        </p:nvSpPr>
        <p:spPr>
          <a:xfrm>
            <a:off x="7251192" y="4617720"/>
            <a:ext cx="4224528" cy="868680"/>
          </a:xfrm>
          <a:prstGeom prst="rect">
            <a:avLst/>
          </a:prstGeom>
          <a:noFill/>
        </p:spPr>
        <p:txBody>
          <a:bodyPr wrap="square" lIns="13716" rIns="13716" tIns="0" bIns="0">
            <a:spAutoFit/>
          </a:bodyPr>
          <a:lstStyle/>
          <a:p>
            <a:pPr>
              <a:spcBef>
                <a:spcPts val="0"/>
              </a:spcBef>
              <a:spcAft>
                <a:spcPts val="500"/>
              </a:spcAft>
              <a:defRPr sz="1800" b="0">
                <a:solidFill>
                  <a:srgbClr val="FFFFFF"/>
                </a:solidFill>
                <a:latin typeface="Aptos"/>
              </a:defRPr>
            </a:pPr>
            <a:r>
              <a:t>Окупаемость базы: 2,68 года</a:t>
            </a:r>
          </a:p>
          <a:p>
            <a:pPr>
              <a:spcBef>
                <a:spcPts val="0"/>
              </a:spcBef>
              <a:spcAft>
                <a:spcPts val="500"/>
              </a:spcAft>
              <a:defRPr sz="1800" b="0">
                <a:solidFill>
                  <a:srgbClr val="FFFFFF"/>
                </a:solidFill>
                <a:latin typeface="Aptos"/>
              </a:defRPr>
            </a:pPr>
            <a:r>
              <a:t>Дисконтированная: 3,88 года</a:t>
            </a:r>
          </a:p>
        </p:txBody>
      </p:sp>
      <p:sp>
        <p:nvSpPr>
          <p:cNvPr id="11" name="Rounded Rectangle 10"/>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Комбинированный стресс: NPV -7,55 млн ₽; цена −10%, объем −25%, CAPEX +1,98 млн</a:t>
            </a:r>
          </a:p>
        </p:txBody>
      </p:sp>
      <p:sp>
        <p:nvSpPr>
          <p:cNvPr id="13"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Потребность в инвестициях</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 Бюджет до коммерческих предложений  •  [РАСЧЕТ] Сумма потребности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19 / 22</a:t>
            </a:r>
          </a:p>
        </p:txBody>
      </p:sp>
      <p:graphicFrame>
        <p:nvGraphicFramePr>
          <p:cNvPr id="7" name="Table 6"/>
          <p:cNvGraphicFramePr>
            <a:graphicFrameLocks noGrp="1"/>
          </p:cNvGraphicFramePr>
          <p:nvPr/>
        </p:nvGraphicFramePr>
        <p:xfrm>
          <a:off x="502920" y="1737360"/>
          <a:ext cx="6583680" cy="3584448"/>
        </p:xfrm>
        <a:graphic>
          <a:graphicData uri="http://schemas.openxmlformats.org/drawingml/2006/table">
            <a:tbl>
              <a:tblPr firstRow="1" bandRow="1">
                <a:tableStyleId>{5C22544A-7EE6-4342-B048-85BDC9FD1C3A}</a:tableStyleId>
              </a:tblPr>
              <a:tblGrid>
                <a:gridCol w="5029200"/>
                <a:gridCol w="1554480"/>
              </a:tblGrid>
              <a:tr h="512064">
                <a:tc>
                  <a:txBody>
                    <a:bodyPr/>
                    <a:lstStyle/>
                    <a:p>
                      <a:pPr>
                        <a:spcAft>
                          <a:spcPts val="0"/>
                        </a:spcAft>
                        <a:defRPr sz="1700" b="1">
                          <a:solidFill>
                            <a:srgbClr val="FFFFFF"/>
                          </a:solidFill>
                          <a:latin typeface="Arial"/>
                        </a:defRPr>
                      </a:pPr>
                      <a:r>
                        <a:t>CAPEX</a:t>
                      </a:r>
                    </a:p>
                  </a:txBody>
                  <a:tcPr marL="91440" marR="91440" marT="45720" marB="45720">
                    <a:solidFill>
                      <a:srgbClr val="224C3B"/>
                    </a:solidFill>
                  </a:tcPr>
                </a:tc>
                <a:tc>
                  <a:txBody>
                    <a:bodyPr/>
                    <a:lstStyle/>
                    <a:p>
                      <a:pPr>
                        <a:spcAft>
                          <a:spcPts val="0"/>
                        </a:spcAft>
                        <a:defRPr sz="1700" b="1">
                          <a:solidFill>
                            <a:srgbClr val="FFFFFF"/>
                          </a:solidFill>
                          <a:latin typeface="Arial"/>
                        </a:defRPr>
                      </a:pPr>
                      <a:r>
                        <a:t>млн ₽</a:t>
                      </a:r>
                    </a:p>
                  </a:txBody>
                  <a:tcPr marL="91440" marR="91440" marT="45720" marB="45720">
                    <a:solidFill>
                      <a:srgbClr val="224C3B"/>
                    </a:solidFill>
                  </a:tcPr>
                </a:tc>
              </a:tr>
              <a:tr h="512064">
                <a:tc>
                  <a:txBody>
                    <a:bodyPr/>
                    <a:lstStyle/>
                    <a:p>
                      <a:pPr>
                        <a:spcAft>
                          <a:spcPts val="0"/>
                        </a:spcAft>
                        <a:defRPr sz="1700" b="0">
                          <a:solidFill>
                            <a:srgbClr val="182F28"/>
                          </a:solidFill>
                          <a:latin typeface="Arial"/>
                        </a:defRPr>
                      </a:pPr>
                      <a:r>
                        <a:t>2 агродрона с АКБ / зарядкой</a:t>
                      </a:r>
                    </a:p>
                  </a:txBody>
                  <a:tcPr marL="91440" marR="91440" marT="45720" marB="45720">
                    <a:solidFill>
                      <a:srgbClr val="FFFFFF"/>
                    </a:solidFill>
                  </a:tcPr>
                </a:tc>
                <a:tc>
                  <a:txBody>
                    <a:bodyPr/>
                    <a:lstStyle/>
                    <a:p>
                      <a:pPr>
                        <a:spcAft>
                          <a:spcPts val="0"/>
                        </a:spcAft>
                        <a:defRPr sz="1700" b="0">
                          <a:solidFill>
                            <a:srgbClr val="182F28"/>
                          </a:solidFill>
                          <a:latin typeface="Arial"/>
                        </a:defRPr>
                      </a:pPr>
                      <a:r>
                        <a:t>4,0</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Транспорт / прицеп</a:t>
                      </a:r>
                    </a:p>
                  </a:txBody>
                  <a:tcPr marL="91440" marR="91440" marT="45720" marB="45720">
                    <a:solidFill>
                      <a:srgbClr val="F4F2E9"/>
                    </a:solidFill>
                  </a:tcPr>
                </a:tc>
                <a:tc>
                  <a:txBody>
                    <a:bodyPr/>
                    <a:lstStyle/>
                    <a:p>
                      <a:pPr>
                        <a:spcAft>
                          <a:spcPts val="0"/>
                        </a:spcAft>
                        <a:defRPr sz="1700" b="0">
                          <a:solidFill>
                            <a:srgbClr val="182F28"/>
                          </a:solidFill>
                          <a:latin typeface="Arial"/>
                        </a:defRPr>
                      </a:pPr>
                      <a:r>
                        <a:t>1,4</a:t>
                      </a:r>
                    </a:p>
                  </a:txBody>
                  <a:tcPr marL="91440" marR="91440" marT="45720" marB="45720">
                    <a:solidFill>
                      <a:srgbClr val="F4F2E9"/>
                    </a:solidFill>
                  </a:tcPr>
                </a:tc>
              </a:tr>
              <a:tr h="512064">
                <a:tc>
                  <a:txBody>
                    <a:bodyPr/>
                    <a:lstStyle/>
                    <a:p>
                      <a:pPr>
                        <a:spcAft>
                          <a:spcPts val="0"/>
                        </a:spcAft>
                        <a:defRPr sz="1700" b="0">
                          <a:solidFill>
                            <a:srgbClr val="182F28"/>
                          </a:solidFill>
                          <a:latin typeface="Arial"/>
                        </a:defRPr>
                      </a:pPr>
                      <a:r>
                        <a:t>Мониторинговый БВС</a:t>
                      </a:r>
                    </a:p>
                  </a:txBody>
                  <a:tcPr marL="91440" marR="91440" marT="45720" marB="45720">
                    <a:solidFill>
                      <a:srgbClr val="FFFFFF"/>
                    </a:solidFill>
                  </a:tcPr>
                </a:tc>
                <a:tc>
                  <a:txBody>
                    <a:bodyPr/>
                    <a:lstStyle/>
                    <a:p>
                      <a:pPr>
                        <a:spcAft>
                          <a:spcPts val="0"/>
                        </a:spcAft>
                        <a:defRPr sz="1700" b="0">
                          <a:solidFill>
                            <a:srgbClr val="182F28"/>
                          </a:solidFill>
                          <a:latin typeface="Arial"/>
                        </a:defRPr>
                      </a:pPr>
                      <a:r>
                        <a:t>0,6</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Подготовка состава / безопасность</a:t>
                      </a:r>
                    </a:p>
                  </a:txBody>
                  <a:tcPr marL="91440" marR="91440" marT="45720" marB="45720">
                    <a:solidFill>
                      <a:srgbClr val="F4F2E9"/>
                    </a:solidFill>
                  </a:tcPr>
                </a:tc>
                <a:tc>
                  <a:txBody>
                    <a:bodyPr/>
                    <a:lstStyle/>
                    <a:p>
                      <a:pPr>
                        <a:spcAft>
                          <a:spcPts val="0"/>
                        </a:spcAft>
                        <a:defRPr sz="1700" b="0">
                          <a:solidFill>
                            <a:srgbClr val="182F28"/>
                          </a:solidFill>
                          <a:latin typeface="Arial"/>
                        </a:defRPr>
                      </a:pPr>
                      <a:r>
                        <a:t>0,4</a:t>
                      </a:r>
                    </a:p>
                  </a:txBody>
                  <a:tcPr marL="91440" marR="91440" marT="45720" marB="45720">
                    <a:solidFill>
                      <a:srgbClr val="F4F2E9"/>
                    </a:solidFill>
                  </a:tcPr>
                </a:tc>
              </a:tr>
              <a:tr h="512064">
                <a:tc>
                  <a:txBody>
                    <a:bodyPr/>
                    <a:lstStyle/>
                    <a:p>
                      <a:pPr>
                        <a:spcAft>
                          <a:spcPts val="0"/>
                        </a:spcAft>
                        <a:defRPr sz="1700" b="0">
                          <a:solidFill>
                            <a:srgbClr val="182F28"/>
                          </a:solidFill>
                          <a:latin typeface="Arial"/>
                        </a:defRPr>
                      </a:pPr>
                      <a:r>
                        <a:t>ИТ</a:t>
                      </a:r>
                    </a:p>
                  </a:txBody>
                  <a:tcPr marL="91440" marR="91440" marT="45720" marB="45720">
                    <a:solidFill>
                      <a:srgbClr val="FFFFFF"/>
                    </a:solidFill>
                  </a:tcPr>
                </a:tc>
                <a:tc>
                  <a:txBody>
                    <a:bodyPr/>
                    <a:lstStyle/>
                    <a:p>
                      <a:pPr>
                        <a:spcAft>
                          <a:spcPts val="0"/>
                        </a:spcAft>
                        <a:defRPr sz="1700" b="0">
                          <a:solidFill>
                            <a:srgbClr val="182F28"/>
                          </a:solidFill>
                          <a:latin typeface="Arial"/>
                        </a:defRPr>
                      </a:pPr>
                      <a:r>
                        <a:t>0,2</a:t>
                      </a:r>
                    </a:p>
                  </a:txBody>
                  <a:tcPr marL="91440" marR="91440" marT="45720" marB="45720">
                    <a:solidFill>
                      <a:srgbClr val="FFFFFF"/>
                    </a:solidFill>
                  </a:tcPr>
                </a:tc>
              </a:tr>
              <a:tr h="512064">
                <a:tc>
                  <a:txBody>
                    <a:bodyPr/>
                    <a:lstStyle/>
                    <a:p>
                      <a:pPr>
                        <a:spcAft>
                          <a:spcPts val="0"/>
                        </a:spcAft>
                        <a:defRPr sz="1700" b="0">
                          <a:solidFill>
                            <a:srgbClr val="182F28"/>
                          </a:solidFill>
                          <a:latin typeface="Arial"/>
                        </a:defRPr>
                      </a:pPr>
                      <a:r>
                        <a:t>Капитальные запчасти</a:t>
                      </a:r>
                    </a:p>
                  </a:txBody>
                  <a:tcPr marL="91440" marR="91440" marT="45720" marB="45720">
                    <a:solidFill>
                      <a:srgbClr val="F4F2E9"/>
                    </a:solidFill>
                  </a:tcPr>
                </a:tc>
                <a:tc>
                  <a:txBody>
                    <a:bodyPr/>
                    <a:lstStyle/>
                    <a:p>
                      <a:pPr>
                        <a:spcAft>
                          <a:spcPts val="0"/>
                        </a:spcAft>
                        <a:defRPr sz="1700" b="0">
                          <a:solidFill>
                            <a:srgbClr val="182F28"/>
                          </a:solidFill>
                          <a:latin typeface="Arial"/>
                        </a:defRPr>
                      </a:pPr>
                      <a:r>
                        <a:t>0,4</a:t>
                      </a:r>
                    </a:p>
                  </a:txBody>
                  <a:tcPr marL="91440" marR="91440" marT="45720" marB="45720">
                    <a:solidFill>
                      <a:srgbClr val="F4F2E9"/>
                    </a:solidFill>
                  </a:tcPr>
                </a:tc>
              </a:tr>
            </a:tbl>
          </a:graphicData>
        </a:graphic>
      </p:graphicFrame>
      <p:sp>
        <p:nvSpPr>
          <p:cNvPr id="8" name="Rounded Rectangle 7"/>
          <p:cNvSpPr/>
          <p:nvPr/>
        </p:nvSpPr>
        <p:spPr>
          <a:xfrm>
            <a:off x="7315200" y="1737360"/>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929384"/>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7,0</a:t>
            </a:r>
          </a:p>
        </p:txBody>
      </p:sp>
      <p:sp>
        <p:nvSpPr>
          <p:cNvPr id="10" name="TextBox 9"/>
          <p:cNvSpPr txBox="1"/>
          <p:nvPr/>
        </p:nvSpPr>
        <p:spPr>
          <a:xfrm>
            <a:off x="8796528" y="2002536"/>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CAPEX</a:t>
            </a:r>
          </a:p>
        </p:txBody>
      </p:sp>
      <p:sp>
        <p:nvSpPr>
          <p:cNvPr id="11" name="Rounded Rectangle 10"/>
          <p:cNvSpPr/>
          <p:nvPr/>
        </p:nvSpPr>
        <p:spPr>
          <a:xfrm>
            <a:off x="7315200" y="2953512"/>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145536"/>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0,5</a:t>
            </a:r>
          </a:p>
        </p:txBody>
      </p:sp>
      <p:sp>
        <p:nvSpPr>
          <p:cNvPr id="13" name="TextBox 12"/>
          <p:cNvSpPr txBox="1"/>
          <p:nvPr/>
        </p:nvSpPr>
        <p:spPr>
          <a:xfrm>
            <a:off x="8796528" y="3218688"/>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Стартовые расходы</a:t>
            </a:r>
          </a:p>
        </p:txBody>
      </p:sp>
      <p:sp>
        <p:nvSpPr>
          <p:cNvPr id="14" name="Rounded Rectangle 13"/>
          <p:cNvSpPr/>
          <p:nvPr/>
        </p:nvSpPr>
        <p:spPr>
          <a:xfrm>
            <a:off x="7315200" y="4169664"/>
            <a:ext cx="4370832" cy="1033271"/>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4361688"/>
            <a:ext cx="1143000" cy="585216"/>
          </a:xfrm>
          <a:prstGeom prst="rect">
            <a:avLst/>
          </a:prstGeom>
          <a:noFill/>
        </p:spPr>
        <p:txBody>
          <a:bodyPr wrap="square" lIns="13716" rIns="13716" tIns="0" bIns="0">
            <a:spAutoFit/>
          </a:bodyPr>
          <a:lstStyle/>
          <a:p>
            <a:pPr>
              <a:spcBef>
                <a:spcPts val="0"/>
              </a:spcBef>
              <a:spcAft>
                <a:spcPts val="500"/>
              </a:spcAft>
              <a:defRPr sz="3200" b="1">
                <a:solidFill>
                  <a:srgbClr val="274D3B"/>
                </a:solidFill>
                <a:latin typeface="Aptos"/>
              </a:defRPr>
            </a:pPr>
            <a:r>
              <a:t>2,0</a:t>
            </a:r>
          </a:p>
        </p:txBody>
      </p:sp>
      <p:sp>
        <p:nvSpPr>
          <p:cNvPr id="16" name="TextBox 15"/>
          <p:cNvSpPr txBox="1"/>
          <p:nvPr/>
        </p:nvSpPr>
        <p:spPr>
          <a:xfrm>
            <a:off x="8796528" y="4434840"/>
            <a:ext cx="2697480" cy="585216"/>
          </a:xfrm>
          <a:prstGeom prst="rect">
            <a:avLst/>
          </a:prstGeom>
          <a:noFill/>
        </p:spPr>
        <p:txBody>
          <a:bodyPr wrap="square" lIns="13716" rIns="13716" tIns="0" bIns="0">
            <a:spAutoFit/>
          </a:bodyPr>
          <a:lstStyle/>
          <a:p>
            <a:pPr>
              <a:spcBef>
                <a:spcPts val="0"/>
              </a:spcBef>
              <a:spcAft>
                <a:spcPts val="500"/>
              </a:spcAft>
              <a:defRPr sz="1900" b="0">
                <a:solidFill>
                  <a:srgbClr val="274D3B"/>
                </a:solidFill>
                <a:latin typeface="Aptos"/>
              </a:defRPr>
            </a:pPr>
            <a:r>
              <a:t>Оборотный резерв</a:t>
            </a:r>
          </a:p>
        </p:txBody>
      </p:sp>
      <p:sp>
        <p:nvSpPr>
          <p:cNvPr id="17" name="Rounded Rectangle 16"/>
          <p:cNvSpPr/>
          <p:nvPr/>
        </p:nvSpPr>
        <p:spPr>
          <a:xfrm>
            <a:off x="502920" y="5733288"/>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Итого 9,5 млн ₽. Резерв — ликвидность, не повторный расход и не бюджет расширения</a:t>
            </a:r>
          </a:p>
        </p:txBody>
      </p:sp>
      <p:sp>
        <p:nvSpPr>
          <p:cNvPr id="19" name="TextBox 18"/>
          <p:cNvSpPr txBox="1"/>
          <p:nvPr/>
        </p:nvSpPr>
        <p:spPr>
          <a:xfrm>
            <a:off x="594360" y="5349240"/>
            <a:ext cx="10972800" cy="347472"/>
          </a:xfrm>
          <a:prstGeom prst="rect">
            <a:avLst/>
          </a:prstGeom>
          <a:noFill/>
        </p:spPr>
        <p:txBody>
          <a:bodyPr wrap="square" lIns="13716" rIns="13716" tIns="0" bIns="0">
            <a:spAutoFit/>
          </a:bodyPr>
          <a:lstStyle/>
          <a:p>
            <a:pPr>
              <a:spcBef>
                <a:spcPts val="0"/>
              </a:spcBef>
              <a:spcAft>
                <a:spcPts val="500"/>
              </a:spcAft>
              <a:defRPr sz="1500" b="0">
                <a:solidFill>
                  <a:srgbClr val="182F28"/>
                </a:solidFill>
                <a:latin typeface="Aptos"/>
              </a:defRPr>
            </a:pPr>
            <a:r>
              <a:t>Пара XAG P100 Pro: ориентир 5,98 млн ₽ вместо лимита 4,0; финансирование 11,48 млн ₽.</a:t>
            </a:r>
          </a:p>
        </p:txBody>
      </p:sp>
      <p:sp>
        <p:nvSpPr>
          <p:cNvPr id="2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Структура источников инвестиций</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20 / 22</a:t>
            </a:r>
          </a:p>
        </p:txBody>
      </p:sp>
      <p:sp>
        <p:nvSpPr>
          <p:cNvPr id="7" name="Rounded Rectangle 6"/>
          <p:cNvSpPr/>
          <p:nvPr/>
        </p:nvSpPr>
        <p:spPr>
          <a:xfrm>
            <a:off x="502920" y="1737360"/>
            <a:ext cx="5477256" cy="32644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274D3B"/>
                </a:solidFill>
                <a:latin typeface="Aptos"/>
              </a:defRPr>
            </a:pPr>
            <a:r>
              <a:t>2,5</a:t>
            </a:r>
          </a:p>
        </p:txBody>
      </p:sp>
      <p:sp>
        <p:nvSpPr>
          <p:cNvPr id="10" name="TextBox 9"/>
          <p:cNvSpPr txBox="1"/>
          <p:nvPr/>
        </p:nvSpPr>
        <p:spPr>
          <a:xfrm>
            <a:off x="704088"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млн ₽ / учредитель</a:t>
            </a:r>
          </a:p>
        </p:txBody>
      </p:sp>
      <p:sp>
        <p:nvSpPr>
          <p:cNvPr id="11" name="TextBox 10"/>
          <p:cNvSpPr txBox="1"/>
          <p:nvPr/>
        </p:nvSpPr>
        <p:spPr>
          <a:xfrm>
            <a:off x="704088"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Подтвердить наличие денег</a:t>
            </a:r>
          </a:p>
          <a:p>
            <a:pPr>
              <a:spcBef>
                <a:spcPts val="0"/>
              </a:spcBef>
              <a:spcAft>
                <a:spcPts val="500"/>
              </a:spcAft>
              <a:defRPr sz="2000" b="0">
                <a:solidFill>
                  <a:srgbClr val="182F28"/>
                </a:solidFill>
                <a:latin typeface="Aptos"/>
              </a:defRPr>
            </a:pPr>
            <a:r>
              <a:t>и оформить вклад</a:t>
            </a:r>
          </a:p>
        </p:txBody>
      </p:sp>
      <p:sp>
        <p:nvSpPr>
          <p:cNvPr id="12" name="Rounded Rectangle 11"/>
          <p:cNvSpPr/>
          <p:nvPr/>
        </p:nvSpPr>
        <p:spPr>
          <a:xfrm>
            <a:off x="6208776" y="1737360"/>
            <a:ext cx="5477256" cy="32644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91656" y="1920240"/>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274D3B"/>
                </a:solidFill>
                <a:latin typeface="Aptos"/>
              </a:defRPr>
            </a:pPr>
            <a:r>
              <a:t>7,0</a:t>
            </a:r>
          </a:p>
        </p:txBody>
      </p:sp>
      <p:sp>
        <p:nvSpPr>
          <p:cNvPr id="15" name="TextBox 14"/>
          <p:cNvSpPr txBox="1"/>
          <p:nvPr/>
        </p:nvSpPr>
        <p:spPr>
          <a:xfrm>
            <a:off x="6409944"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274D3B"/>
                </a:solidFill>
                <a:latin typeface="Aptos"/>
              </a:defRPr>
            </a:pPr>
            <a:r>
              <a:t>млн ₽ / внешний инвестор</a:t>
            </a:r>
          </a:p>
        </p:txBody>
      </p:sp>
      <p:sp>
        <p:nvSpPr>
          <p:cNvPr id="16" name="TextBox 15"/>
          <p:cNvSpPr txBox="1"/>
          <p:nvPr/>
        </p:nvSpPr>
        <p:spPr>
          <a:xfrm>
            <a:off x="6409944"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182F28"/>
                </a:solidFill>
                <a:latin typeface="Aptos"/>
              </a:defRPr>
            </a:pPr>
            <a:r>
              <a:t>Долевое финансирование</a:t>
            </a:r>
          </a:p>
          <a:p>
            <a:pPr>
              <a:spcBef>
                <a:spcPts val="0"/>
              </a:spcBef>
              <a:spcAft>
                <a:spcPts val="500"/>
              </a:spcAft>
              <a:defRPr sz="2000" b="0">
                <a:solidFill>
                  <a:srgbClr val="182F28"/>
                </a:solidFill>
                <a:latin typeface="Aptos"/>
              </a:defRPr>
            </a:pPr>
            <a:r>
              <a:t>после проверки условий</a:t>
            </a:r>
          </a:p>
        </p:txBody>
      </p:sp>
      <p:sp>
        <p:nvSpPr>
          <p:cNvPr id="17" name="TextBox 16"/>
          <p:cNvSpPr txBox="1"/>
          <p:nvPr/>
        </p:nvSpPr>
        <p:spPr>
          <a:xfrm>
            <a:off x="594360" y="5175504"/>
            <a:ext cx="10972800" cy="758952"/>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База: 2,5 + 7,0 = 9,5 млн ₽; деньги не подтверждены.</a:t>
            </a:r>
          </a:p>
          <a:p>
            <a:pPr>
              <a:spcBef>
                <a:spcPts val="0"/>
              </a:spcBef>
              <a:spcAft>
                <a:spcPts val="500"/>
              </a:spcAft>
              <a:defRPr sz="1600" b="0">
                <a:solidFill>
                  <a:srgbClr val="182F28"/>
                </a:solidFill>
                <a:latin typeface="Aptos"/>
              </a:defRPr>
            </a:pPr>
            <a:r>
              <a:t>Закупочный стресс: внешний вклад 8,98 млн ₽; нужно еще 1,98 млн ₽.</a:t>
            </a:r>
          </a:p>
          <a:p>
            <a:pPr>
              <a:spcBef>
                <a:spcPts val="0"/>
              </a:spcBef>
              <a:spcAft>
                <a:spcPts val="500"/>
              </a:spcAft>
              <a:defRPr sz="1600" b="0">
                <a:solidFill>
                  <a:srgbClr val="182F28"/>
                </a:solidFill>
                <a:latin typeface="Aptos"/>
              </a:defRPr>
            </a:pPr>
            <a:r>
              <a:t>Долг и гранты исключены; доля инвестора определяется отдельно.</a:t>
            </a:r>
          </a:p>
        </p:txBody>
      </p:sp>
      <p:sp>
        <p:nvSpPr>
          <p:cNvPr id="18" name="Rounded Rectangle 17"/>
          <p:cNvSpPr/>
          <p:nvPr/>
        </p:nvSpPr>
        <p:spPr>
          <a:xfrm>
            <a:off x="502920" y="6044184"/>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6126480"/>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82F28"/>
                </a:solidFill>
                <a:latin typeface="Aptos"/>
              </a:defRPr>
            </a:pPr>
            <a:r>
              <a:t>Это суммы источников, НЕ доли в капитале. Крупные закупки — только после инвестиционного gate</a:t>
            </a:r>
          </a:p>
        </p:txBody>
      </p:sp>
      <p:sp>
        <p:nvSpPr>
          <p:cNvPr id="20"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182F28"/>
                </a:solidFill>
                <a:latin typeface="Aptos"/>
              </a:defRPr>
            </a:pPr>
            <a:r>
              <a:t>Основные технико-экономические показатели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386349"/>
                </a:solidFill>
                <a:latin typeface="Aptos"/>
              </a:defRPr>
            </a:pPr>
            <a:r>
              <a:t>[РАСЧЕТ] Финансовые KPI базы  •  [ДОПУЩЕНИЕ] Плановые операционные пороги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65766D"/>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386349"/>
                </a:solidFill>
                <a:latin typeface="Aptos"/>
              </a:defRPr>
            </a:pPr>
            <a:r>
              <a:t>21 / 22</a:t>
            </a:r>
          </a:p>
        </p:txBody>
      </p:sp>
      <p:sp>
        <p:nvSpPr>
          <p:cNvPr id="7" name="Rounded Rectangle 6"/>
          <p:cNvSpPr/>
          <p:nvPr/>
        </p:nvSpPr>
        <p:spPr>
          <a:xfrm>
            <a:off x="50292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8,8 млн ₽</a:t>
            </a:r>
          </a:p>
        </p:txBody>
      </p:sp>
      <p:sp>
        <p:nvSpPr>
          <p:cNvPr id="9" name="TextBox 8"/>
          <p:cNvSpPr txBox="1"/>
          <p:nvPr/>
        </p:nvSpPr>
        <p:spPr>
          <a:xfrm>
            <a:off x="68580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Выручка 2027</a:t>
            </a:r>
          </a:p>
        </p:txBody>
      </p:sp>
      <p:sp>
        <p:nvSpPr>
          <p:cNvPr id="10" name="TextBox 9"/>
          <p:cNvSpPr txBox="1"/>
          <p:nvPr/>
        </p:nvSpPr>
        <p:spPr>
          <a:xfrm>
            <a:off x="68580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6000 га-проходов + 4000 обследований</a:t>
            </a:r>
          </a:p>
        </p:txBody>
      </p:sp>
      <p:sp>
        <p:nvSpPr>
          <p:cNvPr id="11" name="Rounded Rectangle 10"/>
          <p:cNvSpPr/>
          <p:nvPr/>
        </p:nvSpPr>
        <p:spPr>
          <a:xfrm>
            <a:off x="429768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22,3%</a:t>
            </a:r>
          </a:p>
        </p:txBody>
      </p:sp>
      <p:sp>
        <p:nvSpPr>
          <p:cNvPr id="13" name="TextBox 12"/>
          <p:cNvSpPr txBox="1"/>
          <p:nvPr/>
        </p:nvSpPr>
        <p:spPr>
          <a:xfrm>
            <a:off x="448056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Маржа EBITDA 2027</a:t>
            </a:r>
          </a:p>
        </p:txBody>
      </p:sp>
      <p:sp>
        <p:nvSpPr>
          <p:cNvPr id="14" name="TextBox 13"/>
          <p:cNvSpPr txBox="1"/>
          <p:nvPr/>
        </p:nvSpPr>
        <p:spPr>
          <a:xfrm>
            <a:off x="448056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До амортизации и налога УСН</a:t>
            </a:r>
          </a:p>
        </p:txBody>
      </p:sp>
      <p:sp>
        <p:nvSpPr>
          <p:cNvPr id="15" name="Rounded Rectangle 14"/>
          <p:cNvSpPr/>
          <p:nvPr/>
        </p:nvSpPr>
        <p:spPr>
          <a:xfrm>
            <a:off x="8092440" y="17190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1,432 млн ₽</a:t>
            </a:r>
          </a:p>
        </p:txBody>
      </p:sp>
      <p:sp>
        <p:nvSpPr>
          <p:cNvPr id="17" name="TextBox 16"/>
          <p:cNvSpPr txBox="1"/>
          <p:nvPr/>
        </p:nvSpPr>
        <p:spPr>
          <a:xfrm>
            <a:off x="827532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Свободный CF 2027</a:t>
            </a:r>
          </a:p>
        </p:txBody>
      </p:sp>
      <p:sp>
        <p:nvSpPr>
          <p:cNvPr id="18" name="TextBox 17"/>
          <p:cNvSpPr txBox="1"/>
          <p:nvPr/>
        </p:nvSpPr>
        <p:spPr>
          <a:xfrm>
            <a:off x="827532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После налога; до выплат инвесторам</a:t>
            </a:r>
          </a:p>
        </p:txBody>
      </p:sp>
      <p:sp>
        <p:nvSpPr>
          <p:cNvPr id="19" name="Rounded Rectangle 18"/>
          <p:cNvSpPr/>
          <p:nvPr/>
        </p:nvSpPr>
        <p:spPr>
          <a:xfrm>
            <a:off x="50292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13 000</a:t>
            </a:r>
          </a:p>
        </p:txBody>
      </p:sp>
      <p:sp>
        <p:nvSpPr>
          <p:cNvPr id="21" name="TextBox 20"/>
          <p:cNvSpPr txBox="1"/>
          <p:nvPr/>
        </p:nvSpPr>
        <p:spPr>
          <a:xfrm>
            <a:off x="68580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Потолок га-проходов</a:t>
            </a:r>
          </a:p>
        </p:txBody>
      </p:sp>
      <p:sp>
        <p:nvSpPr>
          <p:cNvPr id="22" name="TextBox 21"/>
          <p:cNvSpPr txBox="1"/>
          <p:nvPr/>
        </p:nvSpPr>
        <p:spPr>
          <a:xfrm>
            <a:off x="68580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100 дней × 130 га; подтвердить пилотом</a:t>
            </a:r>
          </a:p>
        </p:txBody>
      </p:sp>
      <p:sp>
        <p:nvSpPr>
          <p:cNvPr id="23" name="Rounded Rectangle 22"/>
          <p:cNvSpPr/>
          <p:nvPr/>
        </p:nvSpPr>
        <p:spPr>
          <a:xfrm>
            <a:off x="429768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10 клиентов</a:t>
            </a:r>
          </a:p>
        </p:txBody>
      </p:sp>
      <p:sp>
        <p:nvSpPr>
          <p:cNvPr id="25" name="TextBox 24"/>
          <p:cNvSpPr txBox="1"/>
          <p:nvPr/>
        </p:nvSpPr>
        <p:spPr>
          <a:xfrm>
            <a:off x="448056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Портфель первого сезона</a:t>
            </a:r>
          </a:p>
        </p:txBody>
      </p:sp>
      <p:sp>
        <p:nvSpPr>
          <p:cNvPr id="26" name="TextBox 25"/>
          <p:cNvSpPr txBox="1"/>
          <p:nvPr/>
        </p:nvSpPr>
        <p:spPr>
          <a:xfrm>
            <a:off x="448056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Договоры; календарь; актирование</a:t>
            </a:r>
          </a:p>
        </p:txBody>
      </p:sp>
      <p:sp>
        <p:nvSpPr>
          <p:cNvPr id="27" name="Rounded Rectangle 26"/>
          <p:cNvSpPr/>
          <p:nvPr/>
        </p:nvSpPr>
        <p:spPr>
          <a:xfrm>
            <a:off x="8092440" y="3776472"/>
            <a:ext cx="3593592" cy="1883664"/>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274D3B"/>
                </a:solidFill>
                <a:latin typeface="Aptos"/>
              </a:defRPr>
            </a:pPr>
            <a:r>
              <a:t>0 работ</a:t>
            </a:r>
          </a:p>
        </p:txBody>
      </p:sp>
      <p:sp>
        <p:nvSpPr>
          <p:cNvPr id="29" name="TextBox 28"/>
          <p:cNvSpPr txBox="1"/>
          <p:nvPr/>
        </p:nvSpPr>
        <p:spPr>
          <a:xfrm>
            <a:off x="827532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274D3B"/>
                </a:solidFill>
                <a:latin typeface="Aptos"/>
              </a:defRPr>
            </a:pPr>
            <a:r>
              <a:t>Без требуемой готовности</a:t>
            </a:r>
          </a:p>
        </p:txBody>
      </p:sp>
      <p:sp>
        <p:nvSpPr>
          <p:cNvPr id="30" name="TextBox 29"/>
          <p:cNvSpPr txBox="1"/>
          <p:nvPr/>
        </p:nvSpPr>
        <p:spPr>
          <a:xfrm>
            <a:off x="827532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182F28"/>
                </a:solidFill>
                <a:latin typeface="Aptos"/>
              </a:defRPr>
            </a:pPr>
            <a:r>
              <a:t>Учитывать также предотвращенные события</a:t>
            </a:r>
          </a:p>
        </p:txBody>
      </p:sp>
      <p:sp>
        <p:nvSpPr>
          <p:cNvPr id="31" name="TextBox 30"/>
          <p:cNvSpPr txBox="1"/>
          <p:nvPr/>
        </p:nvSpPr>
        <p:spPr>
          <a:xfrm>
            <a:off x="594360" y="6044184"/>
            <a:ext cx="10972800" cy="393192"/>
          </a:xfrm>
          <a:prstGeom prst="rect">
            <a:avLst/>
          </a:prstGeom>
          <a:noFill/>
        </p:spPr>
        <p:txBody>
          <a:bodyPr wrap="square" lIns="13716" rIns="13716" tIns="0" bIns="0">
            <a:spAutoFit/>
          </a:bodyPr>
          <a:lstStyle/>
          <a:p>
            <a:pPr>
              <a:spcBef>
                <a:spcPts val="0"/>
              </a:spcBef>
              <a:spcAft>
                <a:spcPts val="500"/>
              </a:spcAft>
              <a:defRPr sz="1600" b="0">
                <a:solidFill>
                  <a:srgbClr val="65766D"/>
                </a:solidFill>
                <a:latin typeface="Aptos"/>
              </a:defRPr>
            </a:pPr>
            <a:r>
              <a:t>KPI подтверждаются актами, журналами, банковской выпиской и план-фактом — не презентацией.</a:t>
            </a:r>
          </a:p>
        </p:txBody>
      </p:sp>
      <p:sp>
        <p:nvSpPr>
          <p:cNvPr id="32" name="!!AV_editorial_edge"/>
          <p:cNvSpPr/>
          <p:nvPr/>
        </p:nvSpPr>
        <p:spPr>
          <a:xfrm>
            <a:off x="11996928" y="365760"/>
            <a:ext cx="64008" cy="5943600"/>
          </a:xfrm>
          <a:prstGeom prst="rect">
            <a:avLst/>
          </a:prstGeom>
          <a:solidFill>
            <a:srgbClr val="547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ptos"/>
              </a:defRPr>
            </a:pPr>
            <a:r>
              <a:t>Анализ рисков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D7EF8B"/>
                </a:solidFill>
                <a:latin typeface="Aptos"/>
              </a:defRPr>
            </a:pPr>
            <a:r>
              <a:t>[ДОПУЩЕНИЕ] Риск-рейтинг экспертный; инвестиционное решение условное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B4C4B8"/>
                </a:solidFill>
                <a:latin typeface="Aptos"/>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D7EF8B"/>
                </a:solidFill>
                <a:latin typeface="Aptos"/>
              </a:defRPr>
            </a:pPr>
            <a:r>
              <a:t>22 / 22</a:t>
            </a:r>
          </a:p>
        </p:txBody>
      </p:sp>
      <p:graphicFrame>
        <p:nvGraphicFramePr>
          <p:cNvPr id="7" name="Table 6"/>
          <p:cNvGraphicFramePr>
            <a:graphicFrameLocks noGrp="1"/>
          </p:cNvGraphicFramePr>
          <p:nvPr/>
        </p:nvGraphicFramePr>
        <p:xfrm>
          <a:off x="502920" y="1728216"/>
          <a:ext cx="6665976" cy="3493008"/>
        </p:xfrm>
        <a:graphic>
          <a:graphicData uri="http://schemas.openxmlformats.org/drawingml/2006/table">
            <a:tbl>
              <a:tblPr firstRow="1" bandRow="1">
                <a:tableStyleId>{5C22544A-7EE6-4342-B048-85BDC9FD1C3A}</a:tableStyleId>
              </a:tblPr>
              <a:tblGrid>
                <a:gridCol w="3337560"/>
                <a:gridCol w="3328416"/>
              </a:tblGrid>
              <a:tr h="582168">
                <a:tc>
                  <a:txBody>
                    <a:bodyPr/>
                    <a:lstStyle/>
                    <a:p>
                      <a:pPr>
                        <a:spcAft>
                          <a:spcPts val="0"/>
                        </a:spcAft>
                        <a:defRPr sz="1700" b="1">
                          <a:solidFill>
                            <a:srgbClr val="FFFFFF"/>
                          </a:solidFill>
                          <a:latin typeface="Arial"/>
                        </a:defRPr>
                      </a:pPr>
                      <a:r>
                        <a:t>Риск / триггер</a:t>
                      </a:r>
                    </a:p>
                  </a:txBody>
                  <a:tcPr marL="91440" marR="91440" marT="45720" marB="45720">
                    <a:solidFill>
                      <a:srgbClr val="224C3B"/>
                    </a:solidFill>
                  </a:tcPr>
                </a:tc>
                <a:tc>
                  <a:txBody>
                    <a:bodyPr/>
                    <a:lstStyle/>
                    <a:p>
                      <a:pPr>
                        <a:spcAft>
                          <a:spcPts val="0"/>
                        </a:spcAft>
                        <a:defRPr sz="1700" b="1">
                          <a:solidFill>
                            <a:srgbClr val="FFFFFF"/>
                          </a:solidFill>
                          <a:latin typeface="Arial"/>
                        </a:defRPr>
                      </a:pPr>
                      <a:r>
                        <a:t>Ответ / владелец</a:t>
                      </a:r>
                    </a:p>
                  </a:txBody>
                  <a:tcPr marL="91440" marR="91440" marT="45720" marB="45720">
                    <a:solidFill>
                      <a:srgbClr val="224C3B"/>
                    </a:solidFill>
                  </a:tcPr>
                </a:tc>
              </a:tr>
              <a:tr h="582168">
                <a:tc>
                  <a:txBody>
                    <a:bodyPr/>
                    <a:lstStyle/>
                    <a:p>
                      <a:pPr>
                        <a:spcAft>
                          <a:spcPts val="0"/>
                        </a:spcAft>
                        <a:defRPr sz="1700" b="0">
                          <a:solidFill>
                            <a:srgbClr val="101F1B"/>
                          </a:solidFill>
                          <a:latin typeface="Arial"/>
                        </a:defRPr>
                      </a:pPr>
                      <a:r>
                        <a:t>Нет правового основания</a:t>
                      </a:r>
                    </a:p>
                  </a:txBody>
                  <a:tcPr marL="91440" marR="91440" marT="45720" marB="45720">
                    <a:solidFill>
                      <a:srgbClr val="FFFFFF"/>
                    </a:solidFill>
                  </a:tcPr>
                </a:tc>
                <a:tc>
                  <a:txBody>
                    <a:bodyPr/>
                    <a:lstStyle/>
                    <a:p>
                      <a:pPr>
                        <a:spcAft>
                          <a:spcPts val="0"/>
                        </a:spcAft>
                        <a:defRPr sz="1700" b="0">
                          <a:solidFill>
                            <a:srgbClr val="101F1B"/>
                          </a:solidFill>
                          <a:latin typeface="Arial"/>
                        </a:defRPr>
                      </a:pPr>
                      <a:r>
                        <a:t>NO-GO; директор + юрист</a:t>
                      </a:r>
                    </a:p>
                  </a:txBody>
                  <a:tcPr marL="91440" marR="91440" marT="45720" marB="45720">
                    <a:solidFill>
                      <a:srgbClr val="FFFFFF"/>
                    </a:solidFill>
                  </a:tcPr>
                </a:tc>
              </a:tr>
              <a:tr h="582168">
                <a:tc>
                  <a:txBody>
                    <a:bodyPr/>
                    <a:lstStyle/>
                    <a:p>
                      <a:pPr>
                        <a:spcAft>
                          <a:spcPts val="0"/>
                        </a:spcAft>
                        <a:defRPr sz="1700" b="0">
                          <a:solidFill>
                            <a:srgbClr val="101F1B"/>
                          </a:solidFill>
                          <a:latin typeface="Arial"/>
                        </a:defRPr>
                      </a:pPr>
                      <a:r>
                        <a:t>Погода / конфликт окон</a:t>
                      </a:r>
                    </a:p>
                  </a:txBody>
                  <a:tcPr marL="91440" marR="91440" marT="45720" marB="45720">
                    <a:solidFill>
                      <a:srgbClr val="F4F2E9"/>
                    </a:solidFill>
                  </a:tcPr>
                </a:tc>
                <a:tc>
                  <a:txBody>
                    <a:bodyPr/>
                    <a:lstStyle/>
                    <a:p>
                      <a:pPr>
                        <a:spcAft>
                          <a:spcPts val="0"/>
                        </a:spcAft>
                        <a:defRPr sz="1700" b="0">
                          <a:solidFill>
                            <a:srgbClr val="101F1B"/>
                          </a:solidFill>
                          <a:latin typeface="Arial"/>
                        </a:defRPr>
                      </a:pPr>
                      <a:r>
                        <a:t>Перепланирование; опер. руководитель</a:t>
                      </a:r>
                    </a:p>
                  </a:txBody>
                  <a:tcPr marL="91440" marR="91440" marT="45720" marB="45720">
                    <a:solidFill>
                      <a:srgbClr val="F4F2E9"/>
                    </a:solidFill>
                  </a:tcPr>
                </a:tc>
              </a:tr>
              <a:tr h="582168">
                <a:tc>
                  <a:txBody>
                    <a:bodyPr/>
                    <a:lstStyle/>
                    <a:p>
                      <a:pPr>
                        <a:spcAft>
                          <a:spcPts val="0"/>
                        </a:spcAft>
                        <a:defRPr sz="1700" b="0">
                          <a:solidFill>
                            <a:srgbClr val="101F1B"/>
                          </a:solidFill>
                          <a:latin typeface="Arial"/>
                        </a:defRPr>
                      </a:pPr>
                      <a:r>
                        <a:t>Заказы ниже плана / цена падает</a:t>
                      </a:r>
                    </a:p>
                  </a:txBody>
                  <a:tcPr marL="91440" marR="91440" marT="45720" marB="45720">
                    <a:solidFill>
                      <a:srgbClr val="FFFFFF"/>
                    </a:solidFill>
                  </a:tcPr>
                </a:tc>
                <a:tc>
                  <a:txBody>
                    <a:bodyPr/>
                    <a:lstStyle/>
                    <a:p>
                      <a:pPr>
                        <a:spcAft>
                          <a:spcPts val="0"/>
                        </a:spcAft>
                        <a:defRPr sz="1700" b="0">
                          <a:solidFill>
                            <a:srgbClr val="101F1B"/>
                          </a:solidFill>
                          <a:latin typeface="Arial"/>
                        </a:defRPr>
                      </a:pPr>
                      <a:r>
                        <a:t>Пересчет NPV; директор</a:t>
                      </a:r>
                    </a:p>
                  </a:txBody>
                  <a:tcPr marL="91440" marR="91440" marT="45720" marB="45720">
                    <a:solidFill>
                      <a:srgbClr val="FFFFFF"/>
                    </a:solidFill>
                  </a:tcPr>
                </a:tc>
              </a:tr>
              <a:tr h="582168">
                <a:tc>
                  <a:txBody>
                    <a:bodyPr/>
                    <a:lstStyle/>
                    <a:p>
                      <a:pPr>
                        <a:spcAft>
                          <a:spcPts val="0"/>
                        </a:spcAft>
                        <a:defRPr sz="1700" b="0">
                          <a:solidFill>
                            <a:srgbClr val="101F1B"/>
                          </a:solidFill>
                          <a:latin typeface="Arial"/>
                        </a:defRPr>
                      </a:pPr>
                      <a:r>
                        <a:t>Поломка / ошибка внесения</a:t>
                      </a:r>
                    </a:p>
                  </a:txBody>
                  <a:tcPr marL="91440" marR="91440" marT="45720" marB="45720">
                    <a:solidFill>
                      <a:srgbClr val="F4F2E9"/>
                    </a:solidFill>
                  </a:tcPr>
                </a:tc>
                <a:tc>
                  <a:txBody>
                    <a:bodyPr/>
                    <a:lstStyle/>
                    <a:p>
                      <a:pPr>
                        <a:spcAft>
                          <a:spcPts val="0"/>
                        </a:spcAft>
                        <a:defRPr sz="1700" b="0">
                          <a:solidFill>
                            <a:srgbClr val="101F1B"/>
                          </a:solidFill>
                          <a:latin typeface="Arial"/>
                        </a:defRPr>
                      </a:pPr>
                      <a:r>
                        <a:t>Резерв, SOP, остановка; опер. руководитель</a:t>
                      </a:r>
                    </a:p>
                  </a:txBody>
                  <a:tcPr marL="91440" marR="91440" marT="45720" marB="45720">
                    <a:solidFill>
                      <a:srgbClr val="F4F2E9"/>
                    </a:solidFill>
                  </a:tcPr>
                </a:tc>
              </a:tr>
              <a:tr h="582168">
                <a:tc>
                  <a:txBody>
                    <a:bodyPr/>
                    <a:lstStyle/>
                    <a:p>
                      <a:pPr>
                        <a:spcAft>
                          <a:spcPts val="0"/>
                        </a:spcAft>
                        <a:defRPr sz="1700" b="0">
                          <a:solidFill>
                            <a:srgbClr val="101F1B"/>
                          </a:solidFill>
                          <a:latin typeface="Arial"/>
                        </a:defRPr>
                      </a:pPr>
                      <a:r>
                        <a:t>Перегрузка / дефицит ликвидности</a:t>
                      </a:r>
                    </a:p>
                  </a:txBody>
                  <a:tcPr marL="91440" marR="91440" marT="45720" marB="45720">
                    <a:solidFill>
                      <a:srgbClr val="FFFFFF"/>
                    </a:solidFill>
                  </a:tcPr>
                </a:tc>
                <a:tc>
                  <a:txBody>
                    <a:bodyPr/>
                    <a:lstStyle/>
                    <a:p>
                      <a:pPr>
                        <a:spcAft>
                          <a:spcPts val="0"/>
                        </a:spcAft>
                        <a:defRPr sz="1700" b="0">
                          <a:solidFill>
                            <a:srgbClr val="101F1B"/>
                          </a:solidFill>
                          <a:latin typeface="Arial"/>
                        </a:defRPr>
                      </a:pPr>
                      <a:r>
                        <a:t>Лимит заказов, кассовый план; директор</a:t>
                      </a:r>
                    </a:p>
                  </a:txBody>
                  <a:tcPr marL="91440" marR="91440" marT="45720" marB="45720">
                    <a:solidFill>
                      <a:srgbClr val="FFFFFF"/>
                    </a:solidFill>
                  </a:tcPr>
                </a:tc>
              </a:tr>
            </a:tbl>
          </a:graphicData>
        </a:graphic>
      </p:graphicFrame>
      <p:sp>
        <p:nvSpPr>
          <p:cNvPr id="8" name="Rounded Rectangle 7"/>
          <p:cNvSpPr/>
          <p:nvPr/>
        </p:nvSpPr>
        <p:spPr>
          <a:xfrm>
            <a:off x="7388352" y="1728216"/>
            <a:ext cx="4297680" cy="3493008"/>
          </a:xfrm>
          <a:prstGeom prst="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71231" y="1911095"/>
            <a:ext cx="347472" cy="54864"/>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2112264"/>
            <a:ext cx="3895344" cy="585216"/>
          </a:xfrm>
          <a:prstGeom prst="rect">
            <a:avLst/>
          </a:prstGeom>
          <a:noFill/>
        </p:spPr>
        <p:txBody>
          <a:bodyPr wrap="square" lIns="13716" rIns="13716" tIns="0" bIns="0">
            <a:spAutoFit/>
          </a:bodyPr>
          <a:lstStyle/>
          <a:p>
            <a:pPr>
              <a:spcBef>
                <a:spcPts val="0"/>
              </a:spcBef>
              <a:spcAft>
                <a:spcPts val="500"/>
              </a:spcAft>
              <a:defRPr sz="2000" b="1">
                <a:solidFill>
                  <a:srgbClr val="224C3B"/>
                </a:solidFill>
                <a:latin typeface="Aptos"/>
              </a:defRPr>
            </a:pPr>
            <a:r>
              <a:t>INVESTMENT GATE</a:t>
            </a:r>
          </a:p>
        </p:txBody>
      </p:sp>
      <p:sp>
        <p:nvSpPr>
          <p:cNvPr id="11" name="TextBox 10"/>
          <p:cNvSpPr txBox="1"/>
          <p:nvPr/>
        </p:nvSpPr>
        <p:spPr>
          <a:xfrm>
            <a:off x="7589520" y="2715768"/>
            <a:ext cx="3895344" cy="2432304"/>
          </a:xfrm>
          <a:prstGeom prst="rect">
            <a:avLst/>
          </a:prstGeom>
          <a:noFill/>
        </p:spPr>
        <p:txBody>
          <a:bodyPr wrap="square" lIns="13716" rIns="13716" tIns="0" bIns="0">
            <a:spAutoFit/>
          </a:bodyPr>
          <a:lstStyle/>
          <a:p>
            <a:pPr>
              <a:spcBef>
                <a:spcPts val="0"/>
              </a:spcBef>
              <a:spcAft>
                <a:spcPts val="500"/>
              </a:spcAft>
              <a:defRPr sz="1800" b="0">
                <a:solidFill>
                  <a:srgbClr val="101F1B"/>
                </a:solidFill>
                <a:latin typeface="Aptos"/>
              </a:defRPr>
            </a:pPr>
            <a:r>
              <a:t>1  Письменная правовая карта</a:t>
            </a:r>
          </a:p>
          <a:p>
            <a:pPr>
              <a:spcBef>
                <a:spcPts val="0"/>
              </a:spcBef>
              <a:spcAft>
                <a:spcPts val="500"/>
              </a:spcAft>
              <a:defRPr sz="1800" b="0">
                <a:solidFill>
                  <a:srgbClr val="101F1B"/>
                </a:solidFill>
                <a:latin typeface="Aptos"/>
              </a:defRPr>
            </a:pPr>
            <a:r>
              <a:t>2  Заявки на доступные 6 000 га</a:t>
            </a:r>
          </a:p>
          <a:p>
            <a:pPr>
              <a:spcBef>
                <a:spcPts val="0"/>
              </a:spcBef>
              <a:spcAft>
                <a:spcPts val="500"/>
              </a:spcAft>
              <a:defRPr sz="1800" b="0">
                <a:solidFill>
                  <a:srgbClr val="101F1B"/>
                </a:solidFill>
                <a:latin typeface="Aptos"/>
              </a:defRPr>
            </a:pPr>
            <a:r>
              <a:t>3  Подтвержденные КП и кадры</a:t>
            </a:r>
          </a:p>
          <a:p>
            <a:pPr>
              <a:spcBef>
                <a:spcPts val="0"/>
              </a:spcBef>
              <a:spcAft>
                <a:spcPts val="500"/>
              </a:spcAft>
              <a:defRPr sz="1800" b="0">
                <a:solidFill>
                  <a:srgbClr val="101F1B"/>
                </a:solidFill>
                <a:latin typeface="Aptos"/>
              </a:defRPr>
            </a:pPr>
            <a:r>
              <a:t>4  Кассовый план и резерв</a:t>
            </a:r>
          </a:p>
          <a:p>
            <a:pPr>
              <a:spcBef>
                <a:spcPts val="0"/>
              </a:spcBef>
              <a:spcAft>
                <a:spcPts val="500"/>
              </a:spcAft>
              <a:defRPr sz="1800" b="0">
                <a:solidFill>
                  <a:srgbClr val="101F1B"/>
                </a:solidFill>
                <a:latin typeface="Aptos"/>
              </a:defRPr>
            </a:pPr>
            <a:r>
              <a:t>5  Приемка + апрельский пилот</a:t>
            </a:r>
          </a:p>
        </p:txBody>
      </p:sp>
      <p:sp>
        <p:nvSpPr>
          <p:cNvPr id="12" name="Rounded Rectangle 11"/>
          <p:cNvSpPr/>
          <p:nvPr/>
        </p:nvSpPr>
        <p:spPr>
          <a:xfrm>
            <a:off x="502920" y="5532120"/>
            <a:ext cx="11183112" cy="448056"/>
          </a:xfrm>
          <a:prstGeom prst="rect">
            <a:avLst>
              <a:gd name="adj" fmla="val 8000"/>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61441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101F1B"/>
                </a:solidFill>
                <a:latin typeface="Aptos"/>
              </a:defRPr>
            </a:pPr>
            <a:r>
              <a:t>Нет готовности → отложить капиталоемкий запуск. Мониторинг-only не доказан как прибыльная замена</a:t>
            </a:r>
          </a:p>
        </p:txBody>
      </p:sp>
      <p:sp>
        <p:nvSpPr>
          <p:cNvPr id="14" name="TextBox 13"/>
          <p:cNvSpPr txBox="1"/>
          <p:nvPr/>
        </p:nvSpPr>
        <p:spPr>
          <a:xfrm>
            <a:off x="594360" y="6117336"/>
            <a:ext cx="10972800" cy="329184"/>
          </a:xfrm>
          <a:prstGeom prst="rect">
            <a:avLst/>
          </a:prstGeom>
          <a:noFill/>
        </p:spPr>
        <p:txBody>
          <a:bodyPr wrap="square" lIns="13716" rIns="13716" tIns="0" bIns="0">
            <a:spAutoFit/>
          </a:bodyPr>
          <a:lstStyle/>
          <a:p>
            <a:pPr>
              <a:spcBef>
                <a:spcPts val="0"/>
              </a:spcBef>
              <a:spcAft>
                <a:spcPts val="500"/>
              </a:spcAft>
              <a:defRPr sz="1500" b="0">
                <a:solidFill>
                  <a:srgbClr val="B4C4B8"/>
                </a:solidFill>
                <a:latin typeface="Aptos"/>
              </a:defRPr>
            </a:pPr>
            <a:r>
              <a:t>Масштабирование — после фактического сезона, проверки претензий, загрузки и продлений.</a:t>
            </a:r>
          </a:p>
        </p:txBody>
      </p:sp>
      <p:sp>
        <p:nvSpPr>
          <p:cNvPr id="15" name="!!AV_editorial_edge"/>
          <p:cNvSpPr/>
          <p:nvPr/>
        </p:nvSpPr>
        <p:spPr>
          <a:xfrm>
            <a:off x="11996928" y="365760"/>
            <a:ext cx="64008" cy="5943600"/>
          </a:xfrm>
          <a:prstGeom prst="rect">
            <a:avLst/>
          </a:prstGeom>
          <a:solidFill>
            <a:srgbClr val="D7E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