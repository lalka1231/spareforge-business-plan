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F99C55AA-B7CB-42B0-86F8-08522FDF87E8}">
        <p14:browseMode xmlns:p14="http://schemas.microsoft.com/office/powerpoint/2010/main" showStatus="0"/>
      </p:ex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72"/>
    <p:restoredTop sz="94643"/>
  </p:normalViewPr>
  <p:slideViewPr>
    <p:cSldViewPr snapToGrid="0" snapToObjects="1">
      <p:cViewPr varScale="1">
        <p:scale>
          <a:sx n="156" d="100"/>
          <a:sy n="156" d="100"/>
        </p:scale>
        <p:origin x="216" y="2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____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____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_____Microsoft_Excel2.xlsx"/></Relationships>
</file>

<file path=ppt/charts/_rels/chart4.xml.rels><?xml version='1.0' encoding='UTF-8' standalone='yes'?>
<Relationships xmlns="http://schemas.openxmlformats.org/package/2006/relationships"><Relationship Id="rId1" Type="http://schemas.openxmlformats.org/officeDocument/2006/relationships/package" Target="../embeddings/_____Microsoft_Excel3.xlsx"/></Relationships>
</file>

<file path=ppt/charts/_rels/chart5.xml.rels><?xml version='1.0' encoding='UTF-8' standalone='yes'?>
<Relationships xmlns="http://schemas.openxmlformats.org/package/2006/relationships"><Relationship Id="rId1" Type="http://schemas.openxmlformats.org/officeDocument/2006/relationships/package" Target="../embeddings/_____Microsoft_Excel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1"/>
  <c:style val="2"/>
  <c:chart>
    <c:title>
      <c:overlay val="0"/>
    </c:title>
    <c:autoTitleDeleted val="0"/>
    <c:plotArea>
      <c:layout/>
      <c:barChart>
        <c:barDir val="col"/>
        <c:grouping val="clustered"/>
        <c:varyColors val="1"/>
        <c:ser>
          <c:idx val="0"/>
          <c:order val="0"/>
          <c:tx>
            <c:strRef>
              <c:f>Sheet1!$B$1</c:f>
              <c:strCache>
                <c:ptCount val="1"/>
                <c:pt idx="0">
                  <c:v>Полевые дни</c:v>
                </c:pt>
              </c:strCache>
            </c:strRef>
          </c:tx>
          <c:spPr>
            <a:solidFill>
              <a:srgbClr val="D6ED89"/>
            </a:solidFill>
          </c:spPr>
          <c:invertIfNegative val="1"/>
          <c:cat>
            <c:strRef>
              <c:f>Sheet1!$A$2:$A$6</c:f>
              <c:strCache>
                <c:ptCount val="5"/>
                <c:pt idx="0">
                  <c:v>2027</c:v>
                </c:pt>
                <c:pt idx="1">
                  <c:v>2028</c:v>
                </c:pt>
                <c:pt idx="2">
                  <c:v>2029</c:v>
                </c:pt>
                <c:pt idx="3">
                  <c:v>2030</c:v>
                </c:pt>
                <c:pt idx="4">
                  <c:v>2031</c:v>
                </c:pt>
              </c:strCache>
            </c:strRef>
          </c:cat>
          <c:val>
            <c:numRef>
              <c:f>Sheet1!$B$2:$B$6</c:f>
              <c:numCache>
                <c:formatCode>General</c:formatCode>
                <c:ptCount val="5"/>
                <c:pt idx="0">
                  <c:v>54.153846153846153</c:v>
                </c:pt>
                <c:pt idx="1">
                  <c:v>81.230769230769226</c:v>
                </c:pt>
                <c:pt idx="2">
                  <c:v>100.61538461538461</c:v>
                </c:pt>
                <c:pt idx="3">
                  <c:v>110.30769230769231</c:v>
                </c:pt>
                <c:pt idx="4">
                  <c:v>120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AF37-9B40-B002-CFC4E96B74E8}"/>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000">
                <a:solidFill>
                  <a:srgbClr val="FFFFFF"/>
                </a:solidFill>
              </a:defRPr>
            </a:pPr>
            <a:endParaRPr lang="ru-RU"/>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1000">
                <a:solidFill>
                  <a:srgbClr val="FFFFFF"/>
                </a:solidFill>
              </a:defRPr>
            </a:pPr>
            <a:endParaRPr lang="ru-RU"/>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1"/>
  <c:style val="2"/>
  <c:chart>
    <c:title>
      <c:tx>
        <c:rich>
          <a:bodyPr/>
          <a:lstStyle/>
          <a:p>
            <a:r>
              <a:rPr sz="1400">
                <a:solidFill>
                  <a:srgbClr val="FFFFFF"/>
                </a:solidFill>
              </a:rPr>
              <a:t>Выручка</a:t>
            </a:r>
          </a:p>
        </c:rich>
      </c:tx>
      <c:txPr>
        <a:bodyPr/>
        <a:lstStyle/>
        <a:p>
          <a:pPr>
            <a:defRPr sz="1400">
              <a:solidFill>
                <a:srgbClr val="FFFFFF"/>
              </a:solidFill>
            </a:defRPr>
          </a:pPr>
        </a:p>
      </c:txPr>
    </c:title>
    <c:autoTitleDeleted val="0"/>
    <c:plotArea>
      <c:layout/>
      <c:barChart>
        <c:barDir val="col"/>
        <c:grouping val="clustered"/>
        <c:varyColors val="1"/>
        <c:ser>
          <c:idx val="0"/>
          <c:order val="0"/>
          <c:tx>
            <c:strRef>
              <c:f>Sheet1!$B$1</c:f>
              <c:strCache>
                <c:ptCount val="1"/>
                <c:pt idx="0">
                  <c:v>Выручка</c:v>
                </c:pt>
              </c:strCache>
            </c:strRef>
          </c:tx>
          <c:spPr>
            <a:solidFill>
              <a:srgbClr val="D6ED89"/>
            </a:solidFill>
          </c:spPr>
          <c:invertIfNegative val="1"/>
          <c:cat>
            <c:strRef>
              <c:f>Sheet1!$A$2:$A$6</c:f>
              <c:strCache>
                <c:ptCount val="5"/>
                <c:pt idx="0">
                  <c:v>2027</c:v>
                </c:pt>
                <c:pt idx="1">
                  <c:v>2028</c:v>
                </c:pt>
                <c:pt idx="2">
                  <c:v>2029</c:v>
                </c:pt>
                <c:pt idx="3">
                  <c:v>2030</c:v>
                </c:pt>
                <c:pt idx="4">
                  <c:v>2031</c:v>
                </c:pt>
              </c:strCache>
            </c:strRef>
          </c:cat>
          <c:val>
            <c:numRef>
              <c:f>Sheet1!$B$2:$B$6</c:f>
              <c:numCache>
                <c:formatCode>General</c:formatCode>
                <c:ptCount val="5"/>
                <c:pt idx="0">
                  <c:v>8.8000000000000007</c:v>
                </c:pt>
                <c:pt idx="1">
                  <c:v>13.728</c:v>
                </c:pt>
                <c:pt idx="2">
                  <c:v>17.630080000000003</c:v>
                </c:pt>
                <c:pt idx="3">
                  <c:v>20.078822400000004</c:v>
                </c:pt>
                <c:pt idx="4">
                  <c:v>22.695256064000002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C7A-2D4C-97BE-D6CA90D95CD9}"/>
            </c:ext>
          </c:extLst>
        </c:ser>
        <c:ser>
          <c:idx val="1"/>
          <c:order val="1"/>
          <c:tx>
            <c:strRef>
              <c:f>Sheet1!$C$1</c:f>
              <c:strCache>
                <c:ptCount val="1"/>
                <c:pt idx="0">
                  <c:v>EBITDA</c:v>
                </c:pt>
              </c:strCache>
            </c:strRef>
          </c:tx>
          <c:spPr>
            <a:solidFill>
              <a:srgbClr val="E5B26A"/>
            </a:solidFill>
          </c:spPr>
          <c:invertIfNegative val="1"/>
          <c:cat>
            <c:strRef>
              <c:f>Sheet1!$A$2:$A$6</c:f>
              <c:strCache>
                <c:ptCount val="5"/>
                <c:pt idx="0">
                  <c:v>2027</c:v>
                </c:pt>
                <c:pt idx="1">
                  <c:v>2028</c:v>
                </c:pt>
                <c:pt idx="2">
                  <c:v>2029</c:v>
                </c:pt>
                <c:pt idx="3">
                  <c:v>2030</c:v>
                </c:pt>
                <c:pt idx="4">
                  <c:v>2031</c:v>
                </c:pt>
              </c:strCache>
            </c:strRef>
          </c:cat>
          <c:val>
            <c:numRef>
              <c:f>Sheet1!$C$2:$C$6</c:f>
              <c:numCache>
                <c:formatCode>General</c:formatCode>
                <c:ptCount val="5"/>
                <c:pt idx="0">
                  <c:v>1.96</c:v>
                </c:pt>
                <c:pt idx="1">
                  <c:v>5.16</c:v>
                </c:pt>
                <c:pt idx="2">
                  <c:v>7.619380000000004</c:v>
                </c:pt>
                <c:pt idx="3">
                  <c:v>9.0350799000000031</c:v>
                </c:pt>
                <c:pt idx="4">
                  <c:v>10.540193564000003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6C7A-2D4C-97BE-D6CA90D95CD9}"/>
            </c:ext>
          </c:extLst>
        </c:ser>
        <c:ser>
          <c:idx val="2"/>
          <c:order val="2"/>
          <c:tx>
            <c:strRef>
              <c:f>Sheet1!$D$1</c:f>
              <c:strCache>
                <c:ptCount val="1"/>
                <c:pt idx="0">
                  <c:v>Свободный CF</c:v>
                </c:pt>
              </c:strCache>
            </c:strRef>
          </c:tx>
          <c:spPr>
            <a:solidFill>
              <a:srgbClr val="A7CAB9"/>
            </a:solidFill>
          </c:spPr>
          <c:invertIfNegative val="1"/>
          <c:cat>
            <c:strRef>
              <c:f>Sheet1!$A$2:$A$6</c:f>
              <c:strCache>
                <c:ptCount val="5"/>
                <c:pt idx="0">
                  <c:v>2027</c:v>
                </c:pt>
                <c:pt idx="1">
                  <c:v>2028</c:v>
                </c:pt>
                <c:pt idx="2">
                  <c:v>2029</c:v>
                </c:pt>
                <c:pt idx="3">
                  <c:v>2030</c:v>
                </c:pt>
                <c:pt idx="4">
                  <c:v>2031</c:v>
                </c:pt>
              </c:strCache>
            </c:strRef>
          </c:cat>
          <c:val>
            <c:numRef>
              <c:f>Sheet1!$D$2:$D$6</c:f>
              <c:numCache>
                <c:formatCode>General</c:formatCode>
                <c:ptCount val="5"/>
                <c:pt idx="0">
                  <c:v>1.4319999999999999</c:v>
                </c:pt>
                <c:pt idx="1">
                  <c:v>4.0363199999999999</c:v>
                </c:pt>
                <c:pt idx="2">
                  <c:v>5.9615752000000031</c:v>
                </c:pt>
                <c:pt idx="3">
                  <c:v>6.9303505560000014</c:v>
                </c:pt>
                <c:pt idx="4">
                  <c:v>10.578478200160003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6C7A-2D4C-97BE-D6CA90D95CD9}"/>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100">
                <a:solidFill>
                  <a:srgbClr val="FFFFFF"/>
                </a:solidFill>
              </a:defRPr>
            </a:pPr>
            <a:endParaRPr lang="ru-RU"/>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1100">
                <a:solidFill>
                  <a:srgbClr val="FFFFFF"/>
                </a:solidFill>
              </a:defRPr>
            </a:pPr>
            <a:endParaRPr lang="ru-RU"/>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1"/>
  <c:style val="2"/>
  <c:chart>
    <c:title>
      <c:tx>
        <c:rich>
          <a:bodyPr/>
          <a:lstStyle/>
          <a:p>
            <a:r>
              <a:rPr sz="1400">
                <a:solidFill>
                  <a:srgbClr val="FFFFFF"/>
                </a:solidFill>
              </a:rPr>
              <a:t>NPV</a:t>
            </a:r>
          </a:p>
        </c:rich>
      </c:tx>
      <c:overlay val="0"/>
      <c:txPr>
        <a:bodyPr/>
        <a:lstStyle/>
        <a:p>
          <a:pPr>
            <a:defRPr sz="1400">
              <a:solidFill>
                <a:srgbClr val="FFFFFF"/>
              </a:solidFill>
            </a:defRPr>
          </a:pPr>
        </a:p>
      </c:txPr>
    </c:title>
    <c:autoTitleDeleted val="0"/>
    <c:plotArea>
      <c:layout/>
      <c:barChart>
        <c:barDir val="bar"/>
        <c:grouping val="clustered"/>
        <c:varyColors val="1"/>
        <c:ser>
          <c:idx val="0"/>
          <c:order val="0"/>
          <c:tx>
            <c:strRef>
              <c:f>Sheet1!$B$1</c:f>
              <c:strCache>
                <c:ptCount val="1"/>
                <c:pt idx="0">
                  <c:v>NPV</c:v>
                </c:pt>
              </c:strCache>
            </c:strRef>
          </c:tx>
          <c:spPr>
            <a:solidFill>
              <a:srgbClr val="D6ED89"/>
            </a:solidFill>
          </c:spPr>
          <c:invertIfNegative val="1"/>
          <c:cat>
            <c:strRef>
              <c:f>Sheet1!$A$2:$A$7</c:f>
              <c:strCache>
                <c:ptCount val="6"/>
                <c:pt idx="0">
                  <c:v>База</c:v>
                </c:pt>
                <c:pt idx="1">
                  <c:v>Цена −10%</c:v>
                </c:pt>
                <c:pt idx="2">
                  <c:v>Объем −25%</c:v>
                </c:pt>
                <c:pt idx="3">
                  <c:v>Переменные +20%</c:v>
                </c:pt>
                <c:pt idx="4">
                  <c:v>Задержка на год</c:v>
                </c:pt>
                <c:pt idx="5">
                  <c:v>Внесение 900 ₽/га</c:v>
                </c:pt>
              </c:strCache>
            </c:strRef>
          </c:cat>
          <c:val>
            <c:numRef>
              <c:f>Sheet1!$B$2:$B$7</c:f>
              <c:numCache>
                <c:formatCode>General</c:formatCode>
                <c:ptCount val="6"/>
                <c:pt idx="0">
                  <c:v>3.946443104442745</c:v>
                </c:pt>
                <c:pt idx="1">
                  <c:v>4.4872936329829971E-2</c:v>
                </c:pt>
                <c:pt idx="2">
                  <c:v>-2.6388362920894077</c:v>
                </c:pt>
                <c:pt idx="3">
                  <c:v>1.4115262854426354</c:v>
                </c:pt>
                <c:pt idx="4">
                  <c:v>-1.4330412442990532</c:v>
                </c:pt>
                <c:pt idx="5">
                  <c:v>-6.605370129557806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AE36-E54F-9029-FA1466285FF4}"/>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100">
                <a:solidFill>
                  <a:srgbClr val="FFFFFF"/>
                </a:solidFill>
              </a:defRPr>
            </a:pPr>
            <a:endParaRPr lang="ru-RU"/>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1100">
                <a:solidFill>
                  <a:srgbClr val="FFFFFF"/>
                </a:solidFill>
              </a:defRPr>
            </a:pPr>
            <a:endParaRPr lang="ru-RU"/>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c:style val="2"/>
  <c:chart>
    <c:title>
      <c:tx>
        <c:rich>
          <a:bodyPr/>
          <a:lstStyle/>
          <a:p>
            <a:r>
              <a:rPr sz="1400">
                <a:solidFill>
                  <a:srgbClr val="FFFFFF"/>
                </a:solidFill>
              </a:rPr>
              <a:t>План, млн руб.</a:t>
            </a:r>
          </a:p>
        </c:rich>
      </c:tx>
      <c:overlay val="0"/>
      <c:txPr>
        <a:bodyPr/>
        <a:lstStyle/>
        <a:p>
          <a:pPr>
            <a:defRPr sz="1400">
              <a:solidFill>
                <a:srgbClr val="FFFFFF"/>
              </a:solidFill>
            </a:defRPr>
          </a:pPr>
        </a:p>
      </c:txPr>
    </c:title>
    <c:autoTitleDeleted val="0"/>
    <c:plotArea>
      <c:layout/>
      <c:doughnutChart>
        <c:varyColors val="1"/>
        <c:ser>
          <c:idx val="0"/>
          <c:order val="0"/>
          <c:tx>
            <c:strRef>
              <c:f>Sheet1!$B$1</c:f>
              <c:strCache>
                <c:ptCount val="1"/>
                <c:pt idx="0">
                  <c:v>План, млн руб.</c:v>
                </c:pt>
              </c:strCache>
            </c:strRef>
          </c:tx>
          <c:dPt>
            <c:idx val="0"/>
            <c:bubble3D val="0"/>
            <c:spPr>
              <a:solidFill>
                <a:srgbClr val="D6ED89"/>
              </a:solidFill>
            </c:spPr>
            <c:extLst>
              <c:ext xmlns:c16="http://schemas.microsoft.com/office/drawing/2014/chart" uri="{C3380CC4-5D6E-409C-BE32-E72D297353CC}">
                <c16:uniqueId val="{00000001-2327-C144-8F66-EAF69B4F14EA}"/>
              </c:ext>
            </c:extLst>
          </c:dPt>
          <c:dPt>
            <c:idx val="1"/>
            <c:bubble3D val="0"/>
            <c:spPr>
              <a:solidFill>
                <a:srgbClr val="E7AE65"/>
              </a:solidFill>
            </c:spPr>
            <c:extLst>
              <c:ext xmlns:c16="http://schemas.microsoft.com/office/drawing/2014/chart" uri="{C3380CC4-5D6E-409C-BE32-E72D297353CC}">
                <c16:uniqueId val="{00000003-2327-C144-8F66-EAF69B4F14EA}"/>
              </c:ext>
            </c:extLst>
          </c:dPt>
          <c:dPt>
            <c:idx val="2"/>
            <c:bubble3D val="0"/>
            <c:spPr>
              <a:solidFill>
                <a:srgbClr val="83BBB1"/>
              </a:solidFill>
            </c:spPr>
            <c:extLst>
              <c:ext xmlns:c16="http://schemas.microsoft.com/office/drawing/2014/chart" uri="{C3380CC4-5D6E-409C-BE32-E72D297353CC}">
                <c16:uniqueId val="{00000005-2327-C144-8F66-EAF69B4F14EA}"/>
              </c:ext>
            </c:extLst>
          </c:dPt>
          <c:cat>
            <c:strRef>
              <c:f>Sheet1!$A$2:$A$4</c:f>
              <c:strCache>
                <c:ptCount val="3"/>
                <c:pt idx="0">
                  <c:v>CAPEX</c:v>
                </c:pt>
                <c:pt idx="1">
                  <c:v>Запуск</c:v>
                </c:pt>
                <c:pt idx="2">
                  <c:v>Ликвидность</c:v>
                </c:pt>
              </c:strCache>
            </c:strRef>
          </c:cat>
          <c:val>
            <c:numRef>
              <c:f>Sheet1!$B$2:$B$4</c:f>
              <c:numCache>
                <c:formatCode>General</c:formatCode>
                <c:ptCount val="3"/>
                <c:pt idx="0">
                  <c:v>7</c:v>
                </c:pt>
                <c:pt idx="1">
                  <c:v>0.5</c:v>
                </c:pt>
                <c:pt idx="2">
                  <c:v>2</c:v>
                </c:pt>
              </c:numCache>
            </c:numRef>
          </c:val>
          <c:extLst>
            <c:ext xmlns:c16="http://schemas.microsoft.com/office/drawing/2014/chart" uri="{C3380CC4-5D6E-409C-BE32-E72D297353CC}">
              <c16:uniqueId val="{00000006-2327-C144-8F66-EAF69B4F14EA}"/>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ru-RU"/>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c:style val="2"/>
  <c:chart>
    <c:title>
      <c:tx>
        <c:rich>
          <a:bodyPr/>
          <a:lstStyle/>
          <a:p>
            <a:r>
              <a:rPr sz="1400">
                <a:solidFill>
                  <a:srgbClr val="FFFFFF"/>
                </a:solidFill>
              </a:rPr>
              <a:t>План, млн руб.</a:t>
            </a:r>
          </a:p>
        </c:rich>
      </c:tx>
      <c:overlay val="0"/>
      <c:txPr>
        <a:bodyPr/>
        <a:lstStyle/>
        <a:p>
          <a:pPr>
            <a:defRPr sz="1400">
              <a:solidFill>
                <a:srgbClr val="FFFFFF"/>
              </a:solidFill>
            </a:defRPr>
          </a:pPr>
        </a:p>
      </c:txPr>
    </c:title>
    <c:autoTitleDeleted val="0"/>
    <c:plotArea>
      <c:layout/>
      <c:doughnutChart>
        <c:varyColors val="1"/>
        <c:ser>
          <c:idx val="0"/>
          <c:order val="0"/>
          <c:tx>
            <c:strRef>
              <c:f>Sheet1!$B$1</c:f>
              <c:strCache>
                <c:ptCount val="1"/>
                <c:pt idx="0">
                  <c:v>План, млн руб.</c:v>
                </c:pt>
              </c:strCache>
            </c:strRef>
          </c:tx>
          <c:dPt>
            <c:idx val="0"/>
            <c:bubble3D val="0"/>
            <c:spPr>
              <a:solidFill>
                <a:srgbClr val="D6ED89"/>
              </a:solidFill>
            </c:spPr>
            <c:extLst>
              <c:ext xmlns:c16="http://schemas.microsoft.com/office/drawing/2014/chart" uri="{C3380CC4-5D6E-409C-BE32-E72D297353CC}">
                <c16:uniqueId val="{00000001-EDA1-484A-92AC-FD56A6241C50}"/>
              </c:ext>
            </c:extLst>
          </c:dPt>
          <c:dPt>
            <c:idx val="1"/>
            <c:bubble3D val="0"/>
            <c:spPr>
              <a:solidFill>
                <a:srgbClr val="E7AE65"/>
              </a:solidFill>
            </c:spPr>
            <c:extLst>
              <c:ext xmlns:c16="http://schemas.microsoft.com/office/drawing/2014/chart" uri="{C3380CC4-5D6E-409C-BE32-E72D297353CC}">
                <c16:uniqueId val="{00000003-EDA1-484A-92AC-FD56A6241C50}"/>
              </c:ext>
            </c:extLst>
          </c:dPt>
          <c:cat>
            <c:strRef>
              <c:f>Sheet1!$A$2:$A$3</c:f>
              <c:strCache>
                <c:ptCount val="2"/>
                <c:pt idx="0">
                  <c:v>Учредитель</c:v>
                </c:pt>
                <c:pt idx="1">
                  <c:v>Инвестор</c:v>
                </c:pt>
              </c:strCache>
            </c:strRef>
          </c:cat>
          <c:val>
            <c:numRef>
              <c:f>Sheet1!$B$2:$B$3</c:f>
              <c:numCache>
                <c:formatCode>General</c:formatCode>
                <c:ptCount val="2"/>
                <c:pt idx="0">
                  <c:v>2.5</c:v>
                </c:pt>
                <c:pt idx="1">
                  <c:v>7</c:v>
                </c:pt>
              </c:numCache>
            </c:numRef>
          </c:val>
          <c:extLst>
            <c:ext xmlns:c16="http://schemas.microsoft.com/office/drawing/2014/chart" uri="{C3380CC4-5D6E-409C-BE32-E72D297353CC}">
              <c16:uniqueId val="{00000004-EDA1-484A-92AC-FD56A6241C50}"/>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ru-RU"/>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a:solidFill>
                  <a:srgbClr val="FFFFFF"/>
                </a:solidFill>
              </a:rPr>
              <a:t>Выручка</a:t>
            </a:r>
          </a:p>
        </c:rich>
      </c:tx>
      <c:txPr>
        <a:bodyPr/>
        <a:lstStyle/>
        <a:p>
          <a:pPr>
            <a:defRPr sz="1400">
              <a:solidFill>
                <a:srgbClr val="FFFFFF"/>
              </a:solidFill>
            </a:defRPr>
          </a:pPr>
        </a:p>
      </c:txPr>
    </c:title>
    <c:autoTitleDeleted val="0"/>
    <c:plotArea>
      <c:barChart>
        <c:barDir val="col"/>
        <c:grouping val="clustered"/>
        <c:ser>
          <c:idx val="0"/>
          <c:order val="0"/>
          <c:tx>
            <c:strRef>
              <c:f>Sheet1!$B$1</c:f>
              <c:strCache>
                <c:ptCount val="1"/>
                <c:pt idx="0">
                  <c:v>Выручка</c:v>
                </c:pt>
              </c:strCache>
            </c:strRef>
          </c:tx>
          <c:spPr>
            <a:solidFill>
              <a:srgbClr val="D6ED89"/>
            </a:solidFill>
          </c:spPr>
          <c:cat>
            <c:strRef>
              <c:f>Sheet1!$A$2:$A$6</c:f>
              <c:strCache>
                <c:ptCount val="5"/>
                <c:pt idx="0">
                  <c:v>2027</c:v>
                </c:pt>
                <c:pt idx="1">
                  <c:v>2028</c:v>
                </c:pt>
                <c:pt idx="2">
                  <c:v>2029</c:v>
                </c:pt>
                <c:pt idx="3">
                  <c:v>2030</c:v>
                </c:pt>
                <c:pt idx="4">
                  <c:v>2031</c:v>
                </c:pt>
              </c:strCache>
            </c:strRef>
          </c:cat>
          <c:val>
            <c:numRef>
              <c:f>Sheet1!$B$2:$B$6</c:f>
              <c:numCache>
                <c:formatCode>General</c:formatCode>
                <c:ptCount val="5"/>
                <c:pt idx="0">
                  <c:v>8.8</c:v>
                </c:pt>
                <c:pt idx="1">
                  <c:v>13.728</c:v>
                </c:pt>
                <c:pt idx="2">
                  <c:v>17.630080000000003</c:v>
                </c:pt>
                <c:pt idx="3">
                  <c:v>20.078822400000004</c:v>
                </c:pt>
                <c:pt idx="4">
                  <c:v>22.695256064000002</c:v>
                </c:pt>
              </c:numCache>
            </c:numRef>
          </c:val>
        </c:ser>
        <c:ser>
          <c:idx val="1"/>
          <c:order val="1"/>
          <c:tx>
            <c:strRef>
              <c:f>Sheet1!$C$1</c:f>
              <c:strCache>
                <c:ptCount val="1"/>
                <c:pt idx="0">
                  <c:v>EBITDA</c:v>
                </c:pt>
              </c:strCache>
            </c:strRef>
          </c:tx>
          <c:spPr>
            <a:solidFill>
              <a:srgbClr val="E5B26A"/>
            </a:solidFill>
          </c:spPr>
          <c:cat>
            <c:strRef>
              <c:f>Sheet1!$A$2:$A$6</c:f>
              <c:strCache>
                <c:ptCount val="5"/>
                <c:pt idx="0">
                  <c:v>2027</c:v>
                </c:pt>
                <c:pt idx="1">
                  <c:v>2028</c:v>
                </c:pt>
                <c:pt idx="2">
                  <c:v>2029</c:v>
                </c:pt>
                <c:pt idx="3">
                  <c:v>2030</c:v>
                </c:pt>
                <c:pt idx="4">
                  <c:v>2031</c:v>
                </c:pt>
              </c:strCache>
            </c:strRef>
          </c:cat>
          <c:val>
            <c:numRef>
              <c:f>Sheet1!$C$2:$C$6</c:f>
              <c:numCache>
                <c:formatCode>General</c:formatCode>
                <c:ptCount val="5"/>
                <c:pt idx="0">
                  <c:v>0.2728</c:v>
                </c:pt>
                <c:pt idx="1">
                  <c:v>3.38844</c:v>
                </c:pt>
                <c:pt idx="2">
                  <c:v>5.759242000000004</c:v>
                </c:pt>
                <c:pt idx="3">
                  <c:v>7.081935000000001</c:v>
                </c:pt>
                <c:pt idx="4">
                  <c:v>8.489391419000002</c:v>
                </c:pt>
              </c:numCache>
            </c:numRef>
          </c:val>
        </c:ser>
        <c:ser>
          <c:idx val="2"/>
          <c:order val="2"/>
          <c:tx>
            <c:strRef>
              <c:f>Sheet1!$D$1</c:f>
              <c:strCache>
                <c:ptCount val="1"/>
                <c:pt idx="0">
                  <c:v>FCF</c:v>
                </c:pt>
              </c:strCache>
            </c:strRef>
          </c:tx>
          <c:spPr>
            <a:solidFill>
              <a:srgbClr val="A7CAB9"/>
            </a:solidFill>
          </c:spPr>
          <c:cat>
            <c:strRef>
              <c:f>Sheet1!$A$2:$A$6</c:f>
              <c:strCache>
                <c:ptCount val="5"/>
                <c:pt idx="0">
                  <c:v>2027</c:v>
                </c:pt>
                <c:pt idx="1">
                  <c:v>2028</c:v>
                </c:pt>
                <c:pt idx="2">
                  <c:v>2029</c:v>
                </c:pt>
                <c:pt idx="3">
                  <c:v>2030</c:v>
                </c:pt>
                <c:pt idx="4">
                  <c:v>2031</c:v>
                </c:pt>
              </c:strCache>
            </c:strRef>
          </c:cat>
          <c:val>
            <c:numRef>
              <c:f>Sheet1!$D$2:$D$6</c:f>
              <c:numCache>
                <c:formatCode>General</c:formatCode>
                <c:ptCount val="5"/>
                <c:pt idx="0">
                  <c:v>-0.2552</c:v>
                </c:pt>
                <c:pt idx="1">
                  <c:v>2.26476</c:v>
                </c:pt>
                <c:pt idx="2">
                  <c:v>4.101437200000003</c:v>
                </c:pt>
                <c:pt idx="3">
                  <c:v>4.9772056560000015</c:v>
                </c:pt>
                <c:pt idx="4">
                  <c:v>8.52767605516</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FFFFFF"/>
                </a:solidFil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100">
                <a:solidFill>
                  <a:srgbClr val="FFFFFF"/>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a:solidFill>
                  <a:srgbClr val="FFFFFF"/>
                </a:solidFill>
              </a:rPr>
              <a:t>NPV, млн ₽</a:t>
            </a:r>
          </a:p>
        </c:rich>
      </c:tx>
      <c:txPr>
        <a:bodyPr/>
        <a:lstStyle/>
        <a:p>
          <a:pPr>
            <a:defRPr sz="1400">
              <a:solidFill>
                <a:srgbClr val="FFFFFF"/>
              </a:solidFill>
            </a:defRPr>
          </a:pPr>
        </a:p>
      </c:txPr>
    </c:title>
    <c:autoTitleDeleted val="0"/>
    <c:plotArea>
      <c:barChart>
        <c:barDir val="bar"/>
        <c:grouping val="clustered"/>
        <c:ser>
          <c:idx val="0"/>
          <c:order val="0"/>
          <c:tx>
            <c:strRef>
              <c:f>Sheet1!$B$1</c:f>
              <c:strCache>
                <c:ptCount val="1"/>
                <c:pt idx="0">
                  <c:v>NPV, млн ₽</c:v>
                </c:pt>
              </c:strCache>
            </c:strRef>
          </c:tx>
          <c:spPr>
            <a:solidFill>
              <a:srgbClr val="D6ED89"/>
            </a:solidFill>
          </c:spPr>
          <c:cat>
            <c:strRef>
              <c:f>Sheet1!$A$2:$A$7</c:f>
              <c:strCache>
                <c:ptCount val="6"/>
                <c:pt idx="0">
                  <c:v>База</c:v>
                </c:pt>
                <c:pt idx="1">
                  <c:v>Тариф −10%</c:v>
                </c:pt>
                <c:pt idx="2">
                  <c:v>Объем −25%</c:v>
                </c:pt>
                <c:pt idx="3">
                  <c:v>Переменные +20%</c:v>
                </c:pt>
                <c:pt idx="4">
                  <c:v>Задержка 1 год</c:v>
                </c:pt>
                <c:pt idx="5">
                  <c:v>Внесение 900 ₽</c:v>
                </c:pt>
              </c:strCache>
            </c:strRef>
          </c:cat>
          <c:val>
            <c:numRef>
              <c:f>Sheet1!$B$2:$B$7</c:f>
              <c:numCache>
                <c:formatCode>General</c:formatCode>
                <c:ptCount val="6"/>
                <c:pt idx="0">
                  <c:v>-1.06765316170057</c:v>
                </c:pt>
                <c:pt idx="1">
                  <c:v>-4.9692233298134845</c:v>
                </c:pt>
                <c:pt idx="2">
                  <c:v>-7.652932558232721</c:v>
                </c:pt>
                <c:pt idx="3">
                  <c:v>-3.6025699807006792</c:v>
                </c:pt>
                <c:pt idx="4">
                  <c:v>-5.086492349152047</c:v>
                </c:pt>
                <c:pt idx="5">
                  <c:v>-11.61946639570112</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1100">
                <a:solidFill>
                  <a:srgbClr val="FFFFFF"/>
                </a:solidFill>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100">
                <a:solidFill>
                  <a:srgbClr val="FFFFFF"/>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a:solidFill>
                  <a:srgbClr val="FFFFFF"/>
                </a:solidFill>
              </a:rPr>
              <a:t>Выручка</a:t>
            </a:r>
          </a:p>
        </c:rich>
      </c:tx>
      <c:txPr>
        <a:bodyPr/>
        <a:lstStyle/>
        <a:p>
          <a:pPr>
            <a:defRPr sz="1400">
              <a:solidFill>
                <a:srgbClr val="FFFFFF"/>
              </a:solidFill>
            </a:defRPr>
          </a:pPr>
        </a:p>
      </c:txPr>
    </c:title>
    <c:autoTitleDeleted val="0"/>
    <c:plotArea>
      <c:barChart>
        <c:barDir val="col"/>
        <c:grouping val="clustered"/>
        <c:ser>
          <c:idx val="0"/>
          <c:order val="0"/>
          <c:tx>
            <c:strRef>
              <c:f>Sheet1!$B$1</c:f>
              <c:strCache>
                <c:ptCount val="1"/>
                <c:pt idx="0">
                  <c:v>Выручка</c:v>
                </c:pt>
              </c:strCache>
            </c:strRef>
          </c:tx>
          <c:spPr>
            <a:solidFill>
              <a:srgbClr val="D6ED89"/>
            </a:solidFill>
          </c:spPr>
          <c:invertIfNegative val="0"/>
          <c:cat>
            <c:strRef>
              <c:f>Sheet1!$A$2:$A$6</c:f>
              <c:strCache>
                <c:ptCount val="5"/>
                <c:pt idx="0">
                  <c:v>2027</c:v>
                </c:pt>
                <c:pt idx="1">
                  <c:v>2028</c:v>
                </c:pt>
                <c:pt idx="2">
                  <c:v>2029</c:v>
                </c:pt>
                <c:pt idx="3">
                  <c:v>2030</c:v>
                </c:pt>
                <c:pt idx="4">
                  <c:v>2031</c:v>
                </c:pt>
              </c:strCache>
            </c:strRef>
          </c:cat>
          <c:val>
            <c:numRef>
              <c:f>Sheet1!$B$2:$B$6</c:f>
              <c:numCache>
                <c:formatCode>General</c:formatCode>
                <c:ptCount val="5"/>
                <c:pt idx="0">
                  <c:v>8.8</c:v>
                </c:pt>
                <c:pt idx="1">
                  <c:v>13.728</c:v>
                </c:pt>
                <c:pt idx="2">
                  <c:v>17.630080000000003</c:v>
                </c:pt>
                <c:pt idx="3">
                  <c:v>20.078822400000004</c:v>
                </c:pt>
                <c:pt idx="4">
                  <c:v>22.695256064000002</c:v>
                </c:pt>
              </c:numCache>
            </c:numRef>
          </c:val>
        </c:ser>
        <c:ser>
          <c:idx val="1"/>
          <c:order val="1"/>
          <c:tx>
            <c:strRef>
              <c:f>Sheet1!$C$1</c:f>
              <c:strCache>
                <c:ptCount val="1"/>
                <c:pt idx="0">
                  <c:v>EBITDA</c:v>
                </c:pt>
              </c:strCache>
            </c:strRef>
          </c:tx>
          <c:spPr>
            <a:solidFill>
              <a:srgbClr val="E5B26A"/>
            </a:solidFill>
          </c:spPr>
          <c:invertIfNegative val="0"/>
          <c:cat>
            <c:strRef>
              <c:f>Sheet1!$A$2:$A$6</c:f>
              <c:strCache>
                <c:ptCount val="5"/>
                <c:pt idx="0">
                  <c:v>2027</c:v>
                </c:pt>
                <c:pt idx="1">
                  <c:v>2028</c:v>
                </c:pt>
                <c:pt idx="2">
                  <c:v>2029</c:v>
                </c:pt>
                <c:pt idx="3">
                  <c:v>2030</c:v>
                </c:pt>
                <c:pt idx="4">
                  <c:v>2031</c:v>
                </c:pt>
              </c:strCache>
            </c:strRef>
          </c:cat>
          <c:val>
            <c:numRef>
              <c:f>Sheet1!$C$2:$C$6</c:f>
              <c:numCache>
                <c:formatCode>General</c:formatCode>
                <c:ptCount val="5"/>
                <c:pt idx="0">
                  <c:v>0.2728</c:v>
                </c:pt>
                <c:pt idx="1">
                  <c:v>3.38844</c:v>
                </c:pt>
                <c:pt idx="2">
                  <c:v>5.759242000000004</c:v>
                </c:pt>
                <c:pt idx="3">
                  <c:v>7.081935000000001</c:v>
                </c:pt>
                <c:pt idx="4">
                  <c:v>8.489391419000002</c:v>
                </c:pt>
              </c:numCache>
            </c:numRef>
          </c:val>
        </c:ser>
        <c:ser>
          <c:idx val="2"/>
          <c:order val="2"/>
          <c:tx>
            <c:strRef>
              <c:f>Sheet1!$D$1</c:f>
              <c:strCache>
                <c:ptCount val="1"/>
                <c:pt idx="0">
                  <c:v>FCF</c:v>
                </c:pt>
              </c:strCache>
            </c:strRef>
          </c:tx>
          <c:spPr>
            <a:solidFill>
              <a:srgbClr val="A7CAB9"/>
            </a:solidFill>
          </c:spPr>
          <c:invertIfNegative val="0"/>
          <c:cat>
            <c:strRef>
              <c:f>Sheet1!$A$2:$A$6</c:f>
              <c:strCache>
                <c:ptCount val="5"/>
                <c:pt idx="0">
                  <c:v>2027</c:v>
                </c:pt>
                <c:pt idx="1">
                  <c:v>2028</c:v>
                </c:pt>
                <c:pt idx="2">
                  <c:v>2029</c:v>
                </c:pt>
                <c:pt idx="3">
                  <c:v>2030</c:v>
                </c:pt>
                <c:pt idx="4">
                  <c:v>2031</c:v>
                </c:pt>
              </c:strCache>
            </c:strRef>
          </c:cat>
          <c:val>
            <c:numRef>
              <c:f>Sheet1!$D$2:$D$6</c:f>
              <c:numCache>
                <c:formatCode>General</c:formatCode>
                <c:ptCount val="5"/>
                <c:pt idx="0">
                  <c:v>-0.2552</c:v>
                </c:pt>
                <c:pt idx="1">
                  <c:v>2.26476</c:v>
                </c:pt>
                <c:pt idx="2">
                  <c:v>4.101437200000003</c:v>
                </c:pt>
                <c:pt idx="3">
                  <c:v>4.9772056560000015</c:v>
                </c:pt>
                <c:pt idx="4">
                  <c:v>8.52767605516</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FFFFFF"/>
                </a:solidFil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100">
                <a:solidFill>
                  <a:srgbClr val="FFFFFF"/>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a:solidFill>
                  <a:srgbClr val="FFFFFF"/>
                </a:solidFill>
              </a:rPr>
              <a:t>NPV, млн ₽</a:t>
            </a:r>
          </a:p>
        </c:rich>
      </c:tx>
      <c:txPr>
        <a:bodyPr/>
        <a:lstStyle/>
        <a:p>
          <a:pPr>
            <a:defRPr sz="1400">
              <a:solidFill>
                <a:srgbClr val="FFFFFF"/>
              </a:solidFill>
            </a:defRPr>
          </a:pPr>
        </a:p>
      </c:txPr>
    </c:title>
    <c:autoTitleDeleted val="0"/>
    <c:plotArea>
      <c:barChart>
        <c:barDir val="bar"/>
        <c:grouping val="clustered"/>
        <c:ser>
          <c:idx val="0"/>
          <c:order val="0"/>
          <c:tx>
            <c:strRef>
              <c:f>Sheet1!$B$1</c:f>
              <c:strCache>
                <c:ptCount val="1"/>
                <c:pt idx="0">
                  <c:v>NPV, млн ₽</c:v>
                </c:pt>
              </c:strCache>
            </c:strRef>
          </c:tx>
          <c:spPr>
            <a:solidFill>
              <a:srgbClr val="D6ED89"/>
            </a:solidFill>
          </c:spPr>
          <c:invertIfNegative val="0"/>
          <c:cat>
            <c:strRef>
              <c:f>Sheet1!$A$2:$A$7</c:f>
              <c:strCache>
                <c:ptCount val="6"/>
                <c:pt idx="0">
                  <c:v>База</c:v>
                </c:pt>
                <c:pt idx="1">
                  <c:v>Тариф −10%</c:v>
                </c:pt>
                <c:pt idx="2">
                  <c:v>Объем −25%</c:v>
                </c:pt>
                <c:pt idx="3">
                  <c:v>Переменные +20%</c:v>
                </c:pt>
                <c:pt idx="4">
                  <c:v>Задержка 1 год</c:v>
                </c:pt>
                <c:pt idx="5">
                  <c:v>Внесение 900 ₽</c:v>
                </c:pt>
              </c:strCache>
            </c:strRef>
          </c:cat>
          <c:val>
            <c:numRef>
              <c:f>Sheet1!$B$2:$B$7</c:f>
              <c:numCache>
                <c:formatCode>General</c:formatCode>
                <c:ptCount val="6"/>
                <c:pt idx="0">
                  <c:v>-1.06765316170057</c:v>
                </c:pt>
                <c:pt idx="1">
                  <c:v>-4.9692233298134845</c:v>
                </c:pt>
                <c:pt idx="2">
                  <c:v>-7.652932558232721</c:v>
                </c:pt>
                <c:pt idx="3">
                  <c:v>-3.6025699807006792</c:v>
                </c:pt>
                <c:pt idx="4">
                  <c:v>-5.086492349152047</c:v>
                </c:pt>
                <c:pt idx="5">
                  <c:v>-11.61946639570112</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1100">
                <a:solidFill>
                  <a:srgbClr val="FFFFFF"/>
                </a:solidFill>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100">
                <a:solidFill>
                  <a:srgbClr val="FFFFFF"/>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a:solidFill>
                  <a:srgbClr val="FFFFFF"/>
                </a:solidFill>
              </a:rPr>
              <a:t>Выручка</a:t>
            </a:r>
          </a:p>
        </c:rich>
      </c:tx>
      <c:txPr>
        <a:bodyPr/>
        <a:lstStyle/>
        <a:p>
          <a:pPr>
            <a:defRPr sz="1400">
              <a:solidFill>
                <a:srgbClr val="FFFFFF"/>
              </a:solidFill>
            </a:defRPr>
          </a:pPr>
        </a:p>
      </c:txPr>
    </c:title>
    <c:autoTitleDeleted val="0"/>
    <c:plotArea>
      <c:barChart>
        <c:barDir val="col"/>
        <c:grouping val="clustered"/>
        <c:ser>
          <c:idx val="0"/>
          <c:order val="0"/>
          <c:tx>
            <c:strRef>
              <c:f>Sheet1!$B$1</c:f>
              <c:strCache>
                <c:ptCount val="1"/>
                <c:pt idx="0">
                  <c:v>Выручка</c:v>
                </c:pt>
              </c:strCache>
            </c:strRef>
          </c:tx>
          <c:spPr>
            <a:solidFill>
              <a:srgbClr val="D6ED89"/>
            </a:solidFill>
          </c:spPr>
          <c:invertIfNegative val="0"/>
          <c:cat>
            <c:strRef>
              <c:f>Sheet1!$A$2:$A$6</c:f>
              <c:strCache>
                <c:ptCount val="5"/>
                <c:pt idx="0">
                  <c:v>2027</c:v>
                </c:pt>
                <c:pt idx="1">
                  <c:v>2028</c:v>
                </c:pt>
                <c:pt idx="2">
                  <c:v>2029</c:v>
                </c:pt>
                <c:pt idx="3">
                  <c:v>2030</c:v>
                </c:pt>
                <c:pt idx="4">
                  <c:v>2031</c:v>
                </c:pt>
              </c:strCache>
            </c:strRef>
          </c:cat>
          <c:val>
            <c:numRef>
              <c:f>Sheet1!$B$2:$B$6</c:f>
              <c:numCache>
                <c:formatCode>General</c:formatCode>
                <c:ptCount val="5"/>
                <c:pt idx="0">
                  <c:v>8.8</c:v>
                </c:pt>
                <c:pt idx="1">
                  <c:v>13.728</c:v>
                </c:pt>
                <c:pt idx="2">
                  <c:v>17.630080000000003</c:v>
                </c:pt>
                <c:pt idx="3">
                  <c:v>20.078822400000004</c:v>
                </c:pt>
                <c:pt idx="4">
                  <c:v>22.695256064000002</c:v>
                </c:pt>
              </c:numCache>
            </c:numRef>
          </c:val>
        </c:ser>
        <c:ser>
          <c:idx val="1"/>
          <c:order val="1"/>
          <c:tx>
            <c:strRef>
              <c:f>Sheet1!$C$1</c:f>
              <c:strCache>
                <c:ptCount val="1"/>
                <c:pt idx="0">
                  <c:v>EBITDA</c:v>
                </c:pt>
              </c:strCache>
            </c:strRef>
          </c:tx>
          <c:spPr>
            <a:solidFill>
              <a:srgbClr val="E5B26A"/>
            </a:solidFill>
          </c:spPr>
          <c:invertIfNegative val="0"/>
          <c:cat>
            <c:strRef>
              <c:f>Sheet1!$A$2:$A$6</c:f>
              <c:strCache>
                <c:ptCount val="5"/>
                <c:pt idx="0">
                  <c:v>2027</c:v>
                </c:pt>
                <c:pt idx="1">
                  <c:v>2028</c:v>
                </c:pt>
                <c:pt idx="2">
                  <c:v>2029</c:v>
                </c:pt>
                <c:pt idx="3">
                  <c:v>2030</c:v>
                </c:pt>
                <c:pt idx="4">
                  <c:v>2031</c:v>
                </c:pt>
              </c:strCache>
            </c:strRef>
          </c:cat>
          <c:val>
            <c:numRef>
              <c:f>Sheet1!$C$2:$C$6</c:f>
              <c:numCache>
                <c:formatCode>General</c:formatCode>
                <c:ptCount val="5"/>
                <c:pt idx="0">
                  <c:v>0.2728</c:v>
                </c:pt>
                <c:pt idx="1">
                  <c:v>3.38844</c:v>
                </c:pt>
                <c:pt idx="2">
                  <c:v>5.759242000000004</c:v>
                </c:pt>
                <c:pt idx="3">
                  <c:v>7.081935000000001</c:v>
                </c:pt>
                <c:pt idx="4">
                  <c:v>8.489391419000002</c:v>
                </c:pt>
              </c:numCache>
            </c:numRef>
          </c:val>
        </c:ser>
        <c:ser>
          <c:idx val="2"/>
          <c:order val="2"/>
          <c:tx>
            <c:strRef>
              <c:f>Sheet1!$D$1</c:f>
              <c:strCache>
                <c:ptCount val="1"/>
                <c:pt idx="0">
                  <c:v>FCF</c:v>
                </c:pt>
              </c:strCache>
            </c:strRef>
          </c:tx>
          <c:spPr>
            <a:solidFill>
              <a:srgbClr val="A7CAB9"/>
            </a:solidFill>
          </c:spPr>
          <c:invertIfNegative val="0"/>
          <c:cat>
            <c:strRef>
              <c:f>Sheet1!$A$2:$A$6</c:f>
              <c:strCache>
                <c:ptCount val="5"/>
                <c:pt idx="0">
                  <c:v>2027</c:v>
                </c:pt>
                <c:pt idx="1">
                  <c:v>2028</c:v>
                </c:pt>
                <c:pt idx="2">
                  <c:v>2029</c:v>
                </c:pt>
                <c:pt idx="3">
                  <c:v>2030</c:v>
                </c:pt>
                <c:pt idx="4">
                  <c:v>2031</c:v>
                </c:pt>
              </c:strCache>
            </c:strRef>
          </c:cat>
          <c:val>
            <c:numRef>
              <c:f>Sheet1!$D$2:$D$6</c:f>
              <c:numCache>
                <c:formatCode>General</c:formatCode>
                <c:ptCount val="5"/>
                <c:pt idx="0">
                  <c:v>-0.2552</c:v>
                </c:pt>
                <c:pt idx="1">
                  <c:v>2.26476</c:v>
                </c:pt>
                <c:pt idx="2">
                  <c:v>4.101437200000003</c:v>
                </c:pt>
                <c:pt idx="3">
                  <c:v>4.9772056560000015</c:v>
                </c:pt>
                <c:pt idx="4">
                  <c:v>8.52767605516</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FFFFFF"/>
                </a:solidFill>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100">
                <a:solidFill>
                  <a:srgbClr val="FFFFFF"/>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a:solidFill>
                  <a:srgbClr val="FFFFFF"/>
                </a:solidFill>
              </a:rPr>
              <a:t>NPV, млн ₽</a:t>
            </a:r>
          </a:p>
        </c:rich>
      </c:tx>
      <c:txPr>
        <a:bodyPr/>
        <a:lstStyle/>
        <a:p>
          <a:pPr>
            <a:defRPr sz="1400">
              <a:solidFill>
                <a:srgbClr val="FFFFFF"/>
              </a:solidFill>
            </a:defRPr>
          </a:pPr>
        </a:p>
      </c:txPr>
    </c:title>
    <c:autoTitleDeleted val="0"/>
    <c:plotArea>
      <c:barChart>
        <c:barDir val="bar"/>
        <c:grouping val="clustered"/>
        <c:ser>
          <c:idx val="0"/>
          <c:order val="0"/>
          <c:tx>
            <c:strRef>
              <c:f>Sheet1!$B$1</c:f>
              <c:strCache>
                <c:ptCount val="1"/>
                <c:pt idx="0">
                  <c:v>NPV, млн ₽</c:v>
                </c:pt>
              </c:strCache>
            </c:strRef>
          </c:tx>
          <c:spPr>
            <a:solidFill>
              <a:srgbClr val="D6ED89"/>
            </a:solidFill>
          </c:spPr>
          <c:invertIfNegative val="0"/>
          <c:cat>
            <c:strRef>
              <c:f>Sheet1!$A$2:$A$7</c:f>
              <c:strCache>
                <c:ptCount val="6"/>
                <c:pt idx="0">
                  <c:v>База</c:v>
                </c:pt>
                <c:pt idx="1">
                  <c:v>Тариф −10%</c:v>
                </c:pt>
                <c:pt idx="2">
                  <c:v>Объем −25%</c:v>
                </c:pt>
                <c:pt idx="3">
                  <c:v>Переменные +20%</c:v>
                </c:pt>
                <c:pt idx="4">
                  <c:v>Задержка 1 год</c:v>
                </c:pt>
                <c:pt idx="5">
                  <c:v>Внесение 900 ₽</c:v>
                </c:pt>
              </c:strCache>
            </c:strRef>
          </c:cat>
          <c:val>
            <c:numRef>
              <c:f>Sheet1!$B$2:$B$7</c:f>
              <c:numCache>
                <c:formatCode>General</c:formatCode>
                <c:ptCount val="6"/>
                <c:pt idx="0">
                  <c:v>-1.06765316170057</c:v>
                </c:pt>
                <c:pt idx="1">
                  <c:v>-4.9692233298134845</c:v>
                </c:pt>
                <c:pt idx="2">
                  <c:v>-7.652932558232721</c:v>
                </c:pt>
                <c:pt idx="3">
                  <c:v>-3.6025699807006792</c:v>
                </c:pt>
                <c:pt idx="4">
                  <c:v>-5.086492349152047</c:v>
                </c:pt>
                <c:pt idx="5">
                  <c:v>-11.61946639570112</c:v>
                </c:pt>
              </c:numCache>
            </c:numRef>
          </c:val>
        </c:ser>
        <c:dLbls>
          <c:numFmt formatCode="0.00" sourceLinked="0"/>
          <c:txPr>
            <a:bodyPr/>
            <a:lstStyle/>
            <a:p>
              <a:pPr>
                <a:defRPr sz="1100">
                  <a:solidFill>
                    <a:srgbClr val="FFFFFF"/>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100">
                <a:solidFill>
                  <a:srgbClr val="FFFFFF"/>
                </a:solidFill>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100">
                <a:solidFill>
                  <a:srgbClr val="FFFFFF"/>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927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Резюме
### Уточнение после brainstorming
[ДОПУЩЕНИЕ] Решение после brainstorming: GO только на ограниченные обратимые проверки; NO-GO на безотзывную закупку и коммерческие обещания до проверки допуска, платного спроса, полного ресурса и финансируемой кассы. Это рекомендация редакции, не решение о фактическом инвестировании. Базовые тарифы, штат и отрицательный NPV сохранены.
[ДОПУЩЕНИЕ] АгроВектор — мобильный сервис для малых и средних сельхозпредприятий и фермерских хозяйств. Клиент покупает не дрон, а согласованное обследование, карту проблемных зон, точечное внесение жидких удобрений, СЗР, биопрепаратов или энтомофагов и отчет о работе. Агрохолдинги рассматриваются как вторичный сегмент. Полноценное водное орошение исключено: конструкция сервиса ориентирована на малые объемы технологических составов, а не доставку поливной воды.
[ДОПУЩЕНИЕ] Базовый кластер — Татарстан, радиус до 150 км, только после проверки полетной и агрохимической доступности конкретных участков. Одна бригада, основной и резервный агродроны, отдельный мониторинговый аппарат. Первый коммерческий сезон — апрель–сентябрь 2027; подготовка начинается осенью 2026. Контракты, разрешения, поставщики и инвестиции пока не подтверждены.
[ДОПУЩЕНИЕ] Социальная составляющая — добровольная гражданская переподготовка людей с опытом управления БПЛА после СВО для работы в АПК. Общие требования к компетенциям, безопасности и допускам одинаковы для всех сотрудников; прежний опыт не заменяет профессиональную подготовку.
[РАСЧЕТ] Ключевые показатели условного базового сценария:
| Показатель | Значение |
| --- | --- |
| Начальная потребность | 9 500 000 руб. |
| CAPEX / запуск / ликвидность | 7 000 000 / 500 000 / 2 000 000 руб. |
| Выручка 2027 / EBITDA2027 | 8 800 000 / 272 800 руб. |
| NPV за 5 лет, ставка 24% | -1 067 653 руб. |
| Простая / дисконтированная окупаемость | 3,68 года / не достигнута за 5 лет |
[ДОПУЩЕНИЕ] Рекомендация инвестору — условное поэтапное финансирование. Не закупать весь парк без юридического заключения по региону, подтверждения кадрового бюджета и коммерческого портфеля. NPV и окупаемость рассматриваются вместе с риском сценарных предпосылок и не компенсируют отсутствие права на работы. Мониторинг без внесения не объявляется равноценной финансовой заменой: такой вариант требует отдельной малокапитальной модели.
Статус: GO только на обратимые проверки; NO-GO на безотзывную закупку до закрытия launch gates. Исходный визуальный слайд оставлен без изменений; статус — только в заметках. Это логика анализа, не утверждение о фактическом снятии рисков.</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SMART-цели
### Уточнение после brainstorming
[ДОПУЩЕНИЕ] Показатели 10 клиентов и 6000/4000 операций — цели, не полученные заказы. Контрольные даты условны: при незакрытом правовом, ресурсном или кассовом условии дальнейшие обязательства останавливаются и календарь пересматривается. Пороги коммерческого подтверждения и бюджет проверки согласуются до эксперимента.
[ДОПУЩЕНИЕ] SMART-цели первого сезона. Даты являются контрольным планом, а не подтверждением выполненных работ. При пропуске правовой или закупочной контрольной точки календарь пересматривается до финансирования.
| Цель | Измеримый результат | Срок | Ответственный и доказательство |
| --- | --- | --- | --- |
| Правовая применимость | Осуществимость разрешительного маршрута по полям; не выданное разрешение | 01.11.2026 | Директор; письменное заключение юриста |
| Подтверждение спроса | 20 интервью; заявки на 6 000 га-проходов и 4 000 га-обследований | 29.11.2026 | Директор; реестр полей и заявок, без объявления их продажами |
| Коммерческий портфель | 10 клиентов; суммарно 6 000 га-проходов и 4 000 га-обследований | 21.03.2027 | Директор; подписанные договоры и календарь |
| Техническая готовность | Приняты 3 аппарата; 2 оператора прошли оценку; пилот 100 га внутри сезонного объема | 30.04.2027 | Операционный руководитель; до 11.04 — приемка и допуски, в апреле — акт пилота |
| Первый сезон | 6 000 га-проходов, 4 000 га-обследований; выручка 8,8 млн руб. без НДС | 12.09.2027 | Директор; акты, журнал операций, бухгалтерский учет |
| Гражданская подготовка | 2 оператора: индивидуальный план, наставник и оценка; контроль занятости через 3 месяца | 11.04.2027; контроль 12.07.2027 | Операционный руководитель; протоколы обучения и кадровый учет |
Обучение добровольное; квоты по биографическому статусу нет. Самостоятельные работы допускаются только после оценки компетенций. Безопасность: 100% заданий проходят проверку готовности; все опасные события регистрируются. Цель — ноль работ без необходимых допусков, а не обещание отсутствия любого инцидента.
</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Описание продукта и стратегическая канва
### Уточнение после brainstorming
[ДОПУЩЕНИЕ] Приемка заказа должна раздельно подтверждать выполненные операции и согласованное качество: карта, объем, дозировка, условия, отклонения и акт. Отчет об исполнении не доказывает прироста урожая. Права на карты/данные, конфиденциальность, переделки и ответственность закрепляются договором; согласованного договора пока нет.
[ДОПУЩЕНИЕ] Продукт — договорная услуга мониторинга посевов, картирования проблемных зон и точечного внесения на согласованных участках. Клиент покупает выполненное задание и отчет, не дрон. Препараты предоставляет клиент; культуру, регламент применения и карту задания проверяет внешний агроном. Универсальный рост урожайности и экономия препаратов не обещаются. Выпуск энтомофагов допускается только при подтвержденной технологии и правовом статусе, не как третья строка выручки. Полноценное орошение исключено.
### Стратегическая канва предложения
[ДОПУЩЕНИЕ] Целевой профиль: локальный маршрут в Татарстане до 150 км, минимум внесения 100 га-проходов, один договор на согласованные операции и отчет не позднее 48 часов после задания. Это гипотеза позиционирования, не достигнутое преимущество. Факторы выбора клиента — цена, состав, доступность поля, минимальный маршрут, срок и проверяемость отчета. Единственная сравнительная матрица этих факторов приведена в разделе 6; повторная таблица здесь не создается.
[ДОПУЩЕНИЕ] Подготовка полетного задания, согласование границ и отчет об исполнении входят в тариф внесения. Отдельное обследование с картированием продается за 250 руб./га-обследование по самостоятельной строке заказа; один договор не означает бесплатного мониторинга или повторного счета одних работ. Минимальный отдельный заказ мониторинга пока не установлен: до приема такого выезда проверяются маршрут и его вклад в покрытие затрат. Новые доплаты не включены в расчетную выручку. Паспорт заказа содержит поле, культуру, операции, кратность, окно, цену, приемку и статус допуска.
</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Lean Canvas
### Уточнение после brainstorming
[ДОПУЩЕНИЕ] Проверки Lean Canvas: платный результат для конкретного сегмента; прямой и партнерский канал; цена и оплата одной спецификации; полная стоимость команды и заказа. Альтернативы аренды, сезонного найма и повышения цены остаются гипотезами, не новой структурой затрат и доходов.
[ДОПУЩЕНИЕ] Lean Canvas по референсу «Практика 08.10.26», слайд 33 и фото 1. Девять блоков описывают проверяемые гипотезы, не действующий бизнес.
| Блок Lean Canvas | Гипотеза AgroVector | Проверка / ограничение |
|---|---|---|
| 2. Проблемы | Неуспевание в агроокно; неоднородность посевов; недостаток карт и отчетности. Проверяются интервью, не объявляются доказанным спросом. | Альтернативы: наземная техника, собственный БВС, другой подрядчик, отказ от операции. |
| 4. Решение | Обследование и карта; согласованное точечное внесение; акт и отчет по заданию. | Пилот с контрольным участком и согласованной приемкой. |
| 3. Уникальное ценностное предложение | Одно согласованное задание: от карты проблемных зон до выполненной операции и проверяемого отчета. | Не обещаем универсальной экономии СЗР или прироста урожая. |
| 9. Труднокопируемое преимущество | Пока не подтверждено. Локальные повторные договоры и накопленные карты могут стать преимуществом после сезона. | Ни дрон, ни идея комплексной услуги сами по себе не уникальны. |
| 1. Сегменты клиентов | КФХ и малые/средние хозяйства Татарстана до 150 км при допуске поля. Платит руководитель, принимает агроном. | Ранние последователи: хозяйства с конкретной неудовлетворенной задачей и готовностью оплатить пилот. |
| 8. Ключевые метрики | Доступный подтвержденный портфель; оплаченные га-проходы и га-обследования; вклад после УСН; повторы; время отчета. | Цели: 10 клиентов, 6000/4000 операций, отчет до 48 часов; это не фактические результаты. |
| 5. Каналы | Прямые продажи, рекомендации агрономов, фермерские объединения, демонстрационный платный пилот. | Воронка 100 контактов → 40 разговоров → 20 предложений → 10 клиентов — гипотеза. |
| 7. Структура затрат | Штат и взносы по payroll2027.csv; логистика, ремонт, специалисты и прочий OPEX; CAPEX и запуск отдельно. | Резерв ликвидности не расход; препараты предоставляет клиент. |
| 6. Потоки доходов | Внесение: 6000 × 1300 = 7,8 млн руб.; мониторинг: 4000 × 250 = 1,0 млн руб.; всего 8,8 млн руб. без НДС. | Оплачиваются разные операции; обследование не включается бесплатно во внесение. |
</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Маркетинговый план
### Уточнение после brainstorming
[ДОПУЩЕНИЕ] SAM проверяется адресным перечнем полей в радиусе, операциями, доступными окнами и готовностью платить. Воронка учитывает договор, объем, цену, аванс, остаток и концентрацию клиентов. Интервью, заявки и письма намерений не признаются оплаченной выручкой. Приемлемость повышенного тарифа проверяется отдельно без автоматического увеличения SOM.
[ДОПУЩЕНИЕ] TAM охватывает всю Россию и все категории хозяйств, включая вторичный сегмент агрохолдингов. Это потенциальный выручечный рынок двух услуг — внесения и отдельного мониторинга, не рынок продажи БВС и не наблюдаемая выручка подрядчиков. География SAM — доступный кластер Татарстана до 150 км; SOM — первый сезон одной бригады. SAM вложен в национальный TAM; доступность каждого поля подтверждается отдельно.
[ФАКТ] Агроэксперт со ссылкой на весенний учет Росстата сообщает 79 298 млн га посевов в хозяйствах всех категорий РФ за 2025 год.[33] Использован весь общероссийский опубликованный итог, не сумма регионов и не произвольные 2000 хозяйств. Первичная таблица Росстата построчно не извлечена; статистическое основание подтверждено вторичной публикацией.
[ДОПУЩЕНИЕ] Потенциальная пригодность 15%, 1,5 платных прохода внесения и 0,5 оплачиваемого обследования в сезон; тарифы 1300 и 250 руб. в ценах 2027 без НДС. Пригодность включает техническую, агрономическую и правовую возможность как сценарный фильтр, но не означает выданного допуска на 15% России. Это не подтвержденный коэффициент принятия услуги клиентами.
[РАСЧЕТ] TAM = 79 298 000 × 0,15 × (1,5 × 1300 + 0,5 × 250) = 24 681 502 500 руб./год. Операции: 17 842 050 га-проходов и 5 947 350 га-обследований; не складывать как уникальные гектары.
[РАСЧЕТ] SAM = 200 × 2000 × 0,15 × (1,5 × 1300 + 0,5 × 250) = 124 500 000 руб./год. 200 хозяйств и 2000 га на хозяйство — прежние неподтвержденные параметры кластера, не статистика Татарстана. Адресный список внутри 150 км пока отсутствует.
[РАСЧЕТ] SOM = 6000 × 1300 + 4000 × 250 = 8 800 000 руб./год; цель 10 клиентов. По внесению SOM/SAM = 6000/90000 = 6,67%; по обследованиям 4000/30000 = 13,33%; по выручке 7,07%. Разный микс объясняет разные проценты. Это сценарные доли цели, не фактическая доля AgroVector. Альтернативный микс SAM: мониторинг 2000, выручка 8,3 млн; не подмена базы 8,8 млн.
[РАСЧЕТ] Чувствительность TAM при пригодности 10/15/20%: 16 454 335 000 / 24 681 502 500 / 32 908 670 000 руб. Коэффициенты не доверительные интервалы. Нужны адресные поля, культура, операция, кратность, допуск и готовность платить. Не все посевы станут рынком услуг.
[ДОПУЩЕНИЕ] Выход на рынок: 100 адресных контактов → 40 квалифицированных разговоров → 20 предложений → 10 сезонных клиентов. 20 интервью SMART — исследование, а не автоматические предложения или продажи. Маркетинг 240000 руб. в постоянномOPEX, денежныйCAC24000 руб. при 10 клиентах без распределения зарплаты директора. Заказ внесения от 100 га-проходов,30%аванс, остаток после акта; кассовая модель на аванс не опирается. Препараты клиента; приемка по паспорту поля, качество и сроки пилота без обещания роста урожая.
[ДОПУЩЕНИЕ] Национальный потенциал не увеличивает мощность нашей бригады и не компенсирует отрицательный NPV новой зарплатной базы. Подтвержденных заказов нет. Файлы расчета: data/market_revision.json и scripts/register_reference_sources.py.
### Наблюдаемая отрасль и динамика (снимок проверки 20.10.2026)
[ФАКТ] Министр сельского хозяйства сообщила об около 600 тыс.га полей, обработанных агродронами в 2025 году.[8] РСХБ в публикации 16.07.2026 приводит 781 тыс.га за 2025 год и прогноз 1058 тыс.га на 2026 год.[9]
[ДОПУЩЕНИЕ] Источники расходятся по 2025 году; охват и правила учета проходов недостаточно раскрыты. Их нельзя объединять в один ряд или выдавать прогноз 2026 за выполненные работы. Сопоставимый первичный национальный итог 2024 не подтвержден. Площади включают не только внешние платные услуги, поэтому умножение отраслевой площади на наш тариф не является доказанным объемом сервисного рынка. Приведенный выше TAM — сценарная будущая корзина, а не текущая платная выручка отрасли.
[РАСЧЕТ] Внутри оценки РСХБ прогнозный рост 2026 к 2025 составляет 35,47% (1058/781−1), но этот темп не переносится на финансовую модель АгроВектора: ее выручку определяют собственные гектары, тариф и мощность. Плановый средний CAC24000 руб. и выручка 880000 руб. на клиента рассчитаны как 240000/10 и 8800000/10 соответственно.
</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Анализ конкурентов
### Уточнение после brainstorming
[ДОПУЩЕНИЕ] До выбора позиции необходимы сопоставимые предложения на одну операцию/поле, с одинаковыми препаратами, водой, логистикой, налогами и приемкой. Неизвестная цена или доля конкурента не равна нулю. Публичные ориентиры остаются датированными заявлениями, не новыми КП этой редакции.
[ФАКТ] На 20.10.2026 изучены публичные предложения пяти компаний из единого реестра. Это заявления поставщиков, не независимая проверка качества, разрешений или выполненных работ. Дата публикации страниц не раскрыта, если прямо не указано иное. BeeUAV проверен по странице услуги; главная осталась недоступной, ее прежний адрес и условия не объявляются перепроверенными. У каждой строки ниже указаны источник и дата; ссылки раскрыты в реестре источников.
| Исполнитель / статус | Услуги, территория и цена | Комплект, маршрут и отчетность | Опыт, доля и доказательства |
| --- | --- | --- | --- |
| BeeAir / BeeUAV; [ФАКТ] заявление компании; региональный кандидат | Услуги: внесение. Территория: Татарстан упомянут на сервисной странице; наличие местной базы не подтверждено. Цена: числовая цена на прочитанной странице не раскрыта. НДС: не раскрыт. | Комплект: состав единого пакета мониторинга и внесения не раскрыт. Минимум/маршрут: не раскрыт. Отчет: состав и срок отчета не раскрыты. | Опыт/объем: годовые гектары не раскрыты; рекламные 10 и 18 га/ч на одной странице несогласованы. Доля: публично не раскрыта; нет сопоставимого числителя и знаменателя. [2] Проверено: 2026-10-20. Публикация: не указана. сервисная страница прочитана; главная недоступна; прежний адрес МО не подтвержден заново. |
| ГК Агропрофи / XAG; [ФАКТ] заявление компании; региональный кандидат | Услуги: внесение; посев; продажа техники отдельно от услуги. Территория: Поволжье включая Татарстан; контакт Саратов. Цена: публичный тариф услуги не раскрыт. НДС: для услуги не раскрыт. | Комплект: опрыскивание; разбрасывание; посев; агрономическое сопровождение заявлено. Минимум/маршрут: не раскрыт. Отчет: формат и срок клиентского отчета не раскрыты. | Опыт/объем: заявлено 50 000+ га без года и территории; не годовой объем Татарстана. Доля: публично не раскрыта; накопленные гектары не доля рынка. [3][4] Проверено: 2026-10-20. Публикация: не указана. страницы прочитаны напрямую; объемы являются заявлениями поставщика. |
| Аграс / аграс.рф; [ФАКТ] заявление компании; региональный кандидат | Услуги: аренда пилота/техники; демонстрация; продажа и сервис отдельно. Территория: Татарстан и Урал заявлены; локальный офис Татарстана не проверен по адресу. Цена: публичный тариф услуги не раскрыт. НДС: НДС продажи техники не подтверждает НДС услуги. | Комплект: комплект техники и обучения не приравнен к составу подрядной услуги. Минимум/маршрут: не раскрыт. Отчет: отчетность при внедрении не равна спецификации отчета по обработке. | Опыт/объем: по заявлению компании проекты Татарстана 2025: более 40 000 га; исполнитель и оплаченный объем не раскрыты. Доля: публично не раскрыта; нет сопоставимого знаменателя услуг. [5] Проверено: 2026-10-20. Публикация: не указана; акция до октября 2026. главная прочитана; разрешения и внедрения по реестрам не подтверждены. |
| Гермес; [ФАКТ] заявление компании; межрегиональный ориентир | Услуги: внесение; мониторинг виноградников; посев. Территория: Краснодарский край и Адыгея; Татарстан не подтвержден. Цена: публичный тариф услуги не раскрыт. НДС: не раскрыт. | Комплект: направления заявлены; единый договорный пакет не раскрыт. Минимум/маршрут: не раскрыт. Отчет: формат и срок отчета не раскрыты. | Опыт/объем: кейс картофельного поля 500 га без даты и актов; годовой объем не раскрыт. Доля: публично не раскрыта; кейс не годовая доля. [6] Проверено: 2026-10-20. Публикация: не указана. главная прочитана извлекателем; счетчики 0 не интерпретированы как отсутствие работ. |
| Агродроны ЮФО; [ФАКТ] заявление компании; межрегиональный ориентир | Услуги: внесение; обработка полей; посев. Территория: Калмыкия; Дагестан; Ставрополье; Краснодарский край; Ростовская область; контакт Элиста. Цена: 900 руб./га; средняя заявленная руб./га; итог индивидуально; эквивалентность га-проходу и логистика не установлены. НДС: не раскрыт. | Комплект: препараты клиента; помощь в подборе; состав воды и логистики уточняется. Минимум/маршрут: минимум не раскрыт; начало 1–7 дней по загрузке и согласованию. Отчет: акты; сертификаты; закрывающие документы; срок и GIS-отчет не раскрыты. | Опыт/объем: заявлены парк и производительность; годовые оплаченные гектары не раскрыты. Доля: публично не раскрыта; производительность не выполненный объем. [7] Проверено: 2026-10-20. Публикация: не указана. главная прочитана напрямую; география сохранена списком а не названием федерального округа. |
| АгроВектор; [ДОПУЩЕНИЕ]; проект | Услуги: внесение; мониторинг и картирование. Территория: Татарстан до 150 км от базы только при подтвержденном допуске. Цена: план 2027: 1300 руб./га-проход; отдельно 250 руб./га-обследование; препараты клиента. НДС: без НДС; добавляется при обязанности. | Комплект: единый договор; подготовка задания и отчет во внесении; обследование оплачивается отдельно. Минимум/маршрут: план от 100 га-проходов; минимум отдельного мониторинга не установлен. Отчет: план: объем и параметры задания; отклонения; акт; отчет до 48 часов. | Опыт/объем: сезон не проведен; 6000 проходов и 4000 обследований цель а не фактический объем. Доля: фактическая доля не установлена; SOM/SAM только сценарий раздела 5.  Проверено: 2026-10-20. Публикация: план 2027. проектные параметры не рыночная оферта; нет подтвержденных контрактов и разрешений. |
[ДОПУЩЕНИЕ] Географически релевантные кандидаты для сопоставимых КП — BeeUAV, Агропрофи и Аграс. Последний теперь прямо заявляет Татарстан, поэтому больше не описывается только как уральский ориентир.[2][3][5] Гермес и ЮФО — межрегиональные ориентиры; доступность в Татарстане не подтверждена.[6][7] Производитель XAG не является отдельным исполнителем услуги. Наземный подрядчик и собственный опрыскиватель хозяйства — заменители: их сравнивают по полной смете конкретного задания.
[ФАКТ] ЮФО публикует средние 900 руб./га с индивидуальным расчетом, препараты клиента и закрывающие документы; НДС, минимальный заказ и логистика не раскрыты.[7] [РАСЧЕТ] Проектные 1300 руб. выше этого ориентира на 44,44%, но различия региона, единицы и состава не позволяют объявить это измеренной рыночной премией. Стресс 900 руб. дает отрицательную NPV в разделе 18.
[ДОПУЩЕНИЕ] Доли конкурентов в сопоставимом рынке платных услуг Татарстана публично не раскрыты. Для процента нужны год, территория, услуги, оплаченный объем или выручка участника и такой же знаменатель рынка. 50 000+ га Агропрофи без года и территории и &gt;40 000 га проектов Аграс за 2025 год не дают долю сервисного рынка.[3][5] Неизвестное не равно нулю. SOM/SAM проекта — сценарное отношение раздела 5, не фактическая доля. До закупки нужны минимум три сопоставимых предложения на услуги для одного поля и отдельно два КП на полный парк техники; не смешивать эти два требования.
### Примерные цены аналогичных компаний
[ФАКТ] Агродроны ЮФО публикуют цену обработки от 900 руб./га.[36] НДС и полный состав цены не раскрыты. ООО«Купец» в авторской публикации 07.05.2025 приводит диапазон 1200–1500 руб./га сНДС.[37] Это не текущая оферта, не прайсТатарстана и не независимая медиана. У Агропрофи/XAG, Аграс и BeeUAV числовые тарифы услуг в проверенном наборе не раскрыты; цена аппарата не используется вместо цены обработки. ПланAgroVector1300/250 не объявляется доказанным рыночным средним; по мониторингу нужен отдельный запросКП.
</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Развернутый SWOT
### Уточнение после brainstorming
[ДОПУЩЕНИЕ] TOWS переводится в проверяемые действия: договорный спрос, ресурсный календарь, полный TCO, лимиты дебиторки и стоп при отсутствии допуска. Указанные остаточные риски — цели после исполнения мер, не уже достигнутое снижение.
[ДОПУЩЕНИЕ] Полный перекрестный SWOT/TOWS по референсу, слайды 35–38 и фото 2. Сильные стороны — особенности проектной конструкции, не подтвержденные преимущества работающей компании. Возможности — гипотезы спроса, не статистика рынка.
| Внутренняя / внешняя среда | Возможности O | Угрозы T |
|---|---|---|
| Факторы | O1: локальные задачи, для которых наземная обработка неудобна; O2: партнерство с агрономами и хозяйствами для платного пилота; O3: добровольная подготовка кандидатов с опытом БПЛА | T1: ограничения полетов и применимости препаратов; T2: погода, узкие окна и общие отказы оборудования; T3: ценовое давление и задержка платежей |
| Сильные стороны S: S1: спроектирован единый контур задания, карты и отчета; S2: предусмотрен резервный аппарат внесения; S3: короткая цепочка решений одной бригады | SO: S1+O1/O2: директор и агроном до закупки согласуют платный пилот и критерии приемки; метрика — подписанный паспорт задания и оплаченный пилот, без обещания урожайности. | ST: S2/S3+T1/T2: операционный руководитель перед каждым выездом проверяет допуски и резерв; no-go при нарушении. Метрика — 100% чек-листов и отсутствие неразрешенных заданий. |
| Слабые стороны W: W1: нет подтвержденных заказов и проведенного сезона; W2: одна бригада, совместные агроокна двух услуг; W3: парк и условия труда еще не подтверждены КП/кандидатами | WO: W1/W3+O2/O3: директор до финансирования получает КП, предложения кандидатам и договорный портфель; наставник оценивает обоих операторов. Метрика — документы и протоколы оценки, не число интервью. | WT: W2+T2/T3: директор ограничивает загрузку месячным календарем, согласует аванс и перенос; при неподтвержденной мощности отклоняет заказ. Метрика — отсутствие двойного бронирования и контроль кассового минимума. |
</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Пять сил Портера
### Уточнение после brainstorming
[ДОПУЩЕНИЕ] Для пяти сил дополнительно проверяются полная стоимость заменителя, условия агрономов/посредников, влияние отсрочки покупателя и зависимость от общего сервиса/АКБ. Качественные оценки не заменяют коммерческих условий и не являются измеренными вероятностями.
[ДОПУЩЕНИЕ] Сводная таблица пяти сил Портера в формате фото 3 и слайда 46 референса. Уровни качественные и подлежат проверке; не статистические измерения.
| Параметр | Значение | Описание | Направление работ |
|---|---|---|---|
| Заменители | Высокий | Наземная техника, свой БВС, отказ от операции | Сравнить полную стоимость и применимость на конкретном поле; не обещать превосходство повсеместно |
| Действующие конкуренты | Высокий | Клиент сравнивает тариф, состав работ и доступное окно | Собирать сопоставимые КП; фиксировать приемку и отчетность |
| Новые участники | Средний | Технику можно купить, но капитал, персонал и допуски ограничивают вход | Удерживать клиентов качеством и повторными договорами; мониторить новых исполнителей |
| Покупатели | Высокий | Сезонный торг, концентрация портфеля, отсрочки | Лимиты концентрации и дебиторки; согласованный аванс и календарь |
| Поставщики | Средний–высокий | АКБ, комплектующие, сервис и совместимость зависят от поставщика | Два КП, запас критичных деталей, сервисный SLA; резерв не устраняет общий отказ |
</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Организационно-правовая форма и регуляторный контур
### Уточнение после brainstorming
[ДОПУЩЕНИЕ] Внешняя проверка права и налогов открыта. Нужен применимый маршрут для конкретных работ, полей, аппаратов и оператора; отдельно препараты, санитарные условия, уведомления, страхование и договор. Архивные правовые ссылки ниже сохранены с прежними датами: нового подтверждения действующей редакции актов в этой работе нет. Мониторинг без внесения не считается автоматически разрешенным.
[ДОПУЩЕНИЕ] Предпочтительная форма — ООО для долевого участия инвестора и договорной ответственности. ОКВЭД, УСН, корпоративные условия и страхование утверждаются с профильными специалистами. Этот раздел — исследовательская карта требований, не юридическое заключение и не разрешение на полеты.
[ФАКТ] 20.10.2026 прочитана официальная карточка Указа Республики Татарстан от 25.11.2022 № УП-813 «Об использовании беспилотных воздушных судов на территории Республики Татарстан», опубликованного 30.11.2022.[32] Полный действующий текст исключений и основание допуска AgroVector не подтверждены. Радиус 150 км — логистическое допущение, не разрешенная полетная зона.
[ФАКТ] При повторном чтении вторичного правового текста ФАП по приказу Минтранса №303 подтверждены вступление с 01.09.2026, сертификат, эксплуатационная спецификация и требования к организации работ.[17] Официальный скан [16] сейчас заново содержательно не прочитан; действует обязательная сверка первоисточника и актуальной редакции до инвестирования. Реквизиты не подменяют проверку применимости.
[ДОПУЩЕНИЕ] Для каждой выбранной модели устанавливается максимальная взлетная масса по документам, не пустой вес или объем бака. Прежняя правовая основа учета 0,15–30 кг включительно и регистрации более 30 кг сохранена как датированный снимок статьи 33 ВК РФ.[15] До допуска требуется свежая проверка учета/регистрации, летной годности, эксплуатанта, персонала, спецификации работ, страхования, воздушного пространства и региональных ограничений. Договор с фермером, малая высота и частная земля сами по себе не разрешают полет; участие AgroVector в ЭПР не подтверждено.
[ФАКТ] В актуально прочитанном разъяснении территориального Россельхознадзора о правилах с 01.03.2026 обычное уведомление о пестицидах проводится не ранее 10 и не позднее 5 календарных дней, через СМИ и ФГИС «Сатурн»; указан радиус до 7 км и специальный порядок не позднее 24 часов только при установленном уровне реагирования и режиме ЧС.[31] Обычный срочный заказ или перенос из-за ветра не объявляется чрезвычайной ситуацией.
[ДОПУЩЕНИЕ] Агроном проверяет актуальный госреестр и регламент каждого препарата: культуру, вредный объект, способ применения, норму раствора, дозу, кратность, ожидание и экологические ограничения. Препараты клиента не снимают ответственности исполнителя. Ни один препарат проекта не утвержден; уменьшение нормы рабочего раствора не разрешается ссылкой на обычную авиационную обработку. В договоре назначаются ответственные за уведомления, «Сатурн», остатки, тару, мойку, отходы и журнал.
### Санитарный и региональный контроль допуска
[ДОПУЩЕНИЕ] Архив 05.09.2026 содержит выдержки о 700 м в отдельных поправках СанПиН.[18][19] Реквизиты введения СП 2.2.4285-26 с 01.09.2026 сохранены в официальной карточке и вторичном тексте прежнего снимка.[20][21] Пункты 287/291 о наземной альтернативе и остановке при людях/животных в пределах 2000 м прочитаны ранее в неофициальной копии.[27] На 20.10.2026 полный официальный скан построчно не сверен. Эти числа не объявляются универсальными действующими нормами для любого БАС: письменная правовая проверка соотношения специальных положений обязательна. Радиус уведомления пчеловодов 7 км не заменяет санитарные расстояния.
[ДОПУЩЕНИЕ] Контроль A устанавливает осуществимость разрешительного маршрута, а не выдает допуск; G проверяет документы конкретного борта, оператора и работ; M и каждый выезд повторно проверяют ограничения. Нет письменного основания, подходящего препарата или безопасного поля — остановка без замены права на работы коммерческой целью. Стратегия развития БАС остается отраслевым контекстом, не гарантией субсидии и не разрешением компании.[26] Гранты в модель не включены. Статус каждого старого источника 16–28 приведен в исследовании C и реестре источников.
</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Стейкхолдеры: власть и интерес
### Уточнение после brainstorming
[ДОПУЩЕНИЕ] Владелец проверки фиксирует документ, применимость, дату и условие пересмотра для заказчика, регулятора, страховщика и поставщика. Информирование не заменяет согласование; безопасность и права на данные могут остановить задачу независимо от квадранта Менделоу.
[ДОПУЩЕНИЕ] Модель Менделоу: вертикальная ось — власть, горизонтальная — интерес. Классификация плановая; власть означает возможность влиять на капитал, допуск или заказ. При изменении интереса/влияния участник перемещается между квадрантами.
| Власть / интерес | Группы | Стратегия | Ответственный и частота |
|---|---|---|---|
| Высокая / высокий | Учредитель, инвестор, ключевые заказчики | Управлять тесно: решения, паспорт поля, контроль траншей | Директор: еженедельно при запуске и перед ключевым решением |
| Высокая / низкий или переменный | Регуляторы, страховщик | Поддерживать удовлетворенность: документы и применимые требования; не обещать разрешений | Юрист/директор: до допуска и при каждом изменении; внепланово при инциденте |
| Низкая / высокий | Операторы, агроном, учебный партнер, кандидаты, пчеловоды и соседи полей | Информировать и привлекать: обучение, обратная связь, уведомления и жалобы | Операционный руководитель: перед каждым выездом; директор: уведомления в законные сроки |
| Низкая / низкий | Пока не вовлеченные хозяйства вне маршрута, широкая аудитория | Наблюдать: без массовых обещаний и раскрытия персональных данных | Директор: ежемесячно; пересмотр при появлении интереса |
[ДОПУЩЕНИЕ] Низкая власть не означает низкую значимость безопасности: обоснованная жалоба пчеловода или соседа инициирует остановку и проверку. Средние оценки сервиса/агронома относятся к нижней половине матрицы лишь условно; при критичной зависимости влияние повышается. Источник формы: референс, слайды 50–51.
</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Производственный план
### Уточнение после brainstorming
[ДОПУЩЕНИЕ] Полный ресурсный тест учитывает обе услуги одной бригады, переезды, воду, подготовку, зарядку/охлаждение, отдых и обслуживание. Проверяются 20/16/12 эффективных дней в месяц; это сценарные ограничения, не погодные наблюдения. Резервный борт не создает вторую бригаду. При снижении мощности объемы и деньги пересчитываются совместно.
[ДОПУЩЕНИЕ] Производственный контур включает одну бригаду из двух операторов, два аппарата внесения — основной и резервный — и один мониторинговый. Резерв восстанавливает доступность при отказе основного, но не удваивает производительность. Полный цикл заказа: проверка применимости и разрешений → обследование и согласование задания → подготовка техники и материалов клиента → выполнение → контроль и актирование.
[ДОПУЩЕНИЕ] Сезон длится 22 недели. Плановая емкость внесения опирается на 100 эффективных рабочих дней с производительностью 130 га-проходов в день. Это интегральная гипотеза с учетом переездов и подготовки, которую необходимо подтвердить хронометражем. Календарные недели не означают ежедневную летную доступность.
[РАСЧЕТ] 22 недели = 154 календарных дня. В пятом году внесение требует 100 × 130 = 13 000 га-проходов, мониторинг — 20 × 500 = 10 000 га-обследований. Последовательное выполнение занимает 120 полевых рабочих дней; остаются 34 дня погодного и логистического резерва. [ДОПУЩЕНИЕ] Это напряженный потолок, а не гарантированная мощность: производительность мониторинга 500 га в день и достаточность резерва требуют проверки.
| Год | Внесение, га-проходы | Мониторинг, га-обследования |
|---|---:|---:|
| 2027 | 6000 | 4000 |
| 2028 | 9000 | 6000 |
| 2029 | 11000 | 8000 |
| 2030 | 12000 | 9000 |
| 2031 | 13000 | 10000 |
[ДОПУЩЕНИЕ] Мониторинг проводится помощником в отдельных согласованных окнах при сохранении необходимых условий безопасности. Одновременные полеты внесения и мониторинга без отдельной команды недопустимы. Обработка данных переносится в нелетное время; совокупный календарь обеих услуг проверяется до подтверждения заказа. Объемы последних лет являются целями, а не доказательством наличия трудового ресурса.
[ДОПУЩЕНИЕ] Тарифы 2027 года без НДС: 1300 руб. за га-проход внесения и 250 руб. за га-обследование. Препараты клиента не включены. Полевой пилот 100 га проводится в апреле 2027 года внутри 6000 га-проходов первого сезона и не прибавляется повторно. Перед выездом проверяются документы, погода, состояние техники, пригодность материала и согласованный контур. При отклонении задание приостанавливается; повторная работа оформляется по условиям договора, а не автоматически как новая выручка.
[РАСЧЕТ] Проверка совместной мощности:22×7=154 календарных дня; внесение 13000/130=100 дней, мониторинг 10000/500=20 дней, резерв 34 дня. [ДОПУЩЕНИЕ] Производительность мониторинга 500 га/день и 120 полевых дней — напряженный потолок, а не гарантия; работы выполняются последовательно, выходные и нормы отдыха соблюдаются. Полевой пилот 100 га в апреле включен в 6000 га-проходов первого сезона. При невозможности подтвердить такой календарь объемыY4–Y5 снижаются.
[ДОПУЩЕНИЕ] Приемочный хронометраж включает полный маршрут, подготовку, смешивание, АКБ/зарядку, мойку и отчет; рекламные га/час не заменяют га за полную смену. Календарь должен включать отдых, погодные паузы, уведомления и обслуживание. Поздний годовой объем пока является ресурсно не подтвержденным верхним сценарием, не обязательством клиентам.
[РАСЧЕТ] При одинаковой сезонности обеих услуг июнь 2031 требует 30 полевых дней из 30 календарных. Годовые 120 дней не доказывают выполнимость месяца: отдых, погода и обслуживание не обеспечены. [ДОПУЩЕНИЕ] Поздние объемы сохранены только как непроверенный верхний сценарий. До обязательств клиентам нужен ресурсный календарь; при неподтверждении снижаются объемы или оценивается дополнительный оплачиваемый ресурс с пересчетом всей модели. Машинный ресурсный экран: data/capacity_check.csv; 5 дней из 7 — условная проверка, не юридический режим труда.
[ДОПУЩЕНИЕ] Отдельный ресурсный стресс ограничивает одну бригаду 20 эффективными полевыми днями в каждом месяце. Это не наблюденная погода и не подтверждение производительности. Требуемые дни: (га-проходы / 130 + га-обследования / 500) × доля месяца. При превышении 20 оба месячных объема сокращаются одинаковым коэффициентом 20 / требуемые дни; невыполненные работы не переносятся. Постоянные расходы, замены и возврат резерва сохранены.
[РАСЧЕТ] NPV ресурсного стресса — -2 704 508,25 руб.; простая / дисконтированная окупаемость — 4,089 / не достигнута за 5 лет. Базовая модель не заменена. Помесячные объемы и годовые потоки: data/capacity_scenario_monthly.csv и data/capacity_scenario_annual.csv; формулы — scripts/build_capacity_scenario.py.
[ДОПУЩЕНИЕ] Базовые 4 млн руб. на основной и резервный аппараты внесения не подтверждены КП. Ориентир пары XAG P100 Pro — 5,98 млн руб.; закупочный стресс требует 11,48 млн руб. финансирования. Проверка комплектации и производительности обязательна; подробности в разделе 17.
Статус: GO только на кабинетную проверку мощности; NO-GO на закупку до подтверждения выполнимости. Одна основная/резервная техника не образует две бригады. 20 дней — ресурсный экран, 16 дней — стресс существующего расчета; эффективные дни и нормы 130/500 га в день не подтверждены натурным замером.</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Организационный план
### Уточнение после brainstorming
[ДОПУЩЕНИЕ] Сезонный найм и подряд сравниваются только по чистой экономии после обучения, замещения, страхования и потери доступности. База остается 3 FTE на 12 месяцев; неоплачиваемая работа не используется как способ улучшить результат. Условия кандидатов и достаточность оплаченных часов не подтверждены.
[ДОПУЩЕНИЕ] Штат — 3 FTE: директор, совмещающий продажи и управление финансами; оператор — операционный руководитель; второй оператор, выполняющий также функции помощника. Внешние агроном, юрист и бухгалтер привлекаются по договорам и включаются в бюджет отдельно от штатного фонда труда. Наименования «Продажи» и «Операционный руководитель» в проектных таблицах обозначают функции, а не дополнительные вакансии.
| Роль | Основные обязанности | Ограничение полномочий |
|---|---|---|
| Директор / продажи | Клиенты, договоры, деньги, партнеры, персонал | Не отменяет профессиональный запрет на выполнение |
| Оператор / операционный руководитель | Календарь, техника, безопасность, наставничество | Не заменяет агронома и юридическую проверку |
| Второй оператор / помощник | Подготовка, контроль, мониторинг в отдельных окнах | Самостоятельные действия только после проверки компетенций |
| Внешний агроном | Задания, технологическая применимость, качество | Не предоставляет автоматического разрешения на полеты |
| Внешние юрист и бухгалтер | Правовая готовность, учет, договорные и налоговые вопросы | Работают в согласованном объеме услуг |
[ДОПУЩЕНИЕ] Штатные gross-оклады и страховые взносы раскрываются раздельно в data/payroll2027.csv и финансовом разделе. Региональная средняя зарплата служит ориентиром, а не подтверждением стоимости пилота БПЛА. НДФЛ удерживается из gross, а не прибавляется к стоимости работодателя. Взносы на травматизм до подтверждения класса являются допущением. Неоплачиваемые переработки не финансируют модель.
[ДОПУЩЕНИЕ] Людям с опытом БПЛА после СВО предлагается добровольная гражданская переподготовка: оценка исходных навыков, обучение агротехнологии и безопасности, работа с наставником, практическая проверка и документированное решение о готовности. Требования одинаковы для всех кандидатов; прежний опыт не означает автоматического допуска. При необходимости предусматривается индивидуальный темп адаптации и добровольное обращение за поддержкой без раскрытия чувствительных данных клиентам.
[ФАКТ] Региональный ориентир января–июня 2026 —98479 руб. начисленной зарплаты в месяц по сообщению СМИ со ссылкой на Татарстанстат.[34] Это вторичный источник, не ставка пилотаБПЛА. [ДОПУЩЕНИЕ] На 2027 принято 100000 руб.grossдля директора и каждого из двух операторов:3,6 млн руб. gross/год. Общий тариф 30%без неподтвержденной льготы плюс 0,2%травматизма до установления класса:1,0872 млн руб. взносов, всего 4,6872 млн руб./год. ПравилаФНС 2026 общего тарифа и базы проверены[35]; их перенос на 2027 и дальнейшая индексация — бюджетное допущение до сверки действующих норм. НДФЛ не начисляется повторно сверхуgross. Файл payroll2027.csv; 0,2%не подтвержденный тариф AgroVector.
</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WBS / иерархическая структура работ
### Уточнение после brainstorming
[ДОПУЩЕНИЕ] К пакетам A/B/C относятся проверяемый допуск, платная задача и договорно-налоговая схема; D требует согласованного лимита обязательств; E/F/G — комплекта и людей; H/I/J/M — протоколов приемки и совместного календаря; K/L — факта качества, затрат и оплаты. Все 13 исходных пакетов сохранены, G0–G5 ниже являются условиями решений, не новой независимой сетью.
[ДОПУЩЕНИЕ] WBS формируется из единого набора работ в `scripts/build_plan.py`; табличное представление — `data/project_plan.csv`. Иерархия охватывает проверку модели, финансирование и подготовку ресурсов, предсезонную готовность, коммерческий сезон и итоговый аудит. Каждый пакет имеет проверяемый результат, а не только факт затраченного времени.
[ДОПУЩЕНИЕ] Отдельный пакет M предусматривает три недели предсезонной готовности и ожидания погодного окна после J. Приемочные испытания I не подменяются зимней коммерческой обработкой; полевой пилот выполняется в K и включается в апрельский сезон. Закупка не разрешает автоматически начинать работы: необходима готовность по G и контроль перед конкретным выездом.
[ДОПУЩЕНИЕ] Графическое дерево: AgroVector → 1. Проверка (A/B/C) → 2. Ресурсы (D/E/F/G) → 3. Готовность (H/I/J/M) → 4. Сезон и аудит (K/L). Ветви — декомпозиция результатов, не последовательность или зависимости; зависимости показаны отдельно сетевым графиком. На слайде каждый пакет привязан к ID единого CSV. Референс: слайды 71, 74–75.
| WBS | ID | Работа | Результат |
| --- | --- | --- | --- |
| 1.1 | A | Проверка региона, полетов и схемы АХР | Осуществимость разрешительного маршрута; не выданное разрешение |
| 1.2 | B | Интервью и предварительные заявки хозяйств | 20 интервью; заявки на 6000 га-проходов и 4000 га-обследований |
| 1.3 | C | ООО, договоры, учет и страховой проект | ООО; договоры; страховые предложения |
| 2.1 | D | Инвестиционное решение и финансирование | Условия траншей и лимит необратимых расходов; 9,5 млн только для базы; КП и обязательства клиентов проверяются до закупки |
| 2.2 | E | Закупка и приемка оборудования | Комплектность; серийные номера; акты |
| 2.3 | F | Подбор и гражданская переподготовка | Два оператора; экзамен и допуск |
| 2.4 | G | Разрешительная готовность и учет БВС | Документы на конкретные БВС/работы; либо no-go |
| 3.1 | H | SOP, CRM, карты и контроль качества | Чек-листы; шаблон отчета; аварийный план |
| 3.2 | I | Стендовые и контролируемые приемочные испытания | Акт стендовой приемки; полевой пилот отдельно в K до 30.04.2027 |
| 3.3 | J | Сезонные договоры и маршрутизация | 10 клиентов; согласованный календарь |
| 3.4 | M | Предсезонная готовность и ожидание погодного окна | Повторная проверка разрешений и погодного окна |
| 4.1 | K | Первый коммерческий сезон | 6000 га-проходов; 4000 га-обследований |
| 4.2 | L | Аудит сезона и решение о продолжении | Факт P&amp;L/ДДС; претензии; продления |
</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Диаграмма Ганта
### Уточнение после brainstorming
[ДОПУЩЕНИЕ] Гант остается условным исходным календарем, не утвержденным графиком поставщика или разрешений. Необратимая закупка до подтвержденного спроса блокируется условиями D/E. Если требуется полевой пилот до покупки, нужен отдельно согласованный доступ к технике и новый календарь; ни аренда, ни зимний пилот не объявляются доступными.
[ДОПУЩЕНИЕ] Диаграмма Ганта должна строиться из того же набора задач, длительностей и зависимостей, что WBS и сетевой график. Базовый старт коммерческого сезона — 12 апреля 2027 года после трехнедельного пакета M; продолжительность сезона K — 22 недели. Это плановый ориентир, а не гарантия летной доступности.
[ДОПУЩЕНИЕ] Параллельность подготовки не означает возможность параллельной загрузки одной бригады в поле. Директор проверяет доступность исполнителей; переносы отражаются в едином календаре и согласуются с клиентами.
[РАСЧЕТ] Календарь в календарных неделях; связи окончание–начало. Перепланирование от 2026-10-19; прежние сентябрьские даты не означают выполненные работы. Даты — целевой план, не выданные разрешения. При задержке критического пути коммерческое окно и денежная модель пересматриваются.
| ID | Начало | Окончание | Недели | Резерв, нед. |
| --- | --- | --- | --- | --- |
| A | 2026-10-19 | 2026-11-01 | 2 | 1 |
| B | 2026-10-19 | 2026-11-29 | 6 | 0 |
| C | 2026-11-02 | 2026-11-22 | 3 | 1 |
| D | 2026-11-30 | 2026-12-06 | 1 | 0 |
| E | 2026-12-07 | 2027-01-10 | 5 | 0 |
| F | 2026-12-07 | 2027-01-17 | 6 | 2 |
| G | 2027-01-11 | 2027-02-21 | 6 | 0 |
| H | 2027-01-18 | 2027-02-07 | 3 | 2 |
| I | 2027-02-22 | 2027-03-07 | 2 | 0 |
| J | 2027-03-08 | 2027-03-21 | 2 | 0 |
| M | 2027-03-22 | 2027-04-11 | 3 | 0 |
| K | 2027-04-12 | 2027-09-12 | 22 | 0 |
| L | 2027-09-13 | 2027-09-26 | 2 | 0 |
```mermaid
gantt
    title АгроВектор — подготовка и первый сезон
    dateFormat YYYY-MM-DD
    A Проверка региона, полетов и схемы АХР :A, 2026-10-19, 14d
    B Интервью и предварительные заявки хозяйств :crit, B, 2026-10-19, 42d
    C ООО, договоры, учет и страховой проект :C, 2026-11-02, 21d
    D Инвестиционное решение и финансирование :crit, D, 2026-11-30, 7d
    E Закупка и приемка оборудования :crit, E, 2026-12-07, 35d
    F Подбор и гражданская переподготовка :F, 2026-12-07, 42d
    G Разрешительная готовность и учет БВС :crit, G, 2027-01-11, 42d
    H SOP, CRM, карты и контроль качества :H, 2027-01-18, 21d
    I Стендовые и контролируемые приемочные испытания :crit, I, 2027-02-22, 14d
    J Сезонные договоры и маршрутизация :crit, J, 2027-03-08, 14d
    M Предсезонная готовность и ожидание погодного окна :crit, M, 2027-03-22, 21d
    K Первый коммерческий сезон :crit, K, 2027-04-12, 154d
    L Аудит сезона и решение о продолжении :crit, L, 2027-09-13, 14d
```
[ДОПУЩЕНИЕ] Контрольные точки внутри сезона, без добавления объема или параллельной бригады:
| ID | Дата | Работа | Результат | Ответственный |
| --- | --- | --- | --- | --- |
| PILOT | 2027-04-30 | K | Пилот 100 га внутри 6000; акт и хронометраж | Операционный руководитель |
| RETENTION | 2027-07-12 | K | Контроль занятости и адаптации после подготовки | Директор |
</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Сетевой график
### Уточнение после brainstorming
[ДОПУЩЕНИЕ] Исходные зависимости и CPM сохранены как контрольный план. После появления реальных сроков поставки/допуска/людей сеть пересчитывается целиком. Формальный критический путь не доказывает достижимость дат и не снимает условие остановки.
[ДОПУЩЕНИЕ] Сетевая модель использует зависимости «окончание–начало» и длительности в календарных неделях из `scripts/build_plan.py`. Ранние и поздние сроки, резервы и критический путь рассчитываются по единому набору задач; независимо заданные даты в текст не вводятся.
[ДОПУЩЕНИЕ] Связь начала сезона проходит через J → M → K. Пакет M является явной работой ожидания и повторной проверки готовности, а не свободным резервом, который можно автоматически расходовать на задержки. Критический путь не гарантирует разрешений или подходящей погоды.
[РАСЧЕТ] Критический путь: **B → D → E → G → I → J → M → K → L**. Продолжительность 49 недель, включая погодный буфер M и первый сезон K. Это плановый CPM, не прогноз срока выдачи документов.
| ID | Предшественники | ES | EF | LS | LF | Резерв |
| --- | --- | --- | --- | --- | --- | --- |
| A | — | 0 | 2 | 1 | 3 | 1 |
| B | — | 0 | 6 | 0 | 6 | 0 |
| C | A | 2 | 5 | 3 | 6 | 1 |
| D | B;C | 6 | 7 | 6 | 7 | 0 |
| E | D | 7 | 12 | 7 | 12 | 0 |
| F | D | 7 | 13 | 9 | 15 | 2 |
| G | E | 12 | 18 | 12 | 18 | 0 |
| H | E;F | 13 | 16 | 15 | 18 | 2 |
| I | G;H | 18 | 20 | 18 | 20 | 0 |
| J | I | 20 | 22 | 20 | 22 | 0 |
| M | J | 22 | 25 | 22 | 25 | 0 |
| K | M | 25 | 47 | 25 | 47 | 0 |
| L | K | 47 | 49 | 47 | 49 | 0 |
```mermaid
flowchart LR
    A["A: 2 нед."]
    B["B: 6 нед."]
    C["C: 3 нед."]
    A --&gt; C
    D["D: 1 нед."]
    B --&gt; D
    C --&gt; D
    E["E: 5 нед."]
    D --&gt; E
    F["F: 6 нед."]
    D --&gt; F
    G["G: 6 нед."]
    E --&gt; G
    H["H: 3 нед."]
    E --&gt; H
    F --&gt; H
    I["I: 2 нед."]
    G --&gt; I
    H --&gt; I
    J["J: 2 нед."]
    I --&gt; J
    M["M: 3 нед."]
    J --&gt; M
    K["K: 22 нед."]
    M --&gt; K
    L["L: 2 нед."]
    K --&gt; L
```
</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Матрица ответственности RACI
### Уточнение после brainstorming
[ДОПУЩЕНИЕ] Для каждого gate назначается владелец доказательства и лицо, принимающее решение; в исходном RACI сохранены один A и минимум один R. Совмещение ролей не превращается в независимый аудит. При отсутствии второго оператора нужна замена с подтвержденной квалификацией и стоимостью или перенос задания.
[ДОПУЩЕНИЕ] RACI переносится из единого проектного набора: R — исполнитель, A — ответственный за результат, C — консультируемый, I — информируемый. Для каждой работы сохраняется один A; делегирование исполнения не снимает ответственности за приемку.
[ДОПУЩЕНИЕ] «Продажи» выполняет директор, «Операционный руководитель» — один из двух операторов. Внешний агроном, юрист, бухгалтер и учебный партнер не увеличивают штат до дополнительных FTE, но требуют оплачиваемого времени. Ответственность инвестора за решение о финансировании не означает оперативного руководства полетами. Матрица должна сопровождаться проверкой нагрузки совмещаемых ролей.
[ДОПУЩЕНИЕ] Визуальная RACI: строки — все 13 работ A–L и M; столбцы — роли; цветные R/A/C/I и «—» для незадействованных. В каждой строке ровно один A и хотя бы один R. Совмещенные должности нормализованы: продажи=директор, операционный руководитель=первый оператор; колонка «Оператор 2» — конкретно второй сотрудник, не первый оператор и не собирательная команда. Референс: фото 4 и слайд 82.
[ДОПУЩЕНИЕ] В работах I и K R назначен второму оператору, A — первому оператору/операционному руководителю: это разные люди. Приемка качества задания дополнительно согласуется с внешним агрономом и клиентом. Это внутреннее разделение выполнения и утверждения, не независимый сертификационный аудит. Если второй оператор отсутствует, роли не объединяются молча: задание переносится либо назначается отдельный допущенный исполнитель с проверкой бюджета. «Команда» в I-уведомлениях D раскрыта обоим операторам.
| ID | R — выполняет | A — принимает | C — консультирует | I — информируется |
| --- | --- | --- | --- | --- |
| A | Юрист | Директор | Агроном;Операционный руководитель | Инвестор |
| B | Продажи | Директор | Агроном | Инвестор |
| C | Юрист | Директор | Бухгалтер | Инвестор |
| D | Директор | Инвестор | Бухгалтер;Юрист | Команда |
| E | Операционный руководитель | Директор | Агроном | Бухгалтер |
| F | Операционный руководитель | Директор | Учебный партнер;Агроном | Инвестор |
| G | Юрист | Директор | Операционный руководитель | Клиенты |
| H | Агроном | Операционный руководитель | Юрист | Продажи |
| I | Второй оператор | Операционный руководитель | Агроном;Клиент | Директор |
| J | Продажи | Директор | Агроном;Клиент | Бухгалтер |
| M | Операционный руководитель | Директор | Агроном;Клиент | Инвестор |
| K | Второй оператор | Операционный руководитель | Агроном;Клиент | Директор |
| L | Бухгалтер | Директор | Агроном;Операционный руководитель | Инвестор |
</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Финансовая модель
### Уточнение после brainstorming
[РАСЧЕТ] Исправленная подпись фиксированных расходов вычислена из модели: 5 887 200 / 12 = 490 600 ₽/месяц. В отдельном стрессе без выручки, переменных и дополнительных расходов резерв 2 млн впервые становится отрицательным в 5-м месяце; это не базовая касса с поступлениями с апреля. При месячной отсрочке без аванса минимум −417 800 ₽, при двухмесячной −1 568 400 ₽. Аванс 30% в месяц услуги при отсрочке остатка на месяц оставляет только 21 760 ₽ месячного минимума, без внутримесячного и аварийного буфера. Необходим календарь фактических платежей, а не обещание достаточности аванса.
[ДОПУЩЕНИЕ] Модель — номинальные рубли РФ,2027–2031, одна бригада, без долга и субсидий. Цены2027 без НДС: внесение1300 руб./га-проход, мониторинг250 руб./га-обследование. Рост цен4% в год, переменных и фиксированных затрат5%; рост загрузки не означает приобретения второй бригады. Препараты и энтомофаги предоставляет клиент; их стоимость отсутствует и в выручке, и в расходах. Все закупочные бюджеты — полная цена с невозмещаемыми налогами у российского поставщика; прямой импорт в базу не включен.
### CAPEX, OPEX и единичная экономика
[ДОПУЩЕНИЕ] CAPEX7млн: два аппарата внесения с АКБ/зарядкой4млн; авто и прицеп1,4млн; мониторинговый аппарат0,6млн; смешивание и безопасность0,4млн; IT0,2млн; капитальный запас заменяемых узлов0,4млн. Последний не является запасом расходных химикатов. Конкретные модели выбираются после проверки максимальной взлетной массы и законной эксплуатации; бюджет не равен подтвержденному предложению поставщика.
[ДОПУЩЕНИЕ] Переменные внесения400руб./га-проход: топливо/логистика150, энергия50, текущее обслуживание130, СИЗ/мойка/обращение с отходами70. Мониторинг60руб./га-обследование: логистика30, энергия/обслуживание20, переменная обработка данных10. Штатная зарплата и амортизация в эти ставки не включены; АКБ и капитальные узлы финансируются CAPEX замен, а не повторно в текущем ремонте.
[ДОПУЩЕНИЕ] Постоянный OPEX2027 — 5 887 200руб.: прозрачный payroll директора и двух операторов 3 600 000руб. gross + начисления 1 087 200руб. (30% общих взносов и 0,2% травматизм как допущение до подтверждения класса); всего работодателю 4 687 200руб.; аренда360тыс.; страхование/комплаенс300тыс. (страхование120, юрист60, внешний агроном120); маркетинг240тыс.; IT120тыс.; администрирование180тыс. (бухгалтер120, банк/прочее60). Бюджеты внешних специалистов и труда экономные; подтверждение их достаточности является инвестиционным gate. Стартовые500тыс. распределены на первоначальное обучение200, подготовку правового/операционного досье200 и организационные расходы100; ежегодное сопровождение не дублирует эти разовые работы.
[РАСЧЕТ]
| Услуга2027 | Тариф | Переменные | Вклад до УСН | УСН6% | Вклад после УСН |
| --- | --- | --- | --- | --- | --- |
| Внесение, руб./га-проход | 1300 | 400 | 900 | 78 | 822 |
| Мониторинг, руб./га-обследование | 250 | 60 | 190 | 15 | 175 |
[РАСЧЕТ] Вклад до постоянных затрат2027:6,16млнруб., маржинальность70%. После УСН вклад5,632млн. EBITDA-безубыточность при постоянном миксе услуг: 8 410 286руб. выручки; денежная операционная безубыточность после УСН — 9 198 750руб., или одновременно 6 271,9га-проходов и 4 181,2га-обследований. Это пропорциональный набор услуг, не два независимых порога. CAPEX и возврат инвестиций этим порогом не покрываются.
### Налоги и денежный поток
[ДОПУЩЕНИЕ] Налоговый бюджет основан на архивных чтениях ФНС и закона 04.07.2026 №228-ФЗ: 2027–2029 порог 20 млн, 2030 — 15 млн, 2031 — 10 млн руб.; УСН 6%.[14][12][11] На 20.10.2026 налоговые первоисточники повторно недоступны; это сохраненные параметры модели до новой правовой сверки, не подтверждение актуального налогового режима.
[ДОПУЩЕНИЕ] УСН в модели6% выручки без снижения на страховые взносы — консервативный бюджет, а не выбор оптимального налогообложения. При утрате освобождения применяется5% НДС сверх тарифа при сохранении законных условий специальной ставки, без вычета входного НДС; общая ставка и вычеты требуют отдельного сопоставления с бухгалтером.[28]
[РАСЧЕТ] НДС рассчитывается отдельно: проверяется доход прошлого года и месячное превышение текущего порога с началом обложения со следующего месяца. В базе2027–2029 НДС отсутствует, с2030 начисляется5% сверх выручки из-за превышения доходом2029 порога15млн. Собранный налог полностью перечисляется, не входит в выручку/EBITDA/УСН/FCF. Денежные сроки уплаты упрощены; право переложить налог на клиента должно быть закреплено в договоре.
[ДОПУЩЕНИЕ] Амортизация начальных7млн линейно5лет; замен —3года с года покупки. CAPEX замен2027–2031:0 /300000 /600000 /900000 /600000руб. в номинале. Возмещение входного НДС не финансирует инвестиции. Остаточная стоимость оборудования в денежном потоке равна нулю.
[РАСЧЕТ] Выручка=объем×тариф по каждой услуге; EBITDA=выручка−переменные−фиксированныйOPEX; EBIT=EBITDA−амортизация; расчетная чистая прибыль=EBIT−УСН. FCF=EBITDA−УСН−CAPEXзамен+возвратрезерва. УСН платится с доходов даже при убытке. Амортизация не вычитается из FCF повторно.
[РАСЧЕТ] Все суммы таблицы — рубли, без округления исходных формул:
| Год | Выручка | Переменные | Фикс.OPEX | EBITDA | Амортизация | УСН | Чистая прибыль | CAPEX замен | FCF |
| --- | --- | --- | --- | --- | --- | --- | --- | --- | --- |
| 2027 | 8 800 000,00 | 2 640 000,00 | 5 887 200,00 | 272 800,00 | 1 400 000,00 | 528 000,00 | -1 655 200,00 | 0,00 | -255 200,00 |
| 2028 | 13 728 000,00 | 4 158 000,00 | 6 181 560,00 | 3 388 440,00 | 1 500 000,00 | 823 680,00 | 1 064 760,00 | 300 000,00 | 2 264 760,00 |
| 2029 | 17 630 080,00 | 5 380 200,00 | 6 490 638,00 | 5 759 242,00 | 1 700 000,00 | 1 057 804,80 | 3 001 437,20 | 600 000,00 | 4 101 437,20 |
| 2030 | 20 078 822,40 | 6 181 717,50 | 6 815 169,90 | 7 081 935,00 | 2 000 000,00 | 1 204 729,34 | 3 877 205,66 | 900 000,00 | 4 977 205,66 |
| 2031 | 22 695 256,06 | 7 049 936,25 | 7 155 928,40 | 8 489 391,42 | 2 100 000,00 | 1 361 715,36 | 5 027 676,06 | 600 000,00 | 8 527 676,06 |
### Ликвидность и сезонность
[ДОПУЩЕНИЕ] Поступления и выполнение распределены апрель–сентябрь10/20/25/20/15/10%. Услуги оплачиваются в месяц выполнения; плановый договорный аванс30% не используется для улучшения модели. Фиксированные расходы 490 600руб./месяц в 2027. Подготовительные расходы2026 свернуты в t0; годовая модель оценивается на условную дату31.12.2026, не заменяет календарь траншей осени2026.
[РАСЧЕТ] После оплаты оборудования и запуска на счете2млнруб. Минимум месячного остатка2027 — 528 200руб., конец года — 1 744 800руб. Без поступлений резерв покрывает 4,08месяца постоянных расходов. Отдельная таблица: `data/monthly_cashflow_2027.csv`; отсутствие месячного минуса не исключает внутримесячного разрыва.
[ДОПУЩЕНИЕ] Резерв 2 млн учитывается только в t0 и возвращается в конце 2031 при завершении оценочного проекта. Рост дебиторской задолженности не смоделирован; резерв не индексируется. Для продолжающегося бизнеса его возврат исключается. Инвестиционный NPV не является суммой дивидендов инвестору.
### Проверка закупочного бюджета
[ДОПУЩЕНИЕ] Базовые 4 млн руб. на два аппарата внесения — закупочный лимит без выбранной модели, не подтвержденная цена. Производительность 130 га/день подтверждается приемочным испытанием выбранного комплекта, а не характеристиками другой модели.
[ФАКТ] При прямом чтении 20.10.2026 Агропрофи публикует XAG P100 Pro за 2 990 000 руб. за комплект: https://xag-ap.ru/ .[3][29] Состав, налоги, доставка и условия требуют письменного КП. Это ориентир, не договор или решение о выборе модели.
[РАСЧЕТ] Два комплекта стоят 5 980 000 руб., превышение базового лимита — 1 980 000 руб. Это изолированный тест удорожания закупки, не новая полноценная база; его финансовые результаты требуют полного пересчета модели. Обучение и сопровождение в комплекте нужно исключить из повторного счета после получения КП.
[ДОПУЩЕНИЕ] До инвестирования нужны два сопоставимых КП с АКБ, зарядкой, доставкой, обучением, сервисом и налогами. Необходимо либо подтвердить комплект в лимите 4 млн руб. с нужной выработкой, либо пересчитать модель, финансирование и сроки целиком. Без этого закупочный этап не утверждается.
[ФАКТ] Дилер указывает бак 60 л, официальный производитель XAG — Rated Capacity 50 L.[29][30] Извлекатель дополнительно вернул иную версию карточки (2,9 млн / 50 л), тогда как прямой HTML подтвердил 2,99 млн / 60 л. Ни одна версия не является подтвержденным КП. До закупки нужны артикул, год выпуска, серийная спецификация и полный перечень АКБ, зарядок, охлаждения, RTK, генератора, модулей, налогов и доставки. Состав примера P150 Pro нельзя переносить на P100 Pro.
### Стресс отсрочки оплаты
[ДОПУЩЕНИЕ] Авансов нет; выполнение и переменные по базовому сезону, поступления сдвинуты на полные месяцы; УСН резервируется при поступлении. Годовой результат может скрывать внутрисезонный разрыв.
[РАСЧЕТ]
| Отсрочка, мес. | Минимум денег, руб. | Дополнительная ликвидность, руб. |
| --- | --- | --- |
| 1 | -417 800 | 417 800 |
| 2 | -1 568 400 | 1 568 400 |
| 3 | -2 587 000 | 2 587 000 |
[ДОПУЩЕНИЕ] Нужен календарь платежей октября 2026 — апреля 2027 с траншами, авансами и возвратностью. Он пока не подтвержден; условный t0 не выдается за реальный график оплаты. Резерв не уменьшается повторным вычитанием уже профинансированного CAPEX.
Статус: GO только на проверку фиксированных затрат и кассовой модели; NO-GO на закупку до launch gates. Расчетный фиксированный расход 490 600 ₽/мес. Первый отрицательный остаток в 5-м месяце — отдельный стресс без выручки при резерве 2 млн ₽, а не базовая касса и не утверждение о реально доступном резерве. Сохранены base тарифы 1 300/250 ₽, gross зарплаты и базовый NPV; базовый FCF/EBITDA не пересчитан.</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NPV и окупаемость
### Уточнение после brainstorming
[РАСЧЕТ] Совместный ресурсно-ценовой тест: внесение 1 450 ₽/га-проход и 20 эффективных дней/месяц дают NPV +1 006 843,08 ₽; при 16 днях NPV −1 516 179,77 ₽. При 20 днях/1 450 ₽ недобор обоих объемов 10% дает NPV −1 063 565,63 ₽; рост переменных 10% — −180 641,05 ₽. Сценарии раздельны, не прогноз вероятности. Тариф 1 450 ₽ не принят в базу и не подтвержден покупателем. Цена сама по себе не устраняет риск мощности и кассы.
[ДОПУЩЕНИЕ] Ставка дисконтирования 24% — требуемая доходность проектного капитала, не рыночная котировка WACC; финансирование долевое. Потоки номинальные, конец каждого года, t0=-9500000 руб. Ликвидационная стоимость оборудования 0; возврат оборотного резерва 2 млн только в конце Y5.
[РАСЧЕТ] NPV=−9500000+Σ(FCFₜ/1,24ᵗ)=-1 067 653,16 руб. Простая окупаемость 3,681 года; дисконтированная окупаемость: не достигнута за 5 лет. Если показатель не достигнут за горизонт, он отображается как «Не достигнута».
| Период | FCF, руб. | Коэффициент | PV, руб. | Накопленный PV |
| --- | --- | --- | --- | --- |
| 0 | -9 500 000,00 | 1,000000 | -9 500 000,00 | -9 500 000,00 |
| 1 | -255 200,00 | 0,806452 | -205 806,45 | -9 705 806,45 |
| 2 | 2 264 760,00 | 0,650364 | 1 472 918,83 | -8 232 887,62 |
| 3 | 4 101 437,20 | 0,524487 | 2 151 151,56 | -6 081 736,05 |
| 4 | 4 977 205,66 | 0,422974 | 2 105 226,58 | -3 976 509,47 |
| 5 | 8 527 676,06 | 0,341108 | 2 908 856,31 | -1 067 653,16 |
[РАСЧЕТ] Если бизнес продолжает работу и резерв не высвобождается, NPV без возврата 2 млн составляет -1 749 868,64 руб. Это отдельная проверка терминального допущения, не прибавка стоимости бизнеса.
[РАСЧЕТ] Чувствительность (каждый стресс отдельно, горизонт не удлиняется):
| Сценарий | NPV,руб. | Простая окупаемость,лет | Дисконтированная,лет |
| --- | --- | --- | --- |
| База | -1 067 653,16 | 3,681 | Не достигнута |
| Оба тарифа−10% | -4 969 223,33 | 4,927 | Не достигнута |
| Оба объема−25% | -7 652 932,56 | Не достигнута | Не достигнута |
| Переменные+20% | -3 602 569,98 | 4,407 | Не достигнута |
| Задержка 1 год | -5 086 492,35 | 4,849 | Не достигнута |
| Внесение 900 руб. в 2027; мониторинг без изменения | -11 619 466,40 | Не достигнута | Не достигнута |
[ДОПУЩЕНИЕ] При задержке 2027 выручка 0, расходы сохранения готовности 900000 руб.; объемы и замены сдвинуты на год, цены/расходы индексируются по календарю. Это условие успешной консервации, а не полный штат в простое. При невозможности сократить расходы результат хуже. Тариф 900 руб. в стрессе индексируется далее на 4%, постоянные затраты не сокращаются. Он является проверкой ценового давления, не утверждением сопоставимости чужой услуги.
[РАСЧЕТ] Окупаемость трактуется как не достигнутая, если накопленный поток не пересек ноль в пятилетнем горизонте; возврат резерва показывается отдельно и не интерполируется как операционная окупаемость. Основное условие вложения капитала — проверка готовности клиентов оплачивать именно плановый тариф.
### Дополнительные воспроизводимые сценарии
[ДОПУЩЕНИЕ] Альтернативная структура: мониторинг равен внесению / 3 во все пять лет. Закупочный стресс меняет CAPEX на 8,98 млн; текущие расходы и будущие замены прежние. Комбинированный стресс одновременно снижает оба тарифа на 10%, оба объема на 25% и повышает CAPEX на 1,98 млн; исходный пятилетний горизонт сохранен. Это разные сценарии, не подписанные бюджеты. Источники расчета: data/supplemental_model.csv и scripts/build_supplemental.py.
[РАСЧЕТ]
| Сценарий | Финансирование, руб. | Выручка 2027, руб. | NPV, руб. |
| --- | --- | --- | --- |
| Мониторинг = внесение / 3 во все пять лет; не базовая выручка | 9 500 000 | 8 300 000 | -2 933 766,34 |
| Два публичных ценника по 2,99 млн вместо лимита 4 млн; прочее неизменно; не полное КП | 11 480 000 | 8 800 000 | -3 047 653,16 |
| Оба тарифа −10%; оба объема −25%; CAPEX +1,98 млн; исходный горизонт | 11 480 000 | 5 940 000 | -12 559 110,18 |
[ДОПУЩЕНИЕ] Отдельный ресурсный стресс ограничивает одну бригаду 20 эффективными полевыми днями в каждом месяце. Это не наблюденная погода и не подтверждение производительности. Требуемые дни: (га-проходы / 130 + га-обследования / 500) × доля месяца. При превышении 20 оба месячных объема сокращаются одинаковым коэффициентом 20 / требуемые дни; невыполненные работы не переносятся. Постоянные расходы, замены и возврат резерва сохранены.
[РАСЧЕТ] NPV ресурсного стресса — -2 704 508,25 руб.; простая / дисконтированная окупаемость — 4,089 / не достигнута за 5 лет. Базовая модель не заменена. Помесячные объемы и годовые потоки: data/capacity_scenario_monthly.csv и data/capacity_scenario_annual.csv; формулы — scripts/build_capacity_scenario.py.
Статус: GO только на проверку цены/ресурса; NO-GO на закупку до подтверждения gates. Существующий расчет: совместный сценарий 1 450 ₽ за внесение + 20 дней даёт NPV +1 006 843 ₽; 16 дней при той же цене — −1 516 180 ₽. Сценарии не подтверждают спрос или фактическую производительность. Базовый NPV не менялся.</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Потребность в инвестициях
### Уточнение после brainstorming
[ДОПУЩЕНИЕ] 9,5 млн — только базовая стартовая потребность. Полный TCO включает питание, АКБ, охлаждение, доставку, обучение, запасные части, сервис и налоги. Аренда/поэтапная закупка допустимы лишь после письменных условий и пересчета. Снижение CAPEX не устраняет отрицательный FCF первого года; кассовый буфер утверждается дополнительно по календарю.
[ДОПУЩЕНИЕ] Потребность до запуска разделена на оборудование, подготовительные расходы и ликвидность; приведенные суммы являются бюджетными лимитами до получения предложений поставщиков.
| Назначение | Сумма, млн руб. | Контроль использования |
|---|---:|---|
| CAPEX | 7,0 | Спецификация основного, резервного и мониторингового аппаратов, транспорта и оснащения; приемка |
| Стартовые расходы | 0,5 | Подготовка запуска, первоначальное обучение и организационные услуги без повторного учета в CAPEX |
| Оборотный резерв | 2,0 | Покрытие временного дефицита денег по платежному календарю |
| Всего | 9,5 | [РАСЧЕТ] 7,0 + 0,5 + 2,0 |
[ДОПУЩЕНИЕ] Резерв не является свободным бюджетом расширения или повторной статьей расходов. До инвестиционного go/no-go в 2026 году сверяются состав поставки, гарантия, сервис, применимость техники и кассовые обязательства. Стоимость внешних специалистов, труда и эксплуатации должна иметь отдельные строки операционной модели; отсутствие коммерческого предложения не оправдывает нулевую оценку. Достаточность резерва проверяется помесячным денежным потоком, включая задержку старта и оплаты.
[ДОПУЩЕНИЕ] Базовые 4 млн руб. на основной и резервный аппараты внесения не подтверждены КП. Ориентир пары XAG P100 Pro — 5,98 млн руб.; закупочный стресс требует 11,48 млн руб. финансирования. Проверка комплектации и производительности обязательна; подробности в разделе 17.
Статус: GO только на сбор сопоставимых полных КП и платежного календаря; NO-GO на закупку до подтверждения бюджета и ликвидности. При задержке оплаты 1 месяц без аванса минимум −417 800 ₽; 2 месяца −1 568 400 ₽ (сценарии существующего расчета).</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Структура источников инвестиций
### Уточнение после brainstorming
[ДОПУЩЕНИЕ] Средства 2,5/7 млн, транши и условия инвестора пока не подтверждены. Положительный проектный NPV не равен доходности участника: нужны доля, дивиденды, дополнительные взносы и выход. Новые займы, гранты и снижение ставки дисконтирования не используются для маскировки слабой базы.
[ДОПУЩЕНИЕ] Финансирование предполагается исключительно долевым: учредитель вносит 2,5 млн руб., внешний инвестор — 7 млн руб. Долг и гранты в базовый источник покрытия не включены; социальная направленность не означает подтвержденного права на субсидию.
| Источник | Вклад, млн руб. | Условие |
|---|---:|---|
| Учредитель | 2,5 | Подтвержденная доступность денег и оформление вклада |
| Внешний долевой инвестор | 7,0 | Проверка модели, юридическая готовность и подписанные условия |
| Итого | 9,5 | [РАСЧЕТ] 2,5 + 7,0; соответствует стартовой потребности |
[ДОПУЩЕНИЕ] Доля инвестора не установлена. Отношение денежного вклада к потребности не используется как готовая оценка доли: необходимы согласование оценки бизнеса, корпоративных прав, порядка дополнительного финансирования и выхода. Документы должны определять отчетность, решения, требующие согласования, и последствия отказа от запуска. Крупные закупки привязываются к подтвержденной готовности.
[ДОПУЩЕНИЕ] Источники 2,5 + 7,0 млн руб. покрывают только базовые 9,5 млн. При закупочном стрессе 11,48 млн дефицит составляет 1,98 млн руб. Если вклад учредителя неизменен, внешнее финансирование требуется 8,98 млн вместо 7 млн. Дополнительные деньги не подтверждены; до согласования новых условий закупка не проводится. Увеличение суммы вклада не устанавливает автоматически долю инвестора.
[ДОПУЩЕНИЕ] Последовательность финансирования: A/B/C требуют подтвержденного источника подготовки до D; плановый вклад учредителя не объявляется внесенным. На D утверждаются транши, лимит необратимых обязательств и условия возврата/замены техники при отказе в допуске. По текущему календарю E предшествует окончательным договорам J и апрельскому пилоту: покупка до пилота — открытый инвестиционный риск, не завершенная проверка спроса. Без согласованного уровня обязательств клиентов и правовой реализуемости необратимая закупка не разрешается. Если инвестору нужен пилот до закупки, календарь и бюджет пересчитываются; зимнее испытание не выдается за полевой пилот.
Статус: GO только на согласование условий финансирования/оплаты; NO-GO на закупку до закрытия gates. При лаге 1 месяц аванс 30% даёт лишь 21 760 ₽ месячного минимума — это не предсезонный аванс и не безопасный буфер. Источники средств не подтверждены.</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Основные технико-экономические показатели
### Уточнение после brainstorming
[ДОПУЩЕНИЕ] До фактического сезона контролируются маржа принятого заказа после УСН, подтвержденные человеко-дни, своевременная приемка и оплата, недельный остаток и буфер. Они не объявляются достигнутыми KPI. FCF 2031 включает условное высвобождение 2 млн резерва; продолжение бизнеса проверяется отдельно без такого притока.
[РАСЧЕТ] Сводные показатели из тех же исходных данных:
| Показатель | 2027 | 2031 |
| --- | --- | --- |
| Га-проходы внесения | 6000 | 13000 |
| Га-обследования | 4000 | 10000 |
| Загрузка потолка внесения | 46,2% | 100% |
| Бригады / штат | 1 /3FTE | 1 /3FTE |
| Выручка,руб. | 8 800 000 | 22 695 256 |
| EBITDA,руб. | 272 800 | 8 489 391 |
| Рентабельность EBITDA | 3,1% | 37,4% |
| FCF,руб. | -255 200 | 8 527 676 |
| Выручка на FTE,руб. | 2 933 333 | 7 565 085 |
[ДОПУЩЕНИЕ] KPI операционного качества: отчет не позднее 48 часов после задания;100% работ с полетным и агрономическим чек-листом;0 несогласованных отклонений в дозе/контуре; регистрация каждого опасного события; повторные договоры не менее 60% клиентов после первого сезона. Эти цели еще не достигнуты. Рост рентабельности к 2031 обусловлен загрузкой одной команды и требует отдельного подтверждения мощности и оплаты труда, а не считается гарантированным эффектом технологии.
[РАСЧЕТ] Обе услуги требуют 54,15 эффективного дня в 2027 и 120 в 2031; это не гарантированные доступные смены. FCF 2031 до высвобождения резерва: 6 527 676,06 руб.; возврат резерва отдельно 2 млн руб. [ДОПУЩЕНИЕ] Поздняя база ресурсно не подтверждена.
</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Анализ рисков
### Уточнение после brainstorming
[ДОПУЩЕНИЕ] Расширенный реестр содержит 37 связанных записей F01–F10, M01–M08, O01–O09 и R01–R10. Документальные исправления и расчетные тесты выполнены в этой редакции; внешние риски спроса, допуска, кадров, техники, качества и финансирования остаются открытыми. Ни количество проверок, ни наличие таблиц не является закрытием риска.
[ДОПУЩЕНИЕ] Реестр использует экспертные категории вероятности В и воздействия У: Н — низкое, С — среднее, В — высокое. Это не статистические частоты. Остаточный риск указан после исполнения мер и подлежит пересмотру по фактическим событиям.
| Риск | Вероятность | Воздействие | Меры снижения | Остаточный риск В/У | Владелец | Триггер |
|---|---|---|---|---|---|---|
| Запрет или недоступность разрешений | С | В | Правовая проверка до вложений; повторная проверка выезда; no-go | С/В | Директор, юрист | Нет письменного основания для работы |
| Потеря погодных окон | В | В | Приоритеты, маршрутизация, реалистичные договоры; запрет небезопасного ускорения | С/В | Операционный руководитель | Переносы нарушают согласованные сроки |
| Недозагрузка | С | В | Проверка заявок, пилот, договоры до сезона; отказ от расширения | С/С | Директор | Объем подтвержденных заказов ниже плана |
| Поломка и задержка сервиса | С | В | Основной и резервный аппараты, обслуживание, запас деталей | Н/С | Операционный руководитель | Дефект до выезда или растущий срок ремонта |
| Ошибка внесения, недопустимое воздействие | С | В | Проверка агрономом, параметры задания, стоп-процедура, разбор инцидента | Н/В | Операционный руководитель | Несоответствие карты, условий или материала |
| Дефицит кадров и перегрузка | В | В | Проверка фонда труда, наставник, календарь отдыха, ограничение заказов | С/В | Директор | Вакансия, переработки, ошибки подготовки |
| Конфликт мониторинга и внесения | С | В | Раздельные окна; без отдельной команды одновременные полеты запрещены | Н/С | Операционный руководитель | Двойное бронирование людей или техники |
| Задержка платежей | С | В | Аванс, лимиты дебиторской задолженности, платежный календарь | С/С | Директор, бухгалтер | Просрочка или прогноз отрицательного остатка |
| Неудачная гражданская адаптация | С | С | Добровольность, равные требования, индивидуальное обучение, конфиденциальность | Н/С | Директор | Кандидат сообщает о трудностях или не проходит проверку |
| Завышенное обещание эффекта | С | С | Не гарантировать урожайность; фиксировать объем и критерии приемки | Н/С | Директор, агроном | Клиент ожидает результат вне договора |
[ДОПУЩЕНИЕ] При правовом запрете, отсутствии безопасных условий или неподтвержденной компетенции применяется остановка независимо от остаточного рейтинга. Владелец фиксирует событие, решение и условия возобновления; директор пересчитывает календарь и ликвидность. После сезона проверяются фактические затраты, претензии и продления. Масштабирование допускается только после подтверждения способности одной бригады выполнять обязательства без скрытой неоплачиваемой нагрузки.
[ДОПУЩЕНИЕ] Дополнительные риски: тариф 1300 не принят — директор проверяет платный спрос и ценовой стресс; КП выше 4 млн за пару — директор останавливает закупку и пересогласует дефицит; транш не поступил — запрет необратимых обязательств; дополнительные обследования не подтверждены — отдельная проверка мониторинга; НДС не переложен на клиента — бухгалтер пересчитывает маржу; пиковый месяц превышает рабочие окна — операционный руководитель ограничивает портфель. Триггеры: неподписанное обязательство на дату D/J, КП выше лимита, просроченный транш, отрицательный прогноз денег или отсутствие безопасных смен. Рейтинги остаточного риска — цели после мер, не уже достигнутое снижение.
### Условия перехода к запуску
| Gate | Требуемое доказательство | Ответственный | Статус |
|---|---|---|---|
| G0 Право и налоги | Применимый маршрут для полей/работ/оператора; налоговая карта и договор | Директор, юрист, бухгалтер | Внешняя проверка открыта |
| G1 Покупатель | Конкретные объемы, цена, окна, приемка и оплата; не только интервью | Директор | Внешняя проверка открыта |
| G2 Ресурс | Сопоставимые полные КП, команда, сервис и совместный календарь | Операционный руководитель | Внешняя проверка открыта |
| G3 Экономика | Пересчет NPV, мощности и кассы на условиях G0–G2; согласованный буфер | Финансовый ответственный | Сценарии рассчитаны; реальные условия открыты |
| G4 Ограниченный пилот | Допуск, протокол качества, полная себестоимость и фактическая оплата | Команда и клиент | Не проводился |
| G5 Следующая инвестиционная редакция | Выбранные подтвержденные условия и согласованные лимиты обязательств | Директор/инвестор | Не утверждена |
[ДОПУЩЕНИЕ] Нельзя принимать необратимые обязательства, если применимый gate не пройден. Кабинетные проверки и сбор КП могут идти параллельно; расходы требуют заранее согласованного лимита. Сама подготовка этой редакции не означает прохождения G0–G5. Матрица всех решений — `docs/CHANGE_DECISIONS_brainstorm.md`; детали расчетов — `docs/FINANCE_CORRECTED_brainstorm.md`.
Статус решения: GO только на обратимые проверки; NO-GO на безотзывную закупку и коммерческие обещания до закрытия применимых gates. Проверить: конкретный правовой/безопасностный маршрут, оплачиваемый спрос и условия, сопоставимую комплектацию/сервис и людей, помесячную мощность и кассу/буфер. Внешние риски остаются незакрытыми; это не заявление, что реальные риски устранены. После проверок — отдельное решение по пилоту/закупке.</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7.jpg"/><Relationship Id="rId4" Type="http://schemas.openxmlformats.org/officeDocument/2006/relationships/image" Target="../media/image2.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8.jpg"/><Relationship Id="rId4" Type="http://schemas.openxmlformats.org/officeDocument/2006/relationships/image" Target="../media/image2.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2.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image" Target="../media/image2.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1.jpg"/><Relationship Id="rId4" Type="http://schemas.openxmlformats.org/officeDocument/2006/relationships/image" Target="../media/image2.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2.jpg"/><Relationship Id="rId4" Type="http://schemas.openxmlformats.org/officeDocument/2006/relationships/image" Target="../media/image2.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3.jpg"/><Relationship Id="rId4" Type="http://schemas.openxmlformats.org/officeDocument/2006/relationships/image" Target="../media/image2.png"/><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5.jpg"/><Relationship Id="rId4" Type="http://schemas.openxmlformats.org/officeDocument/2006/relationships/image" Target="../media/image2.png"/><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6.jpg"/><Relationship Id="rId4" Type="http://schemas.openxmlformats.org/officeDocument/2006/relationships/image" Target="../media/image2.png"/><Relationship Id="rId5"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7.jpg"/><Relationship Id="rId4" Type="http://schemas.openxmlformats.org/officeDocument/2006/relationships/image" Target="../media/image2.png"/><Relationship Id="rId5"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8.jpg"/><Relationship Id="rId4" Type="http://schemas.openxmlformats.org/officeDocument/2006/relationships/image" Target="../media/image2.png"/><Relationship Id="rId5"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9.jpg"/><Relationship Id="rId4" Type="http://schemas.openxmlformats.org/officeDocument/2006/relationships/image" Target="../media/image2.png"/><Relationship Id="rId5"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0.jpg"/><Relationship Id="rId4" Type="http://schemas.openxmlformats.org/officeDocument/2006/relationships/image" Target="../media/image2.png"/><Relationship Id="rId5" Type="http://schemas.openxmlformats.org/officeDocument/2006/relationships/chart" Target="../charts/chart2.xml"/><Relationship Id="rId6" Type="http://schemas.openxmlformats.org/officeDocument/2006/relationships/image" Target="../media/image3.png"/><Relationship Id="rId7" Type="http://schemas.openxmlformats.org/officeDocument/2006/relationships/chart" Target="../charts/chart6.xml"/><Relationship Id="rId8" Type="http://schemas.openxmlformats.org/officeDocument/2006/relationships/chart" Target="../charts/chart8.xml"/><Relationship Id="rId9" Type="http://schemas.openxmlformats.org/officeDocument/2006/relationships/chart" Target="../charts/char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1.jpg"/><Relationship Id="rId4" Type="http://schemas.openxmlformats.org/officeDocument/2006/relationships/image" Target="../media/image2.png"/><Relationship Id="rId5" Type="http://schemas.openxmlformats.org/officeDocument/2006/relationships/chart" Target="../charts/chart3.xml"/><Relationship Id="rId6" Type="http://schemas.openxmlformats.org/officeDocument/2006/relationships/image" Target="../media/image3.png"/><Relationship Id="rId7" Type="http://schemas.openxmlformats.org/officeDocument/2006/relationships/chart" Target="../charts/chart7.xml"/><Relationship Id="rId8" Type="http://schemas.openxmlformats.org/officeDocument/2006/relationships/chart" Target="../charts/chart9.xml"/><Relationship Id="rId9" Type="http://schemas.openxmlformats.org/officeDocument/2006/relationships/chart" Target="../charts/char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2.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chart" Target="../charts/char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3.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chart" Target="../charts/char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4.jpg"/><Relationship Id="rId4" Type="http://schemas.openxmlformats.org/officeDocument/2006/relationships/image" Target="../media/image2.png"/><Relationship Id="rId5"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5.jpg"/><Relationship Id="rId4" Type="http://schemas.openxmlformats.org/officeDocument/2006/relationships/image" Target="../media/image2.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AV_background" descr="background_01.jpg"/>
          <p:cNvPicPr>
            <a:picLocks noChangeAspect="1"/>
          </p:cNvPicPr>
          <p:nvPr/>
        </p:nvPicPr>
        <p:blipFill>
          <a:blip r:embed="rId3"/>
          <a:stretch>
            <a:fillRect/>
          </a:stretch>
        </p:blipFill>
        <p:spPr>
          <a:xfrm>
            <a:off x="-73152" y="-45720"/>
            <a:ext cx="12335256" cy="694944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01  /  РЕЗЮМЕ</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5400" b="1">
                <a:solidFill>
                  <a:srgbClr val="FFFFFF"/>
                </a:solidFill>
                <a:latin typeface="Arial"/>
              </a:defRPr>
            </a:pPr>
            <a:r>
              <a:t>АгроВектор</a:t>
            </a:r>
          </a:p>
        </p:txBody>
      </p:sp>
      <p:sp>
        <p:nvSpPr>
          <p:cNvPr id="7" name="TextBox 6"/>
          <p:cNvSpPr txBox="1"/>
          <p:nvPr/>
        </p:nvSpPr>
        <p:spPr>
          <a:xfrm>
            <a:off x="621792" y="2377440"/>
            <a:ext cx="5394960" cy="1005840"/>
          </a:xfrm>
          <a:prstGeom prst="rect">
            <a:avLst/>
          </a:prstGeom>
          <a:noFill/>
        </p:spPr>
        <p:txBody>
          <a:bodyPr wrap="square" lIns="0" tIns="0" rIns="0">
            <a:spAutoFit/>
          </a:bodyPr>
          <a:lstStyle/>
          <a:p>
            <a:pPr>
              <a:spcAft>
                <a:spcPts val="1000"/>
              </a:spcAft>
              <a:defRPr sz="2400" b="0">
                <a:solidFill>
                  <a:srgbClr val="FFFFFF"/>
                </a:solidFill>
                <a:latin typeface="Arial"/>
              </a:defRPr>
            </a:pPr>
            <a:r>
              <a:t>Мониторинг посевов.</a:t>
            </a:r>
          </a:p>
          <a:p>
            <a:pPr>
              <a:spcAft>
                <a:spcPts val="1000"/>
              </a:spcAft>
              <a:defRPr sz="2400" b="0">
                <a:solidFill>
                  <a:srgbClr val="FFFFFF"/>
                </a:solidFill>
                <a:latin typeface="Arial"/>
              </a:defRPr>
            </a:pPr>
            <a:r>
              <a:t>Точечное внесение. Проверяемый отчет.</a:t>
            </a:r>
          </a:p>
        </p:txBody>
      </p:sp>
      <p:sp>
        <p:nvSpPr>
          <p:cNvPr id="8" name="TextBox 7"/>
          <p:cNvSpPr txBox="1"/>
          <p:nvPr/>
        </p:nvSpPr>
        <p:spPr>
          <a:xfrm>
            <a:off x="621792" y="3822191"/>
            <a:ext cx="5486400" cy="502920"/>
          </a:xfrm>
          <a:prstGeom prst="rect">
            <a:avLst/>
          </a:prstGeom>
          <a:noFill/>
        </p:spPr>
        <p:txBody>
          <a:bodyPr wrap="square" lIns="0" tIns="0" rIns="0">
            <a:spAutoFit/>
          </a:bodyPr>
          <a:lstStyle/>
          <a:p>
            <a:pPr>
              <a:spcAft>
                <a:spcPts val="1000"/>
              </a:spcAft>
              <a:defRPr sz="1600" b="0">
                <a:solidFill>
                  <a:srgbClr val="D6ED89"/>
                </a:solidFill>
                <a:latin typeface="Arial"/>
              </a:defRPr>
            </a:pPr>
            <a:r>
              <a:t>Татарстан  /  План 2027–2031</a:t>
            </a:r>
          </a:p>
        </p:txBody>
      </p:sp>
      <p:sp>
        <p:nvSpPr>
          <p:cNvPr id="9" name="TextBox 8"/>
          <p:cNvSpPr txBox="1"/>
          <p:nvPr/>
        </p:nvSpPr>
        <p:spPr>
          <a:xfrm>
            <a:off x="621792" y="4663440"/>
            <a:ext cx="5669280" cy="1024128"/>
          </a:xfrm>
          <a:prstGeom prst="rect">
            <a:avLst/>
          </a:prstGeom>
          <a:noFill/>
        </p:spPr>
        <p:txBody>
          <a:bodyPr wrap="square" lIns="0" tIns="0" rIns="0">
            <a:spAutoFit/>
          </a:bodyPr>
          <a:lstStyle/>
          <a:p>
            <a:pPr>
              <a:spcAft>
                <a:spcPts val="1000"/>
              </a:spcAft>
              <a:defRPr sz="2000" b="0">
                <a:solidFill>
                  <a:srgbClr val="FFFFFF"/>
                </a:solidFill>
                <a:latin typeface="Arial"/>
              </a:defRPr>
            </a:pPr>
            <a:r>
              <a:t>9,5 млн ₽ — стартовая потребность</a:t>
            </a:r>
          </a:p>
          <a:p>
            <a:pPr>
              <a:spcAft>
                <a:spcPts val="1000"/>
              </a:spcAft>
              <a:defRPr sz="2000" b="0">
                <a:solidFill>
                  <a:srgbClr val="FFFFFF"/>
                </a:solidFill>
                <a:latin typeface="Arial"/>
              </a:defRPr>
            </a:pPr>
            <a:r>
              <a:t>Заказы, разрешения и деньги не подтверждены.</a:t>
            </a:r>
          </a:p>
        </p:txBody>
      </p:sp>
      <p:sp>
        <p:nvSpPr>
          <p:cNvPr id="10" name="Rectangle 9"/>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21.10.2026</a:t>
            </a:r>
          </a:p>
        </p:txBody>
      </p:sp>
      <p:sp>
        <p:nvSpPr>
          <p:cNvPr id="12" name="TextBox 11"/>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01/22</a:t>
            </a:r>
          </a:p>
        </p:txBody>
      </p:sp>
      <p:pic>
        <p:nvPicPr>
          <p:cNvPr id="14" name="!!AV_drone" descr="drone_render.png"/>
          <p:cNvPicPr>
            <a:picLocks noChangeAspect="1"/>
          </p:cNvPicPr>
          <p:nvPr/>
        </p:nvPicPr>
        <p:blipFill>
          <a:blip r:embed="rId5"/>
          <a:stretch>
            <a:fillRect/>
          </a:stretch>
        </p:blipFill>
        <p:spPr>
          <a:xfrm>
            <a:off x="6583680" y="1234440"/>
            <a:ext cx="5029200" cy="314325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Click="1">
        <p159:morph option="byObject"/>
      </p:transition>
    </mc:Choice>
    <mc:Fallback>
      <p:transition spd="med" advClick="1">
        <p:fade/>
      </p:transition>
    </mc:Fallback>
  </mc:AlternateContent>
  <p:timing>
    <p:tnLst>
      <p:par>
        <p:cTn id="1" dur="indefinite" restart="never" nodeType="tmRoot">
          <p:childTnLst>
            <p:par>
              <p:cTn id="3" fill="hold">
                <p:stCondLst>
                  <p:cond delay="0"/>
                </p:stCondLst>
                <p:childTnLst>
                  <p:animMotion origin="layout" path="M 0 0 L 0 -0.004 E" pathEditMode="relative">
                    <p:cBhvr additive="base">
                      <p:cTn id="4" dur="5000" autoRev="1" repeatCount="indefinite" accel="40000" decel="40000" fill="hold">
                        <p:stCondLst>
                          <p:cond delay="0"/>
                        </p:stCondLst>
                      </p:cTn>
                      <p:tgtEl>
                        <p:spTgt spid="13"/>
                      </p:tgtEl>
                      <p:attrNameLst>
                        <p:attrName>ppt_x</p:attrName>
                        <p:attrName>ppt_y</p:attrName>
                      </p:attrNameLst>
                    </p:cBhvr>
                  </p:animMotion>
                </p:childTnLst>
              </p:cTn>
            </p:par>
            <p:par>
              <p:cTn id="5" fill="hold">
                <p:stCondLst>
                  <p:cond delay="0"/>
                </p:stCondLst>
                <p:childTnLst>
                  <p:animMotion origin="layout" path="M 0 0 L 0 -0.012 E" pathEditMode="relative">
                    <p:cBhvr additive="base">
                      <p:cTn id="6" dur="2200" autoRev="1" repeatCount="indefinite" accel="40000" decel="40000" fill="hold">
                        <p:stCondLst>
                          <p:cond delay="0"/>
                        </p:stCondLst>
                      </p:cTn>
                      <p:tgtEl>
                        <p:spTgt spid="14"/>
                      </p:tgtEl>
                      <p:attrNameLst>
                        <p:attrName>ppt_x</p:attrName>
                        <p:attrName>ppt_y</p:attrName>
                      </p:attrNameLst>
                    </p:cBhvr>
                  </p:animMotion>
                </p:childTnLst>
              </p:cTn>
            </p:par>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02.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02  /  SMART-ЦЕЛИ</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Сначала доказательства — затем сезон</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Правовая карта: 01.11.2026</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20 интервью: 29.11.2026 · 10 клиентов: 21.03.2027</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Пилот 100 га: до 30.04.2027, внутри сезонного объема.</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21.10.2026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02/22</a:t>
            </a:r>
          </a:p>
        </p:txBody>
      </p:sp>
      <p:pic>
        <p:nvPicPr>
          <p:cNvPr id="18" name="!!AV_spray" descr="spray_only.png"/>
          <p:cNvPicPr>
            <a:picLocks noChangeAspect="1"/>
          </p:cNvPicPr>
          <p:nvPr/>
        </p:nvPicPr>
        <p:blipFill>
          <a:blip r:embed="rId5"/>
          <a:stretch>
            <a:fillRect/>
          </a:stretch>
        </p:blipFill>
        <p:spPr>
          <a:xfrm>
            <a:off x="8229600" y="1920240"/>
            <a:ext cx="2788920" cy="2556510"/>
          </a:xfrm>
          <a:prstGeom prst="rect">
            <a:avLst/>
          </a:prstGeom>
        </p:spPr>
      </p:pic>
      <p:pic>
        <p:nvPicPr>
          <p:cNvPr id="17" name="!!AV_drone" descr="drone_render.png"/>
          <p:cNvPicPr>
            <a:picLocks noChangeAspect="1"/>
          </p:cNvPicPr>
          <p:nvPr/>
        </p:nvPicPr>
        <p:blipFill>
          <a:blip r:embed="rId6"/>
          <a:stretch>
            <a:fillRect/>
          </a:stretch>
        </p:blipFill>
        <p:spPr>
          <a:xfrm>
            <a:off x="8229600" y="1920240"/>
            <a:ext cx="2788920" cy="174307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Click="1">
        <p159:morph option="byObject"/>
      </p:transition>
    </mc:Choice>
    <mc:Fallback>
      <p:transition spd="med" advClick="1">
        <p:fade/>
      </p:transition>
    </mc:Fallback>
  </mc:AlternateContent>
  <p:timing>
    <p:tnLst>
      <p:par>
        <p:cTn id="1" dur="indefinite" restart="never" nodeType="tmRoot">
          <p:childTnLst>
            <p:par>
              <p:cTn id="3" fill="hold">
                <p:stCondLst>
                  <p:cond delay="0"/>
                </p:stCondLst>
                <p:childTnLst>
                  <p:animMotion origin="layout" path="M 0 0 L -0.12 0 E" pathEditMode="relative">
                    <p:cBhvr additive="base">
                      <p:cTn id="4" dur="4000" autoRev="1" repeatCount="indefinite" accel="40000" decel="40000" fill="hold">
                        <p:stCondLst>
                          <p:cond delay="0"/>
                        </p:stCondLst>
                      </p:cTn>
                      <p:tgtEl>
                        <p:spTgt spid="17"/>
                      </p:tgtEl>
                      <p:attrNameLst>
                        <p:attrName>ppt_x</p:attrName>
                        <p:attrName>ppt_y</p:attrName>
                      </p:attrNameLst>
                    </p:cBhvr>
                  </p:animMotion>
                </p:childTnLst>
              </p:cTn>
            </p:par>
            <p:par>
              <p:cTn id="5" fill="hold">
                <p:stCondLst>
                  <p:cond delay="0"/>
                </p:stCondLst>
                <p:childTnLst>
                  <p:animMotion origin="layout" path="M 0 0 L -0.12 0 E" pathEditMode="relative">
                    <p:cBhvr additive="base">
                      <p:cTn id="6" dur="4000" autoRev="1" repeatCount="indefinite" accel="40000" decel="40000" fill="hold">
                        <p:stCondLst>
                          <p:cond delay="0"/>
                        </p:stCondLst>
                      </p:cTn>
                      <p:tgtEl>
                        <p:spTgt spid="18"/>
                      </p:tgtEl>
                      <p:attrNameLst>
                        <p:attrName>ppt_x</p:attrName>
                        <p:attrName>ppt_y</p:attrName>
                      </p:attrNameLst>
                    </p:cBhvr>
                  </p:animMotion>
                </p:childTnLst>
              </p:cTn>
            </p:par>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03.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03  /  ОПИСАНИЕ ПРОДУКТА И СТРАТЕГИЧЕСКАЯ КАНВА</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Клиент покупает результат, не дрон</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Задание → обследование → внесение → отчет</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Отчет до 48 часов · маршрут от 100 га-проходов</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Мониторинг оплачивается отдельно; урожайность не гарантируется.</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21.10.2026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03/22</a:t>
            </a:r>
          </a:p>
        </p:txBody>
      </p:sp>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Click="1">
        <p159:morph option="byObject"/>
      </p:transition>
    </mc:Choice>
    <mc:Fallback>
      <p:transition spd="med" advClick="1">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AV_background" descr="background_04.jpg"/>
          <p:cNvPicPr>
            <a:picLocks noChangeAspect="1"/>
          </p:cNvPicPr>
          <p:nvPr/>
        </p:nvPicPr>
        <p:blipFill>
          <a:blip r:embed="rId3"/>
          <a:stretch>
            <a:fillRect/>
          </a:stretch>
        </p:blipFill>
        <p:spPr>
          <a:xfrm>
            <a:off x="0" y="0"/>
            <a:ext cx="12191999" cy="6858000"/>
          </a:xfrm>
          <a:prstGeom prst="rect">
            <a:avLst/>
          </a:prstGeom>
        </p:spPr>
      </p:pic>
      <p:pic>
        <p:nvPicPr>
          <p:cNvPr id="38" name="!!AV_drone" descr="drone_render.png"/>
          <p:cNvPicPr>
            <a:picLocks noChangeAspect="1"/>
          </p:cNvPicPr>
          <p:nvPr/>
        </p:nvPicPr>
        <p:blipFill>
          <a:blip r:embed="rId5"/>
          <a:stretch>
            <a:fillRect/>
          </a:stretch>
        </p:blipFill>
        <p:spPr>
          <a:xfrm>
            <a:off x="10442448" y="722376"/>
            <a:ext cx="1024128" cy="640080"/>
          </a:xfrm>
          <a:prstGeom prst="rect">
            <a:avLst/>
          </a:prstGeom>
        </p:spPr>
      </p:pic>
      <p:sp>
        <p:nvSpPr>
          <p:cNvPr id="39" name="Rectangle 38"/>
          <p:cNvSpPr/>
          <p:nvPr/>
        </p:nvSpPr>
        <p:spPr>
          <a:xfrm>
            <a:off x="320040" y="256032"/>
            <a:ext cx="11567160" cy="6117336"/>
          </a:xfrm>
          <a:prstGeom prst="rect">
            <a:avLst/>
          </a:prstGeom>
          <a:solidFill>
            <a:srgbClr val="0A1B19">
              <a:alpha val="9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6928" y="393192"/>
            <a:ext cx="10789920" cy="320040"/>
          </a:xfrm>
          <a:prstGeom prst="rect">
            <a:avLst/>
          </a:prstGeom>
          <a:noFill/>
        </p:spPr>
        <p:txBody>
          <a:bodyPr wrap="square" lIns="0" rIns="0" tIns="0">
            <a:spAutoFit/>
          </a:bodyPr>
          <a:lstStyle/>
          <a:p>
            <a:pPr>
              <a:spcAft>
                <a:spcPts val="1000"/>
              </a:spcAft>
              <a:defRPr sz="1300" b="1">
                <a:solidFill>
                  <a:srgbClr val="D6ED89"/>
                </a:solidFill>
                <a:latin typeface="Arial"/>
              </a:defRPr>
            </a:pPr>
            <a:r>
              <a:t>АГРОВЕКТОР / 04 / LEAN CANVAS</a:t>
            </a:r>
          </a:p>
        </p:txBody>
      </p:sp>
      <p:sp>
        <p:nvSpPr>
          <p:cNvPr id="41" name="TextBox 40"/>
          <p:cNvSpPr txBox="1"/>
          <p:nvPr/>
        </p:nvSpPr>
        <p:spPr>
          <a:xfrm>
            <a:off x="566928" y="914400"/>
            <a:ext cx="10972800" cy="548640"/>
          </a:xfrm>
          <a:prstGeom prst="rect">
            <a:avLst/>
          </a:prstGeom>
          <a:noFill/>
        </p:spPr>
        <p:txBody>
          <a:bodyPr wrap="square" lIns="0" rIns="0" tIns="0">
            <a:spAutoFit/>
          </a:bodyPr>
          <a:lstStyle/>
          <a:p>
            <a:pPr>
              <a:spcAft>
                <a:spcPts val="1000"/>
              </a:spcAft>
              <a:defRPr sz="2700" b="1">
                <a:solidFill>
                  <a:srgbClr val="FFFFFF"/>
                </a:solidFill>
                <a:latin typeface="Arial"/>
              </a:defRPr>
            </a:pPr>
            <a:r>
              <a:t>Бизнес-модель: девять проверяемых гипотез</a:t>
            </a:r>
          </a:p>
        </p:txBody>
      </p:sp>
      <p:sp>
        <p:nvSpPr>
          <p:cNvPr id="42" name="TextBox 41"/>
          <p:cNvSpPr txBox="1"/>
          <p:nvPr/>
        </p:nvSpPr>
        <p:spPr>
          <a:xfrm>
            <a:off x="566928" y="6519672"/>
            <a:ext cx="10698480" cy="201168"/>
          </a:xfrm>
          <a:prstGeom prst="rect">
            <a:avLst/>
          </a:prstGeom>
          <a:noFill/>
        </p:spPr>
        <p:txBody>
          <a:bodyPr wrap="square" lIns="0" rIns="0" tIns="0">
            <a:spAutoFit/>
          </a:bodyPr>
          <a:lstStyle/>
          <a:p>
            <a:pPr>
              <a:spcAft>
                <a:spcPts val="1000"/>
              </a:spcAft>
              <a:defRPr sz="900" b="0">
                <a:solidFill>
                  <a:srgbClr val="CCDACF"/>
                </a:solidFill>
                <a:latin typeface="Arial"/>
              </a:defRPr>
            </a:pPr>
            <a:r>
              <a:t>Проектные гипотезы и расчеты; не подтвержденный бизнес. Референс: Практика 08.10.26. / Редакция 21.10.2026</a:t>
            </a:r>
          </a:p>
        </p:txBody>
      </p:sp>
      <p:sp>
        <p:nvSpPr>
          <p:cNvPr id="43" name="TextBox 42"/>
          <p:cNvSpPr txBox="1"/>
          <p:nvPr/>
        </p:nvSpPr>
        <p:spPr>
          <a:xfrm>
            <a:off x="11082528" y="6501384"/>
            <a:ext cx="640080" cy="219456"/>
          </a:xfrm>
          <a:prstGeom prst="rect">
            <a:avLst/>
          </a:prstGeom>
          <a:noFill/>
        </p:spPr>
        <p:txBody>
          <a:bodyPr wrap="square" lIns="0" rIns="0" tIns="0">
            <a:spAutoFit/>
          </a:bodyPr>
          <a:lstStyle/>
          <a:p>
            <a:pPr>
              <a:spcAft>
                <a:spcPts val="1000"/>
              </a:spcAft>
              <a:defRPr sz="1000" b="1">
                <a:solidFill>
                  <a:srgbClr val="D6ED89"/>
                </a:solidFill>
                <a:latin typeface="Arial"/>
              </a:defRPr>
            </a:pPr>
            <a:r>
              <a:t>04/22</a:t>
            </a:r>
          </a:p>
        </p:txBody>
      </p:sp>
      <p:sp>
        <p:nvSpPr>
          <p:cNvPr id="44" name="Rectangle 43"/>
          <p:cNvSpPr/>
          <p:nvPr/>
        </p:nvSpPr>
        <p:spPr>
          <a:xfrm>
            <a:off x="566928" y="1746504"/>
            <a:ext cx="2194560" cy="2980944"/>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5800" y="1837943"/>
            <a:ext cx="1956815" cy="384048"/>
          </a:xfrm>
          <a:prstGeom prst="rect">
            <a:avLst/>
          </a:prstGeom>
          <a:noFill/>
        </p:spPr>
        <p:txBody>
          <a:bodyPr wrap="square" lIns="0" rIns="0" tIns="0">
            <a:spAutoFit/>
          </a:bodyPr>
          <a:lstStyle/>
          <a:p>
            <a:pPr>
              <a:spcAft>
                <a:spcPts val="1000"/>
              </a:spcAft>
              <a:defRPr sz="1300" b="1">
                <a:solidFill>
                  <a:srgbClr val="D6ED89"/>
                </a:solidFill>
                <a:latin typeface="Arial"/>
              </a:defRPr>
            </a:pPr>
            <a:r>
              <a:t>2. Проблемы</a:t>
            </a:r>
          </a:p>
        </p:txBody>
      </p:sp>
      <p:sp>
        <p:nvSpPr>
          <p:cNvPr id="46" name="TextBox 45"/>
          <p:cNvSpPr txBox="1"/>
          <p:nvPr/>
        </p:nvSpPr>
        <p:spPr>
          <a:xfrm>
            <a:off x="685800" y="2286000"/>
            <a:ext cx="1956815" cy="2395727"/>
          </a:xfrm>
          <a:prstGeom prst="rect">
            <a:avLst/>
          </a:prstGeom>
          <a:noFill/>
        </p:spPr>
        <p:txBody>
          <a:bodyPr wrap="square" lIns="0" rIns="0" tIns="0">
            <a:spAutoFit/>
          </a:bodyPr>
          <a:lstStyle/>
          <a:p>
            <a:pPr>
              <a:spcAft>
                <a:spcPts val="500"/>
              </a:spcAft>
              <a:defRPr sz="1400" b="0">
                <a:solidFill>
                  <a:srgbClr val="FFFFFF"/>
                </a:solidFill>
                <a:latin typeface="Arial"/>
              </a:defRPr>
            </a:pPr>
            <a:r>
              <a:t>Агроокна; неоднородность посевов; нехватка карт.</a:t>
            </a:r>
          </a:p>
          <a:p>
            <a:pPr>
              <a:spcAft>
                <a:spcPts val="500"/>
              </a:spcAft>
              <a:defRPr sz="1400" b="0">
                <a:solidFill>
                  <a:srgbClr val="FFFFFF"/>
                </a:solidFill>
                <a:latin typeface="Arial"/>
              </a:defRPr>
            </a:pPr>
          </a:p>
          <a:p>
            <a:pPr>
              <a:spcAft>
                <a:spcPts val="500"/>
              </a:spcAft>
              <a:defRPr sz="1400" b="0">
                <a:solidFill>
                  <a:srgbClr val="FFFFFF"/>
                </a:solidFill>
                <a:latin typeface="Arial"/>
              </a:defRPr>
            </a:pPr>
            <a:r>
              <a:t>Альтернативы: наземная техника, свой БВС, подрядчик.</a:t>
            </a:r>
          </a:p>
        </p:txBody>
      </p:sp>
      <p:sp>
        <p:nvSpPr>
          <p:cNvPr id="47" name="Rectangle 46"/>
          <p:cNvSpPr/>
          <p:nvPr/>
        </p:nvSpPr>
        <p:spPr>
          <a:xfrm>
            <a:off x="2798064" y="1746504"/>
            <a:ext cx="2194560" cy="1417320"/>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916936" y="1837943"/>
            <a:ext cx="1956815" cy="384048"/>
          </a:xfrm>
          <a:prstGeom prst="rect">
            <a:avLst/>
          </a:prstGeom>
          <a:noFill/>
        </p:spPr>
        <p:txBody>
          <a:bodyPr wrap="square" lIns="0" rIns="0" tIns="0">
            <a:spAutoFit/>
          </a:bodyPr>
          <a:lstStyle/>
          <a:p>
            <a:pPr>
              <a:spcAft>
                <a:spcPts val="1000"/>
              </a:spcAft>
              <a:defRPr sz="1300" b="1">
                <a:solidFill>
                  <a:srgbClr val="D6ED89"/>
                </a:solidFill>
                <a:latin typeface="Arial"/>
              </a:defRPr>
            </a:pPr>
            <a:r>
              <a:t>4. Решение</a:t>
            </a:r>
          </a:p>
        </p:txBody>
      </p:sp>
      <p:sp>
        <p:nvSpPr>
          <p:cNvPr id="49" name="TextBox 48"/>
          <p:cNvSpPr txBox="1"/>
          <p:nvPr/>
        </p:nvSpPr>
        <p:spPr>
          <a:xfrm>
            <a:off x="2916936" y="2286000"/>
            <a:ext cx="1956815" cy="832104"/>
          </a:xfrm>
          <a:prstGeom prst="rect">
            <a:avLst/>
          </a:prstGeom>
          <a:noFill/>
        </p:spPr>
        <p:txBody>
          <a:bodyPr wrap="square" lIns="0" rIns="0" tIns="0">
            <a:spAutoFit/>
          </a:bodyPr>
          <a:lstStyle/>
          <a:p>
            <a:pPr>
              <a:spcAft>
                <a:spcPts val="500"/>
              </a:spcAft>
              <a:defRPr sz="1400" b="0">
                <a:solidFill>
                  <a:srgbClr val="FFFFFF"/>
                </a:solidFill>
                <a:latin typeface="Arial"/>
              </a:defRPr>
            </a:pPr>
            <a:r>
              <a:t>Обследование → карта → внесение → отчет.</a:t>
            </a:r>
          </a:p>
          <a:p>
            <a:pPr>
              <a:spcAft>
                <a:spcPts val="500"/>
              </a:spcAft>
              <a:defRPr sz="1400" b="0">
                <a:solidFill>
                  <a:srgbClr val="FFFFFF"/>
                </a:solidFill>
                <a:latin typeface="Arial"/>
              </a:defRPr>
            </a:pPr>
            <a:r>
              <a:t>Платный пилот и приемка.</a:t>
            </a:r>
          </a:p>
        </p:txBody>
      </p:sp>
      <p:sp>
        <p:nvSpPr>
          <p:cNvPr id="50" name="Rectangle 49"/>
          <p:cNvSpPr/>
          <p:nvPr/>
        </p:nvSpPr>
        <p:spPr>
          <a:xfrm>
            <a:off x="2798064" y="3282696"/>
            <a:ext cx="2194560" cy="1444752"/>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916936" y="3374136"/>
            <a:ext cx="1956815" cy="384048"/>
          </a:xfrm>
          <a:prstGeom prst="rect">
            <a:avLst/>
          </a:prstGeom>
          <a:noFill/>
        </p:spPr>
        <p:txBody>
          <a:bodyPr wrap="square" lIns="0" rIns="0" tIns="0">
            <a:spAutoFit/>
          </a:bodyPr>
          <a:lstStyle/>
          <a:p>
            <a:pPr>
              <a:spcAft>
                <a:spcPts val="1000"/>
              </a:spcAft>
              <a:defRPr sz="1300" b="1">
                <a:solidFill>
                  <a:srgbClr val="D6ED89"/>
                </a:solidFill>
                <a:latin typeface="Arial"/>
              </a:defRPr>
            </a:pPr>
            <a:r>
              <a:t>8. Ключевые метрики</a:t>
            </a:r>
          </a:p>
        </p:txBody>
      </p:sp>
      <p:sp>
        <p:nvSpPr>
          <p:cNvPr id="52" name="TextBox 51"/>
          <p:cNvSpPr txBox="1"/>
          <p:nvPr/>
        </p:nvSpPr>
        <p:spPr>
          <a:xfrm>
            <a:off x="2916936" y="3822191"/>
            <a:ext cx="1956815" cy="859536"/>
          </a:xfrm>
          <a:prstGeom prst="rect">
            <a:avLst/>
          </a:prstGeom>
          <a:noFill/>
        </p:spPr>
        <p:txBody>
          <a:bodyPr wrap="square" lIns="0" rIns="0" tIns="0">
            <a:spAutoFit/>
          </a:bodyPr>
          <a:lstStyle/>
          <a:p>
            <a:pPr>
              <a:spcAft>
                <a:spcPts val="500"/>
              </a:spcAft>
              <a:defRPr sz="1400" b="0">
                <a:solidFill>
                  <a:srgbClr val="FFFFFF"/>
                </a:solidFill>
                <a:latin typeface="Arial"/>
              </a:defRPr>
            </a:pPr>
            <a:r>
              <a:t>Оплаченные га; вклад; повторы; отчет ≤48 ч.</a:t>
            </a:r>
          </a:p>
          <a:p>
            <a:pPr>
              <a:spcAft>
                <a:spcPts val="500"/>
              </a:spcAft>
              <a:defRPr sz="1400" b="0">
                <a:solidFill>
                  <a:srgbClr val="FFFFFF"/>
                </a:solidFill>
                <a:latin typeface="Arial"/>
              </a:defRPr>
            </a:pPr>
            <a:r>
              <a:t>Цель:10 клиентов.</a:t>
            </a:r>
          </a:p>
        </p:txBody>
      </p:sp>
      <p:sp>
        <p:nvSpPr>
          <p:cNvPr id="53" name="Rectangle 52"/>
          <p:cNvSpPr/>
          <p:nvPr/>
        </p:nvSpPr>
        <p:spPr>
          <a:xfrm>
            <a:off x="5029200" y="1746504"/>
            <a:ext cx="2194560" cy="2980944"/>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148072" y="1837943"/>
            <a:ext cx="1956815" cy="384048"/>
          </a:xfrm>
          <a:prstGeom prst="rect">
            <a:avLst/>
          </a:prstGeom>
          <a:noFill/>
        </p:spPr>
        <p:txBody>
          <a:bodyPr wrap="square" lIns="0" rIns="0" tIns="0">
            <a:spAutoFit/>
          </a:bodyPr>
          <a:lstStyle/>
          <a:p>
            <a:pPr>
              <a:spcAft>
                <a:spcPts val="1000"/>
              </a:spcAft>
              <a:defRPr sz="1300" b="1">
                <a:solidFill>
                  <a:srgbClr val="D6ED89"/>
                </a:solidFill>
                <a:latin typeface="Arial"/>
              </a:defRPr>
            </a:pPr>
            <a:r>
              <a:t>3. Уникальная ценность</a:t>
            </a:r>
          </a:p>
        </p:txBody>
      </p:sp>
      <p:sp>
        <p:nvSpPr>
          <p:cNvPr id="55" name="TextBox 54"/>
          <p:cNvSpPr txBox="1"/>
          <p:nvPr/>
        </p:nvSpPr>
        <p:spPr>
          <a:xfrm>
            <a:off x="5148072" y="2286000"/>
            <a:ext cx="1956815" cy="2395727"/>
          </a:xfrm>
          <a:prstGeom prst="rect">
            <a:avLst/>
          </a:prstGeom>
          <a:noFill/>
        </p:spPr>
        <p:txBody>
          <a:bodyPr wrap="square" lIns="0" rIns="0" tIns="0">
            <a:spAutoFit/>
          </a:bodyPr>
          <a:lstStyle/>
          <a:p>
            <a:pPr>
              <a:spcAft>
                <a:spcPts val="500"/>
              </a:spcAft>
              <a:defRPr sz="1400" b="0">
                <a:solidFill>
                  <a:srgbClr val="FFFFFF"/>
                </a:solidFill>
                <a:latin typeface="Arial"/>
              </a:defRPr>
            </a:pPr>
            <a:r>
              <a:t>От карты проблемы до согласованной операции и проверяемого отчета.</a:t>
            </a:r>
          </a:p>
          <a:p>
            <a:pPr>
              <a:spcAft>
                <a:spcPts val="500"/>
              </a:spcAft>
              <a:defRPr sz="1400" b="0">
                <a:solidFill>
                  <a:srgbClr val="FFFFFF"/>
                </a:solidFill>
                <a:latin typeface="Arial"/>
              </a:defRPr>
            </a:pPr>
          </a:p>
          <a:p>
            <a:pPr>
              <a:spcAft>
                <a:spcPts val="500"/>
              </a:spcAft>
              <a:defRPr sz="1400" b="0">
                <a:solidFill>
                  <a:srgbClr val="FFFFFF"/>
                </a:solidFill>
                <a:latin typeface="Arial"/>
              </a:defRPr>
            </a:pPr>
            <a:r>
              <a:t>Гипотеза ценности, не обещание урожайности.</a:t>
            </a:r>
          </a:p>
        </p:txBody>
      </p:sp>
      <p:sp>
        <p:nvSpPr>
          <p:cNvPr id="56" name="Rectangle 55"/>
          <p:cNvSpPr/>
          <p:nvPr/>
        </p:nvSpPr>
        <p:spPr>
          <a:xfrm>
            <a:off x="7260336" y="1746504"/>
            <a:ext cx="2194560" cy="1417320"/>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79208" y="1837943"/>
            <a:ext cx="1956815" cy="384048"/>
          </a:xfrm>
          <a:prstGeom prst="rect">
            <a:avLst/>
          </a:prstGeom>
          <a:noFill/>
        </p:spPr>
        <p:txBody>
          <a:bodyPr wrap="square" lIns="0" rIns="0" tIns="0">
            <a:spAutoFit/>
          </a:bodyPr>
          <a:lstStyle/>
          <a:p>
            <a:pPr>
              <a:spcAft>
                <a:spcPts val="1000"/>
              </a:spcAft>
              <a:defRPr sz="1300" b="1">
                <a:solidFill>
                  <a:srgbClr val="D6ED89"/>
                </a:solidFill>
                <a:latin typeface="Arial"/>
              </a:defRPr>
            </a:pPr>
            <a:r>
              <a:t>9. Преимущество</a:t>
            </a:r>
          </a:p>
        </p:txBody>
      </p:sp>
      <p:sp>
        <p:nvSpPr>
          <p:cNvPr id="58" name="TextBox 57"/>
          <p:cNvSpPr txBox="1"/>
          <p:nvPr/>
        </p:nvSpPr>
        <p:spPr>
          <a:xfrm>
            <a:off x="7379208" y="2286000"/>
            <a:ext cx="1956815" cy="832104"/>
          </a:xfrm>
          <a:prstGeom prst="rect">
            <a:avLst/>
          </a:prstGeom>
          <a:noFill/>
        </p:spPr>
        <p:txBody>
          <a:bodyPr wrap="square" lIns="0" rIns="0" tIns="0">
            <a:spAutoFit/>
          </a:bodyPr>
          <a:lstStyle/>
          <a:p>
            <a:pPr>
              <a:spcAft>
                <a:spcPts val="500"/>
              </a:spcAft>
              <a:defRPr sz="1400" b="0">
                <a:solidFill>
                  <a:srgbClr val="FFFFFF"/>
                </a:solidFill>
                <a:latin typeface="Arial"/>
              </a:defRPr>
            </a:pPr>
            <a:r>
              <a:t>Пока НЕ подтверждено.</a:t>
            </a:r>
          </a:p>
          <a:p>
            <a:pPr>
              <a:spcAft>
                <a:spcPts val="500"/>
              </a:spcAft>
              <a:defRPr sz="1400" b="0">
                <a:solidFill>
                  <a:srgbClr val="FFFFFF"/>
                </a:solidFill>
                <a:latin typeface="Arial"/>
              </a:defRPr>
            </a:pPr>
            <a:r>
              <a:t>Будущий актив: карты и повторные договоры.</a:t>
            </a:r>
          </a:p>
        </p:txBody>
      </p:sp>
      <p:sp>
        <p:nvSpPr>
          <p:cNvPr id="59" name="Rectangle 58"/>
          <p:cNvSpPr/>
          <p:nvPr/>
        </p:nvSpPr>
        <p:spPr>
          <a:xfrm>
            <a:off x="7260336" y="3282696"/>
            <a:ext cx="2194560" cy="1444752"/>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79208" y="3374136"/>
            <a:ext cx="1956815" cy="384048"/>
          </a:xfrm>
          <a:prstGeom prst="rect">
            <a:avLst/>
          </a:prstGeom>
          <a:noFill/>
        </p:spPr>
        <p:txBody>
          <a:bodyPr wrap="square" lIns="0" rIns="0" tIns="0">
            <a:spAutoFit/>
          </a:bodyPr>
          <a:lstStyle/>
          <a:p>
            <a:pPr>
              <a:spcAft>
                <a:spcPts val="1000"/>
              </a:spcAft>
              <a:defRPr sz="1300" b="1">
                <a:solidFill>
                  <a:srgbClr val="D6ED89"/>
                </a:solidFill>
                <a:latin typeface="Arial"/>
              </a:defRPr>
            </a:pPr>
            <a:r>
              <a:t>5. Каналы</a:t>
            </a:r>
          </a:p>
        </p:txBody>
      </p:sp>
      <p:sp>
        <p:nvSpPr>
          <p:cNvPr id="61" name="TextBox 60"/>
          <p:cNvSpPr txBox="1"/>
          <p:nvPr/>
        </p:nvSpPr>
        <p:spPr>
          <a:xfrm>
            <a:off x="7379208" y="3822191"/>
            <a:ext cx="1956815" cy="859536"/>
          </a:xfrm>
          <a:prstGeom prst="rect">
            <a:avLst/>
          </a:prstGeom>
          <a:noFill/>
        </p:spPr>
        <p:txBody>
          <a:bodyPr wrap="square" lIns="0" rIns="0" tIns="0">
            <a:spAutoFit/>
          </a:bodyPr>
          <a:lstStyle/>
          <a:p>
            <a:pPr>
              <a:spcAft>
                <a:spcPts val="500"/>
              </a:spcAft>
              <a:defRPr sz="1400" b="0">
                <a:solidFill>
                  <a:srgbClr val="FFFFFF"/>
                </a:solidFill>
                <a:latin typeface="Arial"/>
              </a:defRPr>
            </a:pPr>
            <a:r>
              <a:t>Прямые продажи; агрономы; рекомендации; демонстрации.</a:t>
            </a:r>
          </a:p>
        </p:txBody>
      </p:sp>
      <p:sp>
        <p:nvSpPr>
          <p:cNvPr id="62" name="Rectangle 61"/>
          <p:cNvSpPr/>
          <p:nvPr/>
        </p:nvSpPr>
        <p:spPr>
          <a:xfrm>
            <a:off x="9491472" y="1746504"/>
            <a:ext cx="2194560" cy="2980944"/>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610344" y="1837943"/>
            <a:ext cx="1956815" cy="384048"/>
          </a:xfrm>
          <a:prstGeom prst="rect">
            <a:avLst/>
          </a:prstGeom>
          <a:noFill/>
        </p:spPr>
        <p:txBody>
          <a:bodyPr wrap="square" lIns="0" rIns="0" tIns="0">
            <a:spAutoFit/>
          </a:bodyPr>
          <a:lstStyle/>
          <a:p>
            <a:pPr>
              <a:spcAft>
                <a:spcPts val="1000"/>
              </a:spcAft>
              <a:defRPr sz="1300" b="1">
                <a:solidFill>
                  <a:srgbClr val="D6ED89"/>
                </a:solidFill>
                <a:latin typeface="Arial"/>
              </a:defRPr>
            </a:pPr>
            <a:r>
              <a:t>1. Сегменты клиентов</a:t>
            </a:r>
          </a:p>
        </p:txBody>
      </p:sp>
      <p:sp>
        <p:nvSpPr>
          <p:cNvPr id="64" name="TextBox 63"/>
          <p:cNvSpPr txBox="1"/>
          <p:nvPr/>
        </p:nvSpPr>
        <p:spPr>
          <a:xfrm>
            <a:off x="9610344" y="2286000"/>
            <a:ext cx="1956815" cy="2395727"/>
          </a:xfrm>
          <a:prstGeom prst="rect">
            <a:avLst/>
          </a:prstGeom>
          <a:noFill/>
        </p:spPr>
        <p:txBody>
          <a:bodyPr wrap="square" lIns="0" rIns="0" tIns="0">
            <a:spAutoFit/>
          </a:bodyPr>
          <a:lstStyle/>
          <a:p>
            <a:pPr>
              <a:spcAft>
                <a:spcPts val="500"/>
              </a:spcAft>
              <a:defRPr sz="1400" b="0">
                <a:solidFill>
                  <a:srgbClr val="FFFFFF"/>
                </a:solidFill>
                <a:latin typeface="Arial"/>
              </a:defRPr>
            </a:pPr>
            <a:r>
              <a:t>КФХ и малые/средние хозяйства Татарстана.</a:t>
            </a:r>
          </a:p>
          <a:p>
            <a:pPr>
              <a:spcAft>
                <a:spcPts val="500"/>
              </a:spcAft>
              <a:defRPr sz="1400" b="0">
                <a:solidFill>
                  <a:srgbClr val="FFFFFF"/>
                </a:solidFill>
                <a:latin typeface="Arial"/>
              </a:defRPr>
            </a:pPr>
            <a:r>
              <a:t>Покупатель — директор; приемка — агроном.</a:t>
            </a:r>
          </a:p>
          <a:p>
            <a:pPr>
              <a:spcAft>
                <a:spcPts val="500"/>
              </a:spcAft>
              <a:defRPr sz="1400" b="0">
                <a:solidFill>
                  <a:srgbClr val="FFFFFF"/>
                </a:solidFill>
                <a:latin typeface="Arial"/>
              </a:defRPr>
            </a:pPr>
          </a:p>
          <a:p>
            <a:pPr>
              <a:spcAft>
                <a:spcPts val="500"/>
              </a:spcAft>
              <a:defRPr sz="1400" b="0">
                <a:solidFill>
                  <a:srgbClr val="FFFFFF"/>
                </a:solidFill>
                <a:latin typeface="Arial"/>
              </a:defRPr>
            </a:pPr>
            <a:r>
              <a:t>Ранние: готовые оплатить конкретный пилот.</a:t>
            </a:r>
          </a:p>
        </p:txBody>
      </p:sp>
      <p:sp>
        <p:nvSpPr>
          <p:cNvPr id="65" name="Rectangle 64"/>
          <p:cNvSpPr/>
          <p:nvPr/>
        </p:nvSpPr>
        <p:spPr>
          <a:xfrm>
            <a:off x="566928" y="4873752"/>
            <a:ext cx="5449824" cy="1243584"/>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85800" y="4965192"/>
            <a:ext cx="5212080" cy="384048"/>
          </a:xfrm>
          <a:prstGeom prst="rect">
            <a:avLst/>
          </a:prstGeom>
          <a:noFill/>
        </p:spPr>
        <p:txBody>
          <a:bodyPr wrap="square" lIns="0" rIns="0" tIns="0">
            <a:spAutoFit/>
          </a:bodyPr>
          <a:lstStyle/>
          <a:p>
            <a:pPr>
              <a:spcAft>
                <a:spcPts val="1000"/>
              </a:spcAft>
              <a:defRPr sz="1300" b="1">
                <a:solidFill>
                  <a:srgbClr val="D6ED89"/>
                </a:solidFill>
                <a:latin typeface="Arial"/>
              </a:defRPr>
            </a:pPr>
            <a:r>
              <a:t>7. Структура затрат</a:t>
            </a:r>
          </a:p>
        </p:txBody>
      </p:sp>
      <p:sp>
        <p:nvSpPr>
          <p:cNvPr id="67" name="TextBox 66"/>
          <p:cNvSpPr txBox="1"/>
          <p:nvPr/>
        </p:nvSpPr>
        <p:spPr>
          <a:xfrm>
            <a:off x="685800" y="5413248"/>
            <a:ext cx="5212080" cy="658368"/>
          </a:xfrm>
          <a:prstGeom prst="rect">
            <a:avLst/>
          </a:prstGeom>
          <a:noFill/>
        </p:spPr>
        <p:txBody>
          <a:bodyPr wrap="square" lIns="0" rIns="0" tIns="0">
            <a:spAutoFit/>
          </a:bodyPr>
          <a:lstStyle/>
          <a:p>
            <a:pPr>
              <a:spcAft>
                <a:spcPts val="500"/>
              </a:spcAft>
              <a:defRPr sz="1500" b="0">
                <a:solidFill>
                  <a:srgbClr val="FFFFFF"/>
                </a:solidFill>
                <a:latin typeface="Arial"/>
              </a:defRPr>
            </a:pPr>
            <a:r>
              <a:t>Штат + взносы: 4,687 млн ₽.</a:t>
            </a:r>
          </a:p>
          <a:p>
            <a:pPr>
              <a:spcAft>
                <a:spcPts val="500"/>
              </a:spcAft>
              <a:defRPr sz="1500" b="0">
                <a:solidFill>
                  <a:srgbClr val="FFFFFF"/>
                </a:solidFill>
                <a:latin typeface="Arial"/>
              </a:defRPr>
            </a:pPr>
            <a:r>
              <a:t>Прочий OPEX; CAPEX и резерв отдельно.</a:t>
            </a:r>
          </a:p>
        </p:txBody>
      </p:sp>
      <p:sp>
        <p:nvSpPr>
          <p:cNvPr id="68" name="Rectangle 67"/>
          <p:cNvSpPr/>
          <p:nvPr/>
        </p:nvSpPr>
        <p:spPr>
          <a:xfrm>
            <a:off x="6181344" y="4873752"/>
            <a:ext cx="5449824" cy="1243584"/>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300216" y="4965192"/>
            <a:ext cx="5212080" cy="384048"/>
          </a:xfrm>
          <a:prstGeom prst="rect">
            <a:avLst/>
          </a:prstGeom>
          <a:noFill/>
        </p:spPr>
        <p:txBody>
          <a:bodyPr wrap="square" lIns="0" rIns="0" tIns="0">
            <a:spAutoFit/>
          </a:bodyPr>
          <a:lstStyle/>
          <a:p>
            <a:pPr>
              <a:spcAft>
                <a:spcPts val="1000"/>
              </a:spcAft>
              <a:defRPr sz="1300" b="1">
                <a:solidFill>
                  <a:srgbClr val="D6ED89"/>
                </a:solidFill>
                <a:latin typeface="Arial"/>
              </a:defRPr>
            </a:pPr>
            <a:r>
              <a:t>6. Потоки доходов</a:t>
            </a:r>
          </a:p>
        </p:txBody>
      </p:sp>
      <p:sp>
        <p:nvSpPr>
          <p:cNvPr id="70" name="TextBox 69"/>
          <p:cNvSpPr txBox="1"/>
          <p:nvPr/>
        </p:nvSpPr>
        <p:spPr>
          <a:xfrm>
            <a:off x="6300216" y="5413248"/>
            <a:ext cx="5212080" cy="658368"/>
          </a:xfrm>
          <a:prstGeom prst="rect">
            <a:avLst/>
          </a:prstGeom>
          <a:noFill/>
        </p:spPr>
        <p:txBody>
          <a:bodyPr wrap="square" lIns="0" rIns="0" tIns="0">
            <a:spAutoFit/>
          </a:bodyPr>
          <a:lstStyle/>
          <a:p>
            <a:pPr>
              <a:spcAft>
                <a:spcPts val="500"/>
              </a:spcAft>
              <a:defRPr sz="1500" b="0">
                <a:solidFill>
                  <a:srgbClr val="FFFFFF"/>
                </a:solidFill>
                <a:latin typeface="Arial"/>
              </a:defRPr>
            </a:pPr>
            <a:r>
              <a:t>Внесение: 6 000 × 1 300 = 7,8 млн ₽.</a:t>
            </a:r>
          </a:p>
          <a:p>
            <a:pPr>
              <a:spcAft>
                <a:spcPts val="500"/>
              </a:spcAft>
              <a:defRPr sz="1500" b="0">
                <a:solidFill>
                  <a:srgbClr val="FFFFFF"/>
                </a:solidFill>
                <a:latin typeface="Arial"/>
              </a:defRPr>
            </a:pPr>
            <a:r>
              <a:t>Мониторинг: 4 000 × 250 = 1,0 млн ₽. Всего 8,8 млн ₽.</a:t>
            </a:r>
          </a:p>
        </p:txBody>
      </p:sp>
    </p:spTree>
  </p:cSld>
  <p:clrMapOvr>
    <a:masterClrMapping/>
  </p:clrMapOvr>
  <mc:AlternateContent xmlns:mc="http://schemas.openxmlformats.org/markup-compatibility/2006">
    <mc:Choice xmlns:p159="http://schemas.microsoft.com/office/powerpoint/2015/09/main" Requires="p159">
      <p:transition spd="slow" advClick="1">
        <p159:morph option="byObject"/>
      </p:transition>
    </mc:Choice>
    <mc:Fallback>
      <p:transition spd="med" advClick="1">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05.jpg"/>
          <p:cNvPicPr>
            <a:picLocks noChangeAspect="1"/>
          </p:cNvPicPr>
          <p:nvPr/>
        </p:nvPicPr>
        <p:blipFill>
          <a:blip r:embed="rId3"/>
          <a:stretch>
            <a:fillRect/>
          </a:stretch>
        </p:blipFill>
        <p:spPr>
          <a:xfrm>
            <a:off x="0" y="0"/>
            <a:ext cx="12191999" cy="6858000"/>
          </a:xfrm>
          <a:prstGeom prst="rect">
            <a:avLst/>
          </a:prstGeom>
        </p:spPr>
      </p:pic>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
        <p:nvSpPr>
          <p:cNvPr id="18" name="Rectangle 17"/>
          <p:cNvSpPr/>
          <p:nvPr/>
        </p:nvSpPr>
        <p:spPr>
          <a:xfrm>
            <a:off x="320040" y="256032"/>
            <a:ext cx="11567160" cy="6117336"/>
          </a:xfrm>
          <a:prstGeom prst="rect">
            <a:avLst/>
          </a:prstGeom>
          <a:solidFill>
            <a:srgbClr val="0A1B19">
              <a:alpha val="9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93192"/>
            <a:ext cx="10789920" cy="320040"/>
          </a:xfrm>
          <a:prstGeom prst="rect">
            <a:avLst/>
          </a:prstGeom>
          <a:noFill/>
        </p:spPr>
        <p:txBody>
          <a:bodyPr wrap="square" lIns="0" rIns="0" tIns="0">
            <a:spAutoFit/>
          </a:bodyPr>
          <a:lstStyle/>
          <a:p>
            <a:pPr>
              <a:spcAft>
                <a:spcPts val="1000"/>
              </a:spcAft>
              <a:defRPr sz="1300" b="1">
                <a:solidFill>
                  <a:srgbClr val="D6ED89"/>
                </a:solidFill>
                <a:latin typeface="Arial"/>
              </a:defRPr>
            </a:pPr>
            <a:r>
              <a:t>АГРОВЕКТОР / 05 / РЫНОК: TAM / SAM / SOM</a:t>
            </a:r>
          </a:p>
        </p:txBody>
      </p:sp>
      <p:sp>
        <p:nvSpPr>
          <p:cNvPr id="20" name="TextBox 19"/>
          <p:cNvSpPr txBox="1"/>
          <p:nvPr/>
        </p:nvSpPr>
        <p:spPr>
          <a:xfrm>
            <a:off x="566928" y="914400"/>
            <a:ext cx="10972800" cy="548640"/>
          </a:xfrm>
          <a:prstGeom prst="rect">
            <a:avLst/>
          </a:prstGeom>
          <a:noFill/>
        </p:spPr>
        <p:txBody>
          <a:bodyPr wrap="square" lIns="0" rIns="0" tIns="0">
            <a:spAutoFit/>
          </a:bodyPr>
          <a:lstStyle/>
          <a:p>
            <a:pPr>
              <a:spcAft>
                <a:spcPts val="1000"/>
              </a:spcAft>
              <a:defRPr sz="2700" b="1">
                <a:solidFill>
                  <a:srgbClr val="FFFFFF"/>
                </a:solidFill>
                <a:latin typeface="Arial"/>
              </a:defRPr>
            </a:pPr>
            <a:r>
              <a:t>TAM — вся Россия; SAM — доступный кластер; SOM — наш план</a:t>
            </a:r>
          </a:p>
        </p:txBody>
      </p:sp>
      <p:sp>
        <p:nvSpPr>
          <p:cNvPr id="21" name="TextBox 20"/>
          <p:cNvSpPr txBox="1"/>
          <p:nvPr/>
        </p:nvSpPr>
        <p:spPr>
          <a:xfrm>
            <a:off x="566928" y="6519672"/>
            <a:ext cx="10698480" cy="201168"/>
          </a:xfrm>
          <a:prstGeom prst="rect">
            <a:avLst/>
          </a:prstGeom>
          <a:noFill/>
        </p:spPr>
        <p:txBody>
          <a:bodyPr wrap="square" lIns="0" rIns="0" tIns="0">
            <a:spAutoFit/>
          </a:bodyPr>
          <a:lstStyle/>
          <a:p>
            <a:pPr>
              <a:spcAft>
                <a:spcPts val="1000"/>
              </a:spcAft>
              <a:defRPr sz="900" b="0">
                <a:solidFill>
                  <a:srgbClr val="CCDACF"/>
                </a:solidFill>
                <a:latin typeface="Arial"/>
              </a:defRPr>
            </a:pPr>
            <a:r>
              <a:t>Проектные гипотезы и расчеты; не подтвержденный бизнес. Референс: Практика 08.10.26. / Редакция 21.10.2026</a:t>
            </a:r>
          </a:p>
        </p:txBody>
      </p:sp>
      <p:sp>
        <p:nvSpPr>
          <p:cNvPr id="22" name="TextBox 21"/>
          <p:cNvSpPr txBox="1"/>
          <p:nvPr/>
        </p:nvSpPr>
        <p:spPr>
          <a:xfrm>
            <a:off x="11082528" y="6501384"/>
            <a:ext cx="640080" cy="219456"/>
          </a:xfrm>
          <a:prstGeom prst="rect">
            <a:avLst/>
          </a:prstGeom>
          <a:noFill/>
        </p:spPr>
        <p:txBody>
          <a:bodyPr wrap="square" lIns="0" rIns="0" tIns="0">
            <a:spAutoFit/>
          </a:bodyPr>
          <a:lstStyle/>
          <a:p>
            <a:pPr>
              <a:spcAft>
                <a:spcPts val="1000"/>
              </a:spcAft>
              <a:defRPr sz="1000" b="1">
                <a:solidFill>
                  <a:srgbClr val="D6ED89"/>
                </a:solidFill>
                <a:latin typeface="Arial"/>
              </a:defRPr>
            </a:pPr>
            <a:r>
              <a:t>05/22</a:t>
            </a:r>
          </a:p>
        </p:txBody>
      </p:sp>
      <p:sp>
        <p:nvSpPr>
          <p:cNvPr id="23" name="Rectangle 22"/>
          <p:cNvSpPr/>
          <p:nvPr/>
        </p:nvSpPr>
        <p:spPr>
          <a:xfrm>
            <a:off x="566928" y="1801368"/>
            <a:ext cx="3584448" cy="3419856"/>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1892807"/>
            <a:ext cx="3346704" cy="384048"/>
          </a:xfrm>
          <a:prstGeom prst="rect">
            <a:avLst/>
          </a:prstGeom>
          <a:noFill/>
        </p:spPr>
        <p:txBody>
          <a:bodyPr wrap="square" lIns="0" rIns="0" tIns="0">
            <a:spAutoFit/>
          </a:bodyPr>
          <a:lstStyle/>
          <a:p>
            <a:pPr>
              <a:spcAft>
                <a:spcPts val="1000"/>
              </a:spcAft>
              <a:defRPr sz="1300" b="1">
                <a:solidFill>
                  <a:srgbClr val="D6ED89"/>
                </a:solidFill>
                <a:latin typeface="Arial"/>
              </a:defRPr>
            </a:pPr>
            <a:r>
              <a:t>TAM / вся Россия</a:t>
            </a:r>
          </a:p>
        </p:txBody>
      </p:sp>
      <p:sp>
        <p:nvSpPr>
          <p:cNvPr id="25" name="TextBox 24"/>
          <p:cNvSpPr txBox="1"/>
          <p:nvPr/>
        </p:nvSpPr>
        <p:spPr>
          <a:xfrm>
            <a:off x="685800" y="2340864"/>
            <a:ext cx="3346704" cy="2834640"/>
          </a:xfrm>
          <a:prstGeom prst="rect">
            <a:avLst/>
          </a:prstGeom>
          <a:noFill/>
        </p:spPr>
        <p:txBody>
          <a:bodyPr wrap="square" lIns="0" rIns="0" tIns="0">
            <a:spAutoFit/>
          </a:bodyPr>
          <a:lstStyle/>
          <a:p>
            <a:pPr>
              <a:spcAft>
                <a:spcPts val="500"/>
              </a:spcAft>
              <a:defRPr sz="2000" b="0">
                <a:solidFill>
                  <a:srgbClr val="FFFFFF"/>
                </a:solidFill>
                <a:latin typeface="Arial"/>
              </a:defRPr>
            </a:pPr>
            <a:r>
              <a:t>24.682 млрд ₽/год</a:t>
            </a:r>
          </a:p>
          <a:p>
            <a:pPr>
              <a:spcAft>
                <a:spcPts val="500"/>
              </a:spcAft>
              <a:defRPr sz="2000" b="0">
                <a:solidFill>
                  <a:srgbClr val="FFFFFF"/>
                </a:solidFill>
                <a:latin typeface="Arial"/>
              </a:defRPr>
            </a:pPr>
          </a:p>
          <a:p>
            <a:pPr>
              <a:spcAft>
                <a:spcPts val="500"/>
              </a:spcAft>
              <a:defRPr sz="2000" b="0">
                <a:solidFill>
                  <a:srgbClr val="FFFFFF"/>
                </a:solidFill>
                <a:latin typeface="Arial"/>
              </a:defRPr>
            </a:pPr>
            <a:r>
              <a:t>79,298 млн га × 15% ×</a:t>
            </a:r>
          </a:p>
          <a:p>
            <a:pPr>
              <a:spcAft>
                <a:spcPts val="500"/>
              </a:spcAft>
              <a:defRPr sz="2000" b="0">
                <a:solidFill>
                  <a:srgbClr val="FFFFFF"/>
                </a:solidFill>
                <a:latin typeface="Arial"/>
              </a:defRPr>
            </a:pPr>
            <a:r>
              <a:t>(1,5 × 1 300 + 0,5 × 250).</a:t>
            </a:r>
          </a:p>
          <a:p>
            <a:pPr>
              <a:spcAft>
                <a:spcPts val="500"/>
              </a:spcAft>
              <a:defRPr sz="2000" b="0">
                <a:solidFill>
                  <a:srgbClr val="FFFFFF"/>
                </a:solidFill>
                <a:latin typeface="Arial"/>
              </a:defRPr>
            </a:pPr>
          </a:p>
          <a:p>
            <a:pPr>
              <a:spcAft>
                <a:spcPts val="500"/>
              </a:spcAft>
              <a:defRPr sz="2000" b="0">
                <a:solidFill>
                  <a:srgbClr val="FFFFFF"/>
                </a:solidFill>
                <a:latin typeface="Arial"/>
              </a:defRPr>
            </a:pPr>
            <a:r>
              <a:t>Все категории хозяйств; потенциальные услуги, не продажи.</a:t>
            </a:r>
          </a:p>
        </p:txBody>
      </p:sp>
      <p:sp>
        <p:nvSpPr>
          <p:cNvPr id="26" name="Rectangle 25"/>
          <p:cNvSpPr/>
          <p:nvPr/>
        </p:nvSpPr>
        <p:spPr>
          <a:xfrm>
            <a:off x="4306824" y="1801368"/>
            <a:ext cx="3584448" cy="3419856"/>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25696" y="1892807"/>
            <a:ext cx="3346704" cy="384048"/>
          </a:xfrm>
          <a:prstGeom prst="rect">
            <a:avLst/>
          </a:prstGeom>
          <a:noFill/>
        </p:spPr>
        <p:txBody>
          <a:bodyPr wrap="square" lIns="0" rIns="0" tIns="0">
            <a:spAutoFit/>
          </a:bodyPr>
          <a:lstStyle/>
          <a:p>
            <a:pPr>
              <a:spcAft>
                <a:spcPts val="1000"/>
              </a:spcAft>
              <a:defRPr sz="1300" b="1">
                <a:solidFill>
                  <a:srgbClr val="D6ED89"/>
                </a:solidFill>
                <a:latin typeface="Arial"/>
              </a:defRPr>
            </a:pPr>
            <a:r>
              <a:t>SAM / кластер Татарстана</a:t>
            </a:r>
          </a:p>
        </p:txBody>
      </p:sp>
      <p:sp>
        <p:nvSpPr>
          <p:cNvPr id="28" name="TextBox 27"/>
          <p:cNvSpPr txBox="1"/>
          <p:nvPr/>
        </p:nvSpPr>
        <p:spPr>
          <a:xfrm>
            <a:off x="4425696" y="2340864"/>
            <a:ext cx="3346704" cy="2834640"/>
          </a:xfrm>
          <a:prstGeom prst="rect">
            <a:avLst/>
          </a:prstGeom>
          <a:noFill/>
        </p:spPr>
        <p:txBody>
          <a:bodyPr wrap="square" lIns="0" rIns="0" tIns="0">
            <a:spAutoFit/>
          </a:bodyPr>
          <a:lstStyle/>
          <a:p>
            <a:pPr>
              <a:spcAft>
                <a:spcPts val="500"/>
              </a:spcAft>
              <a:defRPr sz="2000" b="0">
                <a:solidFill>
                  <a:srgbClr val="FFFFFF"/>
                </a:solidFill>
                <a:latin typeface="Arial"/>
              </a:defRPr>
            </a:pPr>
            <a:r>
              <a:t>124,5 млн ₽/год</a:t>
            </a:r>
          </a:p>
          <a:p>
            <a:pPr>
              <a:spcAft>
                <a:spcPts val="500"/>
              </a:spcAft>
              <a:defRPr sz="2000" b="0">
                <a:solidFill>
                  <a:srgbClr val="FFFFFF"/>
                </a:solidFill>
                <a:latin typeface="Arial"/>
              </a:defRPr>
            </a:pPr>
          </a:p>
          <a:p>
            <a:pPr>
              <a:spcAft>
                <a:spcPts val="500"/>
              </a:spcAft>
              <a:defRPr sz="2000" b="0">
                <a:solidFill>
                  <a:srgbClr val="FFFFFF"/>
                </a:solidFill>
                <a:latin typeface="Arial"/>
              </a:defRPr>
            </a:pPr>
            <a:r>
              <a:t>200 хозяйств × 2 000 га × 15% × (1,5 × 1 300 + 0,5 × 250).</a:t>
            </a:r>
          </a:p>
          <a:p>
            <a:pPr>
              <a:spcAft>
                <a:spcPts val="500"/>
              </a:spcAft>
              <a:defRPr sz="2000" b="0">
                <a:solidFill>
                  <a:srgbClr val="FFFFFF"/>
                </a:solidFill>
                <a:latin typeface="Arial"/>
              </a:defRPr>
            </a:pPr>
          </a:p>
          <a:p>
            <a:pPr>
              <a:spcAft>
                <a:spcPts val="500"/>
              </a:spcAft>
              <a:defRPr sz="2000" b="0">
                <a:solidFill>
                  <a:srgbClr val="FFFFFF"/>
                </a:solidFill>
                <a:latin typeface="Arial"/>
              </a:defRPr>
            </a:pPr>
            <a:r>
              <a:t>Радиус до 150 км; адресный реестр не подтвержден.</a:t>
            </a:r>
          </a:p>
        </p:txBody>
      </p:sp>
      <p:sp>
        <p:nvSpPr>
          <p:cNvPr id="29" name="Rectangle 28"/>
          <p:cNvSpPr/>
          <p:nvPr/>
        </p:nvSpPr>
        <p:spPr>
          <a:xfrm>
            <a:off x="8046719" y="1801368"/>
            <a:ext cx="3584448" cy="3419856"/>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65592" y="1892807"/>
            <a:ext cx="3346704" cy="384048"/>
          </a:xfrm>
          <a:prstGeom prst="rect">
            <a:avLst/>
          </a:prstGeom>
          <a:noFill/>
        </p:spPr>
        <p:txBody>
          <a:bodyPr wrap="square" lIns="0" rIns="0" tIns="0">
            <a:spAutoFit/>
          </a:bodyPr>
          <a:lstStyle/>
          <a:p>
            <a:pPr>
              <a:spcAft>
                <a:spcPts val="1000"/>
              </a:spcAft>
              <a:defRPr sz="1300" b="1">
                <a:solidFill>
                  <a:srgbClr val="D6ED89"/>
                </a:solidFill>
                <a:latin typeface="Arial"/>
              </a:defRPr>
            </a:pPr>
            <a:r>
              <a:t>SOM / план AgroVector</a:t>
            </a:r>
          </a:p>
        </p:txBody>
      </p:sp>
      <p:sp>
        <p:nvSpPr>
          <p:cNvPr id="31" name="TextBox 30"/>
          <p:cNvSpPr txBox="1"/>
          <p:nvPr/>
        </p:nvSpPr>
        <p:spPr>
          <a:xfrm>
            <a:off x="8165592" y="2340864"/>
            <a:ext cx="3346704" cy="2834640"/>
          </a:xfrm>
          <a:prstGeom prst="rect">
            <a:avLst/>
          </a:prstGeom>
          <a:noFill/>
        </p:spPr>
        <p:txBody>
          <a:bodyPr wrap="square" lIns="0" rIns="0" tIns="0">
            <a:spAutoFit/>
          </a:bodyPr>
          <a:lstStyle/>
          <a:p>
            <a:pPr>
              <a:spcAft>
                <a:spcPts val="500"/>
              </a:spcAft>
              <a:defRPr sz="2000" b="0">
                <a:solidFill>
                  <a:srgbClr val="FFFFFF"/>
                </a:solidFill>
                <a:latin typeface="Arial"/>
              </a:defRPr>
            </a:pPr>
            <a:r>
              <a:t>8,8 млн ₽/год</a:t>
            </a:r>
          </a:p>
          <a:p>
            <a:pPr>
              <a:spcAft>
                <a:spcPts val="500"/>
              </a:spcAft>
              <a:defRPr sz="2000" b="0">
                <a:solidFill>
                  <a:srgbClr val="FFFFFF"/>
                </a:solidFill>
                <a:latin typeface="Arial"/>
              </a:defRPr>
            </a:pPr>
          </a:p>
          <a:p>
            <a:pPr>
              <a:spcAft>
                <a:spcPts val="500"/>
              </a:spcAft>
              <a:defRPr sz="2000" b="0">
                <a:solidFill>
                  <a:srgbClr val="FFFFFF"/>
                </a:solidFill>
                <a:latin typeface="Arial"/>
              </a:defRPr>
            </a:pPr>
            <a:r>
              <a:t>6 000 га-проходов × 1 300 + 4 000 га-обследований × 250.</a:t>
            </a:r>
          </a:p>
          <a:p>
            <a:pPr>
              <a:spcAft>
                <a:spcPts val="500"/>
              </a:spcAft>
              <a:defRPr sz="2000" b="0">
                <a:solidFill>
                  <a:srgbClr val="FFFFFF"/>
                </a:solidFill>
                <a:latin typeface="Arial"/>
              </a:defRPr>
            </a:pPr>
          </a:p>
          <a:p>
            <a:pPr>
              <a:spcAft>
                <a:spcPts val="500"/>
              </a:spcAft>
              <a:defRPr sz="2000" b="0">
                <a:solidFill>
                  <a:srgbClr val="FFFFFF"/>
                </a:solidFill>
                <a:latin typeface="Arial"/>
              </a:defRPr>
            </a:pPr>
            <a:r>
              <a:t>Цель 10 клиентов, не подписанные заказы.</a:t>
            </a:r>
          </a:p>
        </p:txBody>
      </p:sp>
      <p:sp>
        <p:nvSpPr>
          <p:cNvPr id="32" name="TextBox 31"/>
          <p:cNvSpPr txBox="1"/>
          <p:nvPr/>
        </p:nvSpPr>
        <p:spPr>
          <a:xfrm>
            <a:off x="603504" y="5468112"/>
            <a:ext cx="10789920" cy="612648"/>
          </a:xfrm>
          <a:prstGeom prst="rect">
            <a:avLst/>
          </a:prstGeom>
          <a:noFill/>
        </p:spPr>
        <p:txBody>
          <a:bodyPr wrap="square" lIns="0" rIns="0" tIns="0">
            <a:spAutoFit/>
          </a:bodyPr>
          <a:lstStyle/>
          <a:p>
            <a:pPr>
              <a:spcAft>
                <a:spcPts val="1000"/>
              </a:spcAft>
              <a:defRPr sz="1500" b="0">
                <a:solidFill>
                  <a:srgbClr val="D6ED89"/>
                </a:solidFill>
                <a:latin typeface="Arial"/>
              </a:defRPr>
            </a:pPr>
            <a:r>
              <a:t>Площадь РФ — статистическая база по вторичной публикации[33]. 15% пригодности, кратность и тарифы — допущения. SAM/SOM сценарные; SOM/SAM = 7.07% — не фактическая доля.</a:t>
            </a:r>
          </a:p>
        </p:txBody>
      </p:sp>
    </p:spTree>
  </p:cSld>
  <p:clrMapOvr>
    <a:masterClrMapping/>
  </p:clrMapOvr>
  <mc:AlternateContent xmlns:mc="http://schemas.openxmlformats.org/markup-compatibility/2006">
    <mc:Choice xmlns:p159="http://schemas.microsoft.com/office/powerpoint/2015/09/main" Requires="p159">
      <p:transition spd="slow" advClick="1">
        <p159:morph option="byObject"/>
      </p:transition>
    </mc:Choice>
    <mc:Fallback>
      <p:transition spd="med" advClick="1">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AV_background" descr="background_06.jpg"/>
          <p:cNvPicPr>
            <a:picLocks noChangeAspect="1"/>
          </p:cNvPicPr>
          <p:nvPr/>
        </p:nvPicPr>
        <p:blipFill>
          <a:blip r:embed="rId3"/>
          <a:stretch>
            <a:fillRect/>
          </a:stretch>
        </p:blipFill>
        <p:spPr>
          <a:xfrm>
            <a:off x="0" y="0"/>
            <a:ext cx="12191999" cy="6858000"/>
          </a:xfrm>
          <a:prstGeom prst="rect">
            <a:avLst/>
          </a:prstGeom>
        </p:spPr>
      </p:pic>
      <p:pic>
        <p:nvPicPr>
          <p:cNvPr id="14" name="!!AV_drone" descr="drone_render.png"/>
          <p:cNvPicPr>
            <a:picLocks noChangeAspect="1"/>
          </p:cNvPicPr>
          <p:nvPr/>
        </p:nvPicPr>
        <p:blipFill>
          <a:blip r:embed="rId5"/>
          <a:stretch>
            <a:fillRect/>
          </a:stretch>
        </p:blipFill>
        <p:spPr>
          <a:xfrm>
            <a:off x="10442448" y="722376"/>
            <a:ext cx="1024128" cy="640080"/>
          </a:xfrm>
          <a:prstGeom prst="rect">
            <a:avLst/>
          </a:prstGeom>
        </p:spPr>
      </p:pic>
      <p:sp>
        <p:nvSpPr>
          <p:cNvPr id="15" name="Rectangle 14"/>
          <p:cNvSpPr/>
          <p:nvPr/>
        </p:nvSpPr>
        <p:spPr>
          <a:xfrm>
            <a:off x="320040" y="256032"/>
            <a:ext cx="11567160" cy="6117336"/>
          </a:xfrm>
          <a:prstGeom prst="rect">
            <a:avLst/>
          </a:prstGeom>
          <a:solidFill>
            <a:srgbClr val="0A1B19">
              <a:alpha val="9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393192"/>
            <a:ext cx="10789920" cy="320040"/>
          </a:xfrm>
          <a:prstGeom prst="rect">
            <a:avLst/>
          </a:prstGeom>
          <a:noFill/>
        </p:spPr>
        <p:txBody>
          <a:bodyPr wrap="square" lIns="0" rIns="0" tIns="0">
            <a:spAutoFit/>
          </a:bodyPr>
          <a:lstStyle/>
          <a:p>
            <a:pPr>
              <a:spcAft>
                <a:spcPts val="1000"/>
              </a:spcAft>
              <a:defRPr sz="1300" b="1">
                <a:solidFill>
                  <a:srgbClr val="D6ED89"/>
                </a:solidFill>
                <a:latin typeface="Arial"/>
              </a:defRPr>
            </a:pPr>
            <a:r>
              <a:t>АГРОВЕКТОР / 06 / ЦЕНОВЫЕ ОРИЕНТИРЫ АНАЛОГИЧНЫХ КОМПАНИЙ</a:t>
            </a:r>
          </a:p>
        </p:txBody>
      </p:sp>
      <p:sp>
        <p:nvSpPr>
          <p:cNvPr id="17" name="TextBox 16"/>
          <p:cNvSpPr txBox="1"/>
          <p:nvPr/>
        </p:nvSpPr>
        <p:spPr>
          <a:xfrm>
            <a:off x="566928" y="914400"/>
            <a:ext cx="10972800" cy="548640"/>
          </a:xfrm>
          <a:prstGeom prst="rect">
            <a:avLst/>
          </a:prstGeom>
          <a:noFill/>
        </p:spPr>
        <p:txBody>
          <a:bodyPr wrap="square" lIns="0" rIns="0" tIns="0">
            <a:spAutoFit/>
          </a:bodyPr>
          <a:lstStyle/>
          <a:p>
            <a:pPr>
              <a:spcAft>
                <a:spcPts val="1000"/>
              </a:spcAft>
              <a:defRPr sz="2700" b="1">
                <a:solidFill>
                  <a:srgbClr val="FFFFFF"/>
                </a:solidFill>
                <a:latin typeface="Arial"/>
              </a:defRPr>
            </a:pPr>
            <a:r>
              <a:t>Публичные ориентировочные цены — не сопоставимые КП</a:t>
            </a:r>
          </a:p>
        </p:txBody>
      </p:sp>
      <p:sp>
        <p:nvSpPr>
          <p:cNvPr id="18" name="TextBox 17"/>
          <p:cNvSpPr txBox="1"/>
          <p:nvPr/>
        </p:nvSpPr>
        <p:spPr>
          <a:xfrm>
            <a:off x="566928" y="6519672"/>
            <a:ext cx="10698480" cy="201168"/>
          </a:xfrm>
          <a:prstGeom prst="rect">
            <a:avLst/>
          </a:prstGeom>
          <a:noFill/>
        </p:spPr>
        <p:txBody>
          <a:bodyPr wrap="square" lIns="0" rIns="0" tIns="0">
            <a:spAutoFit/>
          </a:bodyPr>
          <a:lstStyle/>
          <a:p>
            <a:pPr>
              <a:spcAft>
                <a:spcPts val="1000"/>
              </a:spcAft>
              <a:defRPr sz="900" b="0">
                <a:solidFill>
                  <a:srgbClr val="CCDACF"/>
                </a:solidFill>
                <a:latin typeface="Arial"/>
              </a:defRPr>
            </a:pPr>
            <a:r>
              <a:t>Проектные гипотезы и расчеты; не подтвержденный бизнес. Референс: Практика 08.10.26. / Редакция 21.10.2026</a:t>
            </a:r>
          </a:p>
        </p:txBody>
      </p:sp>
      <p:sp>
        <p:nvSpPr>
          <p:cNvPr id="19" name="TextBox 18"/>
          <p:cNvSpPr txBox="1"/>
          <p:nvPr/>
        </p:nvSpPr>
        <p:spPr>
          <a:xfrm>
            <a:off x="11082528" y="6501384"/>
            <a:ext cx="640080" cy="219456"/>
          </a:xfrm>
          <a:prstGeom prst="rect">
            <a:avLst/>
          </a:prstGeom>
          <a:noFill/>
        </p:spPr>
        <p:txBody>
          <a:bodyPr wrap="square" lIns="0" rIns="0" tIns="0">
            <a:spAutoFit/>
          </a:bodyPr>
          <a:lstStyle/>
          <a:p>
            <a:pPr>
              <a:spcAft>
                <a:spcPts val="1000"/>
              </a:spcAft>
              <a:defRPr sz="1000" b="1">
                <a:solidFill>
                  <a:srgbClr val="D6ED89"/>
                </a:solidFill>
                <a:latin typeface="Arial"/>
              </a:defRPr>
            </a:pPr>
            <a:r>
              <a:t>06/22</a:t>
            </a:r>
          </a:p>
        </p:txBody>
      </p:sp>
      <p:graphicFrame>
        <p:nvGraphicFramePr>
          <p:cNvPr id="20" name="Table 19"/>
          <p:cNvGraphicFramePr>
            <a:graphicFrameLocks noGrp="1"/>
          </p:cNvGraphicFramePr>
          <p:nvPr/>
        </p:nvGraphicFramePr>
        <p:xfrm>
          <a:off x="548640" y="1810512"/>
          <a:ext cx="11064240" cy="3364992"/>
        </p:xfrm>
        <a:graphic>
          <a:graphicData uri="http://schemas.openxmlformats.org/drawingml/2006/table">
            <a:tbl>
              <a:tblPr firstRow="1" bandRow="1">
                <a:tableStyleId>{5C22544A-7EE6-4342-B048-85BDC9FD1C3A}</a:tableStyleId>
              </a:tblPr>
              <a:tblGrid>
                <a:gridCol w="2377440"/>
                <a:gridCol w="3063240"/>
                <a:gridCol w="5623560"/>
              </a:tblGrid>
              <a:tr h="841248">
                <a:tc>
                  <a:txBody>
                    <a:bodyPr/>
                    <a:lstStyle/>
                    <a:p>
                      <a:pPr>
                        <a:defRPr sz="1500" b="1">
                          <a:solidFill>
                            <a:srgbClr val="E3F4B0"/>
                          </a:solidFill>
                          <a:latin typeface="Arial"/>
                        </a:defRPr>
                      </a:pPr>
                      <a:r>
                        <a:t>Компания / регион</a:t>
                      </a:r>
                    </a:p>
                  </a:txBody>
                  <a:tcPr marL="100584" marR="82296" marT="64008">
                    <a:solidFill>
                      <a:srgbClr val="264E3B"/>
                    </a:solidFill>
                  </a:tcPr>
                </a:tc>
                <a:tc>
                  <a:txBody>
                    <a:bodyPr/>
                    <a:lstStyle/>
                    <a:p>
                      <a:pPr>
                        <a:defRPr sz="1500" b="1">
                          <a:solidFill>
                            <a:srgbClr val="E3F4B0"/>
                          </a:solidFill>
                          <a:latin typeface="Arial"/>
                        </a:defRPr>
                      </a:pPr>
                      <a:r>
                        <a:t>Операция / цена</a:t>
                      </a:r>
                    </a:p>
                  </a:txBody>
                  <a:tcPr marL="100584" marR="82296" marT="64008">
                    <a:solidFill>
                      <a:srgbClr val="264E3B"/>
                    </a:solidFill>
                  </a:tcPr>
                </a:tc>
                <a:tc>
                  <a:txBody>
                    <a:bodyPr/>
                    <a:lstStyle/>
                    <a:p>
                      <a:pPr>
                        <a:defRPr sz="1500" b="1">
                          <a:solidFill>
                            <a:srgbClr val="E3F4B0"/>
                          </a:solidFill>
                          <a:latin typeface="Arial"/>
                        </a:defRPr>
                      </a:pPr>
                      <a:r>
                        <a:t>Что входит и ограничения</a:t>
                      </a:r>
                    </a:p>
                  </a:txBody>
                  <a:tcPr marL="100584" marR="82296" marT="64008">
                    <a:solidFill>
                      <a:srgbClr val="264E3B"/>
                    </a:solidFill>
                  </a:tcPr>
                </a:tc>
              </a:tr>
              <a:tr h="841248">
                <a:tc>
                  <a:txBody>
                    <a:bodyPr/>
                    <a:lstStyle/>
                    <a:p>
                      <a:pPr>
                        <a:defRPr sz="1500" b="0">
                          <a:solidFill>
                            <a:srgbClr val="FFFFFF"/>
                          </a:solidFill>
                          <a:latin typeface="Arial"/>
                        </a:defRPr>
                      </a:pPr>
                      <a:r>
                        <a:t>Агродроны ЮФО / юг РФ</a:t>
                      </a:r>
                    </a:p>
                  </a:txBody>
                  <a:tcPr marL="100584" marR="82296" marT="64008">
                    <a:solidFill>
                      <a:srgbClr val="102620"/>
                    </a:solidFill>
                  </a:tcPr>
                </a:tc>
                <a:tc>
                  <a:txBody>
                    <a:bodyPr/>
                    <a:lstStyle/>
                    <a:p>
                      <a:pPr>
                        <a:defRPr sz="1500" b="0">
                          <a:solidFill>
                            <a:srgbClr val="FFFFFF"/>
                          </a:solidFill>
                          <a:latin typeface="Arial"/>
                        </a:defRPr>
                      </a:pPr>
                      <a:r>
                        <a:t>Обработка от 900 ₽/га</a:t>
                      </a:r>
                    </a:p>
                  </a:txBody>
                  <a:tcPr marL="100584" marR="82296" marT="64008">
                    <a:solidFill>
                      <a:srgbClr val="102620"/>
                    </a:solidFill>
                  </a:tcPr>
                </a:tc>
                <a:tc>
                  <a:txBody>
                    <a:bodyPr/>
                    <a:lstStyle/>
                    <a:p>
                      <a:pPr>
                        <a:defRPr sz="1500" b="0">
                          <a:solidFill>
                            <a:srgbClr val="FFFFFF"/>
                          </a:solidFill>
                          <a:latin typeface="Arial"/>
                        </a:defRPr>
                      </a:pPr>
                      <a:r>
                        <a:t>Заявление компании[36]. НДС, вода и логистика не уточнены; Татарстан не подтвержден.</a:t>
                      </a:r>
                    </a:p>
                  </a:txBody>
                  <a:tcPr marL="100584" marR="82296" marT="64008">
                    <a:solidFill>
                      <a:srgbClr val="102620"/>
                    </a:solidFill>
                  </a:tcPr>
                </a:tc>
              </a:tr>
              <a:tr h="841248">
                <a:tc>
                  <a:txBody>
                    <a:bodyPr/>
                    <a:lstStyle/>
                    <a:p>
                      <a:pPr>
                        <a:defRPr sz="1500" b="0">
                          <a:solidFill>
                            <a:srgbClr val="FFFFFF"/>
                          </a:solidFill>
                          <a:latin typeface="Arial"/>
                        </a:defRPr>
                      </a:pPr>
                      <a:r>
                        <a:t>ООО «Купец» / авторский материал</a:t>
                      </a:r>
                    </a:p>
                  </a:txBody>
                  <a:tcPr marL="100584" marR="82296" marT="64008">
                    <a:solidFill>
                      <a:srgbClr val="19372C"/>
                    </a:solidFill>
                  </a:tcPr>
                </a:tc>
                <a:tc>
                  <a:txBody>
                    <a:bodyPr/>
                    <a:lstStyle/>
                    <a:p>
                      <a:pPr>
                        <a:defRPr sz="1500" b="0">
                          <a:solidFill>
                            <a:srgbClr val="FFFFFF"/>
                          </a:solidFill>
                          <a:latin typeface="Arial"/>
                        </a:defRPr>
                      </a:pPr>
                      <a:r>
                        <a:t>Ориентир 1 200–1 500 ₽/га с НДС</a:t>
                      </a:r>
                    </a:p>
                  </a:txBody>
                  <a:tcPr marL="100584" marR="82296" marT="64008">
                    <a:solidFill>
                      <a:srgbClr val="19372C"/>
                    </a:solidFill>
                  </a:tcPr>
                </a:tc>
                <a:tc>
                  <a:txBody>
                    <a:bodyPr/>
                    <a:lstStyle/>
                    <a:p>
                      <a:pPr>
                        <a:defRPr sz="1500" b="0">
                          <a:solidFill>
                            <a:srgbClr val="FFFFFF"/>
                          </a:solidFill>
                          <a:latin typeface="Arial"/>
                        </a:defRPr>
                      </a:pPr>
                      <a:r>
                        <a:t>Публикация 07.05.2025[37], не прайс и не КП; состав и текущая цена требуют уточнения.</a:t>
                      </a:r>
                    </a:p>
                  </a:txBody>
                  <a:tcPr marL="100584" marR="82296" marT="64008">
                    <a:solidFill>
                      <a:srgbClr val="19372C"/>
                    </a:solidFill>
                  </a:tcPr>
                </a:tc>
              </a:tr>
              <a:tr h="841248">
                <a:tc>
                  <a:txBody>
                    <a:bodyPr/>
                    <a:lstStyle/>
                    <a:p>
                      <a:pPr>
                        <a:defRPr sz="1500" b="0">
                          <a:solidFill>
                            <a:srgbClr val="FFFFFF"/>
                          </a:solidFill>
                          <a:latin typeface="Arial"/>
                        </a:defRPr>
                      </a:pPr>
                      <a:r>
                        <a:t>Агропрофи/XAG; Аграс; BeeUAV</a:t>
                      </a:r>
                    </a:p>
                  </a:txBody>
                  <a:tcPr marL="100584" marR="82296" marT="64008">
                    <a:solidFill>
                      <a:srgbClr val="102620"/>
                    </a:solidFill>
                  </a:tcPr>
                </a:tc>
                <a:tc>
                  <a:txBody>
                    <a:bodyPr/>
                    <a:lstStyle/>
                    <a:p>
                      <a:pPr>
                        <a:defRPr sz="1500" b="0">
                          <a:solidFill>
                            <a:srgbClr val="FFFFFF"/>
                          </a:solidFill>
                          <a:latin typeface="Arial"/>
                        </a:defRPr>
                      </a:pPr>
                      <a:r>
                        <a:t>Публичный тариф услуги не раскрыт</a:t>
                      </a:r>
                    </a:p>
                  </a:txBody>
                  <a:tcPr marL="100584" marR="82296" marT="64008">
                    <a:solidFill>
                      <a:srgbClr val="102620"/>
                    </a:solidFill>
                  </a:tcPr>
                </a:tc>
                <a:tc>
                  <a:txBody>
                    <a:bodyPr/>
                    <a:lstStyle/>
                    <a:p>
                      <a:pPr>
                        <a:defRPr sz="1500" b="0">
                          <a:solidFill>
                            <a:srgbClr val="FFFFFF"/>
                          </a:solidFill>
                          <a:latin typeface="Arial"/>
                        </a:defRPr>
                      </a:pPr>
                      <a:r>
                        <a:t>Запрашивать КП на одинаковое поле. Стоимость техники не является тарифом обработки.</a:t>
                      </a:r>
                    </a:p>
                  </a:txBody>
                  <a:tcPr marL="100584" marR="82296" marT="64008">
                    <a:solidFill>
                      <a:srgbClr val="102620"/>
                    </a:solidFill>
                  </a:tcPr>
                </a:tc>
              </a:tr>
            </a:tbl>
          </a:graphicData>
        </a:graphic>
      </p:graphicFrame>
      <p:sp>
        <p:nvSpPr>
          <p:cNvPr id="21" name="TextBox 20"/>
          <p:cNvSpPr txBox="1"/>
          <p:nvPr/>
        </p:nvSpPr>
        <p:spPr>
          <a:xfrm>
            <a:off x="612648" y="5431536"/>
            <a:ext cx="10881360" cy="685800"/>
          </a:xfrm>
          <a:prstGeom prst="rect">
            <a:avLst/>
          </a:prstGeom>
          <a:noFill/>
        </p:spPr>
        <p:txBody>
          <a:bodyPr wrap="square" lIns="0" rIns="0" tIns="0">
            <a:spAutoFit/>
          </a:bodyPr>
          <a:lstStyle/>
          <a:p>
            <a:pPr>
              <a:spcAft>
                <a:spcPts val="1000"/>
              </a:spcAft>
              <a:defRPr sz="1600" b="0">
                <a:solidFill>
                  <a:srgbClr val="D6ED89"/>
                </a:solidFill>
                <a:latin typeface="Arial"/>
              </a:defRPr>
            </a:pPr>
            <a:r>
              <a:t>AgroVector: план 1 300 ₽/га-проход и 250 ₽/га-обследование; препараты клиента.</a:t>
            </a:r>
          </a:p>
          <a:p>
            <a:pPr>
              <a:spcAft>
                <a:spcPts val="1000"/>
              </a:spcAft>
              <a:defRPr sz="1600" b="0">
                <a:solidFill>
                  <a:srgbClr val="D6ED89"/>
                </a:solidFill>
                <a:latin typeface="Arial"/>
              </a:defRPr>
            </a:pPr>
            <a:r>
              <a:t>Доли конкурентов публично не раскрыты. Полное нейтральное сравнение, URL и даты — в заметках.</a:t>
            </a:r>
          </a:p>
        </p:txBody>
      </p:sp>
    </p:spTree>
  </p:cSld>
  <p:clrMapOvr>
    <a:masterClrMapping/>
  </p:clrMapOvr>
  <mc:AlternateContent xmlns:mc="http://schemas.openxmlformats.org/markup-compatibility/2006">
    <mc:Choice xmlns:p159="http://schemas.microsoft.com/office/powerpoint/2015/09/main" Requires="p159">
      <p:transition spd="slow" advClick="1">
        <p159:morph option="byObject"/>
      </p:transition>
    </mc:Choice>
    <mc:Fallback>
      <p:transition spd="med" advClick="1">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07.jpg"/>
          <p:cNvPicPr>
            <a:picLocks noChangeAspect="1"/>
          </p:cNvPicPr>
          <p:nvPr/>
        </p:nvPicPr>
        <p:blipFill>
          <a:blip r:embed="rId3"/>
          <a:stretch>
            <a:fillRect/>
          </a:stretch>
        </p:blipFill>
        <p:spPr>
          <a:xfrm>
            <a:off x="0" y="0"/>
            <a:ext cx="12191999" cy="6858000"/>
          </a:xfrm>
          <a:prstGeom prst="rect">
            <a:avLst/>
          </a:prstGeom>
        </p:spPr>
      </p:pic>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
        <p:nvSpPr>
          <p:cNvPr id="18" name="Rectangle 17"/>
          <p:cNvSpPr/>
          <p:nvPr/>
        </p:nvSpPr>
        <p:spPr>
          <a:xfrm>
            <a:off x="320040" y="256032"/>
            <a:ext cx="11567160" cy="6117336"/>
          </a:xfrm>
          <a:prstGeom prst="rect">
            <a:avLst/>
          </a:prstGeom>
          <a:solidFill>
            <a:srgbClr val="0A1B19">
              <a:alpha val="9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93192"/>
            <a:ext cx="10789920" cy="320040"/>
          </a:xfrm>
          <a:prstGeom prst="rect">
            <a:avLst/>
          </a:prstGeom>
          <a:noFill/>
        </p:spPr>
        <p:txBody>
          <a:bodyPr wrap="square" lIns="0" rIns="0" tIns="0">
            <a:spAutoFit/>
          </a:bodyPr>
          <a:lstStyle/>
          <a:p>
            <a:pPr>
              <a:spcAft>
                <a:spcPts val="1000"/>
              </a:spcAft>
              <a:defRPr sz="1300" b="1">
                <a:solidFill>
                  <a:srgbClr val="D6ED89"/>
                </a:solidFill>
                <a:latin typeface="Arial"/>
              </a:defRPr>
            </a:pPr>
            <a:r>
              <a:t>АГРОВЕКТОР / 07 / РАЗВЕРНУТЫЙ SWOT / TOWS</a:t>
            </a:r>
          </a:p>
        </p:txBody>
      </p:sp>
      <p:sp>
        <p:nvSpPr>
          <p:cNvPr id="20" name="TextBox 19"/>
          <p:cNvSpPr txBox="1"/>
          <p:nvPr/>
        </p:nvSpPr>
        <p:spPr>
          <a:xfrm>
            <a:off x="566928" y="914400"/>
            <a:ext cx="10972800" cy="548640"/>
          </a:xfrm>
          <a:prstGeom prst="rect">
            <a:avLst/>
          </a:prstGeom>
          <a:noFill/>
        </p:spPr>
        <p:txBody>
          <a:bodyPr wrap="square" lIns="0" rIns="0" tIns="0">
            <a:spAutoFit/>
          </a:bodyPr>
          <a:lstStyle/>
          <a:p>
            <a:pPr>
              <a:spcAft>
                <a:spcPts val="1000"/>
              </a:spcAft>
              <a:defRPr sz="2700" b="1">
                <a:solidFill>
                  <a:srgbClr val="FFFFFF"/>
                </a:solidFill>
                <a:latin typeface="Arial"/>
              </a:defRPr>
            </a:pPr>
            <a:r>
              <a:t>Факторы среды → четыре стратегии действий</a:t>
            </a:r>
          </a:p>
        </p:txBody>
      </p:sp>
      <p:sp>
        <p:nvSpPr>
          <p:cNvPr id="21" name="TextBox 20"/>
          <p:cNvSpPr txBox="1"/>
          <p:nvPr/>
        </p:nvSpPr>
        <p:spPr>
          <a:xfrm>
            <a:off x="566928" y="6519672"/>
            <a:ext cx="10698480" cy="201168"/>
          </a:xfrm>
          <a:prstGeom prst="rect">
            <a:avLst/>
          </a:prstGeom>
          <a:noFill/>
        </p:spPr>
        <p:txBody>
          <a:bodyPr wrap="square" lIns="0" rIns="0" tIns="0">
            <a:spAutoFit/>
          </a:bodyPr>
          <a:lstStyle/>
          <a:p>
            <a:pPr>
              <a:spcAft>
                <a:spcPts val="1000"/>
              </a:spcAft>
              <a:defRPr sz="900" b="0">
                <a:solidFill>
                  <a:srgbClr val="CCDACF"/>
                </a:solidFill>
                <a:latin typeface="Arial"/>
              </a:defRPr>
            </a:pPr>
            <a:r>
              <a:t>Проектные гипотезы и расчеты; не подтвержденный бизнес. Референс: Практика 08.10.26. / Редакция 21.10.2026</a:t>
            </a:r>
          </a:p>
        </p:txBody>
      </p:sp>
      <p:sp>
        <p:nvSpPr>
          <p:cNvPr id="22" name="TextBox 21"/>
          <p:cNvSpPr txBox="1"/>
          <p:nvPr/>
        </p:nvSpPr>
        <p:spPr>
          <a:xfrm>
            <a:off x="11082528" y="6501384"/>
            <a:ext cx="640080" cy="219456"/>
          </a:xfrm>
          <a:prstGeom prst="rect">
            <a:avLst/>
          </a:prstGeom>
          <a:noFill/>
        </p:spPr>
        <p:txBody>
          <a:bodyPr wrap="square" lIns="0" rIns="0" tIns="0">
            <a:spAutoFit/>
          </a:bodyPr>
          <a:lstStyle/>
          <a:p>
            <a:pPr>
              <a:spcAft>
                <a:spcPts val="1000"/>
              </a:spcAft>
              <a:defRPr sz="1000" b="1">
                <a:solidFill>
                  <a:srgbClr val="D6ED89"/>
                </a:solidFill>
                <a:latin typeface="Arial"/>
              </a:defRPr>
            </a:pPr>
            <a:r>
              <a:t>07/22</a:t>
            </a:r>
          </a:p>
        </p:txBody>
      </p:sp>
      <p:graphicFrame>
        <p:nvGraphicFramePr>
          <p:cNvPr id="23" name="Table 22"/>
          <p:cNvGraphicFramePr>
            <a:graphicFrameLocks noGrp="1"/>
          </p:cNvGraphicFramePr>
          <p:nvPr/>
        </p:nvGraphicFramePr>
        <p:xfrm>
          <a:off x="548640" y="1792224"/>
          <a:ext cx="11064240" cy="3986784"/>
        </p:xfrm>
        <a:graphic>
          <a:graphicData uri="http://schemas.openxmlformats.org/drawingml/2006/table">
            <a:tbl>
              <a:tblPr firstRow="1" bandRow="1">
                <a:tableStyleId>{5C22544A-7EE6-4342-B048-85BDC9FD1C3A}</a:tableStyleId>
              </a:tblPr>
              <a:tblGrid>
                <a:gridCol w="3291840"/>
                <a:gridCol w="3886200"/>
                <a:gridCol w="3886200"/>
              </a:tblGrid>
              <a:tr h="1328928">
                <a:tc>
                  <a:txBody>
                    <a:bodyPr/>
                    <a:lstStyle/>
                    <a:p>
                      <a:pPr>
                        <a:defRPr sz="1500" b="1">
                          <a:solidFill>
                            <a:srgbClr val="E3F4B0"/>
                          </a:solidFill>
                          <a:latin typeface="Arial"/>
                        </a:defRPr>
                      </a:pPr>
                      <a:r>
                        <a:t>Внутренние / внешние</a:t>
                      </a:r>
                    </a:p>
                  </a:txBody>
                  <a:tcPr marL="100584" marR="82296" marT="64008">
                    <a:solidFill>
                      <a:srgbClr val="264E3B"/>
                    </a:solidFill>
                  </a:tcPr>
                </a:tc>
                <a:tc>
                  <a:txBody>
                    <a:bodyPr/>
                    <a:lstStyle/>
                    <a:p>
                      <a:pPr>
                        <a:defRPr sz="1500" b="1">
                          <a:solidFill>
                            <a:srgbClr val="E3F4B0"/>
                          </a:solidFill>
                          <a:latin typeface="Arial"/>
                        </a:defRPr>
                      </a:pPr>
                      <a:r>
                        <a:t>O — возможности</a:t>
                      </a:r>
                    </a:p>
                    <a:p>
                      <a:pPr>
                        <a:defRPr sz="1500" b="1">
                          <a:solidFill>
                            <a:srgbClr val="E3F4B0"/>
                          </a:solidFill>
                          <a:latin typeface="Arial"/>
                        </a:defRPr>
                      </a:pPr>
                      <a:r>
                        <a:t>Локальные сложные поля; платные пилоты с агрономами; подготовка кадров</a:t>
                      </a:r>
                    </a:p>
                  </a:txBody>
                  <a:tcPr marL="100584" marR="82296" marT="64008">
                    <a:solidFill>
                      <a:srgbClr val="264E3B"/>
                    </a:solidFill>
                  </a:tcPr>
                </a:tc>
                <a:tc>
                  <a:txBody>
                    <a:bodyPr/>
                    <a:lstStyle/>
                    <a:p>
                      <a:pPr>
                        <a:defRPr sz="1500" b="1">
                          <a:solidFill>
                            <a:srgbClr val="E3F4B0"/>
                          </a:solidFill>
                          <a:latin typeface="Arial"/>
                        </a:defRPr>
                      </a:pPr>
                      <a:r>
                        <a:t>T — угрозы</a:t>
                      </a:r>
                    </a:p>
                    <a:p>
                      <a:pPr>
                        <a:defRPr sz="1500" b="1">
                          <a:solidFill>
                            <a:srgbClr val="E3F4B0"/>
                          </a:solidFill>
                          <a:latin typeface="Arial"/>
                        </a:defRPr>
                      </a:pPr>
                      <a:r>
                        <a:t>Ограничения работ; погода и отказы; цена и задержки платежей</a:t>
                      </a:r>
                    </a:p>
                  </a:txBody>
                  <a:tcPr marL="100584" marR="82296" marT="64008">
                    <a:solidFill>
                      <a:srgbClr val="264E3B"/>
                    </a:solidFill>
                  </a:tcPr>
                </a:tc>
              </a:tr>
              <a:tr h="1328928">
                <a:tc>
                  <a:txBody>
                    <a:bodyPr/>
                    <a:lstStyle/>
                    <a:p>
                      <a:pPr>
                        <a:defRPr sz="1500" b="0">
                          <a:solidFill>
                            <a:srgbClr val="FFFFFF"/>
                          </a:solidFill>
                          <a:latin typeface="Arial"/>
                        </a:defRPr>
                      </a:pPr>
                      <a:r>
                        <a:t>S — проектные сильные стороны</a:t>
                      </a:r>
                    </a:p>
                    <a:p>
                      <a:pPr>
                        <a:defRPr sz="1500" b="0">
                          <a:solidFill>
                            <a:srgbClr val="FFFFFF"/>
                          </a:solidFill>
                          <a:latin typeface="Arial"/>
                        </a:defRPr>
                      </a:pPr>
                      <a:r>
                        <a:t>Контур «карта–операция–отчет»; резервный БВС; короткие решения</a:t>
                      </a:r>
                    </a:p>
                  </a:txBody>
                  <a:tcPr marL="100584" marR="82296" marT="64008">
                    <a:solidFill>
                      <a:srgbClr val="102620"/>
                    </a:solidFill>
                  </a:tcPr>
                </a:tc>
                <a:tc>
                  <a:txBody>
                    <a:bodyPr/>
                    <a:lstStyle/>
                    <a:p>
                      <a:pPr>
                        <a:defRPr sz="1500" b="0">
                          <a:solidFill>
                            <a:srgbClr val="FFFFFF"/>
                          </a:solidFill>
                          <a:latin typeface="Arial"/>
                        </a:defRPr>
                      </a:pPr>
                      <a:r>
                        <a:t>SO: S1 + O1/O2</a:t>
                      </a:r>
                    </a:p>
                    <a:p>
                      <a:pPr>
                        <a:defRPr sz="1500" b="0">
                          <a:solidFill>
                            <a:srgbClr val="FFFFFF"/>
                          </a:solidFill>
                          <a:latin typeface="Arial"/>
                        </a:defRPr>
                      </a:pPr>
                      <a:r>
                        <a:t>Платный пилот с паспортом поля и критериями приемки.</a:t>
                      </a:r>
                    </a:p>
                    <a:p>
                      <a:pPr>
                        <a:defRPr sz="1500" b="0">
                          <a:solidFill>
                            <a:srgbClr val="FFFFFF"/>
                          </a:solidFill>
                          <a:latin typeface="Arial"/>
                        </a:defRPr>
                      </a:pPr>
                      <a:r>
                        <a:t>Директор + агроном; до закупки.</a:t>
                      </a:r>
                    </a:p>
                  </a:txBody>
                  <a:tcPr marL="100584" marR="82296" marT="64008">
                    <a:solidFill>
                      <a:srgbClr val="102620"/>
                    </a:solidFill>
                  </a:tcPr>
                </a:tc>
                <a:tc>
                  <a:txBody>
                    <a:bodyPr/>
                    <a:lstStyle/>
                    <a:p>
                      <a:pPr>
                        <a:defRPr sz="1500" b="0">
                          <a:solidFill>
                            <a:srgbClr val="FFFFFF"/>
                          </a:solidFill>
                          <a:latin typeface="Arial"/>
                        </a:defRPr>
                      </a:pPr>
                      <a:r>
                        <a:t>ST: S2/S3 + T1/T2</a:t>
                      </a:r>
                    </a:p>
                    <a:p>
                      <a:pPr>
                        <a:defRPr sz="1500" b="0">
                          <a:solidFill>
                            <a:srgbClr val="FFFFFF"/>
                          </a:solidFill>
                          <a:latin typeface="Arial"/>
                        </a:defRPr>
                      </a:pPr>
                      <a:r>
                        <a:t>Допуск, резерв, чек-лист; no-go без оснований.</a:t>
                      </a:r>
                    </a:p>
                    <a:p>
                      <a:pPr>
                        <a:defRPr sz="1500" b="0">
                          <a:solidFill>
                            <a:srgbClr val="FFFFFF"/>
                          </a:solidFill>
                          <a:latin typeface="Arial"/>
                        </a:defRPr>
                      </a:pPr>
                      <a:r>
                        <a:t>Опер. руководитель; каждый выезд.</a:t>
                      </a:r>
                    </a:p>
                  </a:txBody>
                  <a:tcPr marL="100584" marR="82296" marT="64008">
                    <a:solidFill>
                      <a:srgbClr val="102620"/>
                    </a:solidFill>
                  </a:tcPr>
                </a:tc>
              </a:tr>
              <a:tr h="1328928">
                <a:tc>
                  <a:txBody>
                    <a:bodyPr/>
                    <a:lstStyle/>
                    <a:p>
                      <a:pPr>
                        <a:defRPr sz="1500" b="0">
                          <a:solidFill>
                            <a:srgbClr val="FFFFFF"/>
                          </a:solidFill>
                          <a:latin typeface="Arial"/>
                        </a:defRPr>
                      </a:pPr>
                      <a:r>
                        <a:t>W — слабые стороны</a:t>
                      </a:r>
                    </a:p>
                    <a:p>
                      <a:pPr>
                        <a:defRPr sz="1500" b="0">
                          <a:solidFill>
                            <a:srgbClr val="FFFFFF"/>
                          </a:solidFill>
                          <a:latin typeface="Arial"/>
                        </a:defRPr>
                      </a:pPr>
                      <a:r>
                        <a:t>Нет заказов и сезона; одна бригада; парк/кадры не подтверждены</a:t>
                      </a:r>
                    </a:p>
                  </a:txBody>
                  <a:tcPr marL="100584" marR="82296" marT="64008">
                    <a:solidFill>
                      <a:srgbClr val="19372C"/>
                    </a:solidFill>
                  </a:tcPr>
                </a:tc>
                <a:tc>
                  <a:txBody>
                    <a:bodyPr/>
                    <a:lstStyle/>
                    <a:p>
                      <a:pPr>
                        <a:defRPr sz="1500" b="0">
                          <a:solidFill>
                            <a:srgbClr val="FFFFFF"/>
                          </a:solidFill>
                          <a:latin typeface="Arial"/>
                        </a:defRPr>
                      </a:pPr>
                      <a:r>
                        <a:t>WO: W1/W3 + O2/O3</a:t>
                      </a:r>
                    </a:p>
                    <a:p>
                      <a:pPr>
                        <a:defRPr sz="1500" b="0">
                          <a:solidFill>
                            <a:srgbClr val="FFFFFF"/>
                          </a:solidFill>
                          <a:latin typeface="Arial"/>
                        </a:defRPr>
                      </a:pPr>
                      <a:r>
                        <a:t>КП, договорный портфель, предложения кандидатам и наставник.</a:t>
                      </a:r>
                    </a:p>
                    <a:p>
                      <a:pPr>
                        <a:defRPr sz="1500" b="0">
                          <a:solidFill>
                            <a:srgbClr val="FFFFFF"/>
                          </a:solidFill>
                          <a:latin typeface="Arial"/>
                        </a:defRPr>
                      </a:pPr>
                      <a:r>
                        <a:t>Директор; до финансирования.</a:t>
                      </a:r>
                    </a:p>
                  </a:txBody>
                  <a:tcPr marL="100584" marR="82296" marT="64008">
                    <a:solidFill>
                      <a:srgbClr val="19372C"/>
                    </a:solidFill>
                  </a:tcPr>
                </a:tc>
                <a:tc>
                  <a:txBody>
                    <a:bodyPr/>
                    <a:lstStyle/>
                    <a:p>
                      <a:pPr>
                        <a:defRPr sz="1500" b="0">
                          <a:solidFill>
                            <a:srgbClr val="FFFFFF"/>
                          </a:solidFill>
                          <a:latin typeface="Arial"/>
                        </a:defRPr>
                      </a:pPr>
                      <a:r>
                        <a:t>WT: W2 + T2/T3</a:t>
                      </a:r>
                    </a:p>
                    <a:p>
                      <a:pPr>
                        <a:defRPr sz="1500" b="0">
                          <a:solidFill>
                            <a:srgbClr val="FFFFFF"/>
                          </a:solidFill>
                          <a:latin typeface="Arial"/>
                        </a:defRPr>
                      </a:pPr>
                      <a:r>
                        <a:t>Лимит месячной загрузки, аванс и переносы; отказ от перегруза.</a:t>
                      </a:r>
                    </a:p>
                    <a:p>
                      <a:pPr>
                        <a:defRPr sz="1500" b="0">
                          <a:solidFill>
                            <a:srgbClr val="FFFFFF"/>
                          </a:solidFill>
                          <a:latin typeface="Arial"/>
                        </a:defRPr>
                      </a:pPr>
                      <a:r>
                        <a:t>Директор; перед договором.</a:t>
                      </a:r>
                    </a:p>
                  </a:txBody>
                  <a:tcPr marL="100584" marR="82296" marT="64008">
                    <a:solidFill>
                      <a:srgbClr val="19372C"/>
                    </a:solidFill>
                  </a:tcPr>
                </a:tc>
              </a:tr>
            </a:tbl>
          </a:graphicData>
        </a:graphic>
      </p:graphicFrame>
      <p:sp>
        <p:nvSpPr>
          <p:cNvPr id="24" name="TextBox 23"/>
          <p:cNvSpPr txBox="1"/>
          <p:nvPr/>
        </p:nvSpPr>
        <p:spPr>
          <a:xfrm>
            <a:off x="603504" y="5925312"/>
            <a:ext cx="10789920" cy="256032"/>
          </a:xfrm>
          <a:prstGeom prst="rect">
            <a:avLst/>
          </a:prstGeom>
          <a:noFill/>
        </p:spPr>
        <p:txBody>
          <a:bodyPr wrap="square" lIns="0" rIns="0" tIns="0">
            <a:spAutoFit/>
          </a:bodyPr>
          <a:lstStyle/>
          <a:p>
            <a:pPr>
              <a:spcAft>
                <a:spcPts val="1000"/>
              </a:spcAft>
              <a:defRPr sz="1200" b="0">
                <a:solidFill>
                  <a:srgbClr val="D6ED89"/>
                </a:solidFill>
                <a:latin typeface="Arial"/>
              </a:defRPr>
            </a:pPr>
            <a:r>
              <a:t>Гипотезы раннего проекта. Полный перечень S1–T3, метрики и ответственные — в заметках и письменном плане.</a:t>
            </a:r>
          </a:p>
        </p:txBody>
      </p:sp>
    </p:spTree>
  </p:cSld>
  <p:clrMapOvr>
    <a:masterClrMapping/>
  </p:clrMapOvr>
  <mc:AlternateContent xmlns:mc="http://schemas.openxmlformats.org/markup-compatibility/2006">
    <mc:Choice xmlns:p159="http://schemas.microsoft.com/office/powerpoint/2015/09/main" Requires="p159">
      <p:transition spd="slow" advClick="1">
        <p159:morph option="byObject"/>
      </p:transition>
    </mc:Choice>
    <mc:Fallback>
      <p:transition spd="med" advClick="1">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AV_background" descr="background_08.jpg"/>
          <p:cNvPicPr>
            <a:picLocks noChangeAspect="1"/>
          </p:cNvPicPr>
          <p:nvPr/>
        </p:nvPicPr>
        <p:blipFill>
          <a:blip r:embed="rId3"/>
          <a:stretch>
            <a:fillRect/>
          </a:stretch>
        </p:blipFill>
        <p:spPr>
          <a:xfrm>
            <a:off x="0" y="0"/>
            <a:ext cx="12191999" cy="6858000"/>
          </a:xfrm>
          <a:prstGeom prst="rect">
            <a:avLst/>
          </a:prstGeom>
        </p:spPr>
      </p:pic>
      <p:pic>
        <p:nvPicPr>
          <p:cNvPr id="14" name="!!AV_drone" descr="drone_render.png"/>
          <p:cNvPicPr>
            <a:picLocks noChangeAspect="1"/>
          </p:cNvPicPr>
          <p:nvPr/>
        </p:nvPicPr>
        <p:blipFill>
          <a:blip r:embed="rId5"/>
          <a:stretch>
            <a:fillRect/>
          </a:stretch>
        </p:blipFill>
        <p:spPr>
          <a:xfrm>
            <a:off x="10442448" y="722376"/>
            <a:ext cx="1024128" cy="640080"/>
          </a:xfrm>
          <a:prstGeom prst="rect">
            <a:avLst/>
          </a:prstGeom>
        </p:spPr>
      </p:pic>
      <p:sp>
        <p:nvSpPr>
          <p:cNvPr id="15" name="Rectangle 14"/>
          <p:cNvSpPr/>
          <p:nvPr/>
        </p:nvSpPr>
        <p:spPr>
          <a:xfrm>
            <a:off x="320040" y="256032"/>
            <a:ext cx="11567160" cy="6117336"/>
          </a:xfrm>
          <a:prstGeom prst="rect">
            <a:avLst/>
          </a:prstGeom>
          <a:solidFill>
            <a:srgbClr val="0A1B19">
              <a:alpha val="9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393192"/>
            <a:ext cx="10789920" cy="320040"/>
          </a:xfrm>
          <a:prstGeom prst="rect">
            <a:avLst/>
          </a:prstGeom>
          <a:noFill/>
        </p:spPr>
        <p:txBody>
          <a:bodyPr wrap="square" lIns="0" rIns="0" tIns="0">
            <a:spAutoFit/>
          </a:bodyPr>
          <a:lstStyle/>
          <a:p>
            <a:pPr>
              <a:spcAft>
                <a:spcPts val="1000"/>
              </a:spcAft>
              <a:defRPr sz="1300" b="1">
                <a:solidFill>
                  <a:srgbClr val="D6ED89"/>
                </a:solidFill>
                <a:latin typeface="Arial"/>
              </a:defRPr>
            </a:pPr>
            <a:r>
              <a:t>АГРОВЕКТОР / 08 / ПЯТЬ СИЛ ПОРТЕРА</a:t>
            </a:r>
          </a:p>
        </p:txBody>
      </p:sp>
      <p:sp>
        <p:nvSpPr>
          <p:cNvPr id="17" name="TextBox 16"/>
          <p:cNvSpPr txBox="1"/>
          <p:nvPr/>
        </p:nvSpPr>
        <p:spPr>
          <a:xfrm>
            <a:off x="566928" y="914400"/>
            <a:ext cx="10972800" cy="548640"/>
          </a:xfrm>
          <a:prstGeom prst="rect">
            <a:avLst/>
          </a:prstGeom>
          <a:noFill/>
        </p:spPr>
        <p:txBody>
          <a:bodyPr wrap="square" lIns="0" rIns="0" tIns="0">
            <a:spAutoFit/>
          </a:bodyPr>
          <a:lstStyle/>
          <a:p>
            <a:pPr>
              <a:spcAft>
                <a:spcPts val="1000"/>
              </a:spcAft>
              <a:defRPr sz="2700" b="1">
                <a:solidFill>
                  <a:srgbClr val="FFFFFF"/>
                </a:solidFill>
                <a:latin typeface="Arial"/>
              </a:defRPr>
            </a:pPr>
            <a:r>
              <a:t>Сила давления, объяснение и направление работ</a:t>
            </a:r>
          </a:p>
        </p:txBody>
      </p:sp>
      <p:sp>
        <p:nvSpPr>
          <p:cNvPr id="18" name="TextBox 17"/>
          <p:cNvSpPr txBox="1"/>
          <p:nvPr/>
        </p:nvSpPr>
        <p:spPr>
          <a:xfrm>
            <a:off x="566928" y="6519672"/>
            <a:ext cx="10698480" cy="201168"/>
          </a:xfrm>
          <a:prstGeom prst="rect">
            <a:avLst/>
          </a:prstGeom>
          <a:noFill/>
        </p:spPr>
        <p:txBody>
          <a:bodyPr wrap="square" lIns="0" rIns="0" tIns="0">
            <a:spAutoFit/>
          </a:bodyPr>
          <a:lstStyle/>
          <a:p>
            <a:pPr>
              <a:spcAft>
                <a:spcPts val="1000"/>
              </a:spcAft>
              <a:defRPr sz="900" b="0">
                <a:solidFill>
                  <a:srgbClr val="CCDACF"/>
                </a:solidFill>
                <a:latin typeface="Arial"/>
              </a:defRPr>
            </a:pPr>
            <a:r>
              <a:t>Проектные гипотезы и расчеты; не подтвержденный бизнес. Референс: Практика 08.10.26. / Редакция 21.10.2026</a:t>
            </a:r>
          </a:p>
        </p:txBody>
      </p:sp>
      <p:sp>
        <p:nvSpPr>
          <p:cNvPr id="19" name="TextBox 18"/>
          <p:cNvSpPr txBox="1"/>
          <p:nvPr/>
        </p:nvSpPr>
        <p:spPr>
          <a:xfrm>
            <a:off x="11082528" y="6501384"/>
            <a:ext cx="640080" cy="219456"/>
          </a:xfrm>
          <a:prstGeom prst="rect">
            <a:avLst/>
          </a:prstGeom>
          <a:noFill/>
        </p:spPr>
        <p:txBody>
          <a:bodyPr wrap="square" lIns="0" rIns="0" tIns="0">
            <a:spAutoFit/>
          </a:bodyPr>
          <a:lstStyle/>
          <a:p>
            <a:pPr>
              <a:spcAft>
                <a:spcPts val="1000"/>
              </a:spcAft>
              <a:defRPr sz="1000" b="1">
                <a:solidFill>
                  <a:srgbClr val="D6ED89"/>
                </a:solidFill>
                <a:latin typeface="Arial"/>
              </a:defRPr>
            </a:pPr>
            <a:r>
              <a:t>08/22</a:t>
            </a:r>
          </a:p>
        </p:txBody>
      </p:sp>
      <p:graphicFrame>
        <p:nvGraphicFramePr>
          <p:cNvPr id="20" name="Table 19"/>
          <p:cNvGraphicFramePr>
            <a:graphicFrameLocks noGrp="1"/>
          </p:cNvGraphicFramePr>
          <p:nvPr/>
        </p:nvGraphicFramePr>
        <p:xfrm>
          <a:off x="548640" y="1792224"/>
          <a:ext cx="11064240" cy="4233672"/>
        </p:xfrm>
        <a:graphic>
          <a:graphicData uri="http://schemas.openxmlformats.org/drawingml/2006/table">
            <a:tbl>
              <a:tblPr firstRow="1" bandRow="1">
                <a:tableStyleId>{5C22544A-7EE6-4342-B048-85BDC9FD1C3A}</a:tableStyleId>
              </a:tblPr>
              <a:tblGrid>
                <a:gridCol w="2057400"/>
                <a:gridCol w="1280160"/>
                <a:gridCol w="3337560"/>
                <a:gridCol w="4389120"/>
              </a:tblGrid>
              <a:tr h="705612">
                <a:tc>
                  <a:txBody>
                    <a:bodyPr/>
                    <a:lstStyle/>
                    <a:p>
                      <a:pPr>
                        <a:defRPr sz="1300" b="1">
                          <a:solidFill>
                            <a:srgbClr val="E3F4B0"/>
                          </a:solidFill>
                          <a:latin typeface="Arial"/>
                        </a:defRPr>
                      </a:pPr>
                      <a:r>
                        <a:t>Параметр</a:t>
                      </a:r>
                    </a:p>
                  </a:txBody>
                  <a:tcPr marL="100584" marR="82296" marT="64008">
                    <a:solidFill>
                      <a:srgbClr val="264E3B"/>
                    </a:solidFill>
                  </a:tcPr>
                </a:tc>
                <a:tc>
                  <a:txBody>
                    <a:bodyPr/>
                    <a:lstStyle/>
                    <a:p>
                      <a:pPr>
                        <a:defRPr sz="1300" b="1">
                          <a:solidFill>
                            <a:srgbClr val="E3F4B0"/>
                          </a:solidFill>
                          <a:latin typeface="Arial"/>
                        </a:defRPr>
                      </a:pPr>
                      <a:r>
                        <a:t>Уровень</a:t>
                      </a:r>
                    </a:p>
                  </a:txBody>
                  <a:tcPr marL="100584" marR="82296" marT="64008">
                    <a:solidFill>
                      <a:srgbClr val="264E3B"/>
                    </a:solidFill>
                  </a:tcPr>
                </a:tc>
                <a:tc>
                  <a:txBody>
                    <a:bodyPr/>
                    <a:lstStyle/>
                    <a:p>
                      <a:pPr>
                        <a:defRPr sz="1300" b="1">
                          <a:solidFill>
                            <a:srgbClr val="E3F4B0"/>
                          </a:solidFill>
                          <a:latin typeface="Arial"/>
                        </a:defRPr>
                      </a:pPr>
                      <a:r>
                        <a:t>Описание</a:t>
                      </a:r>
                    </a:p>
                  </a:txBody>
                  <a:tcPr marL="100584" marR="82296" marT="64008">
                    <a:solidFill>
                      <a:srgbClr val="264E3B"/>
                    </a:solidFill>
                  </a:tcPr>
                </a:tc>
                <a:tc>
                  <a:txBody>
                    <a:bodyPr/>
                    <a:lstStyle/>
                    <a:p>
                      <a:pPr>
                        <a:defRPr sz="1300" b="1">
                          <a:solidFill>
                            <a:srgbClr val="E3F4B0"/>
                          </a:solidFill>
                          <a:latin typeface="Arial"/>
                        </a:defRPr>
                      </a:pPr>
                      <a:r>
                        <a:t>Направление работ</a:t>
                      </a:r>
                    </a:p>
                  </a:txBody>
                  <a:tcPr marL="100584" marR="82296" marT="64008">
                    <a:solidFill>
                      <a:srgbClr val="264E3B"/>
                    </a:solidFill>
                  </a:tcPr>
                </a:tc>
              </a:tr>
              <a:tr h="705612">
                <a:tc>
                  <a:txBody>
                    <a:bodyPr/>
                    <a:lstStyle/>
                    <a:p>
                      <a:pPr>
                        <a:defRPr sz="1300" b="0">
                          <a:solidFill>
                            <a:srgbClr val="FFFFFF"/>
                          </a:solidFill>
                          <a:latin typeface="Arial"/>
                        </a:defRPr>
                      </a:pPr>
                      <a:r>
                        <a:t>Заменители</a:t>
                      </a:r>
                    </a:p>
                  </a:txBody>
                  <a:tcPr marL="100584" marR="82296" marT="64008">
                    <a:solidFill>
                      <a:srgbClr val="102620"/>
                    </a:solidFill>
                  </a:tcPr>
                </a:tc>
                <a:tc>
                  <a:txBody>
                    <a:bodyPr/>
                    <a:lstStyle/>
                    <a:p>
                      <a:pPr>
                        <a:defRPr sz="1300" b="0">
                          <a:solidFill>
                            <a:srgbClr val="FFFFFF"/>
                          </a:solidFill>
                          <a:latin typeface="Arial"/>
                        </a:defRPr>
                      </a:pPr>
                      <a:r>
                        <a:t>Высокий</a:t>
                      </a:r>
                    </a:p>
                  </a:txBody>
                  <a:tcPr marL="100584" marR="82296" marT="64008">
                    <a:solidFill>
                      <a:srgbClr val="102620"/>
                    </a:solidFill>
                  </a:tcPr>
                </a:tc>
                <a:tc>
                  <a:txBody>
                    <a:bodyPr/>
                    <a:lstStyle/>
                    <a:p>
                      <a:pPr>
                        <a:defRPr sz="1300" b="0">
                          <a:solidFill>
                            <a:srgbClr val="FFFFFF"/>
                          </a:solidFill>
                          <a:latin typeface="Arial"/>
                        </a:defRPr>
                      </a:pPr>
                      <a:r>
                        <a:t>Наземная техника, свой БВС, отказ от операции</a:t>
                      </a:r>
                    </a:p>
                  </a:txBody>
                  <a:tcPr marL="100584" marR="82296" marT="64008">
                    <a:solidFill>
                      <a:srgbClr val="102620"/>
                    </a:solidFill>
                  </a:tcPr>
                </a:tc>
                <a:tc>
                  <a:txBody>
                    <a:bodyPr/>
                    <a:lstStyle/>
                    <a:p>
                      <a:pPr>
                        <a:defRPr sz="1300" b="0">
                          <a:solidFill>
                            <a:srgbClr val="FFFFFF"/>
                          </a:solidFill>
                          <a:latin typeface="Arial"/>
                        </a:defRPr>
                      </a:pPr>
                      <a:r>
                        <a:t>Сравнить полную стоимость и применимость на конкретном поле; не обещать превосходство повсеместно</a:t>
                      </a:r>
                    </a:p>
                  </a:txBody>
                  <a:tcPr marL="100584" marR="82296" marT="64008">
                    <a:solidFill>
                      <a:srgbClr val="102620"/>
                    </a:solidFill>
                  </a:tcPr>
                </a:tc>
              </a:tr>
              <a:tr h="705612">
                <a:tc>
                  <a:txBody>
                    <a:bodyPr/>
                    <a:lstStyle/>
                    <a:p>
                      <a:pPr>
                        <a:defRPr sz="1300" b="0">
                          <a:solidFill>
                            <a:srgbClr val="FFFFFF"/>
                          </a:solidFill>
                          <a:latin typeface="Arial"/>
                        </a:defRPr>
                      </a:pPr>
                      <a:r>
                        <a:t>Действующие конкуренты</a:t>
                      </a:r>
                    </a:p>
                  </a:txBody>
                  <a:tcPr marL="100584" marR="82296" marT="64008">
                    <a:solidFill>
                      <a:srgbClr val="19372C"/>
                    </a:solidFill>
                  </a:tcPr>
                </a:tc>
                <a:tc>
                  <a:txBody>
                    <a:bodyPr/>
                    <a:lstStyle/>
                    <a:p>
                      <a:pPr>
                        <a:defRPr sz="1300" b="0">
                          <a:solidFill>
                            <a:srgbClr val="FFFFFF"/>
                          </a:solidFill>
                          <a:latin typeface="Arial"/>
                        </a:defRPr>
                      </a:pPr>
                      <a:r>
                        <a:t>Высокий</a:t>
                      </a:r>
                    </a:p>
                  </a:txBody>
                  <a:tcPr marL="100584" marR="82296" marT="64008">
                    <a:solidFill>
                      <a:srgbClr val="19372C"/>
                    </a:solidFill>
                  </a:tcPr>
                </a:tc>
                <a:tc>
                  <a:txBody>
                    <a:bodyPr/>
                    <a:lstStyle/>
                    <a:p>
                      <a:pPr>
                        <a:defRPr sz="1300" b="0">
                          <a:solidFill>
                            <a:srgbClr val="FFFFFF"/>
                          </a:solidFill>
                          <a:latin typeface="Arial"/>
                        </a:defRPr>
                      </a:pPr>
                      <a:r>
                        <a:t>Клиент сравнивает тариф, состав работ и доступное окно</a:t>
                      </a:r>
                    </a:p>
                  </a:txBody>
                  <a:tcPr marL="100584" marR="82296" marT="64008">
                    <a:solidFill>
                      <a:srgbClr val="19372C"/>
                    </a:solidFill>
                  </a:tcPr>
                </a:tc>
                <a:tc>
                  <a:txBody>
                    <a:bodyPr/>
                    <a:lstStyle/>
                    <a:p>
                      <a:pPr>
                        <a:defRPr sz="1300" b="0">
                          <a:solidFill>
                            <a:srgbClr val="FFFFFF"/>
                          </a:solidFill>
                          <a:latin typeface="Arial"/>
                        </a:defRPr>
                      </a:pPr>
                      <a:r>
                        <a:t>Собирать сопоставимые КП; фиксировать приемку и отчетность</a:t>
                      </a:r>
                    </a:p>
                  </a:txBody>
                  <a:tcPr marL="100584" marR="82296" marT="64008">
                    <a:solidFill>
                      <a:srgbClr val="19372C"/>
                    </a:solidFill>
                  </a:tcPr>
                </a:tc>
              </a:tr>
              <a:tr h="705612">
                <a:tc>
                  <a:txBody>
                    <a:bodyPr/>
                    <a:lstStyle/>
                    <a:p>
                      <a:pPr>
                        <a:defRPr sz="1300" b="0">
                          <a:solidFill>
                            <a:srgbClr val="FFFFFF"/>
                          </a:solidFill>
                          <a:latin typeface="Arial"/>
                        </a:defRPr>
                      </a:pPr>
                      <a:r>
                        <a:t>Новые участники</a:t>
                      </a:r>
                    </a:p>
                  </a:txBody>
                  <a:tcPr marL="100584" marR="82296" marT="64008">
                    <a:solidFill>
                      <a:srgbClr val="102620"/>
                    </a:solidFill>
                  </a:tcPr>
                </a:tc>
                <a:tc>
                  <a:txBody>
                    <a:bodyPr/>
                    <a:lstStyle/>
                    <a:p>
                      <a:pPr>
                        <a:defRPr sz="1300" b="0">
                          <a:solidFill>
                            <a:srgbClr val="FFFFFF"/>
                          </a:solidFill>
                          <a:latin typeface="Arial"/>
                        </a:defRPr>
                      </a:pPr>
                      <a:r>
                        <a:t>Средний</a:t>
                      </a:r>
                    </a:p>
                  </a:txBody>
                  <a:tcPr marL="100584" marR="82296" marT="64008">
                    <a:solidFill>
                      <a:srgbClr val="102620"/>
                    </a:solidFill>
                  </a:tcPr>
                </a:tc>
                <a:tc>
                  <a:txBody>
                    <a:bodyPr/>
                    <a:lstStyle/>
                    <a:p>
                      <a:pPr>
                        <a:defRPr sz="1300" b="0">
                          <a:solidFill>
                            <a:srgbClr val="FFFFFF"/>
                          </a:solidFill>
                          <a:latin typeface="Arial"/>
                        </a:defRPr>
                      </a:pPr>
                      <a:r>
                        <a:t>Технику можно купить, но капитал, персонал и допуски ограничивают вход</a:t>
                      </a:r>
                    </a:p>
                  </a:txBody>
                  <a:tcPr marL="100584" marR="82296" marT="64008">
                    <a:solidFill>
                      <a:srgbClr val="102620"/>
                    </a:solidFill>
                  </a:tcPr>
                </a:tc>
                <a:tc>
                  <a:txBody>
                    <a:bodyPr/>
                    <a:lstStyle/>
                    <a:p>
                      <a:pPr>
                        <a:defRPr sz="1300" b="0">
                          <a:solidFill>
                            <a:srgbClr val="FFFFFF"/>
                          </a:solidFill>
                          <a:latin typeface="Arial"/>
                        </a:defRPr>
                      </a:pPr>
                      <a:r>
                        <a:t>Удерживать клиентов качеством и повторными договорами; мониторить новых исполнителей</a:t>
                      </a:r>
                    </a:p>
                  </a:txBody>
                  <a:tcPr marL="100584" marR="82296" marT="64008">
                    <a:solidFill>
                      <a:srgbClr val="102620"/>
                    </a:solidFill>
                  </a:tcPr>
                </a:tc>
              </a:tr>
              <a:tr h="705612">
                <a:tc>
                  <a:txBody>
                    <a:bodyPr/>
                    <a:lstStyle/>
                    <a:p>
                      <a:pPr>
                        <a:defRPr sz="1300" b="0">
                          <a:solidFill>
                            <a:srgbClr val="FFFFFF"/>
                          </a:solidFill>
                          <a:latin typeface="Arial"/>
                        </a:defRPr>
                      </a:pPr>
                      <a:r>
                        <a:t>Покупатели</a:t>
                      </a:r>
                    </a:p>
                  </a:txBody>
                  <a:tcPr marL="100584" marR="82296" marT="64008">
                    <a:solidFill>
                      <a:srgbClr val="19372C"/>
                    </a:solidFill>
                  </a:tcPr>
                </a:tc>
                <a:tc>
                  <a:txBody>
                    <a:bodyPr/>
                    <a:lstStyle/>
                    <a:p>
                      <a:pPr>
                        <a:defRPr sz="1300" b="0">
                          <a:solidFill>
                            <a:srgbClr val="FFFFFF"/>
                          </a:solidFill>
                          <a:latin typeface="Arial"/>
                        </a:defRPr>
                      </a:pPr>
                      <a:r>
                        <a:t>Высокий</a:t>
                      </a:r>
                    </a:p>
                  </a:txBody>
                  <a:tcPr marL="100584" marR="82296" marT="64008">
                    <a:solidFill>
                      <a:srgbClr val="19372C"/>
                    </a:solidFill>
                  </a:tcPr>
                </a:tc>
                <a:tc>
                  <a:txBody>
                    <a:bodyPr/>
                    <a:lstStyle/>
                    <a:p>
                      <a:pPr>
                        <a:defRPr sz="1300" b="0">
                          <a:solidFill>
                            <a:srgbClr val="FFFFFF"/>
                          </a:solidFill>
                          <a:latin typeface="Arial"/>
                        </a:defRPr>
                      </a:pPr>
                      <a:r>
                        <a:t>Сезонный торг, концентрация портфеля, отсрочки</a:t>
                      </a:r>
                    </a:p>
                  </a:txBody>
                  <a:tcPr marL="100584" marR="82296" marT="64008">
                    <a:solidFill>
                      <a:srgbClr val="19372C"/>
                    </a:solidFill>
                  </a:tcPr>
                </a:tc>
                <a:tc>
                  <a:txBody>
                    <a:bodyPr/>
                    <a:lstStyle/>
                    <a:p>
                      <a:pPr>
                        <a:defRPr sz="1300" b="0">
                          <a:solidFill>
                            <a:srgbClr val="FFFFFF"/>
                          </a:solidFill>
                          <a:latin typeface="Arial"/>
                        </a:defRPr>
                      </a:pPr>
                      <a:r>
                        <a:t>Лимиты концентрации и дебиторки; согласованный аванс и календарь</a:t>
                      </a:r>
                    </a:p>
                  </a:txBody>
                  <a:tcPr marL="100584" marR="82296" marT="64008">
                    <a:solidFill>
                      <a:srgbClr val="19372C"/>
                    </a:solidFill>
                  </a:tcPr>
                </a:tc>
              </a:tr>
              <a:tr h="705612">
                <a:tc>
                  <a:txBody>
                    <a:bodyPr/>
                    <a:lstStyle/>
                    <a:p>
                      <a:pPr>
                        <a:defRPr sz="1300" b="0">
                          <a:solidFill>
                            <a:srgbClr val="FFFFFF"/>
                          </a:solidFill>
                          <a:latin typeface="Arial"/>
                        </a:defRPr>
                      </a:pPr>
                      <a:r>
                        <a:t>Поставщики</a:t>
                      </a:r>
                    </a:p>
                  </a:txBody>
                  <a:tcPr marL="100584" marR="82296" marT="64008">
                    <a:solidFill>
                      <a:srgbClr val="102620"/>
                    </a:solidFill>
                  </a:tcPr>
                </a:tc>
                <a:tc>
                  <a:txBody>
                    <a:bodyPr/>
                    <a:lstStyle/>
                    <a:p>
                      <a:pPr>
                        <a:defRPr sz="1300" b="0">
                          <a:solidFill>
                            <a:srgbClr val="FFFFFF"/>
                          </a:solidFill>
                          <a:latin typeface="Arial"/>
                        </a:defRPr>
                      </a:pPr>
                      <a:r>
                        <a:t>Средний–высокий</a:t>
                      </a:r>
                    </a:p>
                  </a:txBody>
                  <a:tcPr marL="100584" marR="82296" marT="64008">
                    <a:solidFill>
                      <a:srgbClr val="102620"/>
                    </a:solidFill>
                  </a:tcPr>
                </a:tc>
                <a:tc>
                  <a:txBody>
                    <a:bodyPr/>
                    <a:lstStyle/>
                    <a:p>
                      <a:pPr>
                        <a:defRPr sz="1300" b="0">
                          <a:solidFill>
                            <a:srgbClr val="FFFFFF"/>
                          </a:solidFill>
                          <a:latin typeface="Arial"/>
                        </a:defRPr>
                      </a:pPr>
                      <a:r>
                        <a:t>АКБ, комплектующие, сервис и совместимость зависят от поставщика</a:t>
                      </a:r>
                    </a:p>
                  </a:txBody>
                  <a:tcPr marL="100584" marR="82296" marT="64008">
                    <a:solidFill>
                      <a:srgbClr val="102620"/>
                    </a:solidFill>
                  </a:tcPr>
                </a:tc>
                <a:tc>
                  <a:txBody>
                    <a:bodyPr/>
                    <a:lstStyle/>
                    <a:p>
                      <a:pPr>
                        <a:defRPr sz="1300" b="0">
                          <a:solidFill>
                            <a:srgbClr val="FFFFFF"/>
                          </a:solidFill>
                          <a:latin typeface="Arial"/>
                        </a:defRPr>
                      </a:pPr>
                      <a:r>
                        <a:t>Два КП, запас критичных деталей, сервисный SLA; резерв не устраняет общий отказ</a:t>
                      </a:r>
                    </a:p>
                  </a:txBody>
                  <a:tcPr marL="100584" marR="82296" marT="64008">
                    <a:solidFill>
                      <a:srgbClr val="102620"/>
                    </a:solidFill>
                  </a:tcPr>
                </a:tc>
              </a:tr>
            </a:tbl>
          </a:graphicData>
        </a:graphic>
      </p:graphicFrame>
    </p:spTree>
  </p:cSld>
  <p:clrMapOvr>
    <a:masterClrMapping/>
  </p:clrMapOvr>
  <mc:AlternateContent xmlns:mc="http://schemas.openxmlformats.org/markup-compatibility/2006">
    <mc:Choice xmlns:p159="http://schemas.microsoft.com/office/powerpoint/2015/09/main" Requires="p159">
      <p:transition spd="slow" advClick="1">
        <p159:morph option="byObject"/>
      </p:transition>
    </mc:Choice>
    <mc:Fallback>
      <p:transition spd="med" advClick="1">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09.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09  /  ОРГАНИЗАЦИОННО-ПРАВОВАЯ ФОРМА И РЕГУЛЯТОРНЫЙ КОНТУР</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Нет основания для работ — нет вылета</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ООО; правовая проверка конкретного поля, БВС и операции</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150 км — логистика, не разрешенная зона</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Разрешения и участие в ЭПР не подтверждены.</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21.10.2026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09/22</a:t>
            </a:r>
          </a:p>
        </p:txBody>
      </p:sp>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Click="1">
        <p159:morph option="byObject"/>
      </p:transition>
    </mc:Choice>
    <mc:Fallback>
      <p:transition spd="med" advClick="1">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10.jpg"/>
          <p:cNvPicPr>
            <a:picLocks noChangeAspect="1"/>
          </p:cNvPicPr>
          <p:nvPr/>
        </p:nvPicPr>
        <p:blipFill>
          <a:blip r:embed="rId3"/>
          <a:stretch>
            <a:fillRect/>
          </a:stretch>
        </p:blipFill>
        <p:spPr>
          <a:xfrm>
            <a:off x="0" y="0"/>
            <a:ext cx="12191999" cy="6858000"/>
          </a:xfrm>
          <a:prstGeom prst="rect">
            <a:avLst/>
          </a:prstGeom>
        </p:spPr>
      </p:pic>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
        <p:nvSpPr>
          <p:cNvPr id="18" name="Rectangle 17"/>
          <p:cNvSpPr/>
          <p:nvPr/>
        </p:nvSpPr>
        <p:spPr>
          <a:xfrm>
            <a:off x="320040" y="256032"/>
            <a:ext cx="11567160" cy="6117336"/>
          </a:xfrm>
          <a:prstGeom prst="rect">
            <a:avLst/>
          </a:prstGeom>
          <a:solidFill>
            <a:srgbClr val="0A1B19">
              <a:alpha val="9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93192"/>
            <a:ext cx="10789920" cy="320040"/>
          </a:xfrm>
          <a:prstGeom prst="rect">
            <a:avLst/>
          </a:prstGeom>
          <a:noFill/>
        </p:spPr>
        <p:txBody>
          <a:bodyPr wrap="square" lIns="0" rIns="0" tIns="0">
            <a:spAutoFit/>
          </a:bodyPr>
          <a:lstStyle/>
          <a:p>
            <a:pPr>
              <a:spcAft>
                <a:spcPts val="1000"/>
              </a:spcAft>
              <a:defRPr sz="1300" b="1">
                <a:solidFill>
                  <a:srgbClr val="D6ED89"/>
                </a:solidFill>
                <a:latin typeface="Arial"/>
              </a:defRPr>
            </a:pPr>
            <a:r>
              <a:t>АГРОВЕКТОР / 10 / СТЕЙКХОЛДЕРЫ / МОДЕЛЬ МЕНДЕЛОУ</a:t>
            </a:r>
          </a:p>
        </p:txBody>
      </p:sp>
      <p:sp>
        <p:nvSpPr>
          <p:cNvPr id="20" name="TextBox 19"/>
          <p:cNvSpPr txBox="1"/>
          <p:nvPr/>
        </p:nvSpPr>
        <p:spPr>
          <a:xfrm>
            <a:off x="566928" y="914400"/>
            <a:ext cx="10972800" cy="548640"/>
          </a:xfrm>
          <a:prstGeom prst="rect">
            <a:avLst/>
          </a:prstGeom>
          <a:noFill/>
        </p:spPr>
        <p:txBody>
          <a:bodyPr wrap="square" lIns="0" rIns="0" tIns="0">
            <a:spAutoFit/>
          </a:bodyPr>
          <a:lstStyle/>
          <a:p>
            <a:pPr>
              <a:spcAft>
                <a:spcPts val="1000"/>
              </a:spcAft>
              <a:defRPr sz="2700" b="1">
                <a:solidFill>
                  <a:srgbClr val="FFFFFF"/>
                </a:solidFill>
                <a:latin typeface="Arial"/>
              </a:defRPr>
            </a:pPr>
            <a:r>
              <a:t>Власть × интерес определяют стратегию взаимодействия</a:t>
            </a:r>
          </a:p>
        </p:txBody>
      </p:sp>
      <p:sp>
        <p:nvSpPr>
          <p:cNvPr id="21" name="TextBox 20"/>
          <p:cNvSpPr txBox="1"/>
          <p:nvPr/>
        </p:nvSpPr>
        <p:spPr>
          <a:xfrm>
            <a:off x="566928" y="6519672"/>
            <a:ext cx="10698480" cy="201168"/>
          </a:xfrm>
          <a:prstGeom prst="rect">
            <a:avLst/>
          </a:prstGeom>
          <a:noFill/>
        </p:spPr>
        <p:txBody>
          <a:bodyPr wrap="square" lIns="0" rIns="0" tIns="0">
            <a:spAutoFit/>
          </a:bodyPr>
          <a:lstStyle/>
          <a:p>
            <a:pPr>
              <a:spcAft>
                <a:spcPts val="1000"/>
              </a:spcAft>
              <a:defRPr sz="900" b="0">
                <a:solidFill>
                  <a:srgbClr val="CCDACF"/>
                </a:solidFill>
                <a:latin typeface="Arial"/>
              </a:defRPr>
            </a:pPr>
            <a:r>
              <a:t>Проектные гипотезы и расчеты; не подтвержденный бизнес. Референс: Практика 08.10.26. / Редакция 21.10.2026</a:t>
            </a:r>
          </a:p>
        </p:txBody>
      </p:sp>
      <p:sp>
        <p:nvSpPr>
          <p:cNvPr id="22" name="TextBox 21"/>
          <p:cNvSpPr txBox="1"/>
          <p:nvPr/>
        </p:nvSpPr>
        <p:spPr>
          <a:xfrm>
            <a:off x="11082528" y="6501384"/>
            <a:ext cx="640080" cy="219456"/>
          </a:xfrm>
          <a:prstGeom prst="rect">
            <a:avLst/>
          </a:prstGeom>
          <a:noFill/>
        </p:spPr>
        <p:txBody>
          <a:bodyPr wrap="square" lIns="0" rIns="0" tIns="0">
            <a:spAutoFit/>
          </a:bodyPr>
          <a:lstStyle/>
          <a:p>
            <a:pPr>
              <a:spcAft>
                <a:spcPts val="1000"/>
              </a:spcAft>
              <a:defRPr sz="1000" b="1">
                <a:solidFill>
                  <a:srgbClr val="D6ED89"/>
                </a:solidFill>
                <a:latin typeface="Arial"/>
              </a:defRPr>
            </a:pPr>
            <a:r>
              <a:t>10/22</a:t>
            </a:r>
          </a:p>
        </p:txBody>
      </p:sp>
      <p:sp>
        <p:nvSpPr>
          <p:cNvPr id="23" name="Rectangle 22"/>
          <p:cNvSpPr/>
          <p:nvPr/>
        </p:nvSpPr>
        <p:spPr>
          <a:xfrm>
            <a:off x="822960" y="1828800"/>
            <a:ext cx="5230368" cy="1883664"/>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1832" y="1920240"/>
            <a:ext cx="4992624" cy="384048"/>
          </a:xfrm>
          <a:prstGeom prst="rect">
            <a:avLst/>
          </a:prstGeom>
          <a:noFill/>
        </p:spPr>
        <p:txBody>
          <a:bodyPr wrap="square" lIns="0" rIns="0" tIns="0">
            <a:spAutoFit/>
          </a:bodyPr>
          <a:lstStyle/>
          <a:p>
            <a:pPr>
              <a:spcAft>
                <a:spcPts val="1000"/>
              </a:spcAft>
              <a:defRPr sz="1300" b="1">
                <a:solidFill>
                  <a:srgbClr val="D6ED89"/>
                </a:solidFill>
                <a:latin typeface="Arial"/>
              </a:defRPr>
            </a:pPr>
            <a:r>
              <a:t>Высокая власть / низкий интерес</a:t>
            </a:r>
          </a:p>
        </p:txBody>
      </p:sp>
      <p:sp>
        <p:nvSpPr>
          <p:cNvPr id="25" name="TextBox 24"/>
          <p:cNvSpPr txBox="1"/>
          <p:nvPr/>
        </p:nvSpPr>
        <p:spPr>
          <a:xfrm>
            <a:off x="941832" y="2368296"/>
            <a:ext cx="4992624" cy="1298448"/>
          </a:xfrm>
          <a:prstGeom prst="rect">
            <a:avLst/>
          </a:prstGeom>
          <a:noFill/>
        </p:spPr>
        <p:txBody>
          <a:bodyPr wrap="square" lIns="0" rIns="0" tIns="0">
            <a:spAutoFit/>
          </a:bodyPr>
          <a:lstStyle/>
          <a:p>
            <a:pPr>
              <a:spcAft>
                <a:spcPts val="500"/>
              </a:spcAft>
              <a:defRPr sz="1700" b="0">
                <a:solidFill>
                  <a:srgbClr val="FFFFFF"/>
                </a:solidFill>
                <a:latin typeface="Arial"/>
              </a:defRPr>
            </a:pPr>
            <a:r>
              <a:t>Регуляторы, страховщик: поддерживать удовлетворенность.</a:t>
            </a:r>
          </a:p>
          <a:p>
            <a:pPr>
              <a:spcAft>
                <a:spcPts val="500"/>
              </a:spcAft>
              <a:defRPr sz="1700" b="0">
                <a:solidFill>
                  <a:srgbClr val="FFFFFF"/>
                </a:solidFill>
                <a:latin typeface="Arial"/>
              </a:defRPr>
            </a:pPr>
            <a:r>
              <a:t>Юрист/директор — до допуска и при изменениях.</a:t>
            </a:r>
          </a:p>
        </p:txBody>
      </p:sp>
      <p:sp>
        <p:nvSpPr>
          <p:cNvPr id="26" name="Rectangle 25"/>
          <p:cNvSpPr/>
          <p:nvPr/>
        </p:nvSpPr>
        <p:spPr>
          <a:xfrm>
            <a:off x="6199632" y="1828800"/>
            <a:ext cx="5230368" cy="1883664"/>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18504" y="1920240"/>
            <a:ext cx="4992624" cy="384048"/>
          </a:xfrm>
          <a:prstGeom prst="rect">
            <a:avLst/>
          </a:prstGeom>
          <a:noFill/>
        </p:spPr>
        <p:txBody>
          <a:bodyPr wrap="square" lIns="0" rIns="0" tIns="0">
            <a:spAutoFit/>
          </a:bodyPr>
          <a:lstStyle/>
          <a:p>
            <a:pPr>
              <a:spcAft>
                <a:spcPts val="1000"/>
              </a:spcAft>
              <a:defRPr sz="1300" b="1">
                <a:solidFill>
                  <a:srgbClr val="D6ED89"/>
                </a:solidFill>
                <a:latin typeface="Arial"/>
              </a:defRPr>
            </a:pPr>
            <a:r>
              <a:t>Высокая власть / высокий интерес</a:t>
            </a:r>
          </a:p>
        </p:txBody>
      </p:sp>
      <p:sp>
        <p:nvSpPr>
          <p:cNvPr id="28" name="TextBox 27"/>
          <p:cNvSpPr txBox="1"/>
          <p:nvPr/>
        </p:nvSpPr>
        <p:spPr>
          <a:xfrm>
            <a:off x="6318504" y="2368296"/>
            <a:ext cx="4992624" cy="1298448"/>
          </a:xfrm>
          <a:prstGeom prst="rect">
            <a:avLst/>
          </a:prstGeom>
          <a:noFill/>
        </p:spPr>
        <p:txBody>
          <a:bodyPr wrap="square" lIns="0" rIns="0" tIns="0">
            <a:spAutoFit/>
          </a:bodyPr>
          <a:lstStyle/>
          <a:p>
            <a:pPr>
              <a:spcAft>
                <a:spcPts val="500"/>
              </a:spcAft>
              <a:defRPr sz="1700" b="0">
                <a:solidFill>
                  <a:srgbClr val="FFFFFF"/>
                </a:solidFill>
                <a:latin typeface="Arial"/>
              </a:defRPr>
            </a:pPr>
            <a:r>
              <a:t>Учредитель, инвестор, ключевые клиенты: тесное управление.</a:t>
            </a:r>
          </a:p>
          <a:p>
            <a:pPr>
              <a:spcAft>
                <a:spcPts val="500"/>
              </a:spcAft>
              <a:defRPr sz="1700" b="0">
                <a:solidFill>
                  <a:srgbClr val="FFFFFF"/>
                </a:solidFill>
                <a:latin typeface="Arial"/>
              </a:defRPr>
            </a:pPr>
            <a:r>
              <a:t>Директор — еженедельно и перед решениями.</a:t>
            </a:r>
          </a:p>
        </p:txBody>
      </p:sp>
      <p:sp>
        <p:nvSpPr>
          <p:cNvPr id="29" name="Rectangle 28"/>
          <p:cNvSpPr/>
          <p:nvPr/>
        </p:nvSpPr>
        <p:spPr>
          <a:xfrm>
            <a:off x="822960" y="3840480"/>
            <a:ext cx="5230368" cy="1883664"/>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 y="3931920"/>
            <a:ext cx="4992624" cy="384048"/>
          </a:xfrm>
          <a:prstGeom prst="rect">
            <a:avLst/>
          </a:prstGeom>
          <a:noFill/>
        </p:spPr>
        <p:txBody>
          <a:bodyPr wrap="square" lIns="0" rIns="0" tIns="0">
            <a:spAutoFit/>
          </a:bodyPr>
          <a:lstStyle/>
          <a:p>
            <a:pPr>
              <a:spcAft>
                <a:spcPts val="1000"/>
              </a:spcAft>
              <a:defRPr sz="1300" b="1">
                <a:solidFill>
                  <a:srgbClr val="D6ED89"/>
                </a:solidFill>
                <a:latin typeface="Arial"/>
              </a:defRPr>
            </a:pPr>
            <a:r>
              <a:t>Низкая власть / низкий интерес</a:t>
            </a:r>
          </a:p>
        </p:txBody>
      </p:sp>
      <p:sp>
        <p:nvSpPr>
          <p:cNvPr id="31" name="TextBox 30"/>
          <p:cNvSpPr txBox="1"/>
          <p:nvPr/>
        </p:nvSpPr>
        <p:spPr>
          <a:xfrm>
            <a:off x="941832" y="4379976"/>
            <a:ext cx="4992624" cy="1298448"/>
          </a:xfrm>
          <a:prstGeom prst="rect">
            <a:avLst/>
          </a:prstGeom>
          <a:noFill/>
        </p:spPr>
        <p:txBody>
          <a:bodyPr wrap="square" lIns="0" rIns="0" tIns="0">
            <a:spAutoFit/>
          </a:bodyPr>
          <a:lstStyle/>
          <a:p>
            <a:pPr>
              <a:spcAft>
                <a:spcPts val="500"/>
              </a:spcAft>
              <a:defRPr sz="1700" b="0">
                <a:solidFill>
                  <a:srgbClr val="FFFFFF"/>
                </a:solidFill>
                <a:latin typeface="Arial"/>
              </a:defRPr>
            </a:pPr>
            <a:r>
              <a:t>Не вовлеченные хозяйства вне маршрута, широкая аудитория: наблюдать.</a:t>
            </a:r>
          </a:p>
          <a:p>
            <a:pPr>
              <a:spcAft>
                <a:spcPts val="500"/>
              </a:spcAft>
              <a:defRPr sz="1700" b="0">
                <a:solidFill>
                  <a:srgbClr val="FFFFFF"/>
                </a:solidFill>
                <a:latin typeface="Arial"/>
              </a:defRPr>
            </a:pPr>
            <a:r>
              <a:t>Директор — ежемесячно.</a:t>
            </a:r>
          </a:p>
        </p:txBody>
      </p:sp>
      <p:sp>
        <p:nvSpPr>
          <p:cNvPr id="32" name="Rectangle 31"/>
          <p:cNvSpPr/>
          <p:nvPr/>
        </p:nvSpPr>
        <p:spPr>
          <a:xfrm>
            <a:off x="6199632" y="3840480"/>
            <a:ext cx="5230368" cy="1883664"/>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18504" y="3931920"/>
            <a:ext cx="4992624" cy="384048"/>
          </a:xfrm>
          <a:prstGeom prst="rect">
            <a:avLst/>
          </a:prstGeom>
          <a:noFill/>
        </p:spPr>
        <p:txBody>
          <a:bodyPr wrap="square" lIns="0" rIns="0" tIns="0">
            <a:spAutoFit/>
          </a:bodyPr>
          <a:lstStyle/>
          <a:p>
            <a:pPr>
              <a:spcAft>
                <a:spcPts val="1000"/>
              </a:spcAft>
              <a:defRPr sz="1300" b="1">
                <a:solidFill>
                  <a:srgbClr val="D6ED89"/>
                </a:solidFill>
                <a:latin typeface="Arial"/>
              </a:defRPr>
            </a:pPr>
            <a:r>
              <a:t>Низкая власть / высокий интерес</a:t>
            </a:r>
          </a:p>
        </p:txBody>
      </p:sp>
      <p:sp>
        <p:nvSpPr>
          <p:cNvPr id="34" name="TextBox 33"/>
          <p:cNvSpPr txBox="1"/>
          <p:nvPr/>
        </p:nvSpPr>
        <p:spPr>
          <a:xfrm>
            <a:off x="6318504" y="4379976"/>
            <a:ext cx="4992624" cy="1298448"/>
          </a:xfrm>
          <a:prstGeom prst="rect">
            <a:avLst/>
          </a:prstGeom>
          <a:noFill/>
        </p:spPr>
        <p:txBody>
          <a:bodyPr wrap="square" lIns="0" rIns="0" tIns="0">
            <a:spAutoFit/>
          </a:bodyPr>
          <a:lstStyle/>
          <a:p>
            <a:pPr>
              <a:spcAft>
                <a:spcPts val="500"/>
              </a:spcAft>
              <a:defRPr sz="1700" b="0">
                <a:solidFill>
                  <a:srgbClr val="FFFFFF"/>
                </a:solidFill>
                <a:latin typeface="Arial"/>
              </a:defRPr>
            </a:pPr>
            <a:r>
              <a:t>Операторы, агроном, кандидаты, соседи/пчеловоды: информировать.</a:t>
            </a:r>
          </a:p>
          <a:p>
            <a:pPr>
              <a:spcAft>
                <a:spcPts val="500"/>
              </a:spcAft>
              <a:defRPr sz="1700" b="0">
                <a:solidFill>
                  <a:srgbClr val="FFFFFF"/>
                </a:solidFill>
                <a:latin typeface="Arial"/>
              </a:defRPr>
            </a:pPr>
            <a:r>
              <a:t>Опер. руководитель — до выезда; уведомления по закону.</a:t>
            </a:r>
          </a:p>
        </p:txBody>
      </p:sp>
      <p:sp>
        <p:nvSpPr>
          <p:cNvPr id="35" name="TextBox 34"/>
          <p:cNvSpPr txBox="1"/>
          <p:nvPr/>
        </p:nvSpPr>
        <p:spPr>
          <a:xfrm>
            <a:off x="365760" y="2834640"/>
            <a:ext cx="411480" cy="1371600"/>
          </a:xfrm>
          <a:prstGeom prst="rect">
            <a:avLst/>
          </a:prstGeom>
          <a:noFill/>
        </p:spPr>
        <p:txBody>
          <a:bodyPr wrap="square" lIns="0" rIns="0" tIns="0">
            <a:spAutoFit/>
          </a:bodyPr>
          <a:lstStyle/>
          <a:p>
            <a:pPr>
              <a:spcAft>
                <a:spcPts val="1000"/>
              </a:spcAft>
              <a:defRPr sz="1200" b="1">
                <a:solidFill>
                  <a:srgbClr val="D6ED89"/>
                </a:solidFill>
                <a:latin typeface="Arial"/>
              </a:defRPr>
            </a:pPr>
            <a:r>
              <a:t>В</a:t>
            </a:r>
          </a:p>
          <a:p>
            <a:pPr>
              <a:spcAft>
                <a:spcPts val="1000"/>
              </a:spcAft>
              <a:defRPr sz="1200" b="1">
                <a:solidFill>
                  <a:srgbClr val="D6ED89"/>
                </a:solidFill>
                <a:latin typeface="Arial"/>
              </a:defRPr>
            </a:pPr>
            <a:r>
              <a:t>Л</a:t>
            </a:r>
          </a:p>
          <a:p>
            <a:pPr>
              <a:spcAft>
                <a:spcPts val="1000"/>
              </a:spcAft>
              <a:defRPr sz="1200" b="1">
                <a:solidFill>
                  <a:srgbClr val="D6ED89"/>
                </a:solidFill>
                <a:latin typeface="Arial"/>
              </a:defRPr>
            </a:pPr>
            <a:r>
              <a:t>А</a:t>
            </a:r>
          </a:p>
          <a:p>
            <a:pPr>
              <a:spcAft>
                <a:spcPts val="1000"/>
              </a:spcAft>
              <a:defRPr sz="1200" b="1">
                <a:solidFill>
                  <a:srgbClr val="D6ED89"/>
                </a:solidFill>
                <a:latin typeface="Arial"/>
              </a:defRPr>
            </a:pPr>
            <a:r>
              <a:t>С</a:t>
            </a:r>
          </a:p>
          <a:p>
            <a:pPr>
              <a:spcAft>
                <a:spcPts val="1000"/>
              </a:spcAft>
              <a:defRPr sz="1200" b="1">
                <a:solidFill>
                  <a:srgbClr val="D6ED89"/>
                </a:solidFill>
                <a:latin typeface="Arial"/>
              </a:defRPr>
            </a:pPr>
            <a:r>
              <a:t>Т</a:t>
            </a:r>
          </a:p>
          <a:p>
            <a:pPr>
              <a:spcAft>
                <a:spcPts val="1000"/>
              </a:spcAft>
              <a:defRPr sz="1200" b="1">
                <a:solidFill>
                  <a:srgbClr val="D6ED89"/>
                </a:solidFill>
                <a:latin typeface="Arial"/>
              </a:defRPr>
            </a:pPr>
            <a:r>
              <a:t>Ь</a:t>
            </a:r>
          </a:p>
        </p:txBody>
      </p:sp>
      <p:sp>
        <p:nvSpPr>
          <p:cNvPr id="36" name="TextBox 35"/>
          <p:cNvSpPr txBox="1"/>
          <p:nvPr/>
        </p:nvSpPr>
        <p:spPr>
          <a:xfrm>
            <a:off x="5166360" y="5925312"/>
            <a:ext cx="2743200" cy="246888"/>
          </a:xfrm>
          <a:prstGeom prst="rect">
            <a:avLst/>
          </a:prstGeom>
          <a:noFill/>
        </p:spPr>
        <p:txBody>
          <a:bodyPr wrap="square" lIns="0" rIns="0" tIns="0">
            <a:spAutoFit/>
          </a:bodyPr>
          <a:lstStyle/>
          <a:p>
            <a:pPr>
              <a:spcAft>
                <a:spcPts val="1000"/>
              </a:spcAft>
              <a:defRPr sz="1300" b="1">
                <a:solidFill>
                  <a:srgbClr val="D6ED89"/>
                </a:solidFill>
                <a:latin typeface="Arial"/>
              </a:defRPr>
            </a:pPr>
            <a:r>
              <a:t>ИНТЕРЕС →</a:t>
            </a:r>
          </a:p>
        </p:txBody>
      </p:sp>
    </p:spTree>
  </p:cSld>
  <p:clrMapOvr>
    <a:masterClrMapping/>
  </p:clrMapOvr>
  <mc:AlternateContent xmlns:mc="http://schemas.openxmlformats.org/markup-compatibility/2006">
    <mc:Choice xmlns:p159="http://schemas.microsoft.com/office/powerpoint/2015/09/main" Requires="p159">
      <p:transition spd="slow" advClick="1">
        <p159:morph option="byObject"/>
      </p:transition>
    </mc:Choice>
    <mc:Fallback>
      <p:transition spd="med" advClick="1">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11.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11  /  ПРОИЗВОДСТВЕННЫЙ ПЛАН</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Одна бригада. Последовательные операции.</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2 оператора · основной, резервный и мониторинговый БВС</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rPr sz="2200" b="0">
                <a:solidFill>
                  <a:srgbClr val="FFFFFF"/>
                </a:solidFill>
                <a:latin typeface="Arial"/>
              </a:rPr>
              <a:t>[РАСЧЕТ] 2027: 54,15 полевых дня · одна бригада</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rPr sz="2200" b="0">
                <a:solidFill>
                  <a:srgbClr val="FFFFFF"/>
                </a:solidFill>
                <a:latin typeface="Arial"/>
              </a:rPr>
              <a:t>20 эффективных дней — ресурсный экран; 16 — жесткий стресс. Не замер.</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21.10.2026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11/22</a:t>
            </a:r>
          </a:p>
        </p:txBody>
      </p:sp>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
        <p:nvSpPr>
          <p:cNvPr id="18" name="Rectangle 17"/>
          <p:cNvSpPr/>
          <p:nvPr/>
        </p:nvSpPr>
        <p:spPr>
          <a:xfrm>
            <a:off x="6720840" y="2606040"/>
            <a:ext cx="4892040" cy="3429000"/>
          </a:xfrm>
          <a:prstGeom prst="rect">
            <a:avLst/>
          </a:prstGeom>
          <a:solidFill>
            <a:srgbClr val="0A1B19">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49440" y="2706624"/>
            <a:ext cx="4389120" cy="320040"/>
          </a:xfrm>
          <a:prstGeom prst="rect">
            <a:avLst/>
          </a:prstGeom>
          <a:noFill/>
        </p:spPr>
        <p:txBody>
          <a:bodyPr wrap="square" lIns="0" tIns="0" rIns="0">
            <a:spAutoFit/>
          </a:bodyPr>
          <a:lstStyle/>
          <a:p>
            <a:pPr>
              <a:spcAft>
                <a:spcPts val="1000"/>
              </a:spcAft>
              <a:defRPr sz="1200" b="1">
                <a:solidFill>
                  <a:srgbClr val="D6ED89"/>
                </a:solidFill>
                <a:latin typeface="Arial"/>
              </a:defRPr>
            </a:pPr>
            <a:r>
              <a:t>ПЛАНОВЫЕ ПОЛЕВЫЕ ДНИ; МОЩНОСТЬ НЕ ПОДТВЕРЖДЕНА</a:t>
            </a:r>
          </a:p>
        </p:txBody>
      </p:sp>
      <p:graphicFrame>
        <p:nvGraphicFramePr>
          <p:cNvPr id="20" name="AV_COLUMNS_11"/>
          <p:cNvGraphicFramePr>
            <a:graphicFrameLocks noGrp="1"/>
          </p:cNvGraphicFramePr>
          <p:nvPr/>
        </p:nvGraphicFramePr>
        <p:xfrm>
          <a:off x="6949440" y="3154680"/>
          <a:ext cx="4434840" cy="2560320"/>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mc:AlternateContent xmlns:mc="http://schemas.openxmlformats.org/markup-compatibility/2006">
    <mc:Choice xmlns:p159="http://schemas.microsoft.com/office/powerpoint/2015/09/main" Requires="p159">
      <p:transition spd="slow" advClick="1">
        <p159:morph option="byObject"/>
      </p:transition>
    </mc:Choice>
    <mc:Fallback>
      <p:transition spd="med" advClick="1">
        <p:fade/>
      </p:transition>
    </mc:Fallback>
  </mc:AlternateContent>
  <p:timing>
    <p:tnLst>
      <p:par>
        <p:cTn id="1" dur="indefinite" restart="never" nodeType="tmRoot">
          <p:childTnLst>
            <p:seq concurrent="1" nextAc="seek">
              <p:cTn id="2" dur="indefinite" nodeType="mainSeq">
                <p:childTnLst>
                  <p:par>
                    <p:cTn id="3" nodeType="withEffect" fill="hold" presetID="22" presetClass="entr" grpId="0">
                      <p:stCondLst>
                        <p:cond delay="0"/>
                      </p:stCondLst>
                      <p:childTnLst>
                        <p:set>
                          <p:cBhvr>
                            <p:cTn id="4" dur="1" fill="hold">
                              <p:stCondLst>
                                <p:cond delay="0"/>
                              </p:stCondLst>
                            </p:cTn>
                            <p:tgtEl>
                              <p:spTgt spid="20">
                                <p:graphicEl>
                                  <a:chart bldStep="ptInSeries" seriesIdx="0" categoryIdx="0"/>
                                </p:graphicEl>
                              </p:spTgt>
                            </p:tgtEl>
                            <p:attrNameLst>
                              <p:attrName>style.visibility</p:attrName>
                            </p:attrNameLst>
                          </p:cBhvr>
                          <p:to>
                            <p:strVal val="visible"/>
                          </p:to>
                        </p:set>
                        <p:animEffect transition="in" filter="wipe(up)">
                          <p:cBhvr>
                            <p:cTn id="5" dur="700" fill="hold"/>
                            <p:tgtEl>
                              <p:spTgt spid="20">
                                <p:graphicEl>
                                  <a:chart bldStep="ptInSeries" seriesIdx="0" categoryIdx="0"/>
                                </p:graphicEl>
                              </p:spTgt>
                            </p:tgtEl>
                          </p:cBhvr>
                        </p:animEffect>
                      </p:childTnLst>
                    </p:cTn>
                  </p:par>
                  <p:par>
                    <p:cTn id="6" nodeType="withEffect" fill="hold" presetID="22" presetClass="entr" grpId="0">
                      <p:stCondLst>
                        <p:cond delay="170"/>
                      </p:stCondLst>
                      <p:childTnLst>
                        <p:set>
                          <p:cBhvr>
                            <p:cTn id="7" dur="1" fill="hold">
                              <p:stCondLst>
                                <p:cond delay="0"/>
                              </p:stCondLst>
                            </p:cTn>
                            <p:tgtEl>
                              <p:spTgt spid="20">
                                <p:graphicEl>
                                  <a:chart bldStep="ptInSeries" seriesIdx="0" categoryIdx="1"/>
                                </p:graphicEl>
                              </p:spTgt>
                            </p:tgtEl>
                            <p:attrNameLst>
                              <p:attrName>style.visibility</p:attrName>
                            </p:attrNameLst>
                          </p:cBhvr>
                          <p:to>
                            <p:strVal val="visible"/>
                          </p:to>
                        </p:set>
                        <p:animEffect transition="in" filter="wipe(up)">
                          <p:cBhvr>
                            <p:cTn id="8" dur="700" fill="hold"/>
                            <p:tgtEl>
                              <p:spTgt spid="20">
                                <p:graphicEl>
                                  <a:chart bldStep="ptInSeries" seriesIdx="0" categoryIdx="1"/>
                                </p:graphicEl>
                              </p:spTgt>
                            </p:tgtEl>
                          </p:cBhvr>
                        </p:animEffect>
                      </p:childTnLst>
                    </p:cTn>
                  </p:par>
                  <p:par>
                    <p:cTn id="9" nodeType="withEffect" fill="hold" presetID="22" presetClass="entr" grpId="0">
                      <p:stCondLst>
                        <p:cond delay="340"/>
                      </p:stCondLst>
                      <p:childTnLst>
                        <p:set>
                          <p:cBhvr>
                            <p:cTn id="10" dur="1" fill="hold">
                              <p:stCondLst>
                                <p:cond delay="0"/>
                              </p:stCondLst>
                            </p:cTn>
                            <p:tgtEl>
                              <p:spTgt spid="20">
                                <p:graphicEl>
                                  <a:chart bldStep="ptInSeries" seriesIdx="0" categoryIdx="2"/>
                                </p:graphicEl>
                              </p:spTgt>
                            </p:tgtEl>
                            <p:attrNameLst>
                              <p:attrName>style.visibility</p:attrName>
                            </p:attrNameLst>
                          </p:cBhvr>
                          <p:to>
                            <p:strVal val="visible"/>
                          </p:to>
                        </p:set>
                        <p:animEffect transition="in" filter="wipe(up)">
                          <p:cBhvr>
                            <p:cTn id="11" dur="700" fill="hold"/>
                            <p:tgtEl>
                              <p:spTgt spid="20">
                                <p:graphicEl>
                                  <a:chart bldStep="ptInSeries" seriesIdx="0" categoryIdx="2"/>
                                </p:graphicEl>
                              </p:spTgt>
                            </p:tgtEl>
                          </p:cBhvr>
                        </p:animEffect>
                      </p:childTnLst>
                    </p:cTn>
                  </p:par>
                  <p:par>
                    <p:cTn id="12" nodeType="withEffect" fill="hold" presetID="22" presetClass="entr" grpId="0">
                      <p:stCondLst>
                        <p:cond delay="510"/>
                      </p:stCondLst>
                      <p:childTnLst>
                        <p:set>
                          <p:cBhvr>
                            <p:cTn id="13" dur="1" fill="hold">
                              <p:stCondLst>
                                <p:cond delay="0"/>
                              </p:stCondLst>
                            </p:cTn>
                            <p:tgtEl>
                              <p:spTgt spid="20">
                                <p:graphicEl>
                                  <a:chart bldStep="ptInSeries" seriesIdx="0" categoryIdx="3"/>
                                </p:graphicEl>
                              </p:spTgt>
                            </p:tgtEl>
                            <p:attrNameLst>
                              <p:attrName>style.visibility</p:attrName>
                            </p:attrNameLst>
                          </p:cBhvr>
                          <p:to>
                            <p:strVal val="visible"/>
                          </p:to>
                        </p:set>
                        <p:animEffect transition="in" filter="wipe(up)">
                          <p:cBhvr>
                            <p:cTn id="14" dur="700" fill="hold"/>
                            <p:tgtEl>
                              <p:spTgt spid="20">
                                <p:graphicEl>
                                  <a:chart bldStep="ptInSeries" seriesIdx="0" categoryIdx="3"/>
                                </p:graphicEl>
                              </p:spTgt>
                            </p:tgtEl>
                          </p:cBhvr>
                        </p:animEffect>
                      </p:childTnLst>
                    </p:cTn>
                  </p:par>
                  <p:par>
                    <p:cTn id="15" nodeType="withEffect" fill="hold" presetID="22" presetClass="entr" grpId="0">
                      <p:stCondLst>
                        <p:cond delay="680"/>
                      </p:stCondLst>
                      <p:childTnLst>
                        <p:set>
                          <p:cBhvr>
                            <p:cTn id="16" dur="1" fill="hold">
                              <p:stCondLst>
                                <p:cond delay="0"/>
                              </p:stCondLst>
                            </p:cTn>
                            <p:tgtEl>
                              <p:spTgt spid="20">
                                <p:graphicEl>
                                  <a:chart bldStep="ptInSeries" seriesIdx="0" categoryIdx="4"/>
                                </p:graphicEl>
                              </p:spTgt>
                            </p:tgtEl>
                            <p:attrNameLst>
                              <p:attrName>style.visibility</p:attrName>
                            </p:attrNameLst>
                          </p:cBhvr>
                          <p:to>
                            <p:strVal val="visible"/>
                          </p:to>
                        </p:set>
                        <p:animEffect transition="in" filter="wipe(up)">
                          <p:cBhvr>
                            <p:cTn id="17" dur="700" fill="hold"/>
                            <p:tgtEl>
                              <p:spTgt spid="20">
                                <p:graphicEl>
                                  <a:chart bldStep="ptInSeries" seriesIdx="0" categoryIdx="4"/>
                                </p:graphicEl>
                              </p:spTgt>
                            </p:tgtEl>
                          </p:cBhvr>
                        </p:animEffect>
                      </p:childTnLst>
                    </p:cTn>
                  </p:par>
                </p:childTnLst>
              </p:cTn>
              <p:prevCondLst>
                <p:cond evt="onPrev" delay="0">
                  <p:tgtEl>
                    <p:sldTgt/>
                  </p:tgtEl>
                </p:cond>
              </p:prevCondLst>
              <p:nextCondLst>
                <p:cond evt="onNext" delay="0">
                  <p:tgtEl>
                    <p:sldTgt/>
                  </p:tgtEl>
                </p:cond>
              </p:nextCondLst>
            </p:seq>
          </p:childTnLst>
        </p:cTn>
      </p:par>
    </p:tnLst>
    <p:bldLst>
      <p:bldGraphic spid="20" grpId="0">
        <p:bldSub>
          <a:bldChart bld="seriesEl" animBg="0"/>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12.jpg"/>
          <p:cNvPicPr>
            <a:picLocks noChangeAspect="1"/>
          </p:cNvPicPr>
          <p:nvPr/>
        </p:nvPicPr>
        <p:blipFill>
          <a:blip r:embed="rId3"/>
          <a:stretch>
            <a:fillRect/>
          </a:stretch>
        </p:blipFill>
        <p:spPr>
          <a:xfrm>
            <a:off x="0" y="0"/>
            <a:ext cx="12191999" cy="6858000"/>
          </a:xfrm>
          <a:prstGeom prst="rect">
            <a:avLst/>
          </a:prstGeom>
        </p:spPr>
      </p:pic>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
        <p:nvSpPr>
          <p:cNvPr id="18" name="Rectangle 17"/>
          <p:cNvSpPr/>
          <p:nvPr/>
        </p:nvSpPr>
        <p:spPr>
          <a:xfrm>
            <a:off x="320040" y="256032"/>
            <a:ext cx="11567160" cy="6117336"/>
          </a:xfrm>
          <a:prstGeom prst="rect">
            <a:avLst/>
          </a:prstGeom>
          <a:solidFill>
            <a:srgbClr val="0A1B19">
              <a:alpha val="9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93192"/>
            <a:ext cx="10789920" cy="320040"/>
          </a:xfrm>
          <a:prstGeom prst="rect">
            <a:avLst/>
          </a:prstGeom>
          <a:noFill/>
        </p:spPr>
        <p:txBody>
          <a:bodyPr wrap="square" lIns="0" rIns="0" tIns="0">
            <a:spAutoFit/>
          </a:bodyPr>
          <a:lstStyle/>
          <a:p>
            <a:pPr>
              <a:spcAft>
                <a:spcPts val="1000"/>
              </a:spcAft>
              <a:defRPr sz="1300" b="1">
                <a:solidFill>
                  <a:srgbClr val="D6ED89"/>
                </a:solidFill>
                <a:latin typeface="Arial"/>
              </a:defRPr>
            </a:pPr>
            <a:r>
              <a:t>АГРОВЕКТОР / 12 / КОМАНДА И СТОИМОСТЬ ТРУДА</a:t>
            </a:r>
          </a:p>
        </p:txBody>
      </p:sp>
      <p:sp>
        <p:nvSpPr>
          <p:cNvPr id="20" name="TextBox 19"/>
          <p:cNvSpPr txBox="1"/>
          <p:nvPr/>
        </p:nvSpPr>
        <p:spPr>
          <a:xfrm>
            <a:off x="566928" y="914400"/>
            <a:ext cx="10972800" cy="548640"/>
          </a:xfrm>
          <a:prstGeom prst="rect">
            <a:avLst/>
          </a:prstGeom>
          <a:noFill/>
        </p:spPr>
        <p:txBody>
          <a:bodyPr wrap="square" lIns="0" rIns="0" tIns="0">
            <a:spAutoFit/>
          </a:bodyPr>
          <a:lstStyle/>
          <a:p>
            <a:pPr>
              <a:spcAft>
                <a:spcPts val="1000"/>
              </a:spcAft>
              <a:defRPr sz="2700" b="1">
                <a:solidFill>
                  <a:srgbClr val="FFFFFF"/>
                </a:solidFill>
                <a:latin typeface="Arial"/>
              </a:defRPr>
            </a:pPr>
            <a:r>
              <a:t>Три штатные единицы: gross и взносы раздельно</a:t>
            </a:r>
          </a:p>
        </p:txBody>
      </p:sp>
      <p:sp>
        <p:nvSpPr>
          <p:cNvPr id="21" name="TextBox 20"/>
          <p:cNvSpPr txBox="1"/>
          <p:nvPr/>
        </p:nvSpPr>
        <p:spPr>
          <a:xfrm>
            <a:off x="566928" y="6519672"/>
            <a:ext cx="10698480" cy="201168"/>
          </a:xfrm>
          <a:prstGeom prst="rect">
            <a:avLst/>
          </a:prstGeom>
          <a:noFill/>
        </p:spPr>
        <p:txBody>
          <a:bodyPr wrap="square" lIns="0" rIns="0" tIns="0">
            <a:spAutoFit/>
          </a:bodyPr>
          <a:lstStyle/>
          <a:p>
            <a:pPr>
              <a:spcAft>
                <a:spcPts val="1000"/>
              </a:spcAft>
              <a:defRPr sz="900" b="0">
                <a:solidFill>
                  <a:srgbClr val="CCDACF"/>
                </a:solidFill>
                <a:latin typeface="Arial"/>
              </a:defRPr>
            </a:pPr>
            <a:r>
              <a:t>Проектные гипотезы и расчеты; не подтвержденный бизнес. Референс: Практика 08.10.26. / Редакция 21.10.2026</a:t>
            </a:r>
          </a:p>
        </p:txBody>
      </p:sp>
      <p:sp>
        <p:nvSpPr>
          <p:cNvPr id="22" name="TextBox 21"/>
          <p:cNvSpPr txBox="1"/>
          <p:nvPr/>
        </p:nvSpPr>
        <p:spPr>
          <a:xfrm>
            <a:off x="11082528" y="6501384"/>
            <a:ext cx="640080" cy="219456"/>
          </a:xfrm>
          <a:prstGeom prst="rect">
            <a:avLst/>
          </a:prstGeom>
          <a:noFill/>
        </p:spPr>
        <p:txBody>
          <a:bodyPr wrap="square" lIns="0" rIns="0" tIns="0">
            <a:spAutoFit/>
          </a:bodyPr>
          <a:lstStyle/>
          <a:p>
            <a:pPr>
              <a:spcAft>
                <a:spcPts val="1000"/>
              </a:spcAft>
              <a:defRPr sz="1000" b="1">
                <a:solidFill>
                  <a:srgbClr val="D6ED89"/>
                </a:solidFill>
                <a:latin typeface="Arial"/>
              </a:defRPr>
            </a:pPr>
            <a:r>
              <a:t>12/22</a:t>
            </a:r>
          </a:p>
        </p:txBody>
      </p:sp>
      <p:graphicFrame>
        <p:nvGraphicFramePr>
          <p:cNvPr id="23" name="Table 22"/>
          <p:cNvGraphicFramePr>
            <a:graphicFrameLocks noGrp="1"/>
          </p:cNvGraphicFramePr>
          <p:nvPr/>
        </p:nvGraphicFramePr>
        <p:xfrm>
          <a:off x="548640" y="1783080"/>
          <a:ext cx="11064240" cy="2231136"/>
        </p:xfrm>
        <a:graphic>
          <a:graphicData uri="http://schemas.openxmlformats.org/drawingml/2006/table">
            <a:tbl>
              <a:tblPr firstRow="1" bandRow="1">
                <a:tableStyleId>{5C22544A-7EE6-4342-B048-85BDC9FD1C3A}</a:tableStyleId>
              </a:tblPr>
              <a:tblGrid>
                <a:gridCol w="2788920"/>
                <a:gridCol w="548640"/>
                <a:gridCol w="1645920"/>
                <a:gridCol w="1920240"/>
                <a:gridCol w="1920240"/>
                <a:gridCol w="2240280"/>
              </a:tblGrid>
              <a:tr h="557784">
                <a:tc>
                  <a:txBody>
                    <a:bodyPr/>
                    <a:lstStyle/>
                    <a:p>
                      <a:pPr>
                        <a:defRPr sz="1500" b="1">
                          <a:solidFill>
                            <a:srgbClr val="E3F4B0"/>
                          </a:solidFill>
                          <a:latin typeface="Arial"/>
                        </a:defRPr>
                      </a:pPr>
                      <a:r>
                        <a:t>Роль</a:t>
                      </a:r>
                    </a:p>
                  </a:txBody>
                  <a:tcPr marL="100584" marR="82296" marT="64008">
                    <a:solidFill>
                      <a:srgbClr val="264E3B"/>
                    </a:solidFill>
                  </a:tcPr>
                </a:tc>
                <a:tc>
                  <a:txBody>
                    <a:bodyPr/>
                    <a:lstStyle/>
                    <a:p>
                      <a:pPr>
                        <a:defRPr sz="1500" b="1">
                          <a:solidFill>
                            <a:srgbClr val="E3F4B0"/>
                          </a:solidFill>
                          <a:latin typeface="Arial"/>
                        </a:defRPr>
                      </a:pPr>
                      <a:r>
                        <a:t>FTE</a:t>
                      </a:r>
                    </a:p>
                  </a:txBody>
                  <a:tcPr marL="100584" marR="82296" marT="64008">
                    <a:solidFill>
                      <a:srgbClr val="264E3B"/>
                    </a:solidFill>
                  </a:tcPr>
                </a:tc>
                <a:tc>
                  <a:txBody>
                    <a:bodyPr/>
                    <a:lstStyle/>
                    <a:p>
                      <a:pPr>
                        <a:defRPr sz="1500" b="1">
                          <a:solidFill>
                            <a:srgbClr val="E3F4B0"/>
                          </a:solidFill>
                          <a:latin typeface="Arial"/>
                        </a:defRPr>
                      </a:pPr>
                      <a:r>
                        <a:t>Gross / мес.</a:t>
                      </a:r>
                    </a:p>
                  </a:txBody>
                  <a:tcPr marL="100584" marR="82296" marT="64008">
                    <a:solidFill>
                      <a:srgbClr val="264E3B"/>
                    </a:solidFill>
                  </a:tcPr>
                </a:tc>
                <a:tc>
                  <a:txBody>
                    <a:bodyPr/>
                    <a:lstStyle/>
                    <a:p>
                      <a:pPr>
                        <a:defRPr sz="1500" b="1">
                          <a:solidFill>
                            <a:srgbClr val="E3F4B0"/>
                          </a:solidFill>
                          <a:latin typeface="Arial"/>
                        </a:defRPr>
                      </a:pPr>
                      <a:r>
                        <a:t>Gross / год</a:t>
                      </a:r>
                    </a:p>
                  </a:txBody>
                  <a:tcPr marL="100584" marR="82296" marT="64008">
                    <a:solidFill>
                      <a:srgbClr val="264E3B"/>
                    </a:solidFill>
                  </a:tcPr>
                </a:tc>
                <a:tc>
                  <a:txBody>
                    <a:bodyPr/>
                    <a:lstStyle/>
                    <a:p>
                      <a:pPr>
                        <a:defRPr sz="1500" b="1">
                          <a:solidFill>
                            <a:srgbClr val="E3F4B0"/>
                          </a:solidFill>
                          <a:latin typeface="Arial"/>
                        </a:defRPr>
                      </a:pPr>
                      <a:r>
                        <a:t>Взносы / год</a:t>
                      </a:r>
                    </a:p>
                  </a:txBody>
                  <a:tcPr marL="100584" marR="82296" marT="64008">
                    <a:solidFill>
                      <a:srgbClr val="264E3B"/>
                    </a:solidFill>
                  </a:tcPr>
                </a:tc>
                <a:tc>
                  <a:txBody>
                    <a:bodyPr/>
                    <a:lstStyle/>
                    <a:p>
                      <a:pPr>
                        <a:defRPr sz="1500" b="1">
                          <a:solidFill>
                            <a:srgbClr val="E3F4B0"/>
                          </a:solidFill>
                          <a:latin typeface="Arial"/>
                        </a:defRPr>
                      </a:pPr>
                      <a:r>
                        <a:t>Работодатель / год</a:t>
                      </a:r>
                    </a:p>
                  </a:txBody>
                  <a:tcPr marL="100584" marR="82296" marT="64008">
                    <a:solidFill>
                      <a:srgbClr val="264E3B"/>
                    </a:solidFill>
                  </a:tcPr>
                </a:tc>
              </a:tr>
              <a:tr h="557784">
                <a:tc>
                  <a:txBody>
                    <a:bodyPr/>
                    <a:lstStyle/>
                    <a:p>
                      <a:pPr>
                        <a:defRPr sz="1500" b="0">
                          <a:solidFill>
                            <a:srgbClr val="FFFFFF"/>
                          </a:solidFill>
                          <a:latin typeface="Arial"/>
                        </a:defRPr>
                      </a:pPr>
                      <a:r>
                        <a:t>Директор / продажи</a:t>
                      </a:r>
                    </a:p>
                  </a:txBody>
                  <a:tcPr marL="100584" marR="82296" marT="64008">
                    <a:solidFill>
                      <a:srgbClr val="102620"/>
                    </a:solidFill>
                  </a:tcPr>
                </a:tc>
                <a:tc>
                  <a:txBody>
                    <a:bodyPr/>
                    <a:lstStyle/>
                    <a:p>
                      <a:pPr>
                        <a:defRPr sz="1500" b="0">
                          <a:solidFill>
                            <a:srgbClr val="FFFFFF"/>
                          </a:solidFill>
                          <a:latin typeface="Arial"/>
                        </a:defRPr>
                      </a:pPr>
                      <a:r>
                        <a:t>1</a:t>
                      </a:r>
                    </a:p>
                  </a:txBody>
                  <a:tcPr marL="100584" marR="82296" marT="64008">
                    <a:solidFill>
                      <a:srgbClr val="102620"/>
                    </a:solidFill>
                  </a:tcPr>
                </a:tc>
                <a:tc>
                  <a:txBody>
                    <a:bodyPr/>
                    <a:lstStyle/>
                    <a:p>
                      <a:pPr>
                        <a:defRPr sz="1500" b="0">
                          <a:solidFill>
                            <a:srgbClr val="FFFFFF"/>
                          </a:solidFill>
                          <a:latin typeface="Arial"/>
                        </a:defRPr>
                      </a:pPr>
                      <a:r>
                        <a:t>100 000</a:t>
                      </a:r>
                    </a:p>
                  </a:txBody>
                  <a:tcPr marL="100584" marR="82296" marT="64008">
                    <a:solidFill>
                      <a:srgbClr val="102620"/>
                    </a:solidFill>
                  </a:tcPr>
                </a:tc>
                <a:tc>
                  <a:txBody>
                    <a:bodyPr/>
                    <a:lstStyle/>
                    <a:p>
                      <a:pPr>
                        <a:defRPr sz="1500" b="0">
                          <a:solidFill>
                            <a:srgbClr val="FFFFFF"/>
                          </a:solidFill>
                          <a:latin typeface="Arial"/>
                        </a:defRPr>
                      </a:pPr>
                      <a:r>
                        <a:t>1 200 000</a:t>
                      </a:r>
                    </a:p>
                  </a:txBody>
                  <a:tcPr marL="100584" marR="82296" marT="64008">
                    <a:solidFill>
                      <a:srgbClr val="102620"/>
                    </a:solidFill>
                  </a:tcPr>
                </a:tc>
                <a:tc>
                  <a:txBody>
                    <a:bodyPr/>
                    <a:lstStyle/>
                    <a:p>
                      <a:pPr>
                        <a:defRPr sz="1500" b="0">
                          <a:solidFill>
                            <a:srgbClr val="FFFFFF"/>
                          </a:solidFill>
                          <a:latin typeface="Arial"/>
                        </a:defRPr>
                      </a:pPr>
                      <a:r>
                        <a:t>362 400</a:t>
                      </a:r>
                    </a:p>
                  </a:txBody>
                  <a:tcPr marL="100584" marR="82296" marT="64008">
                    <a:solidFill>
                      <a:srgbClr val="102620"/>
                    </a:solidFill>
                  </a:tcPr>
                </a:tc>
                <a:tc>
                  <a:txBody>
                    <a:bodyPr/>
                    <a:lstStyle/>
                    <a:p>
                      <a:pPr>
                        <a:defRPr sz="1500" b="0">
                          <a:solidFill>
                            <a:srgbClr val="FFFFFF"/>
                          </a:solidFill>
                          <a:latin typeface="Arial"/>
                        </a:defRPr>
                      </a:pPr>
                      <a:r>
                        <a:t>1 562 400</a:t>
                      </a:r>
                    </a:p>
                  </a:txBody>
                  <a:tcPr marL="100584" marR="82296" marT="64008">
                    <a:solidFill>
                      <a:srgbClr val="102620"/>
                    </a:solidFill>
                  </a:tcPr>
                </a:tc>
              </a:tr>
              <a:tr h="557784">
                <a:tc>
                  <a:txBody>
                    <a:bodyPr/>
                    <a:lstStyle/>
                    <a:p>
                      <a:pPr>
                        <a:defRPr sz="1500" b="0">
                          <a:solidFill>
                            <a:srgbClr val="FFFFFF"/>
                          </a:solidFill>
                          <a:latin typeface="Arial"/>
                        </a:defRPr>
                      </a:pPr>
                      <a:r>
                        <a:t>Операторы</a:t>
                      </a:r>
                    </a:p>
                  </a:txBody>
                  <a:tcPr marL="100584" marR="82296" marT="64008">
                    <a:solidFill>
                      <a:srgbClr val="19372C"/>
                    </a:solidFill>
                  </a:tcPr>
                </a:tc>
                <a:tc>
                  <a:txBody>
                    <a:bodyPr/>
                    <a:lstStyle/>
                    <a:p>
                      <a:pPr>
                        <a:defRPr sz="1500" b="0">
                          <a:solidFill>
                            <a:srgbClr val="FFFFFF"/>
                          </a:solidFill>
                          <a:latin typeface="Arial"/>
                        </a:defRPr>
                      </a:pPr>
                      <a:r>
                        <a:t>2</a:t>
                      </a:r>
                    </a:p>
                  </a:txBody>
                  <a:tcPr marL="100584" marR="82296" marT="64008">
                    <a:solidFill>
                      <a:srgbClr val="19372C"/>
                    </a:solidFill>
                  </a:tcPr>
                </a:tc>
                <a:tc>
                  <a:txBody>
                    <a:bodyPr/>
                    <a:lstStyle/>
                    <a:p>
                      <a:pPr>
                        <a:defRPr sz="1500" b="0">
                          <a:solidFill>
                            <a:srgbClr val="FFFFFF"/>
                          </a:solidFill>
                          <a:latin typeface="Arial"/>
                        </a:defRPr>
                      </a:pPr>
                      <a:r>
                        <a:t>100 000 / чел.</a:t>
                      </a:r>
                    </a:p>
                  </a:txBody>
                  <a:tcPr marL="100584" marR="82296" marT="64008">
                    <a:solidFill>
                      <a:srgbClr val="19372C"/>
                    </a:solidFill>
                  </a:tcPr>
                </a:tc>
                <a:tc>
                  <a:txBody>
                    <a:bodyPr/>
                    <a:lstStyle/>
                    <a:p>
                      <a:pPr>
                        <a:defRPr sz="1500" b="0">
                          <a:solidFill>
                            <a:srgbClr val="FFFFFF"/>
                          </a:solidFill>
                          <a:latin typeface="Arial"/>
                        </a:defRPr>
                      </a:pPr>
                      <a:r>
                        <a:t>2 400 000</a:t>
                      </a:r>
                    </a:p>
                  </a:txBody>
                  <a:tcPr marL="100584" marR="82296" marT="64008">
                    <a:solidFill>
                      <a:srgbClr val="19372C"/>
                    </a:solidFill>
                  </a:tcPr>
                </a:tc>
                <a:tc>
                  <a:txBody>
                    <a:bodyPr/>
                    <a:lstStyle/>
                    <a:p>
                      <a:pPr>
                        <a:defRPr sz="1500" b="0">
                          <a:solidFill>
                            <a:srgbClr val="FFFFFF"/>
                          </a:solidFill>
                          <a:latin typeface="Arial"/>
                        </a:defRPr>
                      </a:pPr>
                      <a:r>
                        <a:t>724 800</a:t>
                      </a:r>
                    </a:p>
                  </a:txBody>
                  <a:tcPr marL="100584" marR="82296" marT="64008">
                    <a:solidFill>
                      <a:srgbClr val="19372C"/>
                    </a:solidFill>
                  </a:tcPr>
                </a:tc>
                <a:tc>
                  <a:txBody>
                    <a:bodyPr/>
                    <a:lstStyle/>
                    <a:p>
                      <a:pPr>
                        <a:defRPr sz="1500" b="0">
                          <a:solidFill>
                            <a:srgbClr val="FFFFFF"/>
                          </a:solidFill>
                          <a:latin typeface="Arial"/>
                        </a:defRPr>
                      </a:pPr>
                      <a:r>
                        <a:t>3 124 800</a:t>
                      </a:r>
                    </a:p>
                  </a:txBody>
                  <a:tcPr marL="100584" marR="82296" marT="64008">
                    <a:solidFill>
                      <a:srgbClr val="19372C"/>
                    </a:solidFill>
                  </a:tcPr>
                </a:tc>
              </a:tr>
              <a:tr h="557784">
                <a:tc>
                  <a:txBody>
                    <a:bodyPr/>
                    <a:lstStyle/>
                    <a:p>
                      <a:pPr>
                        <a:defRPr sz="1500" b="0">
                          <a:solidFill>
                            <a:srgbClr val="FFFFFF"/>
                          </a:solidFill>
                          <a:latin typeface="Arial"/>
                        </a:defRPr>
                      </a:pPr>
                      <a:r>
                        <a:t>ИТОГО</a:t>
                      </a:r>
                    </a:p>
                  </a:txBody>
                  <a:tcPr marL="100584" marR="82296" marT="64008">
                    <a:solidFill>
                      <a:srgbClr val="102620"/>
                    </a:solidFill>
                  </a:tcPr>
                </a:tc>
                <a:tc>
                  <a:txBody>
                    <a:bodyPr/>
                    <a:lstStyle/>
                    <a:p>
                      <a:pPr>
                        <a:defRPr sz="1500" b="0">
                          <a:solidFill>
                            <a:srgbClr val="FFFFFF"/>
                          </a:solidFill>
                          <a:latin typeface="Arial"/>
                        </a:defRPr>
                      </a:pPr>
                      <a:r>
                        <a:t>3</a:t>
                      </a:r>
                    </a:p>
                  </a:txBody>
                  <a:tcPr marL="100584" marR="82296" marT="64008">
                    <a:solidFill>
                      <a:srgbClr val="102620"/>
                    </a:solidFill>
                  </a:tcPr>
                </a:tc>
                <a:tc>
                  <a:txBody>
                    <a:bodyPr/>
                    <a:lstStyle/>
                    <a:p>
                      <a:pPr>
                        <a:defRPr sz="1500" b="0">
                          <a:solidFill>
                            <a:srgbClr val="FFFFFF"/>
                          </a:solidFill>
                          <a:latin typeface="Arial"/>
                        </a:defRPr>
                      </a:pPr>
                      <a:r>
                        <a:t>300 000</a:t>
                      </a:r>
                    </a:p>
                  </a:txBody>
                  <a:tcPr marL="100584" marR="82296" marT="64008">
                    <a:solidFill>
                      <a:srgbClr val="102620"/>
                    </a:solidFill>
                  </a:tcPr>
                </a:tc>
                <a:tc>
                  <a:txBody>
                    <a:bodyPr/>
                    <a:lstStyle/>
                    <a:p>
                      <a:pPr>
                        <a:defRPr sz="1500" b="0">
                          <a:solidFill>
                            <a:srgbClr val="FFFFFF"/>
                          </a:solidFill>
                          <a:latin typeface="Arial"/>
                        </a:defRPr>
                      </a:pPr>
                      <a:r>
                        <a:t>3 600 000</a:t>
                      </a:r>
                    </a:p>
                  </a:txBody>
                  <a:tcPr marL="100584" marR="82296" marT="64008">
                    <a:solidFill>
                      <a:srgbClr val="102620"/>
                    </a:solidFill>
                  </a:tcPr>
                </a:tc>
                <a:tc>
                  <a:txBody>
                    <a:bodyPr/>
                    <a:lstStyle/>
                    <a:p>
                      <a:pPr>
                        <a:defRPr sz="1500" b="0">
                          <a:solidFill>
                            <a:srgbClr val="FFFFFF"/>
                          </a:solidFill>
                          <a:latin typeface="Arial"/>
                        </a:defRPr>
                      </a:pPr>
                      <a:r>
                        <a:t>1 087 200</a:t>
                      </a:r>
                    </a:p>
                  </a:txBody>
                  <a:tcPr marL="100584" marR="82296" marT="64008">
                    <a:solidFill>
                      <a:srgbClr val="102620"/>
                    </a:solidFill>
                  </a:tcPr>
                </a:tc>
                <a:tc>
                  <a:txBody>
                    <a:bodyPr/>
                    <a:lstStyle/>
                    <a:p>
                      <a:pPr>
                        <a:defRPr sz="1500" b="0">
                          <a:solidFill>
                            <a:srgbClr val="FFFFFF"/>
                          </a:solidFill>
                          <a:latin typeface="Arial"/>
                        </a:defRPr>
                      </a:pPr>
                      <a:r>
                        <a:t>4 687 200</a:t>
                      </a:r>
                    </a:p>
                  </a:txBody>
                  <a:tcPr marL="100584" marR="82296" marT="64008">
                    <a:solidFill>
                      <a:srgbClr val="102620"/>
                    </a:solidFill>
                  </a:tcPr>
                </a:tc>
              </a:tr>
            </a:tbl>
          </a:graphicData>
        </a:graphic>
      </p:graphicFrame>
      <p:sp>
        <p:nvSpPr>
          <p:cNvPr id="24" name="Rectangle 23"/>
          <p:cNvSpPr/>
          <p:nvPr/>
        </p:nvSpPr>
        <p:spPr>
          <a:xfrm>
            <a:off x="594360" y="4224528"/>
            <a:ext cx="5404104" cy="1600200"/>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4315968"/>
            <a:ext cx="5166360" cy="384048"/>
          </a:xfrm>
          <a:prstGeom prst="rect">
            <a:avLst/>
          </a:prstGeom>
          <a:noFill/>
        </p:spPr>
        <p:txBody>
          <a:bodyPr wrap="square" lIns="0" rIns="0" tIns="0">
            <a:spAutoFit/>
          </a:bodyPr>
          <a:lstStyle/>
          <a:p>
            <a:pPr>
              <a:spcAft>
                <a:spcPts val="1000"/>
              </a:spcAft>
              <a:defRPr sz="1300" b="1">
                <a:solidFill>
                  <a:srgbClr val="D6ED89"/>
                </a:solidFill>
                <a:latin typeface="Arial"/>
              </a:defRPr>
            </a:pPr>
            <a:r>
              <a:t>РЕГИОНАЛЬНЫЙ ОРИЕНТИР</a:t>
            </a:r>
          </a:p>
        </p:txBody>
      </p:sp>
      <p:sp>
        <p:nvSpPr>
          <p:cNvPr id="26" name="TextBox 25"/>
          <p:cNvSpPr txBox="1"/>
          <p:nvPr/>
        </p:nvSpPr>
        <p:spPr>
          <a:xfrm>
            <a:off x="713232" y="4764024"/>
            <a:ext cx="5166360" cy="1014983"/>
          </a:xfrm>
          <a:prstGeom prst="rect">
            <a:avLst/>
          </a:prstGeom>
          <a:noFill/>
        </p:spPr>
        <p:txBody>
          <a:bodyPr wrap="square" lIns="0" rIns="0" tIns="0">
            <a:spAutoFit/>
          </a:bodyPr>
          <a:lstStyle/>
          <a:p>
            <a:pPr>
              <a:spcAft>
                <a:spcPts val="500"/>
              </a:spcAft>
              <a:defRPr sz="1700" b="0">
                <a:solidFill>
                  <a:srgbClr val="FFFFFF"/>
                </a:solidFill>
                <a:latin typeface="Arial"/>
              </a:defRPr>
            </a:pPr>
            <a:r>
              <a:t>98 479 ₽/мес., январь–июнь 2026.</a:t>
            </a:r>
          </a:p>
          <a:p>
            <a:pPr>
              <a:spcAft>
                <a:spcPts val="500"/>
              </a:spcAft>
              <a:defRPr sz="1700" b="0">
                <a:solidFill>
                  <a:srgbClr val="FFFFFF"/>
                </a:solidFill>
                <a:latin typeface="Arial"/>
              </a:defRPr>
            </a:pPr>
            <a:r>
              <a:t>СМИ со ссылкой на Татарстанстат[34].</a:t>
            </a:r>
          </a:p>
          <a:p>
            <a:pPr>
              <a:spcAft>
                <a:spcPts val="500"/>
              </a:spcAft>
              <a:defRPr sz="1700" b="0">
                <a:solidFill>
                  <a:srgbClr val="FFFFFF"/>
                </a:solidFill>
                <a:latin typeface="Arial"/>
              </a:defRPr>
            </a:pPr>
            <a:r>
              <a:t>План 2027: 100 000 ₽ gross каждому; не средняя по профессии.</a:t>
            </a:r>
          </a:p>
        </p:txBody>
      </p:sp>
      <p:sp>
        <p:nvSpPr>
          <p:cNvPr id="27" name="Rectangle 26"/>
          <p:cNvSpPr/>
          <p:nvPr/>
        </p:nvSpPr>
        <p:spPr>
          <a:xfrm>
            <a:off x="6163056" y="4224528"/>
            <a:ext cx="5404104" cy="1600200"/>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81928" y="4315968"/>
            <a:ext cx="5166360" cy="384048"/>
          </a:xfrm>
          <a:prstGeom prst="rect">
            <a:avLst/>
          </a:prstGeom>
          <a:noFill/>
        </p:spPr>
        <p:txBody>
          <a:bodyPr wrap="square" lIns="0" rIns="0" tIns="0">
            <a:spAutoFit/>
          </a:bodyPr>
          <a:lstStyle/>
          <a:p>
            <a:pPr>
              <a:spcAft>
                <a:spcPts val="1000"/>
              </a:spcAft>
              <a:defRPr sz="1300" b="1">
                <a:solidFill>
                  <a:srgbClr val="D6ED89"/>
                </a:solidFill>
                <a:latin typeface="Arial"/>
              </a:defRPr>
            </a:pPr>
            <a:r>
              <a:t>РАСЧЕТ И ОГРАНИЧЕНИЯ</a:t>
            </a:r>
          </a:p>
        </p:txBody>
      </p:sp>
      <p:sp>
        <p:nvSpPr>
          <p:cNvPr id="29" name="TextBox 28"/>
          <p:cNvSpPr txBox="1"/>
          <p:nvPr/>
        </p:nvSpPr>
        <p:spPr>
          <a:xfrm>
            <a:off x="6281928" y="4764024"/>
            <a:ext cx="5166360" cy="1014983"/>
          </a:xfrm>
          <a:prstGeom prst="rect">
            <a:avLst/>
          </a:prstGeom>
          <a:noFill/>
        </p:spPr>
        <p:txBody>
          <a:bodyPr wrap="square" lIns="0" rIns="0" tIns="0">
            <a:spAutoFit/>
          </a:bodyPr>
          <a:lstStyle/>
          <a:p>
            <a:pPr>
              <a:spcAft>
                <a:spcPts val="500"/>
              </a:spcAft>
              <a:defRPr sz="1700" b="0">
                <a:solidFill>
                  <a:srgbClr val="FFFFFF"/>
                </a:solidFill>
                <a:latin typeface="Arial"/>
              </a:defRPr>
            </a:pPr>
            <a:r>
              <a:t>30% общие взносы + 0,2% травматизм (допущение).</a:t>
            </a:r>
          </a:p>
          <a:p>
            <a:pPr>
              <a:spcAft>
                <a:spcPts val="500"/>
              </a:spcAft>
              <a:defRPr sz="1700" b="0">
                <a:solidFill>
                  <a:srgbClr val="FFFFFF"/>
                </a:solidFill>
                <a:latin typeface="Arial"/>
              </a:defRPr>
            </a:pPr>
            <a:r>
              <a:t>НДФЛ внутри gross. Агроном, юрист и бухгалтер — отдельно в OPEX.</a:t>
            </a:r>
          </a:p>
        </p:txBody>
      </p:sp>
      <p:sp>
        <p:nvSpPr>
          <p:cNvPr id="30" name="TextBox 29"/>
          <p:cNvSpPr txBox="1"/>
          <p:nvPr/>
        </p:nvSpPr>
        <p:spPr>
          <a:xfrm>
            <a:off x="603504" y="5989320"/>
            <a:ext cx="10881360" cy="228600"/>
          </a:xfrm>
          <a:prstGeom prst="rect">
            <a:avLst/>
          </a:prstGeom>
          <a:noFill/>
        </p:spPr>
        <p:txBody>
          <a:bodyPr wrap="square" lIns="0" rIns="0" tIns="0">
            <a:spAutoFit/>
          </a:bodyPr>
          <a:lstStyle/>
          <a:p>
            <a:pPr>
              <a:spcAft>
                <a:spcPts val="1000"/>
              </a:spcAft>
              <a:defRPr sz="1100" b="0">
                <a:solidFill>
                  <a:srgbClr val="D6ED89"/>
                </a:solidFill>
                <a:latin typeface="Arial"/>
              </a:defRPr>
            </a:pPr>
            <a:r>
              <a:t>Оклады — план найма, не подтвержденные предложения кандидатам. Региональная средняя не равна зарплате пилота.</a:t>
            </a:r>
          </a:p>
        </p:txBody>
      </p:sp>
    </p:spTree>
  </p:cSld>
  <p:clrMapOvr>
    <a:masterClrMapping/>
  </p:clrMapOvr>
  <mc:AlternateContent xmlns:mc="http://schemas.openxmlformats.org/markup-compatibility/2006">
    <mc:Choice xmlns:p159="http://schemas.microsoft.com/office/powerpoint/2015/09/main" Requires="p159">
      <p:transition spd="slow" advClick="1">
        <p159:morph option="byObject"/>
      </p:transition>
    </mc:Choice>
    <mc:Fallback>
      <p:transition spd="med" advClick="1">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13.jpg"/>
          <p:cNvPicPr>
            <a:picLocks noChangeAspect="1"/>
          </p:cNvPicPr>
          <p:nvPr/>
        </p:nvPicPr>
        <p:blipFill>
          <a:blip r:embed="rId3"/>
          <a:stretch>
            <a:fillRect/>
          </a:stretch>
        </p:blipFill>
        <p:spPr>
          <a:xfrm>
            <a:off x="0" y="0"/>
            <a:ext cx="12191999" cy="6858000"/>
          </a:xfrm>
          <a:prstGeom prst="rect">
            <a:avLst/>
          </a:prstGeom>
        </p:spPr>
      </p:pic>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
        <p:nvSpPr>
          <p:cNvPr id="18" name="Rectangle 17"/>
          <p:cNvSpPr/>
          <p:nvPr/>
        </p:nvSpPr>
        <p:spPr>
          <a:xfrm>
            <a:off x="320040" y="256032"/>
            <a:ext cx="11567160" cy="6117336"/>
          </a:xfrm>
          <a:prstGeom prst="rect">
            <a:avLst/>
          </a:prstGeom>
          <a:solidFill>
            <a:srgbClr val="0A1B19">
              <a:alpha val="9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93192"/>
            <a:ext cx="10789920" cy="320040"/>
          </a:xfrm>
          <a:prstGeom prst="rect">
            <a:avLst/>
          </a:prstGeom>
          <a:noFill/>
        </p:spPr>
        <p:txBody>
          <a:bodyPr wrap="square" lIns="0" rIns="0" tIns="0">
            <a:spAutoFit/>
          </a:bodyPr>
          <a:lstStyle/>
          <a:p>
            <a:pPr>
              <a:spcAft>
                <a:spcPts val="1000"/>
              </a:spcAft>
              <a:defRPr sz="1300" b="1">
                <a:solidFill>
                  <a:srgbClr val="D6ED89"/>
                </a:solidFill>
                <a:latin typeface="Arial"/>
              </a:defRPr>
            </a:pPr>
            <a:r>
              <a:t>АГРОВЕКТОР / 13 / WBS / ДЕРЕВО РАБОТ</a:t>
            </a:r>
          </a:p>
        </p:txBody>
      </p:sp>
      <p:sp>
        <p:nvSpPr>
          <p:cNvPr id="20" name="TextBox 19"/>
          <p:cNvSpPr txBox="1"/>
          <p:nvPr/>
        </p:nvSpPr>
        <p:spPr>
          <a:xfrm>
            <a:off x="566928" y="914400"/>
            <a:ext cx="10972800" cy="548640"/>
          </a:xfrm>
          <a:prstGeom prst="rect">
            <a:avLst/>
          </a:prstGeom>
          <a:noFill/>
        </p:spPr>
        <p:txBody>
          <a:bodyPr wrap="square" lIns="0" rIns="0" tIns="0">
            <a:spAutoFit/>
          </a:bodyPr>
          <a:lstStyle/>
          <a:p>
            <a:pPr>
              <a:spcAft>
                <a:spcPts val="1000"/>
              </a:spcAft>
              <a:defRPr sz="2700" b="1">
                <a:solidFill>
                  <a:srgbClr val="FFFFFF"/>
                </a:solidFill>
                <a:latin typeface="Arial"/>
              </a:defRPr>
            </a:pPr>
            <a:r>
              <a:t>От запуска сервиса к проверяемым результатам</a:t>
            </a:r>
          </a:p>
        </p:txBody>
      </p:sp>
      <p:sp>
        <p:nvSpPr>
          <p:cNvPr id="21" name="TextBox 20"/>
          <p:cNvSpPr txBox="1"/>
          <p:nvPr/>
        </p:nvSpPr>
        <p:spPr>
          <a:xfrm>
            <a:off x="566928" y="6519672"/>
            <a:ext cx="10698480" cy="201168"/>
          </a:xfrm>
          <a:prstGeom prst="rect">
            <a:avLst/>
          </a:prstGeom>
          <a:noFill/>
        </p:spPr>
        <p:txBody>
          <a:bodyPr wrap="square" lIns="0" rIns="0" tIns="0">
            <a:spAutoFit/>
          </a:bodyPr>
          <a:lstStyle/>
          <a:p>
            <a:pPr>
              <a:spcAft>
                <a:spcPts val="1000"/>
              </a:spcAft>
              <a:defRPr sz="900" b="0">
                <a:solidFill>
                  <a:srgbClr val="CCDACF"/>
                </a:solidFill>
                <a:latin typeface="Arial"/>
              </a:defRPr>
            </a:pPr>
            <a:r>
              <a:t>Проектные гипотезы и расчеты; не подтвержденный бизнес. Референс: Практика 08.10.26. / Редакция 21.10.2026</a:t>
            </a:r>
          </a:p>
        </p:txBody>
      </p:sp>
      <p:sp>
        <p:nvSpPr>
          <p:cNvPr id="22" name="TextBox 21"/>
          <p:cNvSpPr txBox="1"/>
          <p:nvPr/>
        </p:nvSpPr>
        <p:spPr>
          <a:xfrm>
            <a:off x="11082528" y="6501384"/>
            <a:ext cx="640080" cy="219456"/>
          </a:xfrm>
          <a:prstGeom prst="rect">
            <a:avLst/>
          </a:prstGeom>
          <a:noFill/>
        </p:spPr>
        <p:txBody>
          <a:bodyPr wrap="square" lIns="0" rIns="0" tIns="0">
            <a:spAutoFit/>
          </a:bodyPr>
          <a:lstStyle/>
          <a:p>
            <a:pPr>
              <a:spcAft>
                <a:spcPts val="1000"/>
              </a:spcAft>
              <a:defRPr sz="1000" b="1">
                <a:solidFill>
                  <a:srgbClr val="D6ED89"/>
                </a:solidFill>
                <a:latin typeface="Arial"/>
              </a:defRPr>
            </a:pPr>
            <a:r>
              <a:t>13/22</a:t>
            </a:r>
          </a:p>
        </p:txBody>
      </p:sp>
      <p:sp>
        <p:nvSpPr>
          <p:cNvPr id="23" name="Rectangle 22"/>
          <p:cNvSpPr/>
          <p:nvPr/>
        </p:nvSpPr>
        <p:spPr>
          <a:xfrm>
            <a:off x="4443984" y="1719072"/>
            <a:ext cx="3291840" cy="475488"/>
          </a:xfrm>
          <a:prstGeom prst="rect">
            <a:avLst/>
          </a:prstGeom>
          <a:solidFill>
            <a:srgbClr val="0A1B19">
              <a:alpha val="8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53712" y="1801368"/>
            <a:ext cx="3063240" cy="274320"/>
          </a:xfrm>
          <a:prstGeom prst="rect">
            <a:avLst/>
          </a:prstGeom>
          <a:noFill/>
        </p:spPr>
        <p:txBody>
          <a:bodyPr wrap="square" lIns="0" rIns="0" tIns="0">
            <a:spAutoFit/>
          </a:bodyPr>
          <a:lstStyle/>
          <a:p>
            <a:pPr>
              <a:spcAft>
                <a:spcPts val="1000"/>
              </a:spcAft>
              <a:defRPr sz="1700" b="1">
                <a:solidFill>
                  <a:srgbClr val="D6ED89"/>
                </a:solidFill>
                <a:latin typeface="Arial"/>
              </a:defRPr>
            </a:pPr>
            <a:r>
              <a:t>0. Запуск AgroVector</a:t>
            </a:r>
          </a:p>
        </p:txBody>
      </p:sp>
      <p:cxnSp>
        <p:nvCxnSpPr>
          <p:cNvPr id="25" name="Connector 24"/>
          <p:cNvCxnSpPr/>
          <p:nvPr/>
        </p:nvCxnSpPr>
        <p:spPr>
          <a:xfrm>
            <a:off x="6089904" y="2194560"/>
            <a:ext cx="0" cy="201168"/>
          </a:xfrm>
          <a:prstGeom prst="line">
            <a:avLst/>
          </a:prstGeom>
          <a:ln w="19050">
            <a:solidFill>
              <a:srgbClr val="D6ED89"/>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901952" y="2395728"/>
            <a:ext cx="8385048" cy="0"/>
          </a:xfrm>
          <a:prstGeom prst="line">
            <a:avLst/>
          </a:prstGeom>
          <a:ln w="19050">
            <a:solidFill>
              <a:srgbClr val="D6ED89"/>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901952" y="2395728"/>
            <a:ext cx="0" cy="182880"/>
          </a:xfrm>
          <a:prstGeom prst="line">
            <a:avLst/>
          </a:prstGeom>
          <a:ln w="19050">
            <a:solidFill>
              <a:srgbClr val="D6ED89"/>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594360" y="2578608"/>
            <a:ext cx="2642616" cy="621792"/>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2670048"/>
            <a:ext cx="2404872" cy="384048"/>
          </a:xfrm>
          <a:prstGeom prst="rect">
            <a:avLst/>
          </a:prstGeom>
          <a:noFill/>
        </p:spPr>
        <p:txBody>
          <a:bodyPr wrap="square" lIns="0" rIns="0" tIns="0">
            <a:spAutoFit/>
          </a:bodyPr>
          <a:lstStyle/>
          <a:p>
            <a:pPr>
              <a:spcAft>
                <a:spcPts val="1000"/>
              </a:spcAft>
              <a:defRPr sz="1300" b="1">
                <a:solidFill>
                  <a:srgbClr val="D6ED89"/>
                </a:solidFill>
                <a:latin typeface="Arial"/>
              </a:defRPr>
            </a:pPr>
            <a:r>
              <a:t>1. Проверка</a:t>
            </a:r>
          </a:p>
        </p:txBody>
      </p:sp>
      <p:sp>
        <p:nvSpPr>
          <p:cNvPr id="30" name="TextBox 29"/>
          <p:cNvSpPr txBox="1"/>
          <p:nvPr/>
        </p:nvSpPr>
        <p:spPr>
          <a:xfrm>
            <a:off x="713232" y="3118103"/>
            <a:ext cx="2404872" cy="36576"/>
          </a:xfrm>
          <a:prstGeom prst="rect">
            <a:avLst/>
          </a:prstGeom>
          <a:noFill/>
        </p:spPr>
        <p:txBody>
          <a:bodyPr wrap="square" lIns="0" rIns="0" tIns="0">
            <a:spAutoFit/>
          </a:bodyPr>
          <a:lstStyle/>
          <a:p>
            <a:pPr>
              <a:spcAft>
                <a:spcPts val="500"/>
              </a:spcAft>
              <a:defRPr sz="1400" b="0">
                <a:solidFill>
                  <a:srgbClr val="FFFFFF"/>
                </a:solidFill>
                <a:latin typeface="Arial"/>
              </a:defRPr>
            </a:pPr>
          </a:p>
        </p:txBody>
      </p:sp>
      <p:sp>
        <p:nvSpPr>
          <p:cNvPr id="31" name="Rectangle 30"/>
          <p:cNvSpPr/>
          <p:nvPr/>
        </p:nvSpPr>
        <p:spPr>
          <a:xfrm>
            <a:off x="713232" y="3337560"/>
            <a:ext cx="2414016" cy="457200"/>
          </a:xfrm>
          <a:prstGeom prst="rect">
            <a:avLst/>
          </a:prstGeom>
          <a:solidFill>
            <a:srgbClr val="0A1B19">
              <a:alpha val="9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 y="3429000"/>
            <a:ext cx="2221992" cy="292608"/>
          </a:xfrm>
          <a:prstGeom prst="rect">
            <a:avLst/>
          </a:prstGeom>
          <a:noFill/>
        </p:spPr>
        <p:txBody>
          <a:bodyPr wrap="square" lIns="0" rIns="0" tIns="0">
            <a:spAutoFit/>
          </a:bodyPr>
          <a:lstStyle/>
          <a:p>
            <a:pPr>
              <a:spcAft>
                <a:spcPts val="1000"/>
              </a:spcAft>
              <a:defRPr sz="1400" b="0">
                <a:solidFill>
                  <a:srgbClr val="FFFFFF"/>
                </a:solidFill>
                <a:latin typeface="Arial"/>
              </a:defRPr>
            </a:pPr>
            <a:r>
              <a:t>A  Правовой маршрут</a:t>
            </a:r>
          </a:p>
        </p:txBody>
      </p:sp>
      <p:sp>
        <p:nvSpPr>
          <p:cNvPr id="33" name="Rectangle 32"/>
          <p:cNvSpPr/>
          <p:nvPr/>
        </p:nvSpPr>
        <p:spPr>
          <a:xfrm>
            <a:off x="713232" y="3904487"/>
            <a:ext cx="2414016" cy="457200"/>
          </a:xfrm>
          <a:prstGeom prst="rect">
            <a:avLst/>
          </a:prstGeom>
          <a:solidFill>
            <a:srgbClr val="0A1B19">
              <a:alpha val="9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4672" y="3995927"/>
            <a:ext cx="2221992" cy="292608"/>
          </a:xfrm>
          <a:prstGeom prst="rect">
            <a:avLst/>
          </a:prstGeom>
          <a:noFill/>
        </p:spPr>
        <p:txBody>
          <a:bodyPr wrap="square" lIns="0" rIns="0" tIns="0">
            <a:spAutoFit/>
          </a:bodyPr>
          <a:lstStyle/>
          <a:p>
            <a:pPr>
              <a:spcAft>
                <a:spcPts val="1000"/>
              </a:spcAft>
              <a:defRPr sz="1400" b="0">
                <a:solidFill>
                  <a:srgbClr val="FFFFFF"/>
                </a:solidFill>
                <a:latin typeface="Arial"/>
              </a:defRPr>
            </a:pPr>
            <a:r>
              <a:t>B  Интервью и заявки</a:t>
            </a:r>
          </a:p>
        </p:txBody>
      </p:sp>
      <p:sp>
        <p:nvSpPr>
          <p:cNvPr id="35" name="Rectangle 34"/>
          <p:cNvSpPr/>
          <p:nvPr/>
        </p:nvSpPr>
        <p:spPr>
          <a:xfrm>
            <a:off x="713232" y="4471416"/>
            <a:ext cx="2414016" cy="457200"/>
          </a:xfrm>
          <a:prstGeom prst="rect">
            <a:avLst/>
          </a:prstGeom>
          <a:solidFill>
            <a:srgbClr val="0A1B19">
              <a:alpha val="9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 y="4562855"/>
            <a:ext cx="2221992" cy="292608"/>
          </a:xfrm>
          <a:prstGeom prst="rect">
            <a:avLst/>
          </a:prstGeom>
          <a:noFill/>
        </p:spPr>
        <p:txBody>
          <a:bodyPr wrap="square" lIns="0" rIns="0" tIns="0">
            <a:spAutoFit/>
          </a:bodyPr>
          <a:lstStyle/>
          <a:p>
            <a:pPr>
              <a:spcAft>
                <a:spcPts val="1000"/>
              </a:spcAft>
              <a:defRPr sz="1400" b="0">
                <a:solidFill>
                  <a:srgbClr val="FFFFFF"/>
                </a:solidFill>
                <a:latin typeface="Arial"/>
              </a:defRPr>
            </a:pPr>
            <a:r>
              <a:t>C  ООО и договоры</a:t>
            </a:r>
          </a:p>
        </p:txBody>
      </p:sp>
      <p:cxnSp>
        <p:nvCxnSpPr>
          <p:cNvPr id="37" name="Connector 36"/>
          <p:cNvCxnSpPr/>
          <p:nvPr/>
        </p:nvCxnSpPr>
        <p:spPr>
          <a:xfrm>
            <a:off x="4713732" y="2395728"/>
            <a:ext cx="0" cy="182880"/>
          </a:xfrm>
          <a:prstGeom prst="line">
            <a:avLst/>
          </a:prstGeom>
          <a:ln w="19050">
            <a:solidFill>
              <a:srgbClr val="D6ED89"/>
            </a:solidFill>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3406140" y="2578608"/>
            <a:ext cx="2642616" cy="621792"/>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525012" y="2670048"/>
            <a:ext cx="2404872" cy="384048"/>
          </a:xfrm>
          <a:prstGeom prst="rect">
            <a:avLst/>
          </a:prstGeom>
          <a:noFill/>
        </p:spPr>
        <p:txBody>
          <a:bodyPr wrap="square" lIns="0" rIns="0" tIns="0">
            <a:spAutoFit/>
          </a:bodyPr>
          <a:lstStyle/>
          <a:p>
            <a:pPr>
              <a:spcAft>
                <a:spcPts val="1000"/>
              </a:spcAft>
              <a:defRPr sz="1300" b="1">
                <a:solidFill>
                  <a:srgbClr val="D6ED89"/>
                </a:solidFill>
                <a:latin typeface="Arial"/>
              </a:defRPr>
            </a:pPr>
            <a:r>
              <a:t>2. Ресурсы</a:t>
            </a:r>
          </a:p>
        </p:txBody>
      </p:sp>
      <p:sp>
        <p:nvSpPr>
          <p:cNvPr id="40" name="TextBox 39"/>
          <p:cNvSpPr txBox="1"/>
          <p:nvPr/>
        </p:nvSpPr>
        <p:spPr>
          <a:xfrm>
            <a:off x="3525012" y="3118103"/>
            <a:ext cx="2404872" cy="36576"/>
          </a:xfrm>
          <a:prstGeom prst="rect">
            <a:avLst/>
          </a:prstGeom>
          <a:noFill/>
        </p:spPr>
        <p:txBody>
          <a:bodyPr wrap="square" lIns="0" rIns="0" tIns="0">
            <a:spAutoFit/>
          </a:bodyPr>
          <a:lstStyle/>
          <a:p>
            <a:pPr>
              <a:spcAft>
                <a:spcPts val="500"/>
              </a:spcAft>
              <a:defRPr sz="1400" b="0">
                <a:solidFill>
                  <a:srgbClr val="FFFFFF"/>
                </a:solidFill>
                <a:latin typeface="Arial"/>
              </a:defRPr>
            </a:pPr>
          </a:p>
        </p:txBody>
      </p:sp>
      <p:sp>
        <p:nvSpPr>
          <p:cNvPr id="41" name="Rectangle 40"/>
          <p:cNvSpPr/>
          <p:nvPr/>
        </p:nvSpPr>
        <p:spPr>
          <a:xfrm>
            <a:off x="3525012" y="3337560"/>
            <a:ext cx="2414016" cy="457200"/>
          </a:xfrm>
          <a:prstGeom prst="rect">
            <a:avLst/>
          </a:prstGeom>
          <a:solidFill>
            <a:srgbClr val="0A1B19">
              <a:alpha val="9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16452" y="3429000"/>
            <a:ext cx="2221992" cy="292608"/>
          </a:xfrm>
          <a:prstGeom prst="rect">
            <a:avLst/>
          </a:prstGeom>
          <a:noFill/>
        </p:spPr>
        <p:txBody>
          <a:bodyPr wrap="square" lIns="0" rIns="0" tIns="0">
            <a:spAutoFit/>
          </a:bodyPr>
          <a:lstStyle/>
          <a:p>
            <a:pPr>
              <a:spcAft>
                <a:spcPts val="1000"/>
              </a:spcAft>
              <a:defRPr sz="1400" b="0">
                <a:solidFill>
                  <a:srgbClr val="FFFFFF"/>
                </a:solidFill>
                <a:latin typeface="Arial"/>
              </a:defRPr>
            </a:pPr>
            <a:r>
              <a:t>D  Решение / транши</a:t>
            </a:r>
          </a:p>
        </p:txBody>
      </p:sp>
      <p:sp>
        <p:nvSpPr>
          <p:cNvPr id="43" name="Rectangle 42"/>
          <p:cNvSpPr/>
          <p:nvPr/>
        </p:nvSpPr>
        <p:spPr>
          <a:xfrm>
            <a:off x="3525012" y="3904487"/>
            <a:ext cx="2414016" cy="457200"/>
          </a:xfrm>
          <a:prstGeom prst="rect">
            <a:avLst/>
          </a:prstGeom>
          <a:solidFill>
            <a:srgbClr val="0A1B19">
              <a:alpha val="9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16452" y="3995927"/>
            <a:ext cx="2221992" cy="292608"/>
          </a:xfrm>
          <a:prstGeom prst="rect">
            <a:avLst/>
          </a:prstGeom>
          <a:noFill/>
        </p:spPr>
        <p:txBody>
          <a:bodyPr wrap="square" lIns="0" rIns="0" tIns="0">
            <a:spAutoFit/>
          </a:bodyPr>
          <a:lstStyle/>
          <a:p>
            <a:pPr>
              <a:spcAft>
                <a:spcPts val="1000"/>
              </a:spcAft>
              <a:defRPr sz="1400" b="0">
                <a:solidFill>
                  <a:srgbClr val="FFFFFF"/>
                </a:solidFill>
                <a:latin typeface="Arial"/>
              </a:defRPr>
            </a:pPr>
            <a:r>
              <a:t>E  Приемка техники</a:t>
            </a:r>
          </a:p>
        </p:txBody>
      </p:sp>
      <p:sp>
        <p:nvSpPr>
          <p:cNvPr id="45" name="Rectangle 44"/>
          <p:cNvSpPr/>
          <p:nvPr/>
        </p:nvSpPr>
        <p:spPr>
          <a:xfrm>
            <a:off x="3525012" y="4471416"/>
            <a:ext cx="2414016" cy="457200"/>
          </a:xfrm>
          <a:prstGeom prst="rect">
            <a:avLst/>
          </a:prstGeom>
          <a:solidFill>
            <a:srgbClr val="0A1B19">
              <a:alpha val="9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16452" y="4562855"/>
            <a:ext cx="2221992" cy="292608"/>
          </a:xfrm>
          <a:prstGeom prst="rect">
            <a:avLst/>
          </a:prstGeom>
          <a:noFill/>
        </p:spPr>
        <p:txBody>
          <a:bodyPr wrap="square" lIns="0" rIns="0" tIns="0">
            <a:spAutoFit/>
          </a:bodyPr>
          <a:lstStyle/>
          <a:p>
            <a:pPr>
              <a:spcAft>
                <a:spcPts val="1000"/>
              </a:spcAft>
              <a:defRPr sz="1400" b="0">
                <a:solidFill>
                  <a:srgbClr val="FFFFFF"/>
                </a:solidFill>
                <a:latin typeface="Arial"/>
              </a:defRPr>
            </a:pPr>
            <a:r>
              <a:t>F  Подготовка команды</a:t>
            </a:r>
          </a:p>
        </p:txBody>
      </p:sp>
      <p:sp>
        <p:nvSpPr>
          <p:cNvPr id="47" name="Rectangle 46"/>
          <p:cNvSpPr/>
          <p:nvPr/>
        </p:nvSpPr>
        <p:spPr>
          <a:xfrm>
            <a:off x="3525012" y="5038344"/>
            <a:ext cx="2414016" cy="457200"/>
          </a:xfrm>
          <a:prstGeom prst="rect">
            <a:avLst/>
          </a:prstGeom>
          <a:solidFill>
            <a:srgbClr val="0A1B19">
              <a:alpha val="9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616452" y="5129783"/>
            <a:ext cx="2221992" cy="292608"/>
          </a:xfrm>
          <a:prstGeom prst="rect">
            <a:avLst/>
          </a:prstGeom>
          <a:noFill/>
        </p:spPr>
        <p:txBody>
          <a:bodyPr wrap="square" lIns="0" rIns="0" tIns="0">
            <a:spAutoFit/>
          </a:bodyPr>
          <a:lstStyle/>
          <a:p>
            <a:pPr>
              <a:spcAft>
                <a:spcPts val="1000"/>
              </a:spcAft>
              <a:defRPr sz="1400" b="0">
                <a:solidFill>
                  <a:srgbClr val="FFFFFF"/>
                </a:solidFill>
                <a:latin typeface="Arial"/>
              </a:defRPr>
            </a:pPr>
            <a:r>
              <a:t>G  Документы / no-go</a:t>
            </a:r>
          </a:p>
        </p:txBody>
      </p:sp>
      <p:cxnSp>
        <p:nvCxnSpPr>
          <p:cNvPr id="49" name="Connector 48"/>
          <p:cNvCxnSpPr/>
          <p:nvPr/>
        </p:nvCxnSpPr>
        <p:spPr>
          <a:xfrm>
            <a:off x="7525512" y="2395728"/>
            <a:ext cx="0" cy="182880"/>
          </a:xfrm>
          <a:prstGeom prst="line">
            <a:avLst/>
          </a:prstGeom>
          <a:ln w="19050">
            <a:solidFill>
              <a:srgbClr val="D6ED89"/>
            </a:solidFill>
          </a:ln>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6217920" y="2578608"/>
            <a:ext cx="2642616" cy="621792"/>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36792" y="2670048"/>
            <a:ext cx="2404872" cy="384048"/>
          </a:xfrm>
          <a:prstGeom prst="rect">
            <a:avLst/>
          </a:prstGeom>
          <a:noFill/>
        </p:spPr>
        <p:txBody>
          <a:bodyPr wrap="square" lIns="0" rIns="0" tIns="0">
            <a:spAutoFit/>
          </a:bodyPr>
          <a:lstStyle/>
          <a:p>
            <a:pPr>
              <a:spcAft>
                <a:spcPts val="1000"/>
              </a:spcAft>
              <a:defRPr sz="1300" b="1">
                <a:solidFill>
                  <a:srgbClr val="D6ED89"/>
                </a:solidFill>
                <a:latin typeface="Arial"/>
              </a:defRPr>
            </a:pPr>
            <a:r>
              <a:t>3. Готовность</a:t>
            </a:r>
          </a:p>
        </p:txBody>
      </p:sp>
      <p:sp>
        <p:nvSpPr>
          <p:cNvPr id="52" name="TextBox 51"/>
          <p:cNvSpPr txBox="1"/>
          <p:nvPr/>
        </p:nvSpPr>
        <p:spPr>
          <a:xfrm>
            <a:off x="6336792" y="3118103"/>
            <a:ext cx="2404872" cy="36576"/>
          </a:xfrm>
          <a:prstGeom prst="rect">
            <a:avLst/>
          </a:prstGeom>
          <a:noFill/>
        </p:spPr>
        <p:txBody>
          <a:bodyPr wrap="square" lIns="0" rIns="0" tIns="0">
            <a:spAutoFit/>
          </a:bodyPr>
          <a:lstStyle/>
          <a:p>
            <a:pPr>
              <a:spcAft>
                <a:spcPts val="500"/>
              </a:spcAft>
              <a:defRPr sz="1400" b="0">
                <a:solidFill>
                  <a:srgbClr val="FFFFFF"/>
                </a:solidFill>
                <a:latin typeface="Arial"/>
              </a:defRPr>
            </a:pPr>
          </a:p>
        </p:txBody>
      </p:sp>
      <p:sp>
        <p:nvSpPr>
          <p:cNvPr id="53" name="Rectangle 52"/>
          <p:cNvSpPr/>
          <p:nvPr/>
        </p:nvSpPr>
        <p:spPr>
          <a:xfrm>
            <a:off x="6336792" y="3337560"/>
            <a:ext cx="2414016" cy="457200"/>
          </a:xfrm>
          <a:prstGeom prst="rect">
            <a:avLst/>
          </a:prstGeom>
          <a:solidFill>
            <a:srgbClr val="0A1B19">
              <a:alpha val="9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28232" y="3429000"/>
            <a:ext cx="2221992" cy="292608"/>
          </a:xfrm>
          <a:prstGeom prst="rect">
            <a:avLst/>
          </a:prstGeom>
          <a:noFill/>
        </p:spPr>
        <p:txBody>
          <a:bodyPr wrap="square" lIns="0" rIns="0" tIns="0">
            <a:spAutoFit/>
          </a:bodyPr>
          <a:lstStyle/>
          <a:p>
            <a:pPr>
              <a:spcAft>
                <a:spcPts val="1000"/>
              </a:spcAft>
              <a:defRPr sz="1400" b="0">
                <a:solidFill>
                  <a:srgbClr val="FFFFFF"/>
                </a:solidFill>
                <a:latin typeface="Arial"/>
              </a:defRPr>
            </a:pPr>
            <a:r>
              <a:t>H  SOP / карты / CRM</a:t>
            </a:r>
          </a:p>
        </p:txBody>
      </p:sp>
      <p:sp>
        <p:nvSpPr>
          <p:cNvPr id="55" name="Rectangle 54"/>
          <p:cNvSpPr/>
          <p:nvPr/>
        </p:nvSpPr>
        <p:spPr>
          <a:xfrm>
            <a:off x="6336792" y="3904487"/>
            <a:ext cx="2414016" cy="457200"/>
          </a:xfrm>
          <a:prstGeom prst="rect">
            <a:avLst/>
          </a:prstGeom>
          <a:solidFill>
            <a:srgbClr val="0A1B19">
              <a:alpha val="9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28232" y="3995927"/>
            <a:ext cx="2221992" cy="292608"/>
          </a:xfrm>
          <a:prstGeom prst="rect">
            <a:avLst/>
          </a:prstGeom>
          <a:noFill/>
        </p:spPr>
        <p:txBody>
          <a:bodyPr wrap="square" lIns="0" rIns="0" tIns="0">
            <a:spAutoFit/>
          </a:bodyPr>
          <a:lstStyle/>
          <a:p>
            <a:pPr>
              <a:spcAft>
                <a:spcPts val="1000"/>
              </a:spcAft>
              <a:defRPr sz="1400" b="0">
                <a:solidFill>
                  <a:srgbClr val="FFFFFF"/>
                </a:solidFill>
                <a:latin typeface="Arial"/>
              </a:defRPr>
            </a:pPr>
            <a:r>
              <a:t>I  Стендовая приемка</a:t>
            </a:r>
          </a:p>
        </p:txBody>
      </p:sp>
      <p:sp>
        <p:nvSpPr>
          <p:cNvPr id="57" name="Rectangle 56"/>
          <p:cNvSpPr/>
          <p:nvPr/>
        </p:nvSpPr>
        <p:spPr>
          <a:xfrm>
            <a:off x="6336792" y="4471416"/>
            <a:ext cx="2414016" cy="457200"/>
          </a:xfrm>
          <a:prstGeom prst="rect">
            <a:avLst/>
          </a:prstGeom>
          <a:solidFill>
            <a:srgbClr val="0A1B19">
              <a:alpha val="9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28232" y="4562855"/>
            <a:ext cx="2221992" cy="292608"/>
          </a:xfrm>
          <a:prstGeom prst="rect">
            <a:avLst/>
          </a:prstGeom>
          <a:noFill/>
        </p:spPr>
        <p:txBody>
          <a:bodyPr wrap="square" lIns="0" rIns="0" tIns="0">
            <a:spAutoFit/>
          </a:bodyPr>
          <a:lstStyle/>
          <a:p>
            <a:pPr>
              <a:spcAft>
                <a:spcPts val="1000"/>
              </a:spcAft>
              <a:defRPr sz="1400" b="0">
                <a:solidFill>
                  <a:srgbClr val="FFFFFF"/>
                </a:solidFill>
                <a:latin typeface="Arial"/>
              </a:defRPr>
            </a:pPr>
            <a:r>
              <a:t>J  Договоры / маршруты</a:t>
            </a:r>
          </a:p>
        </p:txBody>
      </p:sp>
      <p:sp>
        <p:nvSpPr>
          <p:cNvPr id="59" name="Rectangle 58"/>
          <p:cNvSpPr/>
          <p:nvPr/>
        </p:nvSpPr>
        <p:spPr>
          <a:xfrm>
            <a:off x="6336792" y="5038344"/>
            <a:ext cx="2414016" cy="457200"/>
          </a:xfrm>
          <a:prstGeom prst="rect">
            <a:avLst/>
          </a:prstGeom>
          <a:solidFill>
            <a:srgbClr val="0A1B19">
              <a:alpha val="9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28232" y="5129783"/>
            <a:ext cx="2221992" cy="292608"/>
          </a:xfrm>
          <a:prstGeom prst="rect">
            <a:avLst/>
          </a:prstGeom>
          <a:noFill/>
        </p:spPr>
        <p:txBody>
          <a:bodyPr wrap="square" lIns="0" rIns="0" tIns="0">
            <a:spAutoFit/>
          </a:bodyPr>
          <a:lstStyle/>
          <a:p>
            <a:pPr>
              <a:spcAft>
                <a:spcPts val="1000"/>
              </a:spcAft>
              <a:defRPr sz="1400" b="0">
                <a:solidFill>
                  <a:srgbClr val="FFFFFF"/>
                </a:solidFill>
                <a:latin typeface="Arial"/>
              </a:defRPr>
            </a:pPr>
            <a:r>
              <a:t>M  Предсезонный допуск</a:t>
            </a:r>
          </a:p>
        </p:txBody>
      </p:sp>
      <p:cxnSp>
        <p:nvCxnSpPr>
          <p:cNvPr id="61" name="Connector 60"/>
          <p:cNvCxnSpPr/>
          <p:nvPr/>
        </p:nvCxnSpPr>
        <p:spPr>
          <a:xfrm>
            <a:off x="10337292" y="2395728"/>
            <a:ext cx="0" cy="182880"/>
          </a:xfrm>
          <a:prstGeom prst="line">
            <a:avLst/>
          </a:prstGeom>
          <a:ln w="19050">
            <a:solidFill>
              <a:srgbClr val="D6ED89"/>
            </a:solidFill>
          </a:ln>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9029700" y="2578608"/>
            <a:ext cx="2642616" cy="621792"/>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148572" y="2670048"/>
            <a:ext cx="2404872" cy="384048"/>
          </a:xfrm>
          <a:prstGeom prst="rect">
            <a:avLst/>
          </a:prstGeom>
          <a:noFill/>
        </p:spPr>
        <p:txBody>
          <a:bodyPr wrap="square" lIns="0" rIns="0" tIns="0">
            <a:spAutoFit/>
          </a:bodyPr>
          <a:lstStyle/>
          <a:p>
            <a:pPr>
              <a:spcAft>
                <a:spcPts val="1000"/>
              </a:spcAft>
              <a:defRPr sz="1300" b="1">
                <a:solidFill>
                  <a:srgbClr val="D6ED89"/>
                </a:solidFill>
                <a:latin typeface="Arial"/>
              </a:defRPr>
            </a:pPr>
            <a:r>
              <a:t>4. Сезон / аудит</a:t>
            </a:r>
          </a:p>
        </p:txBody>
      </p:sp>
      <p:sp>
        <p:nvSpPr>
          <p:cNvPr id="64" name="TextBox 63"/>
          <p:cNvSpPr txBox="1"/>
          <p:nvPr/>
        </p:nvSpPr>
        <p:spPr>
          <a:xfrm>
            <a:off x="9148572" y="3118103"/>
            <a:ext cx="2404872" cy="36576"/>
          </a:xfrm>
          <a:prstGeom prst="rect">
            <a:avLst/>
          </a:prstGeom>
          <a:noFill/>
        </p:spPr>
        <p:txBody>
          <a:bodyPr wrap="square" lIns="0" rIns="0" tIns="0">
            <a:spAutoFit/>
          </a:bodyPr>
          <a:lstStyle/>
          <a:p>
            <a:pPr>
              <a:spcAft>
                <a:spcPts val="500"/>
              </a:spcAft>
              <a:defRPr sz="1400" b="0">
                <a:solidFill>
                  <a:srgbClr val="FFFFFF"/>
                </a:solidFill>
                <a:latin typeface="Arial"/>
              </a:defRPr>
            </a:pPr>
          </a:p>
        </p:txBody>
      </p:sp>
      <p:sp>
        <p:nvSpPr>
          <p:cNvPr id="65" name="Rectangle 64"/>
          <p:cNvSpPr/>
          <p:nvPr/>
        </p:nvSpPr>
        <p:spPr>
          <a:xfrm>
            <a:off x="9148572" y="3337560"/>
            <a:ext cx="2414016" cy="457200"/>
          </a:xfrm>
          <a:prstGeom prst="rect">
            <a:avLst/>
          </a:prstGeom>
          <a:solidFill>
            <a:srgbClr val="0A1B19">
              <a:alpha val="9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240012" y="3429000"/>
            <a:ext cx="2221992" cy="292608"/>
          </a:xfrm>
          <a:prstGeom prst="rect">
            <a:avLst/>
          </a:prstGeom>
          <a:noFill/>
        </p:spPr>
        <p:txBody>
          <a:bodyPr wrap="square" lIns="0" rIns="0" tIns="0">
            <a:spAutoFit/>
          </a:bodyPr>
          <a:lstStyle/>
          <a:p>
            <a:pPr>
              <a:spcAft>
                <a:spcPts val="1000"/>
              </a:spcAft>
              <a:defRPr sz="1400" b="0">
                <a:solidFill>
                  <a:srgbClr val="FFFFFF"/>
                </a:solidFill>
                <a:latin typeface="Arial"/>
              </a:defRPr>
            </a:pPr>
            <a:r>
              <a:t>K  Пилот + сезон</a:t>
            </a:r>
          </a:p>
        </p:txBody>
      </p:sp>
      <p:sp>
        <p:nvSpPr>
          <p:cNvPr id="67" name="Rectangle 66"/>
          <p:cNvSpPr/>
          <p:nvPr/>
        </p:nvSpPr>
        <p:spPr>
          <a:xfrm>
            <a:off x="9148572" y="3904487"/>
            <a:ext cx="2414016" cy="457200"/>
          </a:xfrm>
          <a:prstGeom prst="rect">
            <a:avLst/>
          </a:prstGeom>
          <a:solidFill>
            <a:srgbClr val="0A1B19">
              <a:alpha val="9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240012" y="3995927"/>
            <a:ext cx="2221992" cy="292608"/>
          </a:xfrm>
          <a:prstGeom prst="rect">
            <a:avLst/>
          </a:prstGeom>
          <a:noFill/>
        </p:spPr>
        <p:txBody>
          <a:bodyPr wrap="square" lIns="0" rIns="0" tIns="0">
            <a:spAutoFit/>
          </a:bodyPr>
          <a:lstStyle/>
          <a:p>
            <a:pPr>
              <a:spcAft>
                <a:spcPts val="1000"/>
              </a:spcAft>
              <a:defRPr sz="1400" b="0">
                <a:solidFill>
                  <a:srgbClr val="FFFFFF"/>
                </a:solidFill>
                <a:latin typeface="Arial"/>
              </a:defRPr>
            </a:pPr>
            <a:r>
              <a:t>L  Аудит / продление</a:t>
            </a:r>
          </a:p>
        </p:txBody>
      </p:sp>
      <p:sp>
        <p:nvSpPr>
          <p:cNvPr id="69" name="TextBox 68"/>
          <p:cNvSpPr txBox="1"/>
          <p:nvPr/>
        </p:nvSpPr>
        <p:spPr>
          <a:xfrm>
            <a:off x="603504" y="5925312"/>
            <a:ext cx="10789920" cy="274320"/>
          </a:xfrm>
          <a:prstGeom prst="rect">
            <a:avLst/>
          </a:prstGeom>
          <a:noFill/>
        </p:spPr>
        <p:txBody>
          <a:bodyPr wrap="square" lIns="0" rIns="0" tIns="0">
            <a:spAutoFit/>
          </a:bodyPr>
          <a:lstStyle/>
          <a:p>
            <a:pPr>
              <a:spcAft>
                <a:spcPts val="1000"/>
              </a:spcAft>
              <a:defRPr sz="1200" b="0">
                <a:solidFill>
                  <a:srgbClr val="D6ED89"/>
                </a:solidFill>
                <a:latin typeface="Arial"/>
              </a:defRPr>
            </a:pPr>
            <a:r>
              <a:t>Все 13 пакетов из project_plan.csv. Это дерево декомпозиции, не календарь: зависимости — на слайде 15.</a:t>
            </a:r>
          </a:p>
        </p:txBody>
      </p:sp>
    </p:spTree>
  </p:cSld>
  <p:clrMapOvr>
    <a:masterClrMapping/>
  </p:clrMapOvr>
  <mc:AlternateContent xmlns:mc="http://schemas.openxmlformats.org/markup-compatibility/2006">
    <mc:Choice xmlns:p159="http://schemas.microsoft.com/office/powerpoint/2015/09/main" Requires="p159">
      <p:transition spd="slow" advClick="1">
        <p159:morph option="byObject"/>
      </p:transition>
    </mc:Choice>
    <mc:Fallback>
      <p:transition spd="med" advClick="1">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AV_background" descr="background_14.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14  /  ДИАГРАММА ГАНТА</a:t>
            </a:r>
          </a:p>
        </p:txBody>
      </p:sp>
      <p:sp>
        <p:nvSpPr>
          <p:cNvPr id="6" name="TextBox 5"/>
          <p:cNvSpPr txBox="1"/>
          <p:nvPr/>
        </p:nvSpPr>
        <p:spPr>
          <a:xfrm>
            <a:off x="594360" y="1234440"/>
            <a:ext cx="1088136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Календарь запуска зависит от готовности</a:t>
            </a:r>
          </a:p>
        </p:txBody>
      </p:sp>
      <p:sp>
        <p:nvSpPr>
          <p:cNvPr id="7" name="Rectangle 6"/>
          <p:cNvSpPr/>
          <p:nvPr/>
        </p:nvSpPr>
        <p:spPr>
          <a:xfrm>
            <a:off x="548640" y="2560320"/>
            <a:ext cx="11064240" cy="3310128"/>
          </a:xfrm>
          <a:prstGeom prst="rect">
            <a:avLst/>
          </a:prstGeom>
          <a:solidFill>
            <a:srgbClr val="0A1B19">
              <a:alpha val="9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6"/>
          <p:cNvSpPr/>
          <p:nvPr/>
        </p:nvSpPr>
        <p:spPr>
          <a:xfrm>
            <a:off x="502920" y="2677363"/>
            <a:ext cx="11183112" cy="332841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7"/>
          <p:cNvSpPr/>
          <p:nvPr/>
        </p:nvSpPr>
        <p:spPr>
          <a:xfrm>
            <a:off x="3776472"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8"/>
          <p:cNvSpPr txBox="1"/>
          <p:nvPr/>
        </p:nvSpPr>
        <p:spPr>
          <a:xfrm>
            <a:off x="3639312"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0</a:t>
            </a:r>
          </a:p>
        </p:txBody>
      </p:sp>
      <p:sp>
        <p:nvSpPr>
          <p:cNvPr id="11" name="Rectangle 9"/>
          <p:cNvSpPr/>
          <p:nvPr/>
        </p:nvSpPr>
        <p:spPr>
          <a:xfrm>
            <a:off x="4536916"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0"/>
          <p:cNvSpPr txBox="1"/>
          <p:nvPr/>
        </p:nvSpPr>
        <p:spPr>
          <a:xfrm>
            <a:off x="4399756"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5</a:t>
            </a:r>
          </a:p>
        </p:txBody>
      </p:sp>
      <p:sp>
        <p:nvSpPr>
          <p:cNvPr id="13" name="Rectangle 11"/>
          <p:cNvSpPr/>
          <p:nvPr/>
        </p:nvSpPr>
        <p:spPr>
          <a:xfrm>
            <a:off x="5297361"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2"/>
          <p:cNvSpPr txBox="1"/>
          <p:nvPr/>
        </p:nvSpPr>
        <p:spPr>
          <a:xfrm>
            <a:off x="5160201"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10</a:t>
            </a:r>
          </a:p>
        </p:txBody>
      </p:sp>
      <p:sp>
        <p:nvSpPr>
          <p:cNvPr id="15" name="Rectangle 13"/>
          <p:cNvSpPr/>
          <p:nvPr/>
        </p:nvSpPr>
        <p:spPr>
          <a:xfrm>
            <a:off x="6057806"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4"/>
          <p:cNvSpPr txBox="1"/>
          <p:nvPr/>
        </p:nvSpPr>
        <p:spPr>
          <a:xfrm>
            <a:off x="5920646"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15</a:t>
            </a:r>
          </a:p>
        </p:txBody>
      </p:sp>
      <p:sp>
        <p:nvSpPr>
          <p:cNvPr id="17" name="Rectangle 15"/>
          <p:cNvSpPr/>
          <p:nvPr/>
        </p:nvSpPr>
        <p:spPr>
          <a:xfrm>
            <a:off x="6818251"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6"/>
          <p:cNvSpPr txBox="1"/>
          <p:nvPr/>
        </p:nvSpPr>
        <p:spPr>
          <a:xfrm>
            <a:off x="6681091"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20</a:t>
            </a:r>
          </a:p>
        </p:txBody>
      </p:sp>
      <p:sp>
        <p:nvSpPr>
          <p:cNvPr id="19" name="Rectangle 17"/>
          <p:cNvSpPr/>
          <p:nvPr/>
        </p:nvSpPr>
        <p:spPr>
          <a:xfrm>
            <a:off x="7578696"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8"/>
          <p:cNvSpPr txBox="1"/>
          <p:nvPr/>
        </p:nvSpPr>
        <p:spPr>
          <a:xfrm>
            <a:off x="7441536"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25</a:t>
            </a:r>
          </a:p>
        </p:txBody>
      </p:sp>
      <p:sp>
        <p:nvSpPr>
          <p:cNvPr id="21" name="Rectangle 19"/>
          <p:cNvSpPr/>
          <p:nvPr/>
        </p:nvSpPr>
        <p:spPr>
          <a:xfrm>
            <a:off x="8339141"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0"/>
          <p:cNvSpPr txBox="1"/>
          <p:nvPr/>
        </p:nvSpPr>
        <p:spPr>
          <a:xfrm>
            <a:off x="8201981"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30</a:t>
            </a:r>
          </a:p>
        </p:txBody>
      </p:sp>
      <p:sp>
        <p:nvSpPr>
          <p:cNvPr id="23" name="Rectangle 21"/>
          <p:cNvSpPr/>
          <p:nvPr/>
        </p:nvSpPr>
        <p:spPr>
          <a:xfrm>
            <a:off x="9099586"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2"/>
          <p:cNvSpPr txBox="1"/>
          <p:nvPr/>
        </p:nvSpPr>
        <p:spPr>
          <a:xfrm>
            <a:off x="8962426"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35</a:t>
            </a:r>
          </a:p>
        </p:txBody>
      </p:sp>
      <p:sp>
        <p:nvSpPr>
          <p:cNvPr id="25" name="Rectangle 23"/>
          <p:cNvSpPr/>
          <p:nvPr/>
        </p:nvSpPr>
        <p:spPr>
          <a:xfrm>
            <a:off x="9860031"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4"/>
          <p:cNvSpPr txBox="1"/>
          <p:nvPr/>
        </p:nvSpPr>
        <p:spPr>
          <a:xfrm>
            <a:off x="9722871"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40</a:t>
            </a:r>
          </a:p>
        </p:txBody>
      </p:sp>
      <p:sp>
        <p:nvSpPr>
          <p:cNvPr id="27" name="Rectangle 25"/>
          <p:cNvSpPr/>
          <p:nvPr/>
        </p:nvSpPr>
        <p:spPr>
          <a:xfrm>
            <a:off x="10620476"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6"/>
          <p:cNvSpPr txBox="1"/>
          <p:nvPr/>
        </p:nvSpPr>
        <p:spPr>
          <a:xfrm>
            <a:off x="10483316"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45</a:t>
            </a:r>
          </a:p>
        </p:txBody>
      </p:sp>
      <p:sp>
        <p:nvSpPr>
          <p:cNvPr id="29" name="TextBox 27"/>
          <p:cNvSpPr txBox="1"/>
          <p:nvPr/>
        </p:nvSpPr>
        <p:spPr>
          <a:xfrm>
            <a:off x="640080" y="2889504"/>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A  Правовой gate</a:t>
            </a:r>
          </a:p>
        </p:txBody>
      </p:sp>
      <p:sp>
        <p:nvSpPr>
          <p:cNvPr id="30" name="Rounded Rectangle 28"/>
          <p:cNvSpPr/>
          <p:nvPr/>
        </p:nvSpPr>
        <p:spPr>
          <a:xfrm>
            <a:off x="3776472" y="2922421"/>
            <a:ext cx="304177" cy="131673"/>
          </a:xfrm>
          <a:prstGeom prst="round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29"/>
          <p:cNvSpPr txBox="1"/>
          <p:nvPr/>
        </p:nvSpPr>
        <p:spPr>
          <a:xfrm>
            <a:off x="640080" y="3101644"/>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B  Спрос / заявки</a:t>
            </a:r>
          </a:p>
        </p:txBody>
      </p:sp>
      <p:sp>
        <p:nvSpPr>
          <p:cNvPr id="32" name="Rounded Rectangle 30"/>
          <p:cNvSpPr/>
          <p:nvPr/>
        </p:nvSpPr>
        <p:spPr>
          <a:xfrm>
            <a:off x="3776472" y="3134563"/>
            <a:ext cx="912533"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1"/>
          <p:cNvSpPr txBox="1"/>
          <p:nvPr/>
        </p:nvSpPr>
        <p:spPr>
          <a:xfrm>
            <a:off x="640080" y="3313785"/>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C  ООО и договоры</a:t>
            </a:r>
          </a:p>
        </p:txBody>
      </p:sp>
      <p:sp>
        <p:nvSpPr>
          <p:cNvPr id="34" name="Rounded Rectangle 32"/>
          <p:cNvSpPr/>
          <p:nvPr/>
        </p:nvSpPr>
        <p:spPr>
          <a:xfrm>
            <a:off x="4080649" y="3346704"/>
            <a:ext cx="456266" cy="131673"/>
          </a:xfrm>
          <a:prstGeom prst="round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3"/>
          <p:cNvSpPr txBox="1"/>
          <p:nvPr/>
        </p:nvSpPr>
        <p:spPr>
          <a:xfrm>
            <a:off x="640080" y="3525925"/>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D  Финансирование</a:t>
            </a:r>
          </a:p>
        </p:txBody>
      </p:sp>
      <p:sp>
        <p:nvSpPr>
          <p:cNvPr id="36" name="Rounded Rectangle 34"/>
          <p:cNvSpPr/>
          <p:nvPr/>
        </p:nvSpPr>
        <p:spPr>
          <a:xfrm>
            <a:off x="4689005" y="3558844"/>
            <a:ext cx="152088"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5"/>
          <p:cNvSpPr txBox="1"/>
          <p:nvPr/>
        </p:nvSpPr>
        <p:spPr>
          <a:xfrm>
            <a:off x="640080" y="3738066"/>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E  Закупка</a:t>
            </a:r>
          </a:p>
        </p:txBody>
      </p:sp>
      <p:sp>
        <p:nvSpPr>
          <p:cNvPr id="38" name="Rounded Rectangle 36"/>
          <p:cNvSpPr/>
          <p:nvPr/>
        </p:nvSpPr>
        <p:spPr>
          <a:xfrm>
            <a:off x="4841094" y="3770984"/>
            <a:ext cx="760444"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7"/>
          <p:cNvSpPr txBox="1"/>
          <p:nvPr/>
        </p:nvSpPr>
        <p:spPr>
          <a:xfrm>
            <a:off x="640080" y="3950207"/>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F  Обучение</a:t>
            </a:r>
          </a:p>
        </p:txBody>
      </p:sp>
      <p:sp>
        <p:nvSpPr>
          <p:cNvPr id="40" name="Rounded Rectangle 38"/>
          <p:cNvSpPr/>
          <p:nvPr/>
        </p:nvSpPr>
        <p:spPr>
          <a:xfrm>
            <a:off x="4841094" y="3983125"/>
            <a:ext cx="912533" cy="131673"/>
          </a:xfrm>
          <a:prstGeom prst="round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39"/>
          <p:cNvSpPr txBox="1"/>
          <p:nvPr/>
        </p:nvSpPr>
        <p:spPr>
          <a:xfrm>
            <a:off x="640080" y="4162348"/>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G  Готовность БВС</a:t>
            </a:r>
          </a:p>
        </p:txBody>
      </p:sp>
      <p:sp>
        <p:nvSpPr>
          <p:cNvPr id="42" name="Rounded Rectangle 40"/>
          <p:cNvSpPr/>
          <p:nvPr/>
        </p:nvSpPr>
        <p:spPr>
          <a:xfrm>
            <a:off x="5601539" y="4195266"/>
            <a:ext cx="912533"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1"/>
          <p:cNvSpPr txBox="1"/>
          <p:nvPr/>
        </p:nvSpPr>
        <p:spPr>
          <a:xfrm>
            <a:off x="640080" y="4374488"/>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H  SOP / CRM</a:t>
            </a:r>
          </a:p>
        </p:txBody>
      </p:sp>
      <p:sp>
        <p:nvSpPr>
          <p:cNvPr id="44" name="Rounded Rectangle 42"/>
          <p:cNvSpPr/>
          <p:nvPr/>
        </p:nvSpPr>
        <p:spPr>
          <a:xfrm>
            <a:off x="5753628" y="4407407"/>
            <a:ext cx="456266" cy="131673"/>
          </a:xfrm>
          <a:prstGeom prst="round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3"/>
          <p:cNvSpPr txBox="1"/>
          <p:nvPr/>
        </p:nvSpPr>
        <p:spPr>
          <a:xfrm>
            <a:off x="640080" y="4586630"/>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I  Испытания</a:t>
            </a:r>
          </a:p>
        </p:txBody>
      </p:sp>
      <p:sp>
        <p:nvSpPr>
          <p:cNvPr id="46" name="Rounded Rectangle 44"/>
          <p:cNvSpPr/>
          <p:nvPr/>
        </p:nvSpPr>
        <p:spPr>
          <a:xfrm>
            <a:off x="6514073" y="4619548"/>
            <a:ext cx="304177"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5"/>
          <p:cNvSpPr txBox="1"/>
          <p:nvPr/>
        </p:nvSpPr>
        <p:spPr>
          <a:xfrm>
            <a:off x="640080" y="4798771"/>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J  Договоры сезона</a:t>
            </a:r>
          </a:p>
        </p:txBody>
      </p:sp>
      <p:sp>
        <p:nvSpPr>
          <p:cNvPr id="48" name="Rounded Rectangle 46"/>
          <p:cNvSpPr/>
          <p:nvPr/>
        </p:nvSpPr>
        <p:spPr>
          <a:xfrm>
            <a:off x="6818251" y="4831689"/>
            <a:ext cx="304177"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7"/>
          <p:cNvSpPr txBox="1"/>
          <p:nvPr/>
        </p:nvSpPr>
        <p:spPr>
          <a:xfrm>
            <a:off x="640080" y="5010912"/>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M  Ожидание окна</a:t>
            </a:r>
          </a:p>
        </p:txBody>
      </p:sp>
      <p:sp>
        <p:nvSpPr>
          <p:cNvPr id="50" name="Rounded Rectangle 48"/>
          <p:cNvSpPr/>
          <p:nvPr/>
        </p:nvSpPr>
        <p:spPr>
          <a:xfrm>
            <a:off x="7122429" y="5043830"/>
            <a:ext cx="456266"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49"/>
          <p:cNvSpPr txBox="1"/>
          <p:nvPr/>
        </p:nvSpPr>
        <p:spPr>
          <a:xfrm>
            <a:off x="640080" y="5223052"/>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K  Сезон</a:t>
            </a:r>
          </a:p>
        </p:txBody>
      </p:sp>
      <p:sp>
        <p:nvSpPr>
          <p:cNvPr id="52" name="Rounded Rectangle 50"/>
          <p:cNvSpPr/>
          <p:nvPr/>
        </p:nvSpPr>
        <p:spPr>
          <a:xfrm>
            <a:off x="7578696" y="5255971"/>
            <a:ext cx="3345957"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1"/>
          <p:cNvSpPr txBox="1"/>
          <p:nvPr/>
        </p:nvSpPr>
        <p:spPr>
          <a:xfrm>
            <a:off x="640080" y="5435192"/>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L  Аудит</a:t>
            </a:r>
          </a:p>
        </p:txBody>
      </p:sp>
      <p:sp>
        <p:nvSpPr>
          <p:cNvPr id="54" name="Rounded Rectangle 52"/>
          <p:cNvSpPr/>
          <p:nvPr/>
        </p:nvSpPr>
        <p:spPr>
          <a:xfrm>
            <a:off x="10924654" y="5468111"/>
            <a:ext cx="304177"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40080" y="5897880"/>
            <a:ext cx="10789920" cy="274320"/>
          </a:xfrm>
          <a:prstGeom prst="rect">
            <a:avLst/>
          </a:prstGeom>
          <a:noFill/>
        </p:spPr>
        <p:txBody>
          <a:bodyPr wrap="square" lIns="0" tIns="0" rIns="0">
            <a:spAutoFit/>
          </a:bodyPr>
          <a:lstStyle/>
          <a:p>
            <a:pPr>
              <a:spcAft>
                <a:spcPts val="1000"/>
              </a:spcAft>
              <a:defRPr sz="1200" b="0">
                <a:solidFill>
                  <a:srgbClr val="D6ED89"/>
                </a:solidFill>
                <a:latin typeface="Arial"/>
              </a:defRPr>
            </a:pPr>
            <a:r>
              <a:t>План, не выполненные этапы. Готовность и разрешения — обязательные условия.</a:t>
            </a:r>
          </a:p>
        </p:txBody>
      </p:sp>
      <p:sp>
        <p:nvSpPr>
          <p:cNvPr id="56" name="Rectangle 55"/>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21.10.2026</a:t>
            </a:r>
          </a:p>
        </p:txBody>
      </p:sp>
      <p:sp>
        <p:nvSpPr>
          <p:cNvPr id="58" name="TextBox 57"/>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14/22</a:t>
            </a:r>
          </a:p>
        </p:txBody>
      </p:sp>
      <p:pic>
        <p:nvPicPr>
          <p:cNvPr id="60" name="!!AV_drone" descr="drone_render.png"/>
          <p:cNvPicPr>
            <a:picLocks noChangeAspect="1"/>
          </p:cNvPicPr>
          <p:nvPr/>
        </p:nvPicPr>
        <p:blipFill>
          <a:blip r:embed="rId5"/>
          <a:stretch>
            <a:fillRect/>
          </a:stretch>
        </p:blipFill>
        <p:spPr>
          <a:xfrm>
            <a:off x="10442448" y="722376"/>
            <a:ext cx="1024128" cy="6400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Click="1">
        <p159:morph option="byObject"/>
      </p:transition>
    </mc:Choice>
    <mc:Fallback>
      <p:transition spd="med" advClick="1">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AV_background" descr="background_15.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15  /  СЕТЕВОЙ ГРАФИК</a:t>
            </a:r>
          </a:p>
        </p:txBody>
      </p:sp>
      <p:sp>
        <p:nvSpPr>
          <p:cNvPr id="6" name="TextBox 5"/>
          <p:cNvSpPr txBox="1"/>
          <p:nvPr/>
        </p:nvSpPr>
        <p:spPr>
          <a:xfrm>
            <a:off x="594360" y="1234440"/>
            <a:ext cx="1088136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Критический путь нельзя обойти закупкой</a:t>
            </a:r>
          </a:p>
        </p:txBody>
      </p:sp>
      <p:sp>
        <p:nvSpPr>
          <p:cNvPr id="7" name="Rectangle 6"/>
          <p:cNvSpPr/>
          <p:nvPr/>
        </p:nvSpPr>
        <p:spPr>
          <a:xfrm>
            <a:off x="548640" y="2560320"/>
            <a:ext cx="11064240" cy="3310128"/>
          </a:xfrm>
          <a:prstGeom prst="rect">
            <a:avLst/>
          </a:prstGeom>
          <a:solidFill>
            <a:srgbClr val="0A1B19">
              <a:alpha val="9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Connector 6"/>
          <p:cNvCxnSpPr/>
          <p:nvPr/>
        </p:nvCxnSpPr>
        <p:spPr>
          <a:xfrm>
            <a:off x="1472184" y="3533241"/>
            <a:ext cx="210311" cy="0"/>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7"/>
          <p:cNvCxnSpPr/>
          <p:nvPr/>
        </p:nvCxnSpPr>
        <p:spPr>
          <a:xfrm flipV="1">
            <a:off x="1472184" y="3533241"/>
            <a:ext cx="1298448" cy="1280159"/>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8"/>
          <p:cNvCxnSpPr/>
          <p:nvPr/>
        </p:nvCxnSpPr>
        <p:spPr>
          <a:xfrm>
            <a:off x="2560320" y="3533241"/>
            <a:ext cx="210312" cy="0"/>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9"/>
          <p:cNvCxnSpPr/>
          <p:nvPr/>
        </p:nvCxnSpPr>
        <p:spPr>
          <a:xfrm>
            <a:off x="3648456" y="3533241"/>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0"/>
          <p:cNvCxnSpPr/>
          <p:nvPr/>
        </p:nvCxnSpPr>
        <p:spPr>
          <a:xfrm>
            <a:off x="3648456" y="3533241"/>
            <a:ext cx="210312" cy="1280159"/>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1"/>
          <p:cNvCxnSpPr/>
          <p:nvPr/>
        </p:nvCxnSpPr>
        <p:spPr>
          <a:xfrm>
            <a:off x="4736592" y="3533241"/>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2"/>
          <p:cNvCxnSpPr/>
          <p:nvPr/>
        </p:nvCxnSpPr>
        <p:spPr>
          <a:xfrm>
            <a:off x="4736592" y="3533241"/>
            <a:ext cx="210312" cy="1280159"/>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3"/>
          <p:cNvCxnSpPr/>
          <p:nvPr/>
        </p:nvCxnSpPr>
        <p:spPr>
          <a:xfrm>
            <a:off x="4736592" y="4813400"/>
            <a:ext cx="210312" cy="0"/>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4"/>
          <p:cNvCxnSpPr/>
          <p:nvPr/>
        </p:nvCxnSpPr>
        <p:spPr>
          <a:xfrm>
            <a:off x="5824728" y="3533241"/>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5"/>
          <p:cNvCxnSpPr/>
          <p:nvPr/>
        </p:nvCxnSpPr>
        <p:spPr>
          <a:xfrm flipV="1">
            <a:off x="5824728" y="3533241"/>
            <a:ext cx="210312" cy="1280159"/>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6"/>
          <p:cNvCxnSpPr/>
          <p:nvPr/>
        </p:nvCxnSpPr>
        <p:spPr>
          <a:xfrm>
            <a:off x="6912864" y="3533241"/>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7"/>
          <p:cNvCxnSpPr/>
          <p:nvPr/>
        </p:nvCxnSpPr>
        <p:spPr>
          <a:xfrm>
            <a:off x="8001000" y="3533241"/>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8"/>
          <p:cNvCxnSpPr/>
          <p:nvPr/>
        </p:nvCxnSpPr>
        <p:spPr>
          <a:xfrm>
            <a:off x="9089136" y="3533241"/>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19"/>
          <p:cNvCxnSpPr/>
          <p:nvPr/>
        </p:nvCxnSpPr>
        <p:spPr>
          <a:xfrm>
            <a:off x="10177272" y="3533241"/>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0"/>
          <p:cNvSpPr/>
          <p:nvPr/>
        </p:nvSpPr>
        <p:spPr>
          <a:xfrm>
            <a:off x="594360" y="3182112"/>
            <a:ext cx="877824" cy="702259"/>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1"/>
          <p:cNvSpPr txBox="1"/>
          <p:nvPr/>
        </p:nvSpPr>
        <p:spPr>
          <a:xfrm>
            <a:off x="676656"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A</a:t>
            </a:r>
          </a:p>
        </p:txBody>
      </p:sp>
      <p:sp>
        <p:nvSpPr>
          <p:cNvPr id="24" name="TextBox 22"/>
          <p:cNvSpPr txBox="1"/>
          <p:nvPr/>
        </p:nvSpPr>
        <p:spPr>
          <a:xfrm>
            <a:off x="658368"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2 нед.</a:t>
            </a:r>
          </a:p>
        </p:txBody>
      </p:sp>
      <p:sp>
        <p:nvSpPr>
          <p:cNvPr id="25" name="Rounded Rectangle 23"/>
          <p:cNvSpPr/>
          <p:nvPr/>
        </p:nvSpPr>
        <p:spPr>
          <a:xfrm>
            <a:off x="594360" y="446227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4"/>
          <p:cNvSpPr txBox="1"/>
          <p:nvPr/>
        </p:nvSpPr>
        <p:spPr>
          <a:xfrm>
            <a:off x="676656" y="4542739"/>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B</a:t>
            </a:r>
          </a:p>
        </p:txBody>
      </p:sp>
      <p:sp>
        <p:nvSpPr>
          <p:cNvPr id="27" name="TextBox 25"/>
          <p:cNvSpPr txBox="1"/>
          <p:nvPr/>
        </p:nvSpPr>
        <p:spPr>
          <a:xfrm>
            <a:off x="658368" y="489386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6 нед.</a:t>
            </a:r>
          </a:p>
        </p:txBody>
      </p:sp>
      <p:sp>
        <p:nvSpPr>
          <p:cNvPr id="28" name="Rounded Rectangle 26"/>
          <p:cNvSpPr/>
          <p:nvPr/>
        </p:nvSpPr>
        <p:spPr>
          <a:xfrm>
            <a:off x="1682495" y="3182112"/>
            <a:ext cx="877824" cy="702259"/>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7"/>
          <p:cNvSpPr txBox="1"/>
          <p:nvPr/>
        </p:nvSpPr>
        <p:spPr>
          <a:xfrm>
            <a:off x="1764792"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C</a:t>
            </a:r>
          </a:p>
        </p:txBody>
      </p:sp>
      <p:sp>
        <p:nvSpPr>
          <p:cNvPr id="30" name="TextBox 28"/>
          <p:cNvSpPr txBox="1"/>
          <p:nvPr/>
        </p:nvSpPr>
        <p:spPr>
          <a:xfrm>
            <a:off x="1746504"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3 нед.</a:t>
            </a:r>
          </a:p>
        </p:txBody>
      </p:sp>
      <p:sp>
        <p:nvSpPr>
          <p:cNvPr id="31" name="Rounded Rectangle 29"/>
          <p:cNvSpPr/>
          <p:nvPr/>
        </p:nvSpPr>
        <p:spPr>
          <a:xfrm>
            <a:off x="2770632"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0"/>
          <p:cNvSpPr txBox="1"/>
          <p:nvPr/>
        </p:nvSpPr>
        <p:spPr>
          <a:xfrm>
            <a:off x="2852927"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D</a:t>
            </a:r>
          </a:p>
        </p:txBody>
      </p:sp>
      <p:sp>
        <p:nvSpPr>
          <p:cNvPr id="33" name="TextBox 31"/>
          <p:cNvSpPr txBox="1"/>
          <p:nvPr/>
        </p:nvSpPr>
        <p:spPr>
          <a:xfrm>
            <a:off x="2834639"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1 нед.</a:t>
            </a:r>
          </a:p>
        </p:txBody>
      </p:sp>
      <p:sp>
        <p:nvSpPr>
          <p:cNvPr id="34" name="Rounded Rectangle 32"/>
          <p:cNvSpPr/>
          <p:nvPr/>
        </p:nvSpPr>
        <p:spPr>
          <a:xfrm>
            <a:off x="3858768"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3"/>
          <p:cNvSpPr txBox="1"/>
          <p:nvPr/>
        </p:nvSpPr>
        <p:spPr>
          <a:xfrm>
            <a:off x="3941063"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E</a:t>
            </a:r>
          </a:p>
        </p:txBody>
      </p:sp>
      <p:sp>
        <p:nvSpPr>
          <p:cNvPr id="36" name="TextBox 34"/>
          <p:cNvSpPr txBox="1"/>
          <p:nvPr/>
        </p:nvSpPr>
        <p:spPr>
          <a:xfrm>
            <a:off x="3922776"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5 нед.</a:t>
            </a:r>
          </a:p>
        </p:txBody>
      </p:sp>
      <p:sp>
        <p:nvSpPr>
          <p:cNvPr id="37" name="Rounded Rectangle 35"/>
          <p:cNvSpPr/>
          <p:nvPr/>
        </p:nvSpPr>
        <p:spPr>
          <a:xfrm>
            <a:off x="3858768" y="4462272"/>
            <a:ext cx="877824" cy="702259"/>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6"/>
          <p:cNvSpPr txBox="1"/>
          <p:nvPr/>
        </p:nvSpPr>
        <p:spPr>
          <a:xfrm>
            <a:off x="3941063" y="4542739"/>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F</a:t>
            </a:r>
          </a:p>
        </p:txBody>
      </p:sp>
      <p:sp>
        <p:nvSpPr>
          <p:cNvPr id="39" name="TextBox 37"/>
          <p:cNvSpPr txBox="1"/>
          <p:nvPr/>
        </p:nvSpPr>
        <p:spPr>
          <a:xfrm>
            <a:off x="3922776" y="489386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6 нед.</a:t>
            </a:r>
          </a:p>
        </p:txBody>
      </p:sp>
      <p:sp>
        <p:nvSpPr>
          <p:cNvPr id="40" name="Rounded Rectangle 38"/>
          <p:cNvSpPr/>
          <p:nvPr/>
        </p:nvSpPr>
        <p:spPr>
          <a:xfrm>
            <a:off x="4946904"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39"/>
          <p:cNvSpPr txBox="1"/>
          <p:nvPr/>
        </p:nvSpPr>
        <p:spPr>
          <a:xfrm>
            <a:off x="5029200"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G</a:t>
            </a:r>
          </a:p>
        </p:txBody>
      </p:sp>
      <p:sp>
        <p:nvSpPr>
          <p:cNvPr id="42" name="TextBox 40"/>
          <p:cNvSpPr txBox="1"/>
          <p:nvPr/>
        </p:nvSpPr>
        <p:spPr>
          <a:xfrm>
            <a:off x="5010912"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6 нед.</a:t>
            </a:r>
          </a:p>
        </p:txBody>
      </p:sp>
      <p:sp>
        <p:nvSpPr>
          <p:cNvPr id="43" name="Rounded Rectangle 41"/>
          <p:cNvSpPr/>
          <p:nvPr/>
        </p:nvSpPr>
        <p:spPr>
          <a:xfrm>
            <a:off x="4946904" y="4462272"/>
            <a:ext cx="877824" cy="702259"/>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2"/>
          <p:cNvSpPr txBox="1"/>
          <p:nvPr/>
        </p:nvSpPr>
        <p:spPr>
          <a:xfrm>
            <a:off x="5029200" y="4542739"/>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H</a:t>
            </a:r>
          </a:p>
        </p:txBody>
      </p:sp>
      <p:sp>
        <p:nvSpPr>
          <p:cNvPr id="45" name="TextBox 43"/>
          <p:cNvSpPr txBox="1"/>
          <p:nvPr/>
        </p:nvSpPr>
        <p:spPr>
          <a:xfrm>
            <a:off x="5010912" y="489386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3 нед.</a:t>
            </a:r>
          </a:p>
        </p:txBody>
      </p:sp>
      <p:sp>
        <p:nvSpPr>
          <p:cNvPr id="46" name="Rounded Rectangle 44"/>
          <p:cNvSpPr/>
          <p:nvPr/>
        </p:nvSpPr>
        <p:spPr>
          <a:xfrm>
            <a:off x="6035040"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5"/>
          <p:cNvSpPr txBox="1"/>
          <p:nvPr/>
        </p:nvSpPr>
        <p:spPr>
          <a:xfrm>
            <a:off x="6117336"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I</a:t>
            </a:r>
          </a:p>
        </p:txBody>
      </p:sp>
      <p:sp>
        <p:nvSpPr>
          <p:cNvPr id="48" name="TextBox 46"/>
          <p:cNvSpPr txBox="1"/>
          <p:nvPr/>
        </p:nvSpPr>
        <p:spPr>
          <a:xfrm>
            <a:off x="6099048"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2 нед.</a:t>
            </a:r>
          </a:p>
        </p:txBody>
      </p:sp>
      <p:sp>
        <p:nvSpPr>
          <p:cNvPr id="49" name="Rounded Rectangle 47"/>
          <p:cNvSpPr/>
          <p:nvPr/>
        </p:nvSpPr>
        <p:spPr>
          <a:xfrm>
            <a:off x="7123176"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8"/>
          <p:cNvSpPr txBox="1"/>
          <p:nvPr/>
        </p:nvSpPr>
        <p:spPr>
          <a:xfrm>
            <a:off x="7205472"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J</a:t>
            </a:r>
          </a:p>
        </p:txBody>
      </p:sp>
      <p:sp>
        <p:nvSpPr>
          <p:cNvPr id="51" name="TextBox 49"/>
          <p:cNvSpPr txBox="1"/>
          <p:nvPr/>
        </p:nvSpPr>
        <p:spPr>
          <a:xfrm>
            <a:off x="7187184"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2 нед.</a:t>
            </a:r>
          </a:p>
        </p:txBody>
      </p:sp>
      <p:sp>
        <p:nvSpPr>
          <p:cNvPr id="52" name="Rounded Rectangle 50"/>
          <p:cNvSpPr/>
          <p:nvPr/>
        </p:nvSpPr>
        <p:spPr>
          <a:xfrm>
            <a:off x="8211312"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1"/>
          <p:cNvSpPr txBox="1"/>
          <p:nvPr/>
        </p:nvSpPr>
        <p:spPr>
          <a:xfrm>
            <a:off x="8293608"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M</a:t>
            </a:r>
          </a:p>
        </p:txBody>
      </p:sp>
      <p:sp>
        <p:nvSpPr>
          <p:cNvPr id="54" name="TextBox 52"/>
          <p:cNvSpPr txBox="1"/>
          <p:nvPr/>
        </p:nvSpPr>
        <p:spPr>
          <a:xfrm>
            <a:off x="8275320"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3 нед.</a:t>
            </a:r>
          </a:p>
        </p:txBody>
      </p:sp>
      <p:sp>
        <p:nvSpPr>
          <p:cNvPr id="55" name="Rounded Rectangle 53"/>
          <p:cNvSpPr/>
          <p:nvPr/>
        </p:nvSpPr>
        <p:spPr>
          <a:xfrm>
            <a:off x="9299448"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4"/>
          <p:cNvSpPr txBox="1"/>
          <p:nvPr/>
        </p:nvSpPr>
        <p:spPr>
          <a:xfrm>
            <a:off x="9381744"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K</a:t>
            </a:r>
          </a:p>
        </p:txBody>
      </p:sp>
      <p:sp>
        <p:nvSpPr>
          <p:cNvPr id="57" name="TextBox 55"/>
          <p:cNvSpPr txBox="1"/>
          <p:nvPr/>
        </p:nvSpPr>
        <p:spPr>
          <a:xfrm>
            <a:off x="9363456"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22 нед.</a:t>
            </a:r>
          </a:p>
        </p:txBody>
      </p:sp>
      <p:sp>
        <p:nvSpPr>
          <p:cNvPr id="58" name="Rounded Rectangle 56"/>
          <p:cNvSpPr/>
          <p:nvPr/>
        </p:nvSpPr>
        <p:spPr>
          <a:xfrm>
            <a:off x="10387584"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7"/>
          <p:cNvSpPr txBox="1"/>
          <p:nvPr/>
        </p:nvSpPr>
        <p:spPr>
          <a:xfrm>
            <a:off x="10469880"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L</a:t>
            </a:r>
          </a:p>
        </p:txBody>
      </p:sp>
      <p:sp>
        <p:nvSpPr>
          <p:cNvPr id="60" name="TextBox 58"/>
          <p:cNvSpPr txBox="1"/>
          <p:nvPr/>
        </p:nvSpPr>
        <p:spPr>
          <a:xfrm>
            <a:off x="10451592"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2 нед.</a:t>
            </a:r>
          </a:p>
        </p:txBody>
      </p:sp>
      <p:sp>
        <p:nvSpPr>
          <p:cNvPr id="61" name="TextBox 59"/>
          <p:cNvSpPr txBox="1"/>
          <p:nvPr/>
        </p:nvSpPr>
        <p:spPr>
          <a:xfrm>
            <a:off x="594360" y="5427878"/>
            <a:ext cx="10972800" cy="321868"/>
          </a:xfrm>
          <a:prstGeom prst="rect">
            <a:avLst/>
          </a:prstGeom>
          <a:noFill/>
        </p:spPr>
        <p:txBody>
          <a:bodyPr wrap="square" lIns="13716" tIns="0" rIns="13716" bIns="0">
            <a:spAutoFit/>
          </a:bodyPr>
          <a:lstStyle/>
          <a:p>
            <a:pPr>
              <a:spcBef>
                <a:spcPts val="0"/>
              </a:spcBef>
              <a:spcAft>
                <a:spcPts val="500"/>
              </a:spcAft>
              <a:defRPr sz="2000" b="1">
                <a:solidFill>
                  <a:srgbClr val="FFFFFF"/>
                </a:solidFill>
                <a:latin typeface="Arial"/>
              </a:defRPr>
            </a:pPr>
            <a:r>
              <a:t>Критический путь: B → D → E → G → I → J → M → K → L</a:t>
            </a:r>
          </a:p>
        </p:txBody>
      </p:sp>
      <p:sp>
        <p:nvSpPr>
          <p:cNvPr id="62" name="TextBox 61"/>
          <p:cNvSpPr txBox="1"/>
          <p:nvPr/>
        </p:nvSpPr>
        <p:spPr>
          <a:xfrm>
            <a:off x="640080" y="5897880"/>
            <a:ext cx="10789920" cy="274320"/>
          </a:xfrm>
          <a:prstGeom prst="rect">
            <a:avLst/>
          </a:prstGeom>
          <a:noFill/>
        </p:spPr>
        <p:txBody>
          <a:bodyPr wrap="square" lIns="0" tIns="0" rIns="0">
            <a:spAutoFit/>
          </a:bodyPr>
          <a:lstStyle/>
          <a:p>
            <a:pPr>
              <a:spcAft>
                <a:spcPts val="1000"/>
              </a:spcAft>
              <a:defRPr sz="1200" b="0">
                <a:solidFill>
                  <a:srgbClr val="D6ED89"/>
                </a:solidFill>
                <a:latin typeface="Arial"/>
              </a:defRPr>
            </a:pPr>
            <a:r>
              <a:t>План, не выполненные этапы. Готовность и разрешения — обязательные условия.</a:t>
            </a:r>
          </a:p>
        </p:txBody>
      </p:sp>
      <p:sp>
        <p:nvSpPr>
          <p:cNvPr id="63" name="Rectangle 6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21.10.2026</a:t>
            </a:r>
          </a:p>
        </p:txBody>
      </p:sp>
      <p:sp>
        <p:nvSpPr>
          <p:cNvPr id="65" name="TextBox 6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15/22</a:t>
            </a:r>
          </a:p>
        </p:txBody>
      </p:sp>
      <p:pic>
        <p:nvPicPr>
          <p:cNvPr id="67" name="!!AV_drone" descr="drone_render.png"/>
          <p:cNvPicPr>
            <a:picLocks noChangeAspect="1"/>
          </p:cNvPicPr>
          <p:nvPr/>
        </p:nvPicPr>
        <p:blipFill>
          <a:blip r:embed="rId5"/>
          <a:stretch>
            <a:fillRect/>
          </a:stretch>
        </p:blipFill>
        <p:spPr>
          <a:xfrm>
            <a:off x="10442448" y="722376"/>
            <a:ext cx="1024128" cy="6400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Click="1">
        <p159:morph option="byObject"/>
      </p:transition>
    </mc:Choice>
    <mc:Fallback>
      <p:transition spd="med" advClick="1">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AV_background" descr="background_16.jpg"/>
          <p:cNvPicPr>
            <a:picLocks noChangeAspect="1"/>
          </p:cNvPicPr>
          <p:nvPr/>
        </p:nvPicPr>
        <p:blipFill>
          <a:blip r:embed="rId3"/>
          <a:stretch>
            <a:fillRect/>
          </a:stretch>
        </p:blipFill>
        <p:spPr>
          <a:xfrm>
            <a:off x="0" y="0"/>
            <a:ext cx="12191999" cy="6858000"/>
          </a:xfrm>
          <a:prstGeom prst="rect">
            <a:avLst/>
          </a:prstGeom>
        </p:spPr>
      </p:pic>
      <p:pic>
        <p:nvPicPr>
          <p:cNvPr id="14" name="!!AV_drone" descr="drone_render.png"/>
          <p:cNvPicPr>
            <a:picLocks noChangeAspect="1"/>
          </p:cNvPicPr>
          <p:nvPr/>
        </p:nvPicPr>
        <p:blipFill>
          <a:blip r:embed="rId5"/>
          <a:stretch>
            <a:fillRect/>
          </a:stretch>
        </p:blipFill>
        <p:spPr>
          <a:xfrm>
            <a:off x="10442448" y="722376"/>
            <a:ext cx="1024128" cy="640080"/>
          </a:xfrm>
          <a:prstGeom prst="rect">
            <a:avLst/>
          </a:prstGeom>
        </p:spPr>
      </p:pic>
      <p:sp>
        <p:nvSpPr>
          <p:cNvPr id="15" name="Rectangle 14"/>
          <p:cNvSpPr/>
          <p:nvPr/>
        </p:nvSpPr>
        <p:spPr>
          <a:xfrm>
            <a:off x="320040" y="256032"/>
            <a:ext cx="11567160" cy="6117336"/>
          </a:xfrm>
          <a:prstGeom prst="rect">
            <a:avLst/>
          </a:prstGeom>
          <a:solidFill>
            <a:srgbClr val="0A1B19">
              <a:alpha val="9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393192"/>
            <a:ext cx="10789920" cy="320040"/>
          </a:xfrm>
          <a:prstGeom prst="rect">
            <a:avLst/>
          </a:prstGeom>
          <a:noFill/>
        </p:spPr>
        <p:txBody>
          <a:bodyPr wrap="square" lIns="0" rIns="0" tIns="0">
            <a:spAutoFit/>
          </a:bodyPr>
          <a:lstStyle/>
          <a:p>
            <a:pPr>
              <a:spcAft>
                <a:spcPts val="1000"/>
              </a:spcAft>
              <a:defRPr sz="1300" b="1">
                <a:solidFill>
                  <a:srgbClr val="D6ED89"/>
                </a:solidFill>
                <a:latin typeface="Arial"/>
              </a:defRPr>
            </a:pPr>
            <a:r>
              <a:t>АГРОВЕКТОР / 16 / МАТРИЦА ОТВЕТСТВЕННОСТИ / RACI</a:t>
            </a:r>
          </a:p>
        </p:txBody>
      </p:sp>
      <p:sp>
        <p:nvSpPr>
          <p:cNvPr id="17" name="TextBox 16"/>
          <p:cNvSpPr txBox="1"/>
          <p:nvPr/>
        </p:nvSpPr>
        <p:spPr>
          <a:xfrm>
            <a:off x="566928" y="914400"/>
            <a:ext cx="10972800" cy="548640"/>
          </a:xfrm>
          <a:prstGeom prst="rect">
            <a:avLst/>
          </a:prstGeom>
          <a:noFill/>
        </p:spPr>
        <p:txBody>
          <a:bodyPr wrap="square" lIns="0" rIns="0" tIns="0">
            <a:spAutoFit/>
          </a:bodyPr>
          <a:lstStyle/>
          <a:p>
            <a:pPr>
              <a:spcAft>
                <a:spcPts val="1000"/>
              </a:spcAft>
              <a:defRPr sz="2700" b="1">
                <a:solidFill>
                  <a:srgbClr val="FFFFFF"/>
                </a:solidFill>
                <a:latin typeface="Arial"/>
              </a:defRPr>
            </a:pPr>
            <a:r>
              <a:t>Кто выполняет, утверждает, консультирует и получает информацию</a:t>
            </a:r>
          </a:p>
        </p:txBody>
      </p:sp>
      <p:sp>
        <p:nvSpPr>
          <p:cNvPr id="18" name="TextBox 17"/>
          <p:cNvSpPr txBox="1"/>
          <p:nvPr/>
        </p:nvSpPr>
        <p:spPr>
          <a:xfrm>
            <a:off x="566928" y="6519672"/>
            <a:ext cx="10698480" cy="201168"/>
          </a:xfrm>
          <a:prstGeom prst="rect">
            <a:avLst/>
          </a:prstGeom>
          <a:noFill/>
        </p:spPr>
        <p:txBody>
          <a:bodyPr wrap="square" lIns="0" rIns="0" tIns="0">
            <a:spAutoFit/>
          </a:bodyPr>
          <a:lstStyle/>
          <a:p>
            <a:pPr>
              <a:spcAft>
                <a:spcPts val="1000"/>
              </a:spcAft>
              <a:defRPr sz="900" b="0">
                <a:solidFill>
                  <a:srgbClr val="CCDACF"/>
                </a:solidFill>
                <a:latin typeface="Arial"/>
              </a:defRPr>
            </a:pPr>
            <a:r>
              <a:t>Проектные гипотезы и расчеты; не подтвержденный бизнес. Референс: Практика 08.10.26. / Редакция 21.10.2026</a:t>
            </a:r>
          </a:p>
        </p:txBody>
      </p:sp>
      <p:sp>
        <p:nvSpPr>
          <p:cNvPr id="19" name="TextBox 18"/>
          <p:cNvSpPr txBox="1"/>
          <p:nvPr/>
        </p:nvSpPr>
        <p:spPr>
          <a:xfrm>
            <a:off x="11082528" y="6501384"/>
            <a:ext cx="640080" cy="219456"/>
          </a:xfrm>
          <a:prstGeom prst="rect">
            <a:avLst/>
          </a:prstGeom>
          <a:noFill/>
        </p:spPr>
        <p:txBody>
          <a:bodyPr wrap="square" lIns="0" rIns="0" tIns="0">
            <a:spAutoFit/>
          </a:bodyPr>
          <a:lstStyle/>
          <a:p>
            <a:pPr>
              <a:spcAft>
                <a:spcPts val="1000"/>
              </a:spcAft>
              <a:defRPr sz="1000" b="1">
                <a:solidFill>
                  <a:srgbClr val="D6ED89"/>
                </a:solidFill>
                <a:latin typeface="Arial"/>
              </a:defRPr>
            </a:pPr>
            <a:r>
              <a:t>16/22</a:t>
            </a:r>
          </a:p>
        </p:txBody>
      </p:sp>
      <p:graphicFrame>
        <p:nvGraphicFramePr>
          <p:cNvPr id="20" name="Table 19"/>
          <p:cNvGraphicFramePr>
            <a:graphicFrameLocks noGrp="1"/>
          </p:cNvGraphicFramePr>
          <p:nvPr/>
        </p:nvGraphicFramePr>
        <p:xfrm>
          <a:off x="548640" y="1773936"/>
          <a:ext cx="11055096" cy="3790175"/>
        </p:xfrm>
        <a:graphic>
          <a:graphicData uri="http://schemas.openxmlformats.org/drawingml/2006/table">
            <a:tbl>
              <a:tblPr firstRow="1" bandRow="1">
                <a:tableStyleId>{5C22544A-7EE6-4342-B048-85BDC9FD1C3A}</a:tableStyleId>
              </a:tblPr>
              <a:tblGrid>
                <a:gridCol w="2907792"/>
                <a:gridCol w="905256"/>
                <a:gridCol w="905256"/>
                <a:gridCol w="905256"/>
                <a:gridCol w="905256"/>
                <a:gridCol w="905256"/>
                <a:gridCol w="905256"/>
                <a:gridCol w="905256"/>
                <a:gridCol w="905256"/>
                <a:gridCol w="905256"/>
              </a:tblGrid>
              <a:tr h="402336">
                <a:tc>
                  <a:txBody>
                    <a:bodyPr/>
                    <a:lstStyle/>
                    <a:p>
                      <a:pPr>
                        <a:spcBef>
                          <a:spcPts val="0"/>
                        </a:spcBef>
                        <a:spcAft>
                          <a:spcPts val="0"/>
                        </a:spcAft>
                        <a:defRPr sz="1000" b="1">
                          <a:solidFill>
                            <a:srgbClr val="E3F4B0"/>
                          </a:solidFill>
                          <a:latin typeface="Arial"/>
                        </a:defRPr>
                      </a:pPr>
                      <a:r>
                        <a:t>Работа</a:t>
                      </a:r>
                    </a:p>
                  </a:txBody>
                  <a:tcPr marL="100584" marR="82296" marT="13716" marB="13716">
                    <a:solidFill>
                      <a:srgbClr val="264E3B"/>
                    </a:solidFill>
                  </a:tcPr>
                </a:tc>
                <a:tc>
                  <a:txBody>
                    <a:bodyPr/>
                    <a:lstStyle/>
                    <a:p>
                      <a:pPr>
                        <a:spcBef>
                          <a:spcPts val="0"/>
                        </a:spcBef>
                        <a:spcAft>
                          <a:spcPts val="0"/>
                        </a:spcAft>
                        <a:defRPr sz="1000" b="1">
                          <a:solidFill>
                            <a:srgbClr val="E3F4B0"/>
                          </a:solidFill>
                          <a:latin typeface="Arial"/>
                        </a:defRPr>
                      </a:pPr>
                      <a:r>
                        <a:t>Директор</a:t>
                      </a:r>
                    </a:p>
                  </a:txBody>
                  <a:tcPr marL="100584" marR="82296" marT="13716" marB="13716">
                    <a:solidFill>
                      <a:srgbClr val="264E3B"/>
                    </a:solidFill>
                  </a:tcPr>
                </a:tc>
                <a:tc>
                  <a:txBody>
                    <a:bodyPr/>
                    <a:lstStyle/>
                    <a:p>
                      <a:pPr>
                        <a:spcBef>
                          <a:spcPts val="0"/>
                        </a:spcBef>
                        <a:spcAft>
                          <a:spcPts val="0"/>
                        </a:spcAft>
                        <a:defRPr sz="1000" b="1">
                          <a:solidFill>
                            <a:srgbClr val="E3F4B0"/>
                          </a:solidFill>
                          <a:latin typeface="Arial"/>
                        </a:defRPr>
                      </a:pPr>
                      <a:r>
                        <a:t>Инвестор</a:t>
                      </a:r>
                    </a:p>
                  </a:txBody>
                  <a:tcPr marL="100584" marR="82296" marT="13716" marB="13716">
                    <a:solidFill>
                      <a:srgbClr val="264E3B"/>
                    </a:solidFill>
                  </a:tcPr>
                </a:tc>
                <a:tc>
                  <a:txBody>
                    <a:bodyPr/>
                    <a:lstStyle/>
                    <a:p>
                      <a:pPr>
                        <a:spcBef>
                          <a:spcPts val="0"/>
                        </a:spcBef>
                        <a:spcAft>
                          <a:spcPts val="0"/>
                        </a:spcAft>
                        <a:defRPr sz="1000" b="1">
                          <a:solidFill>
                            <a:srgbClr val="E3F4B0"/>
                          </a:solidFill>
                          <a:latin typeface="Arial"/>
                        </a:defRPr>
                      </a:pPr>
                      <a:r>
                        <a:t>Юрист</a:t>
                      </a:r>
                    </a:p>
                  </a:txBody>
                  <a:tcPr marL="100584" marR="82296" marT="13716" marB="13716">
                    <a:solidFill>
                      <a:srgbClr val="264E3B"/>
                    </a:solidFill>
                  </a:tcPr>
                </a:tc>
                <a:tc>
                  <a:txBody>
                    <a:bodyPr/>
                    <a:lstStyle/>
                    <a:p>
                      <a:pPr>
                        <a:spcBef>
                          <a:spcPts val="0"/>
                        </a:spcBef>
                        <a:spcAft>
                          <a:spcPts val="0"/>
                        </a:spcAft>
                        <a:defRPr sz="1000" b="1">
                          <a:solidFill>
                            <a:srgbClr val="E3F4B0"/>
                          </a:solidFill>
                          <a:latin typeface="Arial"/>
                        </a:defRPr>
                      </a:pPr>
                      <a:r>
                        <a:t>Бухгалтер</a:t>
                      </a:r>
                    </a:p>
                  </a:txBody>
                  <a:tcPr marL="100584" marR="82296" marT="13716" marB="13716">
                    <a:solidFill>
                      <a:srgbClr val="264E3B"/>
                    </a:solidFill>
                  </a:tcPr>
                </a:tc>
                <a:tc>
                  <a:txBody>
                    <a:bodyPr/>
                    <a:lstStyle/>
                    <a:p>
                      <a:pPr>
                        <a:spcBef>
                          <a:spcPts val="0"/>
                        </a:spcBef>
                        <a:spcAft>
                          <a:spcPts val="0"/>
                        </a:spcAft>
                        <a:defRPr sz="1000" b="1">
                          <a:solidFill>
                            <a:srgbClr val="E3F4B0"/>
                          </a:solidFill>
                          <a:latin typeface="Arial"/>
                        </a:defRPr>
                      </a:pPr>
                      <a:r>
                        <a:t>Агроном</a:t>
                      </a:r>
                    </a:p>
                  </a:txBody>
                  <a:tcPr marL="100584" marR="82296" marT="13716" marB="13716">
                    <a:solidFill>
                      <a:srgbClr val="264E3B"/>
                    </a:solidFill>
                  </a:tcPr>
                </a:tc>
                <a:tc>
                  <a:txBody>
                    <a:bodyPr/>
                    <a:lstStyle/>
                    <a:p>
                      <a:pPr>
                        <a:spcBef>
                          <a:spcPts val="0"/>
                        </a:spcBef>
                        <a:spcAft>
                          <a:spcPts val="0"/>
                        </a:spcAft>
                        <a:defRPr sz="1000" b="1">
                          <a:solidFill>
                            <a:srgbClr val="E3F4B0"/>
                          </a:solidFill>
                          <a:latin typeface="Arial"/>
                        </a:defRPr>
                      </a:pPr>
                      <a:r>
                        <a:t>Опер. рук.</a:t>
                      </a:r>
                    </a:p>
                  </a:txBody>
                  <a:tcPr marL="100584" marR="82296" marT="13716" marB="13716">
                    <a:solidFill>
                      <a:srgbClr val="264E3B"/>
                    </a:solidFill>
                  </a:tcPr>
                </a:tc>
                <a:tc>
                  <a:txBody>
                    <a:bodyPr/>
                    <a:lstStyle/>
                    <a:p>
                      <a:pPr>
                        <a:spcBef>
                          <a:spcPts val="0"/>
                        </a:spcBef>
                        <a:spcAft>
                          <a:spcPts val="0"/>
                        </a:spcAft>
                        <a:defRPr sz="1000" b="1">
                          <a:solidFill>
                            <a:srgbClr val="E3F4B0"/>
                          </a:solidFill>
                          <a:latin typeface="Arial"/>
                        </a:defRPr>
                      </a:pPr>
                      <a:r>
                        <a:t>Оператор 2</a:t>
                      </a:r>
                    </a:p>
                  </a:txBody>
                  <a:tcPr marL="100584" marR="82296" marT="13716" marB="13716">
                    <a:solidFill>
                      <a:srgbClr val="264E3B"/>
                    </a:solidFill>
                  </a:tcPr>
                </a:tc>
                <a:tc>
                  <a:txBody>
                    <a:bodyPr/>
                    <a:lstStyle/>
                    <a:p>
                      <a:pPr>
                        <a:spcBef>
                          <a:spcPts val="0"/>
                        </a:spcBef>
                        <a:spcAft>
                          <a:spcPts val="0"/>
                        </a:spcAft>
                        <a:defRPr sz="1000" b="1">
                          <a:solidFill>
                            <a:srgbClr val="E3F4B0"/>
                          </a:solidFill>
                          <a:latin typeface="Arial"/>
                        </a:defRPr>
                      </a:pPr>
                      <a:r>
                        <a:t>Учебный партнер</a:t>
                      </a:r>
                    </a:p>
                  </a:txBody>
                  <a:tcPr marL="100584" marR="82296" marT="13716" marB="13716">
                    <a:solidFill>
                      <a:srgbClr val="264E3B"/>
                    </a:solidFill>
                  </a:tcPr>
                </a:tc>
                <a:tc>
                  <a:txBody>
                    <a:bodyPr/>
                    <a:lstStyle/>
                    <a:p>
                      <a:pPr>
                        <a:spcBef>
                          <a:spcPts val="0"/>
                        </a:spcBef>
                        <a:spcAft>
                          <a:spcPts val="0"/>
                        </a:spcAft>
                        <a:defRPr sz="1000" b="1">
                          <a:solidFill>
                            <a:srgbClr val="E3F4B0"/>
                          </a:solidFill>
                          <a:latin typeface="Arial"/>
                        </a:defRPr>
                      </a:pPr>
                      <a:r>
                        <a:t>Клиент</a:t>
                      </a:r>
                    </a:p>
                  </a:txBody>
                  <a:tcPr marL="100584" marR="82296" marT="13716" marB="13716">
                    <a:solidFill>
                      <a:srgbClr val="264E3B"/>
                    </a:solidFill>
                  </a:tcPr>
                </a:tc>
              </a:tr>
              <a:tr h="260603">
                <a:tc>
                  <a:txBody>
                    <a:bodyPr/>
                    <a:lstStyle/>
                    <a:p>
                      <a:pPr>
                        <a:spcBef>
                          <a:spcPts val="0"/>
                        </a:spcBef>
                        <a:spcAft>
                          <a:spcPts val="0"/>
                        </a:spcAft>
                        <a:defRPr sz="1000" b="0">
                          <a:solidFill>
                            <a:srgbClr val="FFFFFF"/>
                          </a:solidFill>
                          <a:latin typeface="Arial"/>
                        </a:defRPr>
                      </a:pPr>
                      <a:r>
                        <a:t>A Правовой маршрут</a:t>
                      </a:r>
                    </a:p>
                  </a:txBody>
                  <a:tcPr marL="100584" marR="82296" marT="13716" marB="13716">
                    <a:solidFill>
                      <a:srgbClr val="102620"/>
                    </a:solidFill>
                  </a:tcPr>
                </a:tc>
                <a:tc>
                  <a:txBody>
                    <a:bodyPr/>
                    <a:lstStyle/>
                    <a:p>
                      <a:pPr>
                        <a:spcBef>
                          <a:spcPts val="0"/>
                        </a:spcBef>
                        <a:spcAft>
                          <a:spcPts val="0"/>
                        </a:spcAft>
                        <a:defRPr sz="1200" b="1">
                          <a:solidFill>
                            <a:srgbClr val="E5B26A"/>
                          </a:solidFill>
                          <a:latin typeface="Arial"/>
                        </a:defRPr>
                      </a:pPr>
                      <a:r>
                        <a:t>A</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I</a:t>
                      </a:r>
                    </a:p>
                  </a:txBody>
                  <a:tcPr marL="100584" marR="82296" marT="13716" marB="13716">
                    <a:solidFill>
                      <a:srgbClr val="102620"/>
                    </a:solidFill>
                  </a:tcPr>
                </a:tc>
                <a:tc>
                  <a:txBody>
                    <a:bodyPr/>
                    <a:lstStyle/>
                    <a:p>
                      <a:pPr>
                        <a:spcBef>
                          <a:spcPts val="0"/>
                        </a:spcBef>
                        <a:spcAft>
                          <a:spcPts val="0"/>
                        </a:spcAft>
                        <a:defRPr sz="1200" b="1">
                          <a:solidFill>
                            <a:srgbClr val="D6ED89"/>
                          </a:solidFill>
                          <a:latin typeface="Arial"/>
                        </a:defRPr>
                      </a:pPr>
                      <a:r>
                        <a:t>R</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A7CAB9"/>
                          </a:solidFill>
                          <a:latin typeface="Arial"/>
                        </a:defRPr>
                      </a:pPr>
                      <a:r>
                        <a:t>C</a:t>
                      </a:r>
                    </a:p>
                  </a:txBody>
                  <a:tcPr marL="100584" marR="82296" marT="13716" marB="13716">
                    <a:solidFill>
                      <a:srgbClr val="102620"/>
                    </a:solidFill>
                  </a:tcPr>
                </a:tc>
                <a:tc>
                  <a:txBody>
                    <a:bodyPr/>
                    <a:lstStyle/>
                    <a:p>
                      <a:pPr>
                        <a:spcBef>
                          <a:spcPts val="0"/>
                        </a:spcBef>
                        <a:spcAft>
                          <a:spcPts val="0"/>
                        </a:spcAft>
                        <a:defRPr sz="1200" b="0">
                          <a:solidFill>
                            <a:srgbClr val="A7CAB9"/>
                          </a:solidFill>
                          <a:latin typeface="Arial"/>
                        </a:defRPr>
                      </a:pPr>
                      <a:r>
                        <a:t>C</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r>
              <a:tr h="260603">
                <a:tc>
                  <a:txBody>
                    <a:bodyPr/>
                    <a:lstStyle/>
                    <a:p>
                      <a:pPr>
                        <a:spcBef>
                          <a:spcPts val="0"/>
                        </a:spcBef>
                        <a:spcAft>
                          <a:spcPts val="0"/>
                        </a:spcAft>
                        <a:defRPr sz="1000" b="0">
                          <a:solidFill>
                            <a:srgbClr val="FFFFFF"/>
                          </a:solidFill>
                          <a:latin typeface="Arial"/>
                        </a:defRPr>
                      </a:pPr>
                      <a:r>
                        <a:t>B Интервью и заявки</a:t>
                      </a:r>
                    </a:p>
                  </a:txBody>
                  <a:tcPr marL="100584" marR="82296" marT="13716" marB="13716">
                    <a:solidFill>
                      <a:srgbClr val="19372C"/>
                    </a:solidFill>
                  </a:tcPr>
                </a:tc>
                <a:tc>
                  <a:txBody>
                    <a:bodyPr/>
                    <a:lstStyle/>
                    <a:p>
                      <a:pPr>
                        <a:spcBef>
                          <a:spcPts val="0"/>
                        </a:spcBef>
                        <a:spcAft>
                          <a:spcPts val="0"/>
                        </a:spcAft>
                        <a:defRPr sz="1200" b="1">
                          <a:solidFill>
                            <a:srgbClr val="E5B26A"/>
                          </a:solidFill>
                          <a:latin typeface="Arial"/>
                        </a:defRPr>
                      </a:pPr>
                      <a:r>
                        <a:t>R/A</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I</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c>
                  <a:txBody>
                    <a:bodyPr/>
                    <a:lstStyle/>
                    <a:p>
                      <a:pPr>
                        <a:spcBef>
                          <a:spcPts val="0"/>
                        </a:spcBef>
                        <a:spcAft>
                          <a:spcPts val="0"/>
                        </a:spcAft>
                        <a:defRPr sz="1200" b="0">
                          <a:solidFill>
                            <a:srgbClr val="A7CAB9"/>
                          </a:solidFill>
                          <a:latin typeface="Arial"/>
                        </a:defRPr>
                      </a:pPr>
                      <a:r>
                        <a:t>C</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r>
              <a:tr h="260603">
                <a:tc>
                  <a:txBody>
                    <a:bodyPr/>
                    <a:lstStyle/>
                    <a:p>
                      <a:pPr>
                        <a:spcBef>
                          <a:spcPts val="0"/>
                        </a:spcBef>
                        <a:spcAft>
                          <a:spcPts val="0"/>
                        </a:spcAft>
                        <a:defRPr sz="1000" b="0">
                          <a:solidFill>
                            <a:srgbClr val="FFFFFF"/>
                          </a:solidFill>
                          <a:latin typeface="Arial"/>
                        </a:defRPr>
                      </a:pPr>
                      <a:r>
                        <a:t>C ООО и договоры</a:t>
                      </a:r>
                    </a:p>
                  </a:txBody>
                  <a:tcPr marL="100584" marR="82296" marT="13716" marB="13716">
                    <a:solidFill>
                      <a:srgbClr val="102620"/>
                    </a:solidFill>
                  </a:tcPr>
                </a:tc>
                <a:tc>
                  <a:txBody>
                    <a:bodyPr/>
                    <a:lstStyle/>
                    <a:p>
                      <a:pPr>
                        <a:spcBef>
                          <a:spcPts val="0"/>
                        </a:spcBef>
                        <a:spcAft>
                          <a:spcPts val="0"/>
                        </a:spcAft>
                        <a:defRPr sz="1200" b="1">
                          <a:solidFill>
                            <a:srgbClr val="E5B26A"/>
                          </a:solidFill>
                          <a:latin typeface="Arial"/>
                        </a:defRPr>
                      </a:pPr>
                      <a:r>
                        <a:t>A</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I</a:t>
                      </a:r>
                    </a:p>
                  </a:txBody>
                  <a:tcPr marL="100584" marR="82296" marT="13716" marB="13716">
                    <a:solidFill>
                      <a:srgbClr val="102620"/>
                    </a:solidFill>
                  </a:tcPr>
                </a:tc>
                <a:tc>
                  <a:txBody>
                    <a:bodyPr/>
                    <a:lstStyle/>
                    <a:p>
                      <a:pPr>
                        <a:spcBef>
                          <a:spcPts val="0"/>
                        </a:spcBef>
                        <a:spcAft>
                          <a:spcPts val="0"/>
                        </a:spcAft>
                        <a:defRPr sz="1200" b="1">
                          <a:solidFill>
                            <a:srgbClr val="D6ED89"/>
                          </a:solidFill>
                          <a:latin typeface="Arial"/>
                        </a:defRPr>
                      </a:pPr>
                      <a:r>
                        <a:t>R</a:t>
                      </a:r>
                    </a:p>
                  </a:txBody>
                  <a:tcPr marL="100584" marR="82296" marT="13716" marB="13716">
                    <a:solidFill>
                      <a:srgbClr val="102620"/>
                    </a:solidFill>
                  </a:tcPr>
                </a:tc>
                <a:tc>
                  <a:txBody>
                    <a:bodyPr/>
                    <a:lstStyle/>
                    <a:p>
                      <a:pPr>
                        <a:spcBef>
                          <a:spcPts val="0"/>
                        </a:spcBef>
                        <a:spcAft>
                          <a:spcPts val="0"/>
                        </a:spcAft>
                        <a:defRPr sz="1200" b="0">
                          <a:solidFill>
                            <a:srgbClr val="A7CAB9"/>
                          </a:solidFill>
                          <a:latin typeface="Arial"/>
                        </a:defRPr>
                      </a:pPr>
                      <a:r>
                        <a:t>C</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r>
              <a:tr h="260603">
                <a:tc>
                  <a:txBody>
                    <a:bodyPr/>
                    <a:lstStyle/>
                    <a:p>
                      <a:pPr>
                        <a:spcBef>
                          <a:spcPts val="0"/>
                        </a:spcBef>
                        <a:spcAft>
                          <a:spcPts val="0"/>
                        </a:spcAft>
                        <a:defRPr sz="1000" b="0">
                          <a:solidFill>
                            <a:srgbClr val="FFFFFF"/>
                          </a:solidFill>
                          <a:latin typeface="Arial"/>
                        </a:defRPr>
                      </a:pPr>
                      <a:r>
                        <a:t>D Решение / транши</a:t>
                      </a:r>
                    </a:p>
                  </a:txBody>
                  <a:tcPr marL="100584" marR="82296" marT="13716" marB="13716">
                    <a:solidFill>
                      <a:srgbClr val="19372C"/>
                    </a:solidFill>
                  </a:tcPr>
                </a:tc>
                <a:tc>
                  <a:txBody>
                    <a:bodyPr/>
                    <a:lstStyle/>
                    <a:p>
                      <a:pPr>
                        <a:spcBef>
                          <a:spcPts val="0"/>
                        </a:spcBef>
                        <a:spcAft>
                          <a:spcPts val="0"/>
                        </a:spcAft>
                        <a:defRPr sz="1200" b="1">
                          <a:solidFill>
                            <a:srgbClr val="D6ED89"/>
                          </a:solidFill>
                          <a:latin typeface="Arial"/>
                        </a:defRPr>
                      </a:pPr>
                      <a:r>
                        <a:t>R</a:t>
                      </a:r>
                    </a:p>
                  </a:txBody>
                  <a:tcPr marL="100584" marR="82296" marT="13716" marB="13716">
                    <a:solidFill>
                      <a:srgbClr val="19372C"/>
                    </a:solidFill>
                  </a:tcPr>
                </a:tc>
                <a:tc>
                  <a:txBody>
                    <a:bodyPr/>
                    <a:lstStyle/>
                    <a:p>
                      <a:pPr>
                        <a:spcBef>
                          <a:spcPts val="0"/>
                        </a:spcBef>
                        <a:spcAft>
                          <a:spcPts val="0"/>
                        </a:spcAft>
                        <a:defRPr sz="1200" b="1">
                          <a:solidFill>
                            <a:srgbClr val="E5B26A"/>
                          </a:solidFill>
                          <a:latin typeface="Arial"/>
                        </a:defRPr>
                      </a:pPr>
                      <a:r>
                        <a:t>A</a:t>
                      </a:r>
                    </a:p>
                  </a:txBody>
                  <a:tcPr marL="100584" marR="82296" marT="13716" marB="13716">
                    <a:solidFill>
                      <a:srgbClr val="19372C"/>
                    </a:solidFill>
                  </a:tcPr>
                </a:tc>
                <a:tc>
                  <a:txBody>
                    <a:bodyPr/>
                    <a:lstStyle/>
                    <a:p>
                      <a:pPr>
                        <a:spcBef>
                          <a:spcPts val="0"/>
                        </a:spcBef>
                        <a:spcAft>
                          <a:spcPts val="0"/>
                        </a:spcAft>
                        <a:defRPr sz="1200" b="0">
                          <a:solidFill>
                            <a:srgbClr val="A7CAB9"/>
                          </a:solidFill>
                          <a:latin typeface="Arial"/>
                        </a:defRPr>
                      </a:pPr>
                      <a:r>
                        <a:t>C</a:t>
                      </a:r>
                    </a:p>
                  </a:txBody>
                  <a:tcPr marL="100584" marR="82296" marT="13716" marB="13716">
                    <a:solidFill>
                      <a:srgbClr val="19372C"/>
                    </a:solidFill>
                  </a:tcPr>
                </a:tc>
                <a:tc>
                  <a:txBody>
                    <a:bodyPr/>
                    <a:lstStyle/>
                    <a:p>
                      <a:pPr>
                        <a:spcBef>
                          <a:spcPts val="0"/>
                        </a:spcBef>
                        <a:spcAft>
                          <a:spcPts val="0"/>
                        </a:spcAft>
                        <a:defRPr sz="1200" b="0">
                          <a:solidFill>
                            <a:srgbClr val="A7CAB9"/>
                          </a:solidFill>
                          <a:latin typeface="Arial"/>
                        </a:defRPr>
                      </a:pPr>
                      <a:r>
                        <a:t>C</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I</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I</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r>
              <a:tr h="260603">
                <a:tc>
                  <a:txBody>
                    <a:bodyPr/>
                    <a:lstStyle/>
                    <a:p>
                      <a:pPr>
                        <a:spcBef>
                          <a:spcPts val="0"/>
                        </a:spcBef>
                        <a:spcAft>
                          <a:spcPts val="0"/>
                        </a:spcAft>
                        <a:defRPr sz="1000" b="0">
                          <a:solidFill>
                            <a:srgbClr val="FFFFFF"/>
                          </a:solidFill>
                          <a:latin typeface="Arial"/>
                        </a:defRPr>
                      </a:pPr>
                      <a:r>
                        <a:t>E Приемка техники</a:t>
                      </a:r>
                    </a:p>
                  </a:txBody>
                  <a:tcPr marL="100584" marR="82296" marT="13716" marB="13716">
                    <a:solidFill>
                      <a:srgbClr val="102620"/>
                    </a:solidFill>
                  </a:tcPr>
                </a:tc>
                <a:tc>
                  <a:txBody>
                    <a:bodyPr/>
                    <a:lstStyle/>
                    <a:p>
                      <a:pPr>
                        <a:spcBef>
                          <a:spcPts val="0"/>
                        </a:spcBef>
                        <a:spcAft>
                          <a:spcPts val="0"/>
                        </a:spcAft>
                        <a:defRPr sz="1200" b="1">
                          <a:solidFill>
                            <a:srgbClr val="E5B26A"/>
                          </a:solidFill>
                          <a:latin typeface="Arial"/>
                        </a:defRPr>
                      </a:pPr>
                      <a:r>
                        <a:t>A</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I</a:t>
                      </a:r>
                    </a:p>
                  </a:txBody>
                  <a:tcPr marL="100584" marR="82296" marT="13716" marB="13716">
                    <a:solidFill>
                      <a:srgbClr val="102620"/>
                    </a:solidFill>
                  </a:tcPr>
                </a:tc>
                <a:tc>
                  <a:txBody>
                    <a:bodyPr/>
                    <a:lstStyle/>
                    <a:p>
                      <a:pPr>
                        <a:spcBef>
                          <a:spcPts val="0"/>
                        </a:spcBef>
                        <a:spcAft>
                          <a:spcPts val="0"/>
                        </a:spcAft>
                        <a:defRPr sz="1200" b="0">
                          <a:solidFill>
                            <a:srgbClr val="A7CAB9"/>
                          </a:solidFill>
                          <a:latin typeface="Arial"/>
                        </a:defRPr>
                      </a:pPr>
                      <a:r>
                        <a:t>C</a:t>
                      </a:r>
                    </a:p>
                  </a:txBody>
                  <a:tcPr marL="100584" marR="82296" marT="13716" marB="13716">
                    <a:solidFill>
                      <a:srgbClr val="102620"/>
                    </a:solidFill>
                  </a:tcPr>
                </a:tc>
                <a:tc>
                  <a:txBody>
                    <a:bodyPr/>
                    <a:lstStyle/>
                    <a:p>
                      <a:pPr>
                        <a:spcBef>
                          <a:spcPts val="0"/>
                        </a:spcBef>
                        <a:spcAft>
                          <a:spcPts val="0"/>
                        </a:spcAft>
                        <a:defRPr sz="1200" b="1">
                          <a:solidFill>
                            <a:srgbClr val="D6ED89"/>
                          </a:solidFill>
                          <a:latin typeface="Arial"/>
                        </a:defRPr>
                      </a:pPr>
                      <a:r>
                        <a:t>R</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r>
              <a:tr h="260603">
                <a:tc>
                  <a:txBody>
                    <a:bodyPr/>
                    <a:lstStyle/>
                    <a:p>
                      <a:pPr>
                        <a:spcBef>
                          <a:spcPts val="0"/>
                        </a:spcBef>
                        <a:spcAft>
                          <a:spcPts val="0"/>
                        </a:spcAft>
                        <a:defRPr sz="1000" b="0">
                          <a:solidFill>
                            <a:srgbClr val="FFFFFF"/>
                          </a:solidFill>
                          <a:latin typeface="Arial"/>
                        </a:defRPr>
                      </a:pPr>
                      <a:r>
                        <a:t>F Подготовка команды</a:t>
                      </a:r>
                    </a:p>
                  </a:txBody>
                  <a:tcPr marL="100584" marR="82296" marT="13716" marB="13716">
                    <a:solidFill>
                      <a:srgbClr val="19372C"/>
                    </a:solidFill>
                  </a:tcPr>
                </a:tc>
                <a:tc>
                  <a:txBody>
                    <a:bodyPr/>
                    <a:lstStyle/>
                    <a:p>
                      <a:pPr>
                        <a:spcBef>
                          <a:spcPts val="0"/>
                        </a:spcBef>
                        <a:spcAft>
                          <a:spcPts val="0"/>
                        </a:spcAft>
                        <a:defRPr sz="1200" b="1">
                          <a:solidFill>
                            <a:srgbClr val="E5B26A"/>
                          </a:solidFill>
                          <a:latin typeface="Arial"/>
                        </a:defRPr>
                      </a:pPr>
                      <a:r>
                        <a:t>A</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I</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c>
                  <a:txBody>
                    <a:bodyPr/>
                    <a:lstStyle/>
                    <a:p>
                      <a:pPr>
                        <a:spcBef>
                          <a:spcPts val="0"/>
                        </a:spcBef>
                        <a:spcAft>
                          <a:spcPts val="0"/>
                        </a:spcAft>
                        <a:defRPr sz="1200" b="0">
                          <a:solidFill>
                            <a:srgbClr val="A7CAB9"/>
                          </a:solidFill>
                          <a:latin typeface="Arial"/>
                        </a:defRPr>
                      </a:pPr>
                      <a:r>
                        <a:t>C</a:t>
                      </a:r>
                    </a:p>
                  </a:txBody>
                  <a:tcPr marL="100584" marR="82296" marT="13716" marB="13716">
                    <a:solidFill>
                      <a:srgbClr val="19372C"/>
                    </a:solidFill>
                  </a:tcPr>
                </a:tc>
                <a:tc>
                  <a:txBody>
                    <a:bodyPr/>
                    <a:lstStyle/>
                    <a:p>
                      <a:pPr>
                        <a:spcBef>
                          <a:spcPts val="0"/>
                        </a:spcBef>
                        <a:spcAft>
                          <a:spcPts val="0"/>
                        </a:spcAft>
                        <a:defRPr sz="1200" b="1">
                          <a:solidFill>
                            <a:srgbClr val="D6ED89"/>
                          </a:solidFill>
                          <a:latin typeface="Arial"/>
                        </a:defRPr>
                      </a:pPr>
                      <a:r>
                        <a:t>R</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c>
                  <a:txBody>
                    <a:bodyPr/>
                    <a:lstStyle/>
                    <a:p>
                      <a:pPr>
                        <a:spcBef>
                          <a:spcPts val="0"/>
                        </a:spcBef>
                        <a:spcAft>
                          <a:spcPts val="0"/>
                        </a:spcAft>
                        <a:defRPr sz="1200" b="0">
                          <a:solidFill>
                            <a:srgbClr val="A7CAB9"/>
                          </a:solidFill>
                          <a:latin typeface="Arial"/>
                        </a:defRPr>
                      </a:pPr>
                      <a:r>
                        <a:t>C</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r>
              <a:tr h="260603">
                <a:tc>
                  <a:txBody>
                    <a:bodyPr/>
                    <a:lstStyle/>
                    <a:p>
                      <a:pPr>
                        <a:spcBef>
                          <a:spcPts val="0"/>
                        </a:spcBef>
                        <a:spcAft>
                          <a:spcPts val="0"/>
                        </a:spcAft>
                        <a:defRPr sz="1000" b="0">
                          <a:solidFill>
                            <a:srgbClr val="FFFFFF"/>
                          </a:solidFill>
                          <a:latin typeface="Arial"/>
                        </a:defRPr>
                      </a:pPr>
                      <a:r>
                        <a:t>G Документы / no-go</a:t>
                      </a:r>
                    </a:p>
                  </a:txBody>
                  <a:tcPr marL="100584" marR="82296" marT="13716" marB="13716">
                    <a:solidFill>
                      <a:srgbClr val="102620"/>
                    </a:solidFill>
                  </a:tcPr>
                </a:tc>
                <a:tc>
                  <a:txBody>
                    <a:bodyPr/>
                    <a:lstStyle/>
                    <a:p>
                      <a:pPr>
                        <a:spcBef>
                          <a:spcPts val="0"/>
                        </a:spcBef>
                        <a:spcAft>
                          <a:spcPts val="0"/>
                        </a:spcAft>
                        <a:defRPr sz="1200" b="1">
                          <a:solidFill>
                            <a:srgbClr val="E5B26A"/>
                          </a:solidFill>
                          <a:latin typeface="Arial"/>
                        </a:defRPr>
                      </a:pPr>
                      <a:r>
                        <a:t>A</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1">
                          <a:solidFill>
                            <a:srgbClr val="D6ED89"/>
                          </a:solidFill>
                          <a:latin typeface="Arial"/>
                        </a:defRPr>
                      </a:pPr>
                      <a:r>
                        <a:t>R</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A7CAB9"/>
                          </a:solidFill>
                          <a:latin typeface="Arial"/>
                        </a:defRPr>
                      </a:pPr>
                      <a:r>
                        <a:t>C</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I</a:t>
                      </a:r>
                    </a:p>
                  </a:txBody>
                  <a:tcPr marL="100584" marR="82296" marT="13716" marB="13716">
                    <a:solidFill>
                      <a:srgbClr val="102620"/>
                    </a:solidFill>
                  </a:tcPr>
                </a:tc>
              </a:tr>
              <a:tr h="260603">
                <a:tc>
                  <a:txBody>
                    <a:bodyPr/>
                    <a:lstStyle/>
                    <a:p>
                      <a:pPr>
                        <a:spcBef>
                          <a:spcPts val="0"/>
                        </a:spcBef>
                        <a:spcAft>
                          <a:spcPts val="0"/>
                        </a:spcAft>
                        <a:defRPr sz="1000" b="0">
                          <a:solidFill>
                            <a:srgbClr val="FFFFFF"/>
                          </a:solidFill>
                          <a:latin typeface="Arial"/>
                        </a:defRPr>
                      </a:pPr>
                      <a:r>
                        <a:t>H SOP / карты / CRM</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I</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c>
                  <a:txBody>
                    <a:bodyPr/>
                    <a:lstStyle/>
                    <a:p>
                      <a:pPr>
                        <a:spcBef>
                          <a:spcPts val="0"/>
                        </a:spcBef>
                        <a:spcAft>
                          <a:spcPts val="0"/>
                        </a:spcAft>
                        <a:defRPr sz="1200" b="0">
                          <a:solidFill>
                            <a:srgbClr val="A7CAB9"/>
                          </a:solidFill>
                          <a:latin typeface="Arial"/>
                        </a:defRPr>
                      </a:pPr>
                      <a:r>
                        <a:t>C</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c>
                  <a:txBody>
                    <a:bodyPr/>
                    <a:lstStyle/>
                    <a:p>
                      <a:pPr>
                        <a:spcBef>
                          <a:spcPts val="0"/>
                        </a:spcBef>
                        <a:spcAft>
                          <a:spcPts val="0"/>
                        </a:spcAft>
                        <a:defRPr sz="1200" b="1">
                          <a:solidFill>
                            <a:srgbClr val="D6ED89"/>
                          </a:solidFill>
                          <a:latin typeface="Arial"/>
                        </a:defRPr>
                      </a:pPr>
                      <a:r>
                        <a:t>R</a:t>
                      </a:r>
                    </a:p>
                  </a:txBody>
                  <a:tcPr marL="100584" marR="82296" marT="13716" marB="13716">
                    <a:solidFill>
                      <a:srgbClr val="19372C"/>
                    </a:solidFill>
                  </a:tcPr>
                </a:tc>
                <a:tc>
                  <a:txBody>
                    <a:bodyPr/>
                    <a:lstStyle/>
                    <a:p>
                      <a:pPr>
                        <a:spcBef>
                          <a:spcPts val="0"/>
                        </a:spcBef>
                        <a:spcAft>
                          <a:spcPts val="0"/>
                        </a:spcAft>
                        <a:defRPr sz="1200" b="1">
                          <a:solidFill>
                            <a:srgbClr val="E5B26A"/>
                          </a:solidFill>
                          <a:latin typeface="Arial"/>
                        </a:defRPr>
                      </a:pPr>
                      <a:r>
                        <a:t>A</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r>
              <a:tr h="260603">
                <a:tc>
                  <a:txBody>
                    <a:bodyPr/>
                    <a:lstStyle/>
                    <a:p>
                      <a:pPr>
                        <a:spcBef>
                          <a:spcPts val="0"/>
                        </a:spcBef>
                        <a:spcAft>
                          <a:spcPts val="0"/>
                        </a:spcAft>
                        <a:defRPr sz="1000" b="0">
                          <a:solidFill>
                            <a:srgbClr val="FFFFFF"/>
                          </a:solidFill>
                          <a:latin typeface="Arial"/>
                        </a:defRPr>
                      </a:pPr>
                      <a:r>
                        <a:t>I Стендовая приемка</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I</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A7CAB9"/>
                          </a:solidFill>
                          <a:latin typeface="Arial"/>
                        </a:defRPr>
                      </a:pPr>
                      <a:r>
                        <a:t>C</a:t>
                      </a:r>
                    </a:p>
                  </a:txBody>
                  <a:tcPr marL="100584" marR="82296" marT="13716" marB="13716">
                    <a:solidFill>
                      <a:srgbClr val="102620"/>
                    </a:solidFill>
                  </a:tcPr>
                </a:tc>
                <a:tc>
                  <a:txBody>
                    <a:bodyPr/>
                    <a:lstStyle/>
                    <a:p>
                      <a:pPr>
                        <a:spcBef>
                          <a:spcPts val="0"/>
                        </a:spcBef>
                        <a:spcAft>
                          <a:spcPts val="0"/>
                        </a:spcAft>
                        <a:defRPr sz="1200" b="1">
                          <a:solidFill>
                            <a:srgbClr val="E5B26A"/>
                          </a:solidFill>
                          <a:latin typeface="Arial"/>
                        </a:defRPr>
                      </a:pPr>
                      <a:r>
                        <a:t>A</a:t>
                      </a:r>
                    </a:p>
                  </a:txBody>
                  <a:tcPr marL="100584" marR="82296" marT="13716" marB="13716">
                    <a:solidFill>
                      <a:srgbClr val="102620"/>
                    </a:solidFill>
                  </a:tcPr>
                </a:tc>
                <a:tc>
                  <a:txBody>
                    <a:bodyPr/>
                    <a:lstStyle/>
                    <a:p>
                      <a:pPr>
                        <a:spcBef>
                          <a:spcPts val="0"/>
                        </a:spcBef>
                        <a:spcAft>
                          <a:spcPts val="0"/>
                        </a:spcAft>
                        <a:defRPr sz="1200" b="1">
                          <a:solidFill>
                            <a:srgbClr val="D6ED89"/>
                          </a:solidFill>
                          <a:latin typeface="Arial"/>
                        </a:defRPr>
                      </a:pPr>
                      <a:r>
                        <a:t>R</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A7CAB9"/>
                          </a:solidFill>
                          <a:latin typeface="Arial"/>
                        </a:defRPr>
                      </a:pPr>
                      <a:r>
                        <a:t>C</a:t>
                      </a:r>
                    </a:p>
                  </a:txBody>
                  <a:tcPr marL="100584" marR="82296" marT="13716" marB="13716">
                    <a:solidFill>
                      <a:srgbClr val="102620"/>
                    </a:solidFill>
                  </a:tcPr>
                </a:tc>
              </a:tr>
              <a:tr h="260603">
                <a:tc>
                  <a:txBody>
                    <a:bodyPr/>
                    <a:lstStyle/>
                    <a:p>
                      <a:pPr>
                        <a:spcBef>
                          <a:spcPts val="0"/>
                        </a:spcBef>
                        <a:spcAft>
                          <a:spcPts val="0"/>
                        </a:spcAft>
                        <a:defRPr sz="1000" b="0">
                          <a:solidFill>
                            <a:srgbClr val="FFFFFF"/>
                          </a:solidFill>
                          <a:latin typeface="Arial"/>
                        </a:defRPr>
                      </a:pPr>
                      <a:r>
                        <a:t>J Договоры / маршруты</a:t>
                      </a:r>
                    </a:p>
                  </a:txBody>
                  <a:tcPr marL="100584" marR="82296" marT="13716" marB="13716">
                    <a:solidFill>
                      <a:srgbClr val="19372C"/>
                    </a:solidFill>
                  </a:tcPr>
                </a:tc>
                <a:tc>
                  <a:txBody>
                    <a:bodyPr/>
                    <a:lstStyle/>
                    <a:p>
                      <a:pPr>
                        <a:spcBef>
                          <a:spcPts val="0"/>
                        </a:spcBef>
                        <a:spcAft>
                          <a:spcPts val="0"/>
                        </a:spcAft>
                        <a:defRPr sz="1200" b="1">
                          <a:solidFill>
                            <a:srgbClr val="E5B26A"/>
                          </a:solidFill>
                          <a:latin typeface="Arial"/>
                        </a:defRPr>
                      </a:pPr>
                      <a:r>
                        <a:t>R/A</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I</a:t>
                      </a:r>
                    </a:p>
                  </a:txBody>
                  <a:tcPr marL="100584" marR="82296" marT="13716" marB="13716">
                    <a:solidFill>
                      <a:srgbClr val="19372C"/>
                    </a:solidFill>
                  </a:tcPr>
                </a:tc>
                <a:tc>
                  <a:txBody>
                    <a:bodyPr/>
                    <a:lstStyle/>
                    <a:p>
                      <a:pPr>
                        <a:spcBef>
                          <a:spcPts val="0"/>
                        </a:spcBef>
                        <a:spcAft>
                          <a:spcPts val="0"/>
                        </a:spcAft>
                        <a:defRPr sz="1200" b="0">
                          <a:solidFill>
                            <a:srgbClr val="A7CAB9"/>
                          </a:solidFill>
                          <a:latin typeface="Arial"/>
                        </a:defRPr>
                      </a:pPr>
                      <a:r>
                        <a:t>C</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c>
                  <a:txBody>
                    <a:bodyPr/>
                    <a:lstStyle/>
                    <a:p>
                      <a:pPr>
                        <a:spcBef>
                          <a:spcPts val="0"/>
                        </a:spcBef>
                        <a:spcAft>
                          <a:spcPts val="0"/>
                        </a:spcAft>
                        <a:defRPr sz="1200" b="0">
                          <a:solidFill>
                            <a:srgbClr val="A7CAB9"/>
                          </a:solidFill>
                          <a:latin typeface="Arial"/>
                        </a:defRPr>
                      </a:pPr>
                      <a:r>
                        <a:t>C</a:t>
                      </a:r>
                    </a:p>
                  </a:txBody>
                  <a:tcPr marL="100584" marR="82296" marT="13716" marB="13716">
                    <a:solidFill>
                      <a:srgbClr val="19372C"/>
                    </a:solidFill>
                  </a:tcPr>
                </a:tc>
              </a:tr>
              <a:tr h="260603">
                <a:tc>
                  <a:txBody>
                    <a:bodyPr/>
                    <a:lstStyle/>
                    <a:p>
                      <a:pPr>
                        <a:spcBef>
                          <a:spcPts val="0"/>
                        </a:spcBef>
                        <a:spcAft>
                          <a:spcPts val="0"/>
                        </a:spcAft>
                        <a:defRPr sz="1000" b="0">
                          <a:solidFill>
                            <a:srgbClr val="FFFFFF"/>
                          </a:solidFill>
                          <a:latin typeface="Arial"/>
                        </a:defRPr>
                      </a:pPr>
                      <a:r>
                        <a:t>M Предсезонный допуск</a:t>
                      </a:r>
                    </a:p>
                  </a:txBody>
                  <a:tcPr marL="100584" marR="82296" marT="13716" marB="13716">
                    <a:solidFill>
                      <a:srgbClr val="102620"/>
                    </a:solidFill>
                  </a:tcPr>
                </a:tc>
                <a:tc>
                  <a:txBody>
                    <a:bodyPr/>
                    <a:lstStyle/>
                    <a:p>
                      <a:pPr>
                        <a:spcBef>
                          <a:spcPts val="0"/>
                        </a:spcBef>
                        <a:spcAft>
                          <a:spcPts val="0"/>
                        </a:spcAft>
                        <a:defRPr sz="1200" b="1">
                          <a:solidFill>
                            <a:srgbClr val="E5B26A"/>
                          </a:solidFill>
                          <a:latin typeface="Arial"/>
                        </a:defRPr>
                      </a:pPr>
                      <a:r>
                        <a:t>A</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I</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A7CAB9"/>
                          </a:solidFill>
                          <a:latin typeface="Arial"/>
                        </a:defRPr>
                      </a:pPr>
                      <a:r>
                        <a:t>C</a:t>
                      </a:r>
                    </a:p>
                  </a:txBody>
                  <a:tcPr marL="100584" marR="82296" marT="13716" marB="13716">
                    <a:solidFill>
                      <a:srgbClr val="102620"/>
                    </a:solidFill>
                  </a:tcPr>
                </a:tc>
                <a:tc>
                  <a:txBody>
                    <a:bodyPr/>
                    <a:lstStyle/>
                    <a:p>
                      <a:pPr>
                        <a:spcBef>
                          <a:spcPts val="0"/>
                        </a:spcBef>
                        <a:spcAft>
                          <a:spcPts val="0"/>
                        </a:spcAft>
                        <a:defRPr sz="1200" b="1">
                          <a:solidFill>
                            <a:srgbClr val="D6ED89"/>
                          </a:solidFill>
                          <a:latin typeface="Arial"/>
                        </a:defRPr>
                      </a:pPr>
                      <a:r>
                        <a:t>R</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A7CAB9"/>
                          </a:solidFill>
                          <a:latin typeface="Arial"/>
                        </a:defRPr>
                      </a:pPr>
                      <a:r>
                        <a:t>C</a:t>
                      </a:r>
                    </a:p>
                  </a:txBody>
                  <a:tcPr marL="100584" marR="82296" marT="13716" marB="13716">
                    <a:solidFill>
                      <a:srgbClr val="102620"/>
                    </a:solidFill>
                  </a:tcPr>
                </a:tc>
              </a:tr>
              <a:tr h="260603">
                <a:tc>
                  <a:txBody>
                    <a:bodyPr/>
                    <a:lstStyle/>
                    <a:p>
                      <a:pPr>
                        <a:spcBef>
                          <a:spcPts val="0"/>
                        </a:spcBef>
                        <a:spcAft>
                          <a:spcPts val="0"/>
                        </a:spcAft>
                        <a:defRPr sz="1000" b="0">
                          <a:solidFill>
                            <a:srgbClr val="FFFFFF"/>
                          </a:solidFill>
                          <a:latin typeface="Arial"/>
                        </a:defRPr>
                      </a:pPr>
                      <a:r>
                        <a:t>K Пилот + сезон</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I</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c>
                  <a:txBody>
                    <a:bodyPr/>
                    <a:lstStyle/>
                    <a:p>
                      <a:pPr>
                        <a:spcBef>
                          <a:spcPts val="0"/>
                        </a:spcBef>
                        <a:spcAft>
                          <a:spcPts val="0"/>
                        </a:spcAft>
                        <a:defRPr sz="1200" b="0">
                          <a:solidFill>
                            <a:srgbClr val="A7CAB9"/>
                          </a:solidFill>
                          <a:latin typeface="Arial"/>
                        </a:defRPr>
                      </a:pPr>
                      <a:r>
                        <a:t>C</a:t>
                      </a:r>
                    </a:p>
                  </a:txBody>
                  <a:tcPr marL="100584" marR="82296" marT="13716" marB="13716">
                    <a:solidFill>
                      <a:srgbClr val="19372C"/>
                    </a:solidFill>
                  </a:tcPr>
                </a:tc>
                <a:tc>
                  <a:txBody>
                    <a:bodyPr/>
                    <a:lstStyle/>
                    <a:p>
                      <a:pPr>
                        <a:spcBef>
                          <a:spcPts val="0"/>
                        </a:spcBef>
                        <a:spcAft>
                          <a:spcPts val="0"/>
                        </a:spcAft>
                        <a:defRPr sz="1200" b="1">
                          <a:solidFill>
                            <a:srgbClr val="E5B26A"/>
                          </a:solidFill>
                          <a:latin typeface="Arial"/>
                        </a:defRPr>
                      </a:pPr>
                      <a:r>
                        <a:t>A</a:t>
                      </a:r>
                    </a:p>
                  </a:txBody>
                  <a:tcPr marL="100584" marR="82296" marT="13716" marB="13716">
                    <a:solidFill>
                      <a:srgbClr val="19372C"/>
                    </a:solidFill>
                  </a:tcPr>
                </a:tc>
                <a:tc>
                  <a:txBody>
                    <a:bodyPr/>
                    <a:lstStyle/>
                    <a:p>
                      <a:pPr>
                        <a:spcBef>
                          <a:spcPts val="0"/>
                        </a:spcBef>
                        <a:spcAft>
                          <a:spcPts val="0"/>
                        </a:spcAft>
                        <a:defRPr sz="1200" b="1">
                          <a:solidFill>
                            <a:srgbClr val="D6ED89"/>
                          </a:solidFill>
                          <a:latin typeface="Arial"/>
                        </a:defRPr>
                      </a:pPr>
                      <a:r>
                        <a:t>R</a:t>
                      </a:r>
                    </a:p>
                  </a:txBody>
                  <a:tcPr marL="100584" marR="82296" marT="13716" marB="13716">
                    <a:solidFill>
                      <a:srgbClr val="19372C"/>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9372C"/>
                    </a:solidFill>
                  </a:tcPr>
                </a:tc>
                <a:tc>
                  <a:txBody>
                    <a:bodyPr/>
                    <a:lstStyle/>
                    <a:p>
                      <a:pPr>
                        <a:spcBef>
                          <a:spcPts val="0"/>
                        </a:spcBef>
                        <a:spcAft>
                          <a:spcPts val="0"/>
                        </a:spcAft>
                        <a:defRPr sz="1200" b="0">
                          <a:solidFill>
                            <a:srgbClr val="A7CAB9"/>
                          </a:solidFill>
                          <a:latin typeface="Arial"/>
                        </a:defRPr>
                      </a:pPr>
                      <a:r>
                        <a:t>C</a:t>
                      </a:r>
                    </a:p>
                  </a:txBody>
                  <a:tcPr marL="100584" marR="82296" marT="13716" marB="13716">
                    <a:solidFill>
                      <a:srgbClr val="19372C"/>
                    </a:solidFill>
                  </a:tcPr>
                </a:tc>
              </a:tr>
              <a:tr h="260603">
                <a:tc>
                  <a:txBody>
                    <a:bodyPr/>
                    <a:lstStyle/>
                    <a:p>
                      <a:pPr>
                        <a:spcBef>
                          <a:spcPts val="0"/>
                        </a:spcBef>
                        <a:spcAft>
                          <a:spcPts val="0"/>
                        </a:spcAft>
                        <a:defRPr sz="1000" b="0">
                          <a:solidFill>
                            <a:srgbClr val="FFFFFF"/>
                          </a:solidFill>
                          <a:latin typeface="Arial"/>
                        </a:defRPr>
                      </a:pPr>
                      <a:r>
                        <a:t>L Аудит / продление</a:t>
                      </a:r>
                    </a:p>
                  </a:txBody>
                  <a:tcPr marL="100584" marR="82296" marT="13716" marB="13716">
                    <a:solidFill>
                      <a:srgbClr val="102620"/>
                    </a:solidFill>
                  </a:tcPr>
                </a:tc>
                <a:tc>
                  <a:txBody>
                    <a:bodyPr/>
                    <a:lstStyle/>
                    <a:p>
                      <a:pPr>
                        <a:spcBef>
                          <a:spcPts val="0"/>
                        </a:spcBef>
                        <a:spcAft>
                          <a:spcPts val="0"/>
                        </a:spcAft>
                        <a:defRPr sz="1200" b="1">
                          <a:solidFill>
                            <a:srgbClr val="E5B26A"/>
                          </a:solidFill>
                          <a:latin typeface="Arial"/>
                        </a:defRPr>
                      </a:pPr>
                      <a:r>
                        <a:t>A</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I</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1">
                          <a:solidFill>
                            <a:srgbClr val="D6ED89"/>
                          </a:solidFill>
                          <a:latin typeface="Arial"/>
                        </a:defRPr>
                      </a:pPr>
                      <a:r>
                        <a:t>R</a:t>
                      </a:r>
                    </a:p>
                  </a:txBody>
                  <a:tcPr marL="100584" marR="82296" marT="13716" marB="13716">
                    <a:solidFill>
                      <a:srgbClr val="102620"/>
                    </a:solidFill>
                  </a:tcPr>
                </a:tc>
                <a:tc>
                  <a:txBody>
                    <a:bodyPr/>
                    <a:lstStyle/>
                    <a:p>
                      <a:pPr>
                        <a:spcBef>
                          <a:spcPts val="0"/>
                        </a:spcBef>
                        <a:spcAft>
                          <a:spcPts val="0"/>
                        </a:spcAft>
                        <a:defRPr sz="1200" b="0">
                          <a:solidFill>
                            <a:srgbClr val="A7CAB9"/>
                          </a:solidFill>
                          <a:latin typeface="Arial"/>
                        </a:defRPr>
                      </a:pPr>
                      <a:r>
                        <a:t>C</a:t>
                      </a:r>
                    </a:p>
                  </a:txBody>
                  <a:tcPr marL="100584" marR="82296" marT="13716" marB="13716">
                    <a:solidFill>
                      <a:srgbClr val="102620"/>
                    </a:solidFill>
                  </a:tcPr>
                </a:tc>
                <a:tc>
                  <a:txBody>
                    <a:bodyPr/>
                    <a:lstStyle/>
                    <a:p>
                      <a:pPr>
                        <a:spcBef>
                          <a:spcPts val="0"/>
                        </a:spcBef>
                        <a:spcAft>
                          <a:spcPts val="0"/>
                        </a:spcAft>
                        <a:defRPr sz="1200" b="0">
                          <a:solidFill>
                            <a:srgbClr val="A7CAB9"/>
                          </a:solidFill>
                          <a:latin typeface="Arial"/>
                        </a:defRPr>
                      </a:pPr>
                      <a:r>
                        <a:t>C</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c>
                  <a:txBody>
                    <a:bodyPr/>
                    <a:lstStyle/>
                    <a:p>
                      <a:pPr>
                        <a:spcBef>
                          <a:spcPts val="0"/>
                        </a:spcBef>
                        <a:spcAft>
                          <a:spcPts val="0"/>
                        </a:spcAft>
                        <a:defRPr sz="1200" b="0">
                          <a:solidFill>
                            <a:srgbClr val="FFFFFF"/>
                          </a:solidFill>
                          <a:latin typeface="Arial"/>
                        </a:defRPr>
                      </a:pPr>
                      <a:r>
                        <a:t>—</a:t>
                      </a:r>
                    </a:p>
                  </a:txBody>
                  <a:tcPr marL="100584" marR="82296" marT="13716" marB="13716">
                    <a:solidFill>
                      <a:srgbClr val="102620"/>
                    </a:solidFill>
                  </a:tcPr>
                </a:tc>
              </a:tr>
            </a:tbl>
          </a:graphicData>
        </a:graphic>
      </p:graphicFrame>
      <p:sp>
        <p:nvSpPr>
          <p:cNvPr id="21" name="TextBox 20"/>
          <p:cNvSpPr txBox="1"/>
          <p:nvPr/>
        </p:nvSpPr>
        <p:spPr>
          <a:xfrm>
            <a:off x="612648" y="5861304"/>
            <a:ext cx="10972800" cy="292608"/>
          </a:xfrm>
          <a:prstGeom prst="rect">
            <a:avLst/>
          </a:prstGeom>
          <a:noFill/>
        </p:spPr>
        <p:txBody>
          <a:bodyPr wrap="square" lIns="0" rIns="0" tIns="0">
            <a:spAutoFit/>
          </a:bodyPr>
          <a:lstStyle/>
          <a:p>
            <a:pPr>
              <a:spcAft>
                <a:spcPts val="1000"/>
              </a:spcAft>
              <a:defRPr sz="1300" b="0">
                <a:solidFill>
                  <a:srgbClr val="D6ED89"/>
                </a:solidFill>
                <a:latin typeface="Arial"/>
              </a:defRPr>
            </a:pPr>
            <a:r>
              <a:t>R — выполняет   A — утверждает   C — консультирует   I — информируется   — — не участвует</a:t>
            </a:r>
          </a:p>
        </p:txBody>
      </p:sp>
      <p:sp>
        <p:nvSpPr>
          <p:cNvPr id="22" name="TextBox 21"/>
          <p:cNvSpPr txBox="1"/>
          <p:nvPr/>
        </p:nvSpPr>
        <p:spPr>
          <a:xfrm>
            <a:off x="612648" y="6199632"/>
            <a:ext cx="10881360" cy="201168"/>
          </a:xfrm>
          <a:prstGeom prst="rect">
            <a:avLst/>
          </a:prstGeom>
          <a:noFill/>
        </p:spPr>
        <p:txBody>
          <a:bodyPr wrap="square" lIns="0" rIns="0" tIns="0">
            <a:spAutoFit/>
          </a:bodyPr>
          <a:lstStyle/>
          <a:p>
            <a:pPr>
              <a:spcAft>
                <a:spcPts val="1000"/>
              </a:spcAft>
              <a:defRPr sz="1100" b="0">
                <a:solidFill>
                  <a:srgbClr val="FFFFFF"/>
                </a:solidFill>
                <a:latin typeface="Arial"/>
              </a:defRPr>
            </a:pPr>
            <a:r>
              <a:t>Опер. рук. = первый оператор. Оператор 2 = второй сотрудник; в I/K выполнение и утверждение разделены.</a:t>
            </a:r>
          </a:p>
        </p:txBody>
      </p:sp>
    </p:spTree>
  </p:cSld>
  <p:clrMapOvr>
    <a:masterClrMapping/>
  </p:clrMapOvr>
  <mc:AlternateContent xmlns:mc="http://schemas.openxmlformats.org/markup-compatibility/2006">
    <mc:Choice xmlns:p159="http://schemas.microsoft.com/office/powerpoint/2015/09/main" Requires="p159">
      <p:transition spd="slow" advClick="1">
        <p159:morph option="byObject"/>
      </p:transition>
    </mc:Choice>
    <mc:Fallback>
      <p:transition spd="med" advClick="1">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AV_background" descr="background_17.jpg"/>
          <p:cNvPicPr>
            <a:picLocks noChangeAspect="1"/>
          </p:cNvPicPr>
          <p:nvPr/>
        </p:nvPicPr>
        <p:blipFill>
          <a:blip r:embed="rId3"/>
          <a:stretch>
            <a:fillRect/>
          </a:stretch>
        </p:blipFill>
        <p:spPr>
          <a:xfrm>
            <a:off x="0" y="0"/>
            <a:ext cx="12191999" cy="6858000"/>
          </a:xfrm>
          <a:prstGeom prst="rect">
            <a:avLst/>
          </a:prstGeom>
        </p:spPr>
      </p:pic>
      <p:pic>
        <p:nvPicPr>
          <p:cNvPr id="21" name="!!AV_drone" descr="drone_render.png"/>
          <p:cNvPicPr>
            <a:picLocks noChangeAspect="1"/>
          </p:cNvPicPr>
          <p:nvPr/>
        </p:nvPicPr>
        <p:blipFill>
          <a:blip r:embed="rId6"/>
          <a:stretch>
            <a:fillRect/>
          </a:stretch>
        </p:blipFill>
        <p:spPr>
          <a:xfrm>
            <a:off x="10442448" y="722376"/>
            <a:ext cx="1024128" cy="640080"/>
          </a:xfrm>
          <a:prstGeom prst="rect">
            <a:avLst/>
          </a:prstGeom>
        </p:spPr>
      </p:pic>
      <p:sp>
        <p:nvSpPr>
          <p:cNvPr id="48" name="Rectangle 47"/>
          <p:cNvSpPr/>
          <p:nvPr/>
        </p:nvSpPr>
        <p:spPr>
          <a:xfrm>
            <a:off x="320040" y="256032"/>
            <a:ext cx="11567160" cy="6117336"/>
          </a:xfrm>
          <a:prstGeom prst="rect">
            <a:avLst/>
          </a:prstGeom>
          <a:solidFill>
            <a:srgbClr val="0A1B19">
              <a:alpha val="9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66928" y="393192"/>
            <a:ext cx="10789920" cy="320040"/>
          </a:xfrm>
          <a:prstGeom prst="rect">
            <a:avLst/>
          </a:prstGeom>
          <a:noFill/>
        </p:spPr>
        <p:txBody>
          <a:bodyPr wrap="square" lIns="0" rIns="0" tIns="0">
            <a:spAutoFit/>
          </a:bodyPr>
          <a:lstStyle/>
          <a:p>
            <a:pPr>
              <a:spcAft>
                <a:spcPts val="1000"/>
              </a:spcAft>
              <a:defRPr sz="1300" b="1">
                <a:solidFill>
                  <a:srgbClr val="D6ED89"/>
                </a:solidFill>
                <a:latin typeface="Arial"/>
              </a:defRPr>
            </a:pPr>
            <a:r>
              <a:t>АГРОВЕКТОР / 17 / ФИНАНСОВАЯ МОДЕЛЬ</a:t>
            </a:r>
          </a:p>
        </p:txBody>
      </p:sp>
      <p:sp>
        <p:nvSpPr>
          <p:cNvPr id="50" name="TextBox 49"/>
          <p:cNvSpPr txBox="1"/>
          <p:nvPr/>
        </p:nvSpPr>
        <p:spPr>
          <a:xfrm>
            <a:off x="566928" y="914400"/>
            <a:ext cx="10972800" cy="548640"/>
          </a:xfrm>
          <a:prstGeom prst="rect">
            <a:avLst/>
          </a:prstGeom>
          <a:noFill/>
        </p:spPr>
        <p:txBody>
          <a:bodyPr wrap="square" lIns="0" rIns="0" tIns="0">
            <a:spAutoFit/>
          </a:bodyPr>
          <a:lstStyle/>
          <a:p>
            <a:pPr>
              <a:spcAft>
                <a:spcPts val="1000"/>
              </a:spcAft>
              <a:defRPr sz="2700" b="1">
                <a:solidFill>
                  <a:srgbClr val="FFFFFF"/>
                </a:solidFill>
                <a:latin typeface="Arial"/>
              </a:defRPr>
            </a:pPr>
            <a:r>
              <a:rPr sz="2700" b="1">
                <a:solidFill>
                  <a:srgbClr val="FFFFFF"/>
                </a:solidFill>
                <a:latin typeface="Arial"/>
              </a:rPr>
              <a:t>База: прежние тарифы; новые стресс-сценарии не меняют base NPV</a:t>
            </a:r>
          </a:p>
        </p:txBody>
      </p:sp>
      <p:sp>
        <p:nvSpPr>
          <p:cNvPr id="51" name="TextBox 50"/>
          <p:cNvSpPr txBox="1"/>
          <p:nvPr/>
        </p:nvSpPr>
        <p:spPr>
          <a:xfrm>
            <a:off x="566928" y="6519672"/>
            <a:ext cx="10698480" cy="201168"/>
          </a:xfrm>
          <a:prstGeom prst="rect">
            <a:avLst/>
          </a:prstGeom>
          <a:noFill/>
        </p:spPr>
        <p:txBody>
          <a:bodyPr wrap="square" lIns="0" rIns="0" tIns="0">
            <a:spAutoFit/>
          </a:bodyPr>
          <a:lstStyle/>
          <a:p>
            <a:pPr>
              <a:spcAft>
                <a:spcPts val="1000"/>
              </a:spcAft>
              <a:defRPr sz="900" b="0">
                <a:solidFill>
                  <a:srgbClr val="CCDACF"/>
                </a:solidFill>
                <a:latin typeface="Arial"/>
              </a:defRPr>
            </a:pPr>
            <a:r>
              <a:t>Проектные гипотезы и расчеты; не подтвержденный бизнес. Референс: Практика 08.10.26. / Редакция 21.10.2026</a:t>
            </a:r>
          </a:p>
        </p:txBody>
      </p:sp>
      <p:sp>
        <p:nvSpPr>
          <p:cNvPr id="52" name="TextBox 51"/>
          <p:cNvSpPr txBox="1"/>
          <p:nvPr/>
        </p:nvSpPr>
        <p:spPr>
          <a:xfrm>
            <a:off x="11082528" y="6501384"/>
            <a:ext cx="640080" cy="219456"/>
          </a:xfrm>
          <a:prstGeom prst="rect">
            <a:avLst/>
          </a:prstGeom>
          <a:noFill/>
        </p:spPr>
        <p:txBody>
          <a:bodyPr wrap="square" lIns="0" rIns="0" tIns="0">
            <a:spAutoFit/>
          </a:bodyPr>
          <a:lstStyle/>
          <a:p>
            <a:pPr>
              <a:spcAft>
                <a:spcPts val="1000"/>
              </a:spcAft>
              <a:defRPr sz="1000" b="1">
                <a:solidFill>
                  <a:srgbClr val="D6ED89"/>
                </a:solidFill>
                <a:latin typeface="Arial"/>
              </a:defRPr>
            </a:pPr>
            <a:r>
              <a:t>17/22</a:t>
            </a:r>
          </a:p>
        </p:txBody>
      </p:sp>
      <p:sp>
        <p:nvSpPr>
          <p:cNvPr id="53" name="Rectangle 52"/>
          <p:cNvSpPr/>
          <p:nvPr/>
        </p:nvSpPr>
        <p:spPr>
          <a:xfrm>
            <a:off x="594360" y="1801368"/>
            <a:ext cx="4050791" cy="3575304"/>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13232" y="1892807"/>
            <a:ext cx="3813048" cy="384048"/>
          </a:xfrm>
          <a:prstGeom prst="rect">
            <a:avLst/>
          </a:prstGeom>
          <a:noFill/>
        </p:spPr>
        <p:txBody>
          <a:bodyPr wrap="square" lIns="0" rIns="0" tIns="0">
            <a:spAutoFit/>
          </a:bodyPr>
          <a:lstStyle/>
          <a:p>
            <a:pPr>
              <a:spcAft>
                <a:spcPts val="1000"/>
              </a:spcAft>
              <a:defRPr sz="1300" b="1">
                <a:solidFill>
                  <a:srgbClr val="D6ED89"/>
                </a:solidFill>
                <a:latin typeface="Arial"/>
              </a:defRPr>
            </a:pPr>
            <a:r>
              <a:t>2027 / МЛН РУБ.</a:t>
            </a:r>
          </a:p>
        </p:txBody>
      </p:sp>
      <p:sp>
        <p:nvSpPr>
          <p:cNvPr id="55" name="TextBox 54"/>
          <p:cNvSpPr txBox="1"/>
          <p:nvPr/>
        </p:nvSpPr>
        <p:spPr>
          <a:xfrm>
            <a:off x="713232" y="2340864"/>
            <a:ext cx="3813048" cy="2990088"/>
          </a:xfrm>
          <a:prstGeom prst="rect">
            <a:avLst/>
          </a:prstGeom>
          <a:noFill/>
        </p:spPr>
        <p:txBody>
          <a:bodyPr wrap="square" lIns="0" rIns="0" tIns="0">
            <a:spAutoFit/>
          </a:bodyPr>
          <a:lstStyle/>
          <a:p>
            <a:pPr>
              <a:spcAft>
                <a:spcPts val="500"/>
              </a:spcAft>
              <a:defRPr sz="2100" b="0">
                <a:solidFill>
                  <a:srgbClr val="FFFFFF"/>
                </a:solidFill>
                <a:latin typeface="Arial"/>
              </a:defRPr>
            </a:pPr>
            <a:r>
              <a:rPr sz="2100" b="0">
                <a:solidFill>
                  <a:srgbClr val="FFFFFF"/>
                </a:solidFill>
                <a:latin typeface="Arial"/>
              </a:rPr>
              <a:t>Выручка: 8,800</a:t>
            </a:r>
          </a:p>
          <a:p>
            <a:pPr>
              <a:spcAft>
                <a:spcPts val="500"/>
              </a:spcAft>
              <a:defRPr sz="2100" b="0">
                <a:solidFill>
                  <a:srgbClr val="FFFFFF"/>
                </a:solidFill>
                <a:latin typeface="Arial"/>
              </a:defRPr>
            </a:pPr>
            <a:r>
              <a:rPr sz="2100" b="0">
                <a:solidFill>
                  <a:srgbClr val="FFFFFF"/>
                </a:solidFill>
                <a:latin typeface="Arial"/>
              </a:rPr>
              <a:t>Переменные: 2,640</a:t>
            </a:r>
          </a:p>
          <a:p>
            <a:pPr>
              <a:spcAft>
                <a:spcPts val="500"/>
              </a:spcAft>
              <a:defRPr sz="2100" b="0">
                <a:solidFill>
                  <a:srgbClr val="FFFFFF"/>
                </a:solidFill>
                <a:latin typeface="Arial"/>
              </a:defRPr>
            </a:pPr>
            <a:r>
              <a:rPr sz="2100" b="0">
                <a:solidFill>
                  <a:srgbClr val="FFFFFF"/>
                </a:solidFill>
                <a:latin typeface="Arial"/>
              </a:rPr>
              <a:t>Фикс. OPEX: 5,887</a:t>
            </a:r>
          </a:p>
          <a:p>
            <a:pPr>
              <a:spcAft>
                <a:spcPts val="500"/>
              </a:spcAft>
              <a:defRPr sz="2100" b="0">
                <a:solidFill>
                  <a:srgbClr val="FFFFFF"/>
                </a:solidFill>
                <a:latin typeface="Arial"/>
              </a:defRPr>
            </a:pPr>
            <a:r>
              <a:rPr sz="2100" b="0">
                <a:solidFill>
                  <a:srgbClr val="FFFFFF"/>
                </a:solidFill>
                <a:latin typeface="Arial"/>
              </a:rPr>
              <a:t>EBITDA: 0,273</a:t>
            </a:r>
          </a:p>
          <a:p>
            <a:pPr>
              <a:spcAft>
                <a:spcPts val="500"/>
              </a:spcAft>
              <a:defRPr sz="2100" b="0">
                <a:solidFill>
                  <a:srgbClr val="FFFFFF"/>
                </a:solidFill>
                <a:latin typeface="Arial"/>
              </a:defRPr>
            </a:pPr>
            <a:r>
              <a:rPr sz="2100" b="0">
                <a:solidFill>
                  <a:srgbClr val="FFFFFF"/>
                </a:solidFill>
                <a:latin typeface="Arial"/>
              </a:rPr>
              <a:t>FCF: -0,255</a:t>
            </a:r>
          </a:p>
          <a:p>
            <a:pPr>
              <a:spcAft>
                <a:spcPts val="500"/>
              </a:spcAft>
              <a:defRPr sz="2100" b="0">
                <a:solidFill>
                  <a:srgbClr val="FFFFFF"/>
                </a:solidFill>
                <a:latin typeface="Arial"/>
              </a:defRPr>
            </a:pPr>
            <a:r>
              <a:rPr sz="2100" b="0">
                <a:solidFill>
                  <a:srgbClr val="FFFFFF"/>
                </a:solidFill>
                <a:latin typeface="Arial"/>
              </a:rPr>
              <a:t>Фикс. расход: 490 600 ₽/мес.</a:t>
            </a:r>
            <a:endParaRPr/>
          </a:p>
          <a:p>
            <a:pPr>
              <a:spcAft>
                <a:spcPts val="500"/>
              </a:spcAft>
              <a:defRPr sz="2100" b="0">
                <a:solidFill>
                  <a:srgbClr val="FFFFFF"/>
                </a:solidFill>
                <a:latin typeface="Arial"/>
              </a:defRPr>
            </a:pPr>
            <a:r>
              <a:rPr sz="2100" b="0">
                <a:solidFill>
                  <a:srgbClr val="FFFFFF"/>
                </a:solidFill>
                <a:latin typeface="Arial"/>
              </a:rPr>
              <a:t>Без выручки: минус с 5-го мес.¹</a:t>
            </a:r>
            <a:endParaRPr/>
          </a:p>
        </p:txBody>
      </p:sp>
      <p:graphicFrame>
        <p:nvGraphicFramePr>
          <p:cNvPr id="56" name="Chart 55"/>
          <p:cNvGraphicFramePr>
            <a:graphicFrameLocks noGrp="1"/>
          </p:cNvGraphicFramePr>
          <p:nvPr/>
        </p:nvGraphicFramePr>
        <p:xfrm>
          <a:off x="4882896" y="1874519"/>
          <a:ext cx="6492240" cy="3520440"/>
        </p:xfrm>
        <a:graphic>
          <a:graphicData uri="http://schemas.openxmlformats.org/drawingml/2006/chart">
            <c:chart xmlns:c="http://schemas.openxmlformats.org/drawingml/2006/chart" r:id="rId9"/>
          </a:graphicData>
        </a:graphic>
      </p:graphicFrame>
      <p:sp>
        <p:nvSpPr>
          <p:cNvPr id="57" name="TextBox 56"/>
          <p:cNvSpPr txBox="1"/>
          <p:nvPr/>
        </p:nvSpPr>
        <p:spPr>
          <a:xfrm>
            <a:off x="5120640" y="5532120"/>
            <a:ext cx="6035040" cy="365760"/>
          </a:xfrm>
          <a:prstGeom prst="rect">
            <a:avLst/>
          </a:prstGeom>
          <a:noFill/>
        </p:spPr>
        <p:txBody>
          <a:bodyPr wrap="square" lIns="0" rIns="0" tIns="0">
            <a:spAutoFit/>
          </a:bodyPr>
          <a:lstStyle/>
          <a:p>
            <a:pPr>
              <a:spcAft>
                <a:spcPts val="1000"/>
              </a:spcAft>
              <a:defRPr sz="1300" b="0">
                <a:solidFill>
                  <a:srgbClr val="D6ED89"/>
                </a:solidFill>
                <a:latin typeface="Arial"/>
              </a:defRPr>
            </a:pPr>
            <a:r>
              <a:rPr sz="1300" b="0">
                <a:solidFill>
                  <a:srgbClr val="D6ED89"/>
                </a:solidFill>
                <a:latin typeface="Arial"/>
              </a:rPr>
              <a:t>Выручка / EBITDA / FCF; ¹ стресс без выручки, резерв 2 млн ₽.</a:t>
            </a:r>
          </a:p>
        </p:txBody>
      </p:sp>
    </p:spTree>
  </p:cSld>
  <p:clrMapOvr>
    <a:masterClrMapping/>
  </p:clrMapOvr>
  <mc:AlternateContent xmlns:mc="http://schemas.openxmlformats.org/markup-compatibility/2006">
    <mc:Choice xmlns:p159="http://schemas.microsoft.com/office/powerpoint/2015/09/main" Requires="p159">
      <p:transition spd="slow" advClick="1">
        <p159:morph option="byObject"/>
      </p:transition>
    </mc:Choice>
    <mc:Fallback>
      <p:transition spd="med" advClick="1">
        <p:fade/>
      </p:transition>
    </mc:Fallback>
  </mc:AlternateContent>
  <p:timing>
    <p:tnLst>
      <p:par>
        <p:cTn id="1" dur="indefinite" restart="never" nodeType="tmRoot">
          <p:childTnLst>
            <p:seq concurrent="1" nextAc="seek">
              <p:cTn id="2" dur="indefinite" nodeType="mainSeq">
                <p:childTnLst>
                  <p:par>
                    <p:cTn id="3" nodeType="withEffect" fill="hold" presetID="22" presetClass="entr" grpId="0">
                      <p:stCondLst>
                        <p:cond delay="0"/>
                      </p:stCondLst>
                      <p:childTnLst>
                        <p:set>
                          <p:cBhvr>
                            <p:cTn id="4" dur="1" fill="hold">
                              <p:stCondLst>
                                <p:cond delay="0"/>
                              </p:stCondLst>
                            </p:cTn>
                            <p:tgtEl>
                              <p:spTgt spid="56">
                                <p:graphicEl>
                                  <a:chart bldStep="ptInSeries" seriesIdx="0" categoryIdx="0"/>
                                </p:graphicEl>
                              </p:spTgt>
                            </p:tgtEl>
                            <p:attrNameLst>
                              <p:attrName>style.visibility</p:attrName>
                            </p:attrNameLst>
                          </p:cBhvr>
                          <p:to>
                            <p:strVal val="visible"/>
                          </p:to>
                        </p:set>
                        <p:animEffect transition="in" filter="wipe(up)">
                          <p:cBhvr>
                            <p:cTn id="5" dur="700" fill="hold"/>
                            <p:tgtEl>
                              <p:spTgt spid="56">
                                <p:graphicEl>
                                  <a:chart bldStep="ptInSeries" seriesIdx="0" categoryIdx="0"/>
                                </p:graphicEl>
                              </p:spTgt>
                            </p:tgtEl>
                          </p:cBhvr>
                        </p:animEffect>
                      </p:childTnLst>
                    </p:cTn>
                  </p:par>
                  <p:par>
                    <p:cTn id="6" nodeType="withEffect" fill="hold" presetID="22" presetClass="entr" grpId="0">
                      <p:stCondLst>
                        <p:cond delay="170"/>
                      </p:stCondLst>
                      <p:childTnLst>
                        <p:set>
                          <p:cBhvr>
                            <p:cTn id="7" dur="1" fill="hold">
                              <p:stCondLst>
                                <p:cond delay="0"/>
                              </p:stCondLst>
                            </p:cTn>
                            <p:tgtEl>
                              <p:spTgt spid="56">
                                <p:graphicEl>
                                  <a:chart bldStep="ptInSeries" seriesIdx="0" categoryIdx="1"/>
                                </p:graphicEl>
                              </p:spTgt>
                            </p:tgtEl>
                            <p:attrNameLst>
                              <p:attrName>style.visibility</p:attrName>
                            </p:attrNameLst>
                          </p:cBhvr>
                          <p:to>
                            <p:strVal val="visible"/>
                          </p:to>
                        </p:set>
                        <p:animEffect transition="in" filter="wipe(up)">
                          <p:cBhvr>
                            <p:cTn id="8" dur="700" fill="hold"/>
                            <p:tgtEl>
                              <p:spTgt spid="56">
                                <p:graphicEl>
                                  <a:chart bldStep="ptInSeries" seriesIdx="0" categoryIdx="1"/>
                                </p:graphicEl>
                              </p:spTgt>
                            </p:tgtEl>
                          </p:cBhvr>
                        </p:animEffect>
                      </p:childTnLst>
                    </p:cTn>
                  </p:par>
                  <p:par>
                    <p:cTn id="9" nodeType="withEffect" fill="hold" presetID="22" presetClass="entr" grpId="0">
                      <p:stCondLst>
                        <p:cond delay="340"/>
                      </p:stCondLst>
                      <p:childTnLst>
                        <p:set>
                          <p:cBhvr>
                            <p:cTn id="10" dur="1" fill="hold">
                              <p:stCondLst>
                                <p:cond delay="0"/>
                              </p:stCondLst>
                            </p:cTn>
                            <p:tgtEl>
                              <p:spTgt spid="56">
                                <p:graphicEl>
                                  <a:chart bldStep="ptInSeries" seriesIdx="0" categoryIdx="2"/>
                                </p:graphicEl>
                              </p:spTgt>
                            </p:tgtEl>
                            <p:attrNameLst>
                              <p:attrName>style.visibility</p:attrName>
                            </p:attrNameLst>
                          </p:cBhvr>
                          <p:to>
                            <p:strVal val="visible"/>
                          </p:to>
                        </p:set>
                        <p:animEffect transition="in" filter="wipe(up)">
                          <p:cBhvr>
                            <p:cTn id="11" dur="700" fill="hold"/>
                            <p:tgtEl>
                              <p:spTgt spid="56">
                                <p:graphicEl>
                                  <a:chart bldStep="ptInSeries" seriesIdx="0" categoryIdx="2"/>
                                </p:graphicEl>
                              </p:spTgt>
                            </p:tgtEl>
                          </p:cBhvr>
                        </p:animEffect>
                      </p:childTnLst>
                    </p:cTn>
                  </p:par>
                  <p:par>
                    <p:cTn id="12" nodeType="withEffect" fill="hold" presetID="22" presetClass="entr" grpId="0">
                      <p:stCondLst>
                        <p:cond delay="510"/>
                      </p:stCondLst>
                      <p:childTnLst>
                        <p:set>
                          <p:cBhvr>
                            <p:cTn id="13" dur="1" fill="hold">
                              <p:stCondLst>
                                <p:cond delay="0"/>
                              </p:stCondLst>
                            </p:cTn>
                            <p:tgtEl>
                              <p:spTgt spid="56">
                                <p:graphicEl>
                                  <a:chart bldStep="ptInSeries" seriesIdx="0" categoryIdx="3"/>
                                </p:graphicEl>
                              </p:spTgt>
                            </p:tgtEl>
                            <p:attrNameLst>
                              <p:attrName>style.visibility</p:attrName>
                            </p:attrNameLst>
                          </p:cBhvr>
                          <p:to>
                            <p:strVal val="visible"/>
                          </p:to>
                        </p:set>
                        <p:animEffect transition="in" filter="wipe(up)">
                          <p:cBhvr>
                            <p:cTn id="14" dur="700" fill="hold"/>
                            <p:tgtEl>
                              <p:spTgt spid="56">
                                <p:graphicEl>
                                  <a:chart bldStep="ptInSeries" seriesIdx="0" categoryIdx="3"/>
                                </p:graphicEl>
                              </p:spTgt>
                            </p:tgtEl>
                          </p:cBhvr>
                        </p:animEffect>
                      </p:childTnLst>
                    </p:cTn>
                  </p:par>
                  <p:par>
                    <p:cTn id="15" nodeType="withEffect" fill="hold" presetID="22" presetClass="entr" grpId="0">
                      <p:stCondLst>
                        <p:cond delay="680"/>
                      </p:stCondLst>
                      <p:childTnLst>
                        <p:set>
                          <p:cBhvr>
                            <p:cTn id="16" dur="1" fill="hold">
                              <p:stCondLst>
                                <p:cond delay="0"/>
                              </p:stCondLst>
                            </p:cTn>
                            <p:tgtEl>
                              <p:spTgt spid="56">
                                <p:graphicEl>
                                  <a:chart bldStep="ptInSeries" seriesIdx="0" categoryIdx="4"/>
                                </p:graphicEl>
                              </p:spTgt>
                            </p:tgtEl>
                            <p:attrNameLst>
                              <p:attrName>style.visibility</p:attrName>
                            </p:attrNameLst>
                          </p:cBhvr>
                          <p:to>
                            <p:strVal val="visible"/>
                          </p:to>
                        </p:set>
                        <p:animEffect transition="in" filter="wipe(up)">
                          <p:cBhvr>
                            <p:cTn id="17" dur="700" fill="hold"/>
                            <p:tgtEl>
                              <p:spTgt spid="56">
                                <p:graphicEl>
                                  <a:chart bldStep="ptInSeries" seriesIdx="0" categoryIdx="4"/>
                                </p:graphicEl>
                              </p:spTgt>
                            </p:tgtEl>
                          </p:cBhvr>
                        </p:animEffect>
                      </p:childTnLst>
                    </p:cTn>
                  </p:par>
                  <p:par>
                    <p:cTn id="18" nodeType="withEffect" fill="hold" presetID="22" presetClass="entr" grpId="0">
                      <p:stCondLst>
                        <p:cond delay="95"/>
                      </p:stCondLst>
                      <p:childTnLst>
                        <p:set>
                          <p:cBhvr>
                            <p:cTn id="19" dur="1" fill="hold">
                              <p:stCondLst>
                                <p:cond delay="0"/>
                              </p:stCondLst>
                            </p:cTn>
                            <p:tgtEl>
                              <p:spTgt spid="56">
                                <p:graphicEl>
                                  <a:chart bldStep="ptInSeries" seriesIdx="1" categoryIdx="0"/>
                                </p:graphicEl>
                              </p:spTgt>
                            </p:tgtEl>
                            <p:attrNameLst>
                              <p:attrName>style.visibility</p:attrName>
                            </p:attrNameLst>
                          </p:cBhvr>
                          <p:to>
                            <p:strVal val="visible"/>
                          </p:to>
                        </p:set>
                        <p:animEffect transition="in" filter="wipe(up)">
                          <p:cBhvr>
                            <p:cTn id="20" dur="700" fill="hold"/>
                            <p:tgtEl>
                              <p:spTgt spid="56">
                                <p:graphicEl>
                                  <a:chart bldStep="ptInSeries" seriesIdx="1" categoryIdx="0"/>
                                </p:graphicEl>
                              </p:spTgt>
                            </p:tgtEl>
                          </p:cBhvr>
                        </p:animEffect>
                      </p:childTnLst>
                    </p:cTn>
                  </p:par>
                  <p:par>
                    <p:cTn id="21" nodeType="withEffect" fill="hold" presetID="22" presetClass="entr" grpId="0">
                      <p:stCondLst>
                        <p:cond delay="265"/>
                      </p:stCondLst>
                      <p:childTnLst>
                        <p:set>
                          <p:cBhvr>
                            <p:cTn id="22" dur="1" fill="hold">
                              <p:stCondLst>
                                <p:cond delay="0"/>
                              </p:stCondLst>
                            </p:cTn>
                            <p:tgtEl>
                              <p:spTgt spid="56">
                                <p:graphicEl>
                                  <a:chart bldStep="ptInSeries" seriesIdx="1" categoryIdx="1"/>
                                </p:graphicEl>
                              </p:spTgt>
                            </p:tgtEl>
                            <p:attrNameLst>
                              <p:attrName>style.visibility</p:attrName>
                            </p:attrNameLst>
                          </p:cBhvr>
                          <p:to>
                            <p:strVal val="visible"/>
                          </p:to>
                        </p:set>
                        <p:animEffect transition="in" filter="wipe(up)">
                          <p:cBhvr>
                            <p:cTn id="23" dur="700" fill="hold"/>
                            <p:tgtEl>
                              <p:spTgt spid="56">
                                <p:graphicEl>
                                  <a:chart bldStep="ptInSeries" seriesIdx="1" categoryIdx="1"/>
                                </p:graphicEl>
                              </p:spTgt>
                            </p:tgtEl>
                          </p:cBhvr>
                        </p:animEffect>
                      </p:childTnLst>
                    </p:cTn>
                  </p:par>
                  <p:par>
                    <p:cTn id="24" nodeType="withEffect" fill="hold" presetID="22" presetClass="entr" grpId="0">
                      <p:stCondLst>
                        <p:cond delay="435"/>
                      </p:stCondLst>
                      <p:childTnLst>
                        <p:set>
                          <p:cBhvr>
                            <p:cTn id="25" dur="1" fill="hold">
                              <p:stCondLst>
                                <p:cond delay="0"/>
                              </p:stCondLst>
                            </p:cTn>
                            <p:tgtEl>
                              <p:spTgt spid="56">
                                <p:graphicEl>
                                  <a:chart bldStep="ptInSeries" seriesIdx="1" categoryIdx="2"/>
                                </p:graphicEl>
                              </p:spTgt>
                            </p:tgtEl>
                            <p:attrNameLst>
                              <p:attrName>style.visibility</p:attrName>
                            </p:attrNameLst>
                          </p:cBhvr>
                          <p:to>
                            <p:strVal val="visible"/>
                          </p:to>
                        </p:set>
                        <p:animEffect transition="in" filter="wipe(up)">
                          <p:cBhvr>
                            <p:cTn id="26" dur="700" fill="hold"/>
                            <p:tgtEl>
                              <p:spTgt spid="56">
                                <p:graphicEl>
                                  <a:chart bldStep="ptInSeries" seriesIdx="1" categoryIdx="2"/>
                                </p:graphicEl>
                              </p:spTgt>
                            </p:tgtEl>
                          </p:cBhvr>
                        </p:animEffect>
                      </p:childTnLst>
                    </p:cTn>
                  </p:par>
                  <p:par>
                    <p:cTn id="27" nodeType="withEffect" fill="hold" presetID="22" presetClass="entr" grpId="0">
                      <p:stCondLst>
                        <p:cond delay="605"/>
                      </p:stCondLst>
                      <p:childTnLst>
                        <p:set>
                          <p:cBhvr>
                            <p:cTn id="28" dur="1" fill="hold">
                              <p:stCondLst>
                                <p:cond delay="0"/>
                              </p:stCondLst>
                            </p:cTn>
                            <p:tgtEl>
                              <p:spTgt spid="56">
                                <p:graphicEl>
                                  <a:chart bldStep="ptInSeries" seriesIdx="1" categoryIdx="3"/>
                                </p:graphicEl>
                              </p:spTgt>
                            </p:tgtEl>
                            <p:attrNameLst>
                              <p:attrName>style.visibility</p:attrName>
                            </p:attrNameLst>
                          </p:cBhvr>
                          <p:to>
                            <p:strVal val="visible"/>
                          </p:to>
                        </p:set>
                        <p:animEffect transition="in" filter="wipe(up)">
                          <p:cBhvr>
                            <p:cTn id="29" dur="700" fill="hold"/>
                            <p:tgtEl>
                              <p:spTgt spid="56">
                                <p:graphicEl>
                                  <a:chart bldStep="ptInSeries" seriesIdx="1" categoryIdx="3"/>
                                </p:graphicEl>
                              </p:spTgt>
                            </p:tgtEl>
                          </p:cBhvr>
                        </p:animEffect>
                      </p:childTnLst>
                    </p:cTn>
                  </p:par>
                  <p:par>
                    <p:cTn id="30" nodeType="withEffect" fill="hold" presetID="22" presetClass="entr" grpId="0">
                      <p:stCondLst>
                        <p:cond delay="775"/>
                      </p:stCondLst>
                      <p:childTnLst>
                        <p:set>
                          <p:cBhvr>
                            <p:cTn id="31" dur="1" fill="hold">
                              <p:stCondLst>
                                <p:cond delay="0"/>
                              </p:stCondLst>
                            </p:cTn>
                            <p:tgtEl>
                              <p:spTgt spid="56">
                                <p:graphicEl>
                                  <a:chart bldStep="ptInSeries" seriesIdx="1" categoryIdx="4"/>
                                </p:graphicEl>
                              </p:spTgt>
                            </p:tgtEl>
                            <p:attrNameLst>
                              <p:attrName>style.visibility</p:attrName>
                            </p:attrNameLst>
                          </p:cBhvr>
                          <p:to>
                            <p:strVal val="visible"/>
                          </p:to>
                        </p:set>
                        <p:animEffect transition="in" filter="wipe(up)">
                          <p:cBhvr>
                            <p:cTn id="32" dur="700" fill="hold"/>
                            <p:tgtEl>
                              <p:spTgt spid="56">
                                <p:graphicEl>
                                  <a:chart bldStep="ptInSeries" seriesIdx="1" categoryIdx="4"/>
                                </p:graphicEl>
                              </p:spTgt>
                            </p:tgtEl>
                          </p:cBhvr>
                        </p:animEffect>
                      </p:childTnLst>
                    </p:cTn>
                  </p:par>
                  <p:par>
                    <p:cTn id="33" nodeType="withEffect" fill="hold" presetID="22" presetClass="entr" grpId="0">
                      <p:stCondLst>
                        <p:cond delay="190"/>
                      </p:stCondLst>
                      <p:childTnLst>
                        <p:set>
                          <p:cBhvr>
                            <p:cTn id="34" dur="1" fill="hold">
                              <p:stCondLst>
                                <p:cond delay="0"/>
                              </p:stCondLst>
                            </p:cTn>
                            <p:tgtEl>
                              <p:spTgt spid="56">
                                <p:graphicEl>
                                  <a:chart bldStep="ptInSeries" seriesIdx="2" categoryIdx="0"/>
                                </p:graphicEl>
                              </p:spTgt>
                            </p:tgtEl>
                            <p:attrNameLst>
                              <p:attrName>style.visibility</p:attrName>
                            </p:attrNameLst>
                          </p:cBhvr>
                          <p:to>
                            <p:strVal val="visible"/>
                          </p:to>
                        </p:set>
                        <p:animEffect transition="in" filter="wipe(up)">
                          <p:cBhvr>
                            <p:cTn id="35" dur="700" fill="hold"/>
                            <p:tgtEl>
                              <p:spTgt spid="56">
                                <p:graphicEl>
                                  <a:chart bldStep="ptInSeries" seriesIdx="2" categoryIdx="0"/>
                                </p:graphicEl>
                              </p:spTgt>
                            </p:tgtEl>
                          </p:cBhvr>
                        </p:animEffect>
                      </p:childTnLst>
                    </p:cTn>
                  </p:par>
                  <p:par>
                    <p:cTn id="36" nodeType="withEffect" fill="hold" presetID="22" presetClass="entr" grpId="0">
                      <p:stCondLst>
                        <p:cond delay="360"/>
                      </p:stCondLst>
                      <p:childTnLst>
                        <p:set>
                          <p:cBhvr>
                            <p:cTn id="37" dur="1" fill="hold">
                              <p:stCondLst>
                                <p:cond delay="0"/>
                              </p:stCondLst>
                            </p:cTn>
                            <p:tgtEl>
                              <p:spTgt spid="56">
                                <p:graphicEl>
                                  <a:chart bldStep="ptInSeries" seriesIdx="2" categoryIdx="1"/>
                                </p:graphicEl>
                              </p:spTgt>
                            </p:tgtEl>
                            <p:attrNameLst>
                              <p:attrName>style.visibility</p:attrName>
                            </p:attrNameLst>
                          </p:cBhvr>
                          <p:to>
                            <p:strVal val="visible"/>
                          </p:to>
                        </p:set>
                        <p:animEffect transition="in" filter="wipe(up)">
                          <p:cBhvr>
                            <p:cTn id="38" dur="700" fill="hold"/>
                            <p:tgtEl>
                              <p:spTgt spid="56">
                                <p:graphicEl>
                                  <a:chart bldStep="ptInSeries" seriesIdx="2" categoryIdx="1"/>
                                </p:graphicEl>
                              </p:spTgt>
                            </p:tgtEl>
                          </p:cBhvr>
                        </p:animEffect>
                      </p:childTnLst>
                    </p:cTn>
                  </p:par>
                  <p:par>
                    <p:cTn id="39" nodeType="withEffect" fill="hold" presetID="22" presetClass="entr" grpId="0">
                      <p:stCondLst>
                        <p:cond delay="530"/>
                      </p:stCondLst>
                      <p:childTnLst>
                        <p:set>
                          <p:cBhvr>
                            <p:cTn id="40" dur="1" fill="hold">
                              <p:stCondLst>
                                <p:cond delay="0"/>
                              </p:stCondLst>
                            </p:cTn>
                            <p:tgtEl>
                              <p:spTgt spid="56">
                                <p:graphicEl>
                                  <a:chart bldStep="ptInSeries" seriesIdx="2" categoryIdx="2"/>
                                </p:graphicEl>
                              </p:spTgt>
                            </p:tgtEl>
                            <p:attrNameLst>
                              <p:attrName>style.visibility</p:attrName>
                            </p:attrNameLst>
                          </p:cBhvr>
                          <p:to>
                            <p:strVal val="visible"/>
                          </p:to>
                        </p:set>
                        <p:animEffect transition="in" filter="wipe(up)">
                          <p:cBhvr>
                            <p:cTn id="41" dur="700" fill="hold"/>
                            <p:tgtEl>
                              <p:spTgt spid="56">
                                <p:graphicEl>
                                  <a:chart bldStep="ptInSeries" seriesIdx="2" categoryIdx="2"/>
                                </p:graphicEl>
                              </p:spTgt>
                            </p:tgtEl>
                          </p:cBhvr>
                        </p:animEffect>
                      </p:childTnLst>
                    </p:cTn>
                  </p:par>
                  <p:par>
                    <p:cTn id="42" nodeType="withEffect" fill="hold" presetID="22" presetClass="entr" grpId="0">
                      <p:stCondLst>
                        <p:cond delay="700"/>
                      </p:stCondLst>
                      <p:childTnLst>
                        <p:set>
                          <p:cBhvr>
                            <p:cTn id="43" dur="1" fill="hold">
                              <p:stCondLst>
                                <p:cond delay="0"/>
                              </p:stCondLst>
                            </p:cTn>
                            <p:tgtEl>
                              <p:spTgt spid="56">
                                <p:graphicEl>
                                  <a:chart bldStep="ptInSeries" seriesIdx="2" categoryIdx="3"/>
                                </p:graphicEl>
                              </p:spTgt>
                            </p:tgtEl>
                            <p:attrNameLst>
                              <p:attrName>style.visibility</p:attrName>
                            </p:attrNameLst>
                          </p:cBhvr>
                          <p:to>
                            <p:strVal val="visible"/>
                          </p:to>
                        </p:set>
                        <p:animEffect transition="in" filter="wipe(up)">
                          <p:cBhvr>
                            <p:cTn id="44" dur="700" fill="hold"/>
                            <p:tgtEl>
                              <p:spTgt spid="56">
                                <p:graphicEl>
                                  <a:chart bldStep="ptInSeries" seriesIdx="2" categoryIdx="3"/>
                                </p:graphicEl>
                              </p:spTgt>
                            </p:tgtEl>
                          </p:cBhvr>
                        </p:animEffect>
                      </p:childTnLst>
                    </p:cTn>
                  </p:par>
                  <p:par>
                    <p:cTn id="45" nodeType="withEffect" fill="hold" presetID="22" presetClass="entr" grpId="0">
                      <p:stCondLst>
                        <p:cond delay="870"/>
                      </p:stCondLst>
                      <p:childTnLst>
                        <p:set>
                          <p:cBhvr>
                            <p:cTn id="46" dur="1" fill="hold">
                              <p:stCondLst>
                                <p:cond delay="0"/>
                              </p:stCondLst>
                            </p:cTn>
                            <p:tgtEl>
                              <p:spTgt spid="56">
                                <p:graphicEl>
                                  <a:chart bldStep="ptInSeries" seriesIdx="2" categoryIdx="4"/>
                                </p:graphicEl>
                              </p:spTgt>
                            </p:tgtEl>
                            <p:attrNameLst>
                              <p:attrName>style.visibility</p:attrName>
                            </p:attrNameLst>
                          </p:cBhvr>
                          <p:to>
                            <p:strVal val="visible"/>
                          </p:to>
                        </p:set>
                        <p:animEffect transition="in" filter="wipe(up)">
                          <p:cBhvr>
                            <p:cTn id="47" dur="700" fill="hold"/>
                            <p:tgtEl>
                              <p:spTgt spid="56">
                                <p:graphicEl>
                                  <a:chart bldStep="ptInSeries" seriesIdx="2" categoryIdx="4"/>
                                </p:graphicEl>
                              </p:spTgt>
                            </p:tgtEl>
                          </p:cBhvr>
                        </p:animEffect>
                      </p:childTnLst>
                    </p:cTn>
                  </p:par>
                </p:childTnLst>
              </p:cTn>
              <p:prevCondLst>
                <p:cond evt="onPrev" delay="0">
                  <p:tgtEl>
                    <p:sldTgt/>
                  </p:tgtEl>
                </p:cond>
              </p:prevCondLst>
              <p:nextCondLst>
                <p:cond evt="onNext" delay="0">
                  <p:tgtEl>
                    <p:sldTgt/>
                  </p:tgtEl>
                </p:cond>
              </p:nextCondLst>
            </p:seq>
          </p:childTnLst>
        </p:cTn>
      </p:par>
    </p:tnLst>
    <p:bldLst>
      <p:bldGraphic spid="56" grpId="0">
        <p:bldSub>
          <a:bldChart bld="seriesEl" animBg="0"/>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AV_background" descr="background_18.jpg"/>
          <p:cNvPicPr>
            <a:picLocks noChangeAspect="1"/>
          </p:cNvPicPr>
          <p:nvPr/>
        </p:nvPicPr>
        <p:blipFill>
          <a:blip r:embed="rId3"/>
          <a:stretch>
            <a:fillRect/>
          </a:stretch>
        </p:blipFill>
        <p:spPr>
          <a:xfrm>
            <a:off x="0" y="0"/>
            <a:ext cx="12191999" cy="6858000"/>
          </a:xfrm>
          <a:prstGeom prst="rect">
            <a:avLst/>
          </a:prstGeom>
        </p:spPr>
      </p:pic>
      <p:pic>
        <p:nvPicPr>
          <p:cNvPr id="16" name="!!AV_drone" descr="drone_render.png"/>
          <p:cNvPicPr>
            <a:picLocks noChangeAspect="1"/>
          </p:cNvPicPr>
          <p:nvPr/>
        </p:nvPicPr>
        <p:blipFill>
          <a:blip r:embed="rId6"/>
          <a:stretch>
            <a:fillRect/>
          </a:stretch>
        </p:blipFill>
        <p:spPr>
          <a:xfrm>
            <a:off x="10442448" y="722376"/>
            <a:ext cx="1024128" cy="640080"/>
          </a:xfrm>
          <a:prstGeom prst="rect">
            <a:avLst/>
          </a:prstGeom>
        </p:spPr>
      </p:pic>
      <p:sp>
        <p:nvSpPr>
          <p:cNvPr id="21" name="Rectangle 20"/>
          <p:cNvSpPr/>
          <p:nvPr/>
        </p:nvSpPr>
        <p:spPr>
          <a:xfrm>
            <a:off x="320040" y="256032"/>
            <a:ext cx="11567160" cy="6117336"/>
          </a:xfrm>
          <a:prstGeom prst="rect">
            <a:avLst/>
          </a:prstGeom>
          <a:solidFill>
            <a:srgbClr val="0A1B19">
              <a:alpha val="9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393192"/>
            <a:ext cx="10789920" cy="320040"/>
          </a:xfrm>
          <a:prstGeom prst="rect">
            <a:avLst/>
          </a:prstGeom>
          <a:noFill/>
        </p:spPr>
        <p:txBody>
          <a:bodyPr wrap="square" lIns="0" rIns="0" tIns="0">
            <a:spAutoFit/>
          </a:bodyPr>
          <a:lstStyle/>
          <a:p>
            <a:pPr>
              <a:spcAft>
                <a:spcPts val="1000"/>
              </a:spcAft>
              <a:defRPr sz="1300" b="1">
                <a:solidFill>
                  <a:srgbClr val="D6ED89"/>
                </a:solidFill>
                <a:latin typeface="Arial"/>
              </a:defRPr>
            </a:pPr>
            <a:r>
              <a:t>АГРОВЕКТОР / 18 / NPV И ЧУВСТВИТЕЛЬНОСТЬ</a:t>
            </a:r>
          </a:p>
        </p:txBody>
      </p:sp>
      <p:sp>
        <p:nvSpPr>
          <p:cNvPr id="23" name="TextBox 22"/>
          <p:cNvSpPr txBox="1"/>
          <p:nvPr/>
        </p:nvSpPr>
        <p:spPr>
          <a:xfrm>
            <a:off x="566928" y="914400"/>
            <a:ext cx="10972800" cy="548640"/>
          </a:xfrm>
          <a:prstGeom prst="rect">
            <a:avLst/>
          </a:prstGeom>
          <a:noFill/>
        </p:spPr>
        <p:txBody>
          <a:bodyPr wrap="square" lIns="0" rIns="0" tIns="0">
            <a:spAutoFit/>
          </a:bodyPr>
          <a:lstStyle/>
          <a:p>
            <a:pPr>
              <a:spcAft>
                <a:spcPts val="1000"/>
              </a:spcAft>
              <a:defRPr sz="2700" b="1">
                <a:solidFill>
                  <a:srgbClr val="FFFFFF"/>
                </a:solidFill>
                <a:latin typeface="Arial"/>
              </a:defRPr>
            </a:pPr>
            <a:r>
              <a:rPr sz="2700" b="1">
                <a:solidFill>
                  <a:srgbClr val="FFFFFF"/>
                </a:solidFill>
                <a:latin typeface="Arial"/>
              </a:rPr>
              <a:t>Базовый NPV сохранен; устойчивость зависит от ресурса одной бригады</a:t>
            </a:r>
          </a:p>
        </p:txBody>
      </p:sp>
      <p:sp>
        <p:nvSpPr>
          <p:cNvPr id="24" name="TextBox 23"/>
          <p:cNvSpPr txBox="1"/>
          <p:nvPr/>
        </p:nvSpPr>
        <p:spPr>
          <a:xfrm>
            <a:off x="566928" y="6519672"/>
            <a:ext cx="10698480" cy="201168"/>
          </a:xfrm>
          <a:prstGeom prst="rect">
            <a:avLst/>
          </a:prstGeom>
          <a:noFill/>
        </p:spPr>
        <p:txBody>
          <a:bodyPr wrap="square" lIns="0" rIns="0" tIns="0">
            <a:spAutoFit/>
          </a:bodyPr>
          <a:lstStyle/>
          <a:p>
            <a:pPr>
              <a:spcAft>
                <a:spcPts val="1000"/>
              </a:spcAft>
              <a:defRPr sz="900" b="0">
                <a:solidFill>
                  <a:srgbClr val="CCDACF"/>
                </a:solidFill>
                <a:latin typeface="Arial"/>
              </a:defRPr>
            </a:pPr>
            <a:r>
              <a:t>Проектные гипотезы и расчеты; не подтвержденный бизнес. Референс: Практика 08.10.26. / Редакция 21.10.2026</a:t>
            </a:r>
          </a:p>
        </p:txBody>
      </p:sp>
      <p:sp>
        <p:nvSpPr>
          <p:cNvPr id="25" name="TextBox 24"/>
          <p:cNvSpPr txBox="1"/>
          <p:nvPr/>
        </p:nvSpPr>
        <p:spPr>
          <a:xfrm>
            <a:off x="11082528" y="6501384"/>
            <a:ext cx="640080" cy="219456"/>
          </a:xfrm>
          <a:prstGeom prst="rect">
            <a:avLst/>
          </a:prstGeom>
          <a:noFill/>
        </p:spPr>
        <p:txBody>
          <a:bodyPr wrap="square" lIns="0" rIns="0" tIns="0">
            <a:spAutoFit/>
          </a:bodyPr>
          <a:lstStyle/>
          <a:p>
            <a:pPr>
              <a:spcAft>
                <a:spcPts val="1000"/>
              </a:spcAft>
              <a:defRPr sz="1000" b="1">
                <a:solidFill>
                  <a:srgbClr val="D6ED89"/>
                </a:solidFill>
                <a:latin typeface="Arial"/>
              </a:defRPr>
            </a:pPr>
            <a:r>
              <a:t>18/22</a:t>
            </a:r>
          </a:p>
        </p:txBody>
      </p:sp>
      <p:sp>
        <p:nvSpPr>
          <p:cNvPr id="26" name="Rectangle 25"/>
          <p:cNvSpPr/>
          <p:nvPr/>
        </p:nvSpPr>
        <p:spPr>
          <a:xfrm>
            <a:off x="594360" y="1801368"/>
            <a:ext cx="3749039" cy="4023360"/>
          </a:xfrm>
          <a:prstGeom prst="rect">
            <a:avLst/>
          </a:prstGeom>
          <a:solidFill>
            <a:srgbClr val="0A1B19">
              <a:alpha val="9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1892807"/>
            <a:ext cx="3511296" cy="384048"/>
          </a:xfrm>
          <a:prstGeom prst="rect">
            <a:avLst/>
          </a:prstGeom>
          <a:noFill/>
        </p:spPr>
        <p:txBody>
          <a:bodyPr wrap="square" lIns="0" rIns="0" tIns="0">
            <a:spAutoFit/>
          </a:bodyPr>
          <a:lstStyle/>
          <a:p>
            <a:pPr>
              <a:spcAft>
                <a:spcPts val="1000"/>
              </a:spcAft>
              <a:defRPr sz="1300" b="1">
                <a:solidFill>
                  <a:srgbClr val="D6ED89"/>
                </a:solidFill>
                <a:latin typeface="Arial"/>
              </a:defRPr>
            </a:pPr>
            <a:r>
              <a:t>СТАВКА 24% / 5 ЛЕТ</a:t>
            </a:r>
          </a:p>
        </p:txBody>
      </p:sp>
      <p:sp>
        <p:nvSpPr>
          <p:cNvPr id="28" name="TextBox 27"/>
          <p:cNvSpPr txBox="1"/>
          <p:nvPr/>
        </p:nvSpPr>
        <p:spPr>
          <a:xfrm>
            <a:off x="713232" y="2340864"/>
            <a:ext cx="3511296" cy="3438144"/>
          </a:xfrm>
          <a:prstGeom prst="rect">
            <a:avLst/>
          </a:prstGeom>
          <a:noFill/>
        </p:spPr>
        <p:txBody>
          <a:bodyPr wrap="square" lIns="0" rIns="0" tIns="0">
            <a:spAutoFit/>
          </a:bodyPr>
          <a:lstStyle/>
          <a:p>
            <a:pPr>
              <a:spcAft>
                <a:spcPts val="500"/>
              </a:spcAft>
              <a:defRPr sz="1900" b="0">
                <a:solidFill>
                  <a:srgbClr val="FFFFFF"/>
                </a:solidFill>
                <a:latin typeface="Arial"/>
              </a:defRPr>
            </a:pPr>
            <a:r>
              <a:rPr sz="1900" b="0">
                <a:solidFill>
                  <a:srgbClr val="FFFFFF"/>
                </a:solidFill>
                <a:latin typeface="Arial"/>
              </a:rPr>
              <a:t>NPV базы: −1,068 млн ₽</a:t>
            </a:r>
          </a:p>
          <a:p>
            <a:pPr>
              <a:spcAft>
                <a:spcPts val="500"/>
              </a:spcAft>
              <a:defRPr sz="1900" b="0">
                <a:solidFill>
                  <a:srgbClr val="FFFFFF"/>
                </a:solidFill>
                <a:latin typeface="Arial"/>
              </a:defRPr>
            </a:pPr>
            <a:r>
              <a:rPr sz="1900" b="0">
                <a:solidFill>
                  <a:srgbClr val="FFFFFF"/>
                </a:solidFill>
                <a:latin typeface="Arial"/>
              </a:rPr>
              <a:t>Окупаемость: 3,68 года;</a:t>
            </a:r>
          </a:p>
          <a:p>
            <a:pPr>
              <a:spcAft>
                <a:spcPts val="500"/>
              </a:spcAft>
              <a:defRPr sz="1900" b="0">
                <a:solidFill>
                  <a:srgbClr val="FFFFFF"/>
                </a:solidFill>
                <a:latin typeface="Arial"/>
              </a:defRPr>
            </a:pPr>
            <a:r>
              <a:rPr sz="1900" b="0">
                <a:solidFill>
                  <a:srgbClr val="FFFFFF"/>
                </a:solidFill>
                <a:latin typeface="Arial"/>
              </a:rPr>
              <a:t>дисконтир.: не достигнута</a:t>
            </a:r>
          </a:p>
          <a:p>
            <a:pPr>
              <a:spcAft>
                <a:spcPts val="500"/>
              </a:spcAft>
              <a:defRPr sz="1900" b="0">
                <a:solidFill>
                  <a:srgbClr val="FFFFFF"/>
                </a:solidFill>
                <a:latin typeface="Arial"/>
              </a:defRPr>
            </a:pPr>
            <a:r>
              <a:rPr sz="1900" b="0">
                <a:solidFill>
                  <a:srgbClr val="FFFFFF"/>
                </a:solidFill>
                <a:latin typeface="Arial"/>
              </a:rPr>
              <a:t>за 5 лет.</a:t>
            </a:r>
          </a:p>
          <a:p>
            <a:pPr>
              <a:spcAft>
                <a:spcPts val="500"/>
              </a:spcAft>
              <a:defRPr sz="1900" b="0">
                <a:solidFill>
                  <a:srgbClr val="FFFFFF"/>
                </a:solidFill>
                <a:latin typeface="Arial"/>
              </a:defRPr>
            </a:pPr>
            <a:r>
              <a:rPr sz="1900" b="0">
                <a:solidFill>
                  <a:srgbClr val="FFFFFF"/>
                </a:solidFill>
                <a:latin typeface="Arial"/>
              </a:rPr>
              <a:t>Цена внесения: 1 450 ₽/га-проход</a:t>
            </a:r>
          </a:p>
          <a:p>
            <a:pPr>
              <a:spcAft>
                <a:spcPts val="500"/>
              </a:spcAft>
              <a:defRPr sz="1900" b="0">
                <a:solidFill>
                  <a:srgbClr val="FFFFFF"/>
                </a:solidFill>
                <a:latin typeface="Arial"/>
              </a:defRPr>
            </a:pPr>
            <a:r>
              <a:rPr sz="1900" b="0">
                <a:solidFill>
                  <a:srgbClr val="FFFFFF"/>
                </a:solidFill>
                <a:latin typeface="Arial"/>
              </a:rPr>
              <a:t>20 дней: NPV +1,007 млн ₽</a:t>
            </a:r>
          </a:p>
          <a:p>
            <a:pPr>
              <a:spcAft>
                <a:spcPts val="500"/>
              </a:spcAft>
              <a:defRPr sz="1900" b="0">
                <a:solidFill>
                  <a:srgbClr val="FFFFFF"/>
                </a:solidFill>
                <a:latin typeface="Arial"/>
              </a:defRPr>
            </a:pPr>
            <a:r>
              <a:rPr sz="1900" b="0">
                <a:solidFill>
                  <a:srgbClr val="FFFFFF"/>
                </a:solidFill>
                <a:latin typeface="Arial"/>
              </a:rPr>
              <a:t>16 дней: NPV −1,516 млн ₽</a:t>
            </a:r>
          </a:p>
          <a:p>
            <a:pPr>
              <a:spcAft>
                <a:spcPts val="500"/>
              </a:spcAft>
              <a:defRPr sz="1900" b="0">
                <a:solidFill>
                  <a:srgbClr val="FFFFFF"/>
                </a:solidFill>
                <a:latin typeface="Arial"/>
              </a:defRPr>
            </a:pPr>
            <a:r>
              <a:rPr sz="1900" b="0">
                <a:solidFill>
                  <a:srgbClr val="FFFFFF"/>
                </a:solidFill>
                <a:latin typeface="Arial"/>
              </a:rPr>
              <a:t>Это сценарии, не новая база.</a:t>
            </a:r>
            <a:endParaRPr/>
          </a:p>
        </p:txBody>
      </p:sp>
      <p:graphicFrame>
        <p:nvGraphicFramePr>
          <p:cNvPr id="29" name="Chart 28"/>
          <p:cNvGraphicFramePr>
            <a:graphicFrameLocks noGrp="1"/>
          </p:cNvGraphicFramePr>
          <p:nvPr/>
        </p:nvGraphicFramePr>
        <p:xfrm>
          <a:off x="4535424" y="1847088"/>
          <a:ext cx="6903720" cy="3886200"/>
        </p:xfrm>
        <a:graphic>
          <a:graphicData uri="http://schemas.openxmlformats.org/drawingml/2006/chart">
            <c:chart xmlns:c="http://schemas.openxmlformats.org/drawingml/2006/chart" r:id="rId9"/>
          </a:graphicData>
        </a:graphic>
      </p:graphicFrame>
    </p:spTree>
  </p:cSld>
  <p:clrMapOvr>
    <a:masterClrMapping/>
  </p:clrMapOvr>
  <mc:AlternateContent xmlns:mc="http://schemas.openxmlformats.org/markup-compatibility/2006">
    <mc:Choice xmlns:p159="http://schemas.microsoft.com/office/powerpoint/2015/09/main" Requires="p159">
      <p:transition spd="slow" advClick="1">
        <p159:morph option="byObject"/>
      </p:transition>
    </mc:Choice>
    <mc:Fallback>
      <p:transition spd="med" advClick="1">
        <p:fade/>
      </p:transition>
    </mc:Fallback>
  </mc:AlternateContent>
  <p:timing>
    <p:tnLst>
      <p:par>
        <p:cTn id="1" dur="indefinite" restart="never" nodeType="tmRoot">
          <p:childTnLst>
            <p:seq concurrent="1" nextAc="seek">
              <p:cTn id="2" dur="indefinite" nodeType="mainSeq">
                <p:childTnLst>
                  <p:par>
                    <p:cTn id="3" nodeType="withEffect" fill="hold" presetID="22" presetClass="entr" grpId="0">
                      <p:stCondLst>
                        <p:cond delay="0"/>
                      </p:stCondLst>
                      <p:childTnLst>
                        <p:set>
                          <p:cBhvr>
                            <p:cTn id="4" dur="1" fill="hold">
                              <p:stCondLst>
                                <p:cond delay="0"/>
                              </p:stCondLst>
                            </p:cTn>
                            <p:tgtEl>
                              <p:spTgt spid="29">
                                <p:graphicEl>
                                  <a:chart bldStep="ptInSeries" seriesIdx="0" categoryIdx="0"/>
                                </p:graphicEl>
                              </p:spTgt>
                            </p:tgtEl>
                            <p:attrNameLst>
                              <p:attrName>style.visibility</p:attrName>
                            </p:attrNameLst>
                          </p:cBhvr>
                          <p:to>
                            <p:strVal val="visible"/>
                          </p:to>
                        </p:set>
                        <p:animEffect transition="in" filter="wipe(left)">
                          <p:cBhvr>
                            <p:cTn id="5" dur="700" fill="hold"/>
                            <p:tgtEl>
                              <p:spTgt spid="29">
                                <p:graphicEl>
                                  <a:chart bldStep="ptInSeries" seriesIdx="0" categoryIdx="0"/>
                                </p:graphicEl>
                              </p:spTgt>
                            </p:tgtEl>
                          </p:cBhvr>
                        </p:animEffect>
                      </p:childTnLst>
                    </p:cTn>
                  </p:par>
                  <p:par>
                    <p:cTn id="6" nodeType="withEffect" fill="hold" presetID="22" presetClass="entr" grpId="0">
                      <p:stCondLst>
                        <p:cond delay="170"/>
                      </p:stCondLst>
                      <p:childTnLst>
                        <p:set>
                          <p:cBhvr>
                            <p:cTn id="7" dur="1" fill="hold">
                              <p:stCondLst>
                                <p:cond delay="0"/>
                              </p:stCondLst>
                            </p:cTn>
                            <p:tgtEl>
                              <p:spTgt spid="29">
                                <p:graphicEl>
                                  <a:chart bldStep="ptInSeries" seriesIdx="0" categoryIdx="1"/>
                                </p:graphicEl>
                              </p:spTgt>
                            </p:tgtEl>
                            <p:attrNameLst>
                              <p:attrName>style.visibility</p:attrName>
                            </p:attrNameLst>
                          </p:cBhvr>
                          <p:to>
                            <p:strVal val="visible"/>
                          </p:to>
                        </p:set>
                        <p:animEffect transition="in" filter="wipe(left)">
                          <p:cBhvr>
                            <p:cTn id="8" dur="700" fill="hold"/>
                            <p:tgtEl>
                              <p:spTgt spid="29">
                                <p:graphicEl>
                                  <a:chart bldStep="ptInSeries" seriesIdx="0" categoryIdx="1"/>
                                </p:graphicEl>
                              </p:spTgt>
                            </p:tgtEl>
                          </p:cBhvr>
                        </p:animEffect>
                      </p:childTnLst>
                    </p:cTn>
                  </p:par>
                  <p:par>
                    <p:cTn id="9" nodeType="withEffect" fill="hold" presetID="22" presetClass="entr" grpId="0">
                      <p:stCondLst>
                        <p:cond delay="340"/>
                      </p:stCondLst>
                      <p:childTnLst>
                        <p:set>
                          <p:cBhvr>
                            <p:cTn id="10" dur="1" fill="hold">
                              <p:stCondLst>
                                <p:cond delay="0"/>
                              </p:stCondLst>
                            </p:cTn>
                            <p:tgtEl>
                              <p:spTgt spid="29">
                                <p:graphicEl>
                                  <a:chart bldStep="ptInSeries" seriesIdx="0" categoryIdx="2"/>
                                </p:graphicEl>
                              </p:spTgt>
                            </p:tgtEl>
                            <p:attrNameLst>
                              <p:attrName>style.visibility</p:attrName>
                            </p:attrNameLst>
                          </p:cBhvr>
                          <p:to>
                            <p:strVal val="visible"/>
                          </p:to>
                        </p:set>
                        <p:animEffect transition="in" filter="wipe(left)">
                          <p:cBhvr>
                            <p:cTn id="11" dur="700" fill="hold"/>
                            <p:tgtEl>
                              <p:spTgt spid="29">
                                <p:graphicEl>
                                  <a:chart bldStep="ptInSeries" seriesIdx="0" categoryIdx="2"/>
                                </p:graphicEl>
                              </p:spTgt>
                            </p:tgtEl>
                          </p:cBhvr>
                        </p:animEffect>
                      </p:childTnLst>
                    </p:cTn>
                  </p:par>
                  <p:par>
                    <p:cTn id="12" nodeType="withEffect" fill="hold" presetID="22" presetClass="entr" grpId="0">
                      <p:stCondLst>
                        <p:cond delay="510"/>
                      </p:stCondLst>
                      <p:childTnLst>
                        <p:set>
                          <p:cBhvr>
                            <p:cTn id="13" dur="1" fill="hold">
                              <p:stCondLst>
                                <p:cond delay="0"/>
                              </p:stCondLst>
                            </p:cTn>
                            <p:tgtEl>
                              <p:spTgt spid="29">
                                <p:graphicEl>
                                  <a:chart bldStep="ptInSeries" seriesIdx="0" categoryIdx="3"/>
                                </p:graphicEl>
                              </p:spTgt>
                            </p:tgtEl>
                            <p:attrNameLst>
                              <p:attrName>style.visibility</p:attrName>
                            </p:attrNameLst>
                          </p:cBhvr>
                          <p:to>
                            <p:strVal val="visible"/>
                          </p:to>
                        </p:set>
                        <p:animEffect transition="in" filter="wipe(left)">
                          <p:cBhvr>
                            <p:cTn id="14" dur="700" fill="hold"/>
                            <p:tgtEl>
                              <p:spTgt spid="29">
                                <p:graphicEl>
                                  <a:chart bldStep="ptInSeries" seriesIdx="0" categoryIdx="3"/>
                                </p:graphicEl>
                              </p:spTgt>
                            </p:tgtEl>
                          </p:cBhvr>
                        </p:animEffect>
                      </p:childTnLst>
                    </p:cTn>
                  </p:par>
                  <p:par>
                    <p:cTn id="15" nodeType="withEffect" fill="hold" presetID="22" presetClass="entr" grpId="0">
                      <p:stCondLst>
                        <p:cond delay="680"/>
                      </p:stCondLst>
                      <p:childTnLst>
                        <p:set>
                          <p:cBhvr>
                            <p:cTn id="16" dur="1" fill="hold">
                              <p:stCondLst>
                                <p:cond delay="0"/>
                              </p:stCondLst>
                            </p:cTn>
                            <p:tgtEl>
                              <p:spTgt spid="29">
                                <p:graphicEl>
                                  <a:chart bldStep="ptInSeries" seriesIdx="0" categoryIdx="4"/>
                                </p:graphicEl>
                              </p:spTgt>
                            </p:tgtEl>
                            <p:attrNameLst>
                              <p:attrName>style.visibility</p:attrName>
                            </p:attrNameLst>
                          </p:cBhvr>
                          <p:to>
                            <p:strVal val="visible"/>
                          </p:to>
                        </p:set>
                        <p:animEffect transition="in" filter="wipe(left)">
                          <p:cBhvr>
                            <p:cTn id="17" dur="700" fill="hold"/>
                            <p:tgtEl>
                              <p:spTgt spid="29">
                                <p:graphicEl>
                                  <a:chart bldStep="ptInSeries" seriesIdx="0" categoryIdx="4"/>
                                </p:graphicEl>
                              </p:spTgt>
                            </p:tgtEl>
                          </p:cBhvr>
                        </p:animEffect>
                      </p:childTnLst>
                    </p:cTn>
                  </p:par>
                  <p:par>
                    <p:cTn id="18" nodeType="withEffect" fill="hold" presetID="22" presetClass="entr" grpId="0">
                      <p:stCondLst>
                        <p:cond delay="850"/>
                      </p:stCondLst>
                      <p:childTnLst>
                        <p:set>
                          <p:cBhvr>
                            <p:cTn id="19" dur="1" fill="hold">
                              <p:stCondLst>
                                <p:cond delay="0"/>
                              </p:stCondLst>
                            </p:cTn>
                            <p:tgtEl>
                              <p:spTgt spid="29">
                                <p:graphicEl>
                                  <a:chart bldStep="ptInSeries" seriesIdx="0" categoryIdx="5"/>
                                </p:graphicEl>
                              </p:spTgt>
                            </p:tgtEl>
                            <p:attrNameLst>
                              <p:attrName>style.visibility</p:attrName>
                            </p:attrNameLst>
                          </p:cBhvr>
                          <p:to>
                            <p:strVal val="visible"/>
                          </p:to>
                        </p:set>
                        <p:animEffect transition="in" filter="wipe(left)">
                          <p:cBhvr>
                            <p:cTn id="20" dur="700" fill="hold"/>
                            <p:tgtEl>
                              <p:spTgt spid="29">
                                <p:graphicEl>
                                  <a:chart bldStep="ptInSeries" seriesIdx="0" categoryIdx="5"/>
                                </p:graphicEl>
                              </p:spTgt>
                            </p:tgtEl>
                          </p:cBhvr>
                        </p:animEffect>
                      </p:childTnLst>
                    </p:cTn>
                  </p:par>
                </p:childTnLst>
              </p:cTn>
              <p:prevCondLst>
                <p:cond evt="onPrev" delay="0">
                  <p:tgtEl>
                    <p:sldTgt/>
                  </p:tgtEl>
                </p:cond>
              </p:prevCondLst>
              <p:nextCondLst>
                <p:cond evt="onNext" delay="0">
                  <p:tgtEl>
                    <p:sldTgt/>
                  </p:tgtEl>
                </p:cond>
              </p:nextCondLst>
            </p:seq>
          </p:childTnLst>
        </p:cTn>
      </p:par>
    </p:tnLst>
    <p:bldLst>
      <p:bldGraphic spid="29" grpId="0">
        <p:bldSub>
          <a:bldChart bld="seriesEl" animBg="0"/>
        </p:bldSub>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19.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19  /  ПОТРЕБНОСТЬ В ИНВЕСТИЦИЯХ</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9,5 млн ₽ — базовый бюджет, не подтвержденная закупка</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 РАСЧЕТ] CAPEX 7,0 + запуск 0,5 + резерв 2,0 млн ₽</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Пара XAG P100 Pro: публичный ориентир 5,98 млн ₽ вместо 4,0</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rPr sz="2200" b="0">
                <a:solidFill>
                  <a:srgbClr val="FFFFFF"/>
                </a:solidFill>
                <a:latin typeface="Arial"/>
              </a:rPr>
              <a:t>Кассовый стресс: лаг 1 мес. −417 800 ₽; 2 мес. −1 568 400 ₽.</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21.10.2026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19/22</a:t>
            </a:r>
          </a:p>
        </p:txBody>
      </p:sp>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
        <p:nvSpPr>
          <p:cNvPr id="18" name="Rectangle 17"/>
          <p:cNvSpPr/>
          <p:nvPr/>
        </p:nvSpPr>
        <p:spPr>
          <a:xfrm>
            <a:off x="6720840" y="2606040"/>
            <a:ext cx="4892040" cy="3429000"/>
          </a:xfrm>
          <a:prstGeom prst="rect">
            <a:avLst/>
          </a:prstGeom>
          <a:solidFill>
            <a:srgbClr val="0A1B19">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49440" y="2706624"/>
            <a:ext cx="4389120" cy="320040"/>
          </a:xfrm>
          <a:prstGeom prst="rect">
            <a:avLst/>
          </a:prstGeom>
          <a:noFill/>
        </p:spPr>
        <p:txBody>
          <a:bodyPr wrap="square" lIns="0" tIns="0" rIns="0">
            <a:spAutoFit/>
          </a:bodyPr>
          <a:lstStyle/>
          <a:p>
            <a:pPr>
              <a:spcAft>
                <a:spcPts val="1000"/>
              </a:spcAft>
              <a:defRPr sz="1200" b="1">
                <a:solidFill>
                  <a:srgbClr val="D6ED89"/>
                </a:solidFill>
                <a:latin typeface="Arial"/>
              </a:defRPr>
            </a:pPr>
            <a:r>
              <a:t>СТАРТОВАЯ ПОТРЕБНОСТЬ: 9,5 МЛН РУБ.</a:t>
            </a:r>
          </a:p>
        </p:txBody>
      </p:sp>
      <p:graphicFrame>
        <p:nvGraphicFramePr>
          <p:cNvPr id="20" name="AV_DONUT_19"/>
          <p:cNvGraphicFramePr>
            <a:graphicFrameLocks noGrp="1"/>
          </p:cNvGraphicFramePr>
          <p:nvPr/>
        </p:nvGraphicFramePr>
        <p:xfrm>
          <a:off x="6949440" y="3154680"/>
          <a:ext cx="4434840" cy="2560320"/>
        </p:xfrm>
        <a:graphic>
          <a:graphicData uri="http://schemas.openxmlformats.org/drawingml/2006/chart">
            <c:chart xmlns:c="http://schemas.openxmlformats.org/drawingml/2006/chart" xmlns:r="http://schemas.openxmlformats.org/officeDocument/2006/relationships" r:id="rId6"/>
          </a:graphicData>
        </a:graphic>
      </p:graphicFrame>
      <p:sp>
        <p:nvSpPr>
          <p:cNvPr id="21" name="Rectangle 20"/>
          <p:cNvSpPr/>
          <p:nvPr/>
        </p:nvSpPr>
        <p:spPr>
          <a:xfrm>
            <a:off x="6885432" y="5852160"/>
            <a:ext cx="64008" cy="914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95160" y="5760720"/>
            <a:ext cx="1371600" cy="320040"/>
          </a:xfrm>
          <a:prstGeom prst="rect">
            <a:avLst/>
          </a:prstGeom>
          <a:noFill/>
        </p:spPr>
        <p:txBody>
          <a:bodyPr wrap="square" lIns="0" tIns="0" rIns="0">
            <a:spAutoFit/>
          </a:bodyPr>
          <a:lstStyle/>
          <a:p>
            <a:pPr>
              <a:spcAft>
                <a:spcPts val="1000"/>
              </a:spcAft>
              <a:defRPr sz="1000" b="0">
                <a:solidFill>
                  <a:srgbClr val="FFFFFF"/>
                </a:solidFill>
                <a:latin typeface="Arial"/>
              </a:defRPr>
            </a:pPr>
            <a:r>
              <a:t>CAPEX 7</a:t>
            </a:r>
          </a:p>
        </p:txBody>
      </p:sp>
      <p:sp>
        <p:nvSpPr>
          <p:cNvPr id="23" name="Rectangle 22"/>
          <p:cNvSpPr/>
          <p:nvPr/>
        </p:nvSpPr>
        <p:spPr>
          <a:xfrm>
            <a:off x="8394192" y="5852160"/>
            <a:ext cx="64008" cy="91440"/>
          </a:xfrm>
          <a:prstGeom prst="rect">
            <a:avLst/>
          </a:prstGeom>
          <a:solidFill>
            <a:srgbClr val="E7AE65">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503919" y="5760720"/>
            <a:ext cx="1371600" cy="320040"/>
          </a:xfrm>
          <a:prstGeom prst="rect">
            <a:avLst/>
          </a:prstGeom>
          <a:noFill/>
        </p:spPr>
        <p:txBody>
          <a:bodyPr wrap="square" lIns="0" tIns="0" rIns="0">
            <a:spAutoFit/>
          </a:bodyPr>
          <a:lstStyle/>
          <a:p>
            <a:pPr>
              <a:spcAft>
                <a:spcPts val="1000"/>
              </a:spcAft>
              <a:defRPr sz="1000" b="0">
                <a:solidFill>
                  <a:srgbClr val="FFFFFF"/>
                </a:solidFill>
                <a:latin typeface="Arial"/>
              </a:defRPr>
            </a:pPr>
            <a:r>
              <a:t>Запуск 0,5</a:t>
            </a:r>
          </a:p>
        </p:txBody>
      </p:sp>
      <p:sp>
        <p:nvSpPr>
          <p:cNvPr id="25" name="Rectangle 24"/>
          <p:cNvSpPr/>
          <p:nvPr/>
        </p:nvSpPr>
        <p:spPr>
          <a:xfrm>
            <a:off x="9902952" y="5852160"/>
            <a:ext cx="64008" cy="91440"/>
          </a:xfrm>
          <a:prstGeom prst="rect">
            <a:avLst/>
          </a:prstGeom>
          <a:solidFill>
            <a:srgbClr val="83BBB1">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012680" y="5760720"/>
            <a:ext cx="1371600" cy="320040"/>
          </a:xfrm>
          <a:prstGeom prst="rect">
            <a:avLst/>
          </a:prstGeom>
          <a:noFill/>
        </p:spPr>
        <p:txBody>
          <a:bodyPr wrap="square" lIns="0" tIns="0" rIns="0">
            <a:spAutoFit/>
          </a:bodyPr>
          <a:lstStyle/>
          <a:p>
            <a:pPr>
              <a:spcAft>
                <a:spcPts val="1000"/>
              </a:spcAft>
              <a:defRPr sz="1000" b="0">
                <a:solidFill>
                  <a:srgbClr val="FFFFFF"/>
                </a:solidFill>
                <a:latin typeface="Arial"/>
              </a:defRPr>
            </a:pPr>
            <a:r>
              <a:t>Ликвидность 2</a:t>
            </a:r>
          </a:p>
        </p:txBody>
      </p:sp>
    </p:spTree>
  </p:cSld>
  <p:clrMapOvr>
    <a:masterClrMapping/>
  </p:clrMapOvr>
  <mc:AlternateContent xmlns:mc="http://schemas.openxmlformats.org/markup-compatibility/2006">
    <mc:Choice xmlns:p159="http://schemas.microsoft.com/office/powerpoint/2015/09/main" Requires="p159">
      <p:transition spd="slow" advClick="1">
        <p159:morph option="byObject"/>
      </p:transition>
    </mc:Choice>
    <mc:Fallback>
      <p:transition spd="med" advClick="1">
        <p:fade/>
      </p:transition>
    </mc:Fallback>
  </mc:AlternateContent>
  <p:timing>
    <p:tnLst>
      <p:par>
        <p:cTn id="1" dur="indefinite" restart="never" nodeType="tmRoot">
          <p:childTnLst>
            <p:seq concurrent="1" nextAc="seek">
              <p:cTn id="2" dur="indefinite" nodeType="mainSeq">
                <p:childTnLst>
                  <p:par>
                    <p:cTn id="3" nodeType="withEffect" fill="hold" presetID="21" presetClass="entr" grpId="0">
                      <p:stCondLst>
                        <p:cond delay="0"/>
                      </p:stCondLst>
                      <p:childTnLst>
                        <p:set>
                          <p:cBhvr>
                            <p:cTn id="4" dur="1" fill="hold">
                              <p:stCondLst>
                                <p:cond delay="0"/>
                              </p:stCondLst>
                            </p:cTn>
                            <p:tgtEl>
                              <p:spTgt spid="20">
                                <p:graphicEl>
                                  <a:chart bldStep="ptInSeries" seriesIdx="0" categoryIdx="0"/>
                                </p:graphicEl>
                              </p:spTgt>
                            </p:tgtEl>
                            <p:attrNameLst>
                              <p:attrName>style.visibility</p:attrName>
                            </p:attrNameLst>
                          </p:cBhvr>
                          <p:to>
                            <p:strVal val="visible"/>
                          </p:to>
                        </p:set>
                        <p:animEffect transition="in" filter="wheel(1)">
                          <p:cBhvr>
                            <p:cTn id="5" dur="650" fill="hold"/>
                            <p:tgtEl>
                              <p:spTgt spid="20">
                                <p:graphicEl>
                                  <a:chart bldStep="ptInSeries" seriesIdx="0" categoryIdx="0"/>
                                </p:graphicEl>
                              </p:spTgt>
                            </p:tgtEl>
                          </p:cBhvr>
                        </p:animEffect>
                      </p:childTnLst>
                    </p:cTn>
                  </p:par>
                  <p:par>
                    <p:cTn id="6" nodeType="withEffect" fill="hold" presetID="21" presetClass="entr" grpId="0">
                      <p:stCondLst>
                        <p:cond delay="700"/>
                      </p:stCondLst>
                      <p:childTnLst>
                        <p:set>
                          <p:cBhvr>
                            <p:cTn id="7" dur="1" fill="hold">
                              <p:stCondLst>
                                <p:cond delay="0"/>
                              </p:stCondLst>
                            </p:cTn>
                            <p:tgtEl>
                              <p:spTgt spid="20">
                                <p:graphicEl>
                                  <a:chart bldStep="ptInSeries" seriesIdx="0" categoryIdx="1"/>
                                </p:graphicEl>
                              </p:spTgt>
                            </p:tgtEl>
                            <p:attrNameLst>
                              <p:attrName>style.visibility</p:attrName>
                            </p:attrNameLst>
                          </p:cBhvr>
                          <p:to>
                            <p:strVal val="visible"/>
                          </p:to>
                        </p:set>
                        <p:animEffect transition="in" filter="wheel(1)">
                          <p:cBhvr>
                            <p:cTn id="8" dur="650" fill="hold"/>
                            <p:tgtEl>
                              <p:spTgt spid="20">
                                <p:graphicEl>
                                  <a:chart bldStep="ptInSeries" seriesIdx="0" categoryIdx="1"/>
                                </p:graphicEl>
                              </p:spTgt>
                            </p:tgtEl>
                          </p:cBhvr>
                        </p:animEffect>
                      </p:childTnLst>
                    </p:cTn>
                  </p:par>
                  <p:par>
                    <p:cTn id="9" nodeType="withEffect" fill="hold" presetID="21" presetClass="entr" grpId="0">
                      <p:stCondLst>
                        <p:cond delay="1400"/>
                      </p:stCondLst>
                      <p:childTnLst>
                        <p:set>
                          <p:cBhvr>
                            <p:cTn id="10" dur="1" fill="hold">
                              <p:stCondLst>
                                <p:cond delay="0"/>
                              </p:stCondLst>
                            </p:cTn>
                            <p:tgtEl>
                              <p:spTgt spid="20">
                                <p:graphicEl>
                                  <a:chart bldStep="ptInSeries" seriesIdx="0" categoryIdx="2"/>
                                </p:graphicEl>
                              </p:spTgt>
                            </p:tgtEl>
                            <p:attrNameLst>
                              <p:attrName>style.visibility</p:attrName>
                            </p:attrNameLst>
                          </p:cBhvr>
                          <p:to>
                            <p:strVal val="visible"/>
                          </p:to>
                        </p:set>
                        <p:animEffect transition="in" filter="wheel(1)">
                          <p:cBhvr>
                            <p:cTn id="11" dur="650" fill="hold"/>
                            <p:tgtEl>
                              <p:spTgt spid="20">
                                <p:graphicEl>
                                  <a:chart bldStep="ptInSeries" seriesIdx="0" categoryIdx="2"/>
                                </p:graphicEl>
                              </p:spTgt>
                            </p:tgtEl>
                          </p:cBhvr>
                        </p:animEffect>
                      </p:childTnLst>
                    </p:cTn>
                  </p:par>
                </p:childTnLst>
              </p:cTn>
              <p:prevCondLst>
                <p:cond evt="onPrev" delay="0">
                  <p:tgtEl>
                    <p:sldTgt/>
                  </p:tgtEl>
                </p:cond>
              </p:prevCondLst>
              <p:nextCondLst>
                <p:cond evt="onNext" delay="0">
                  <p:tgtEl>
                    <p:sldTgt/>
                  </p:tgtEl>
                </p:cond>
              </p:nextCondLst>
            </p:seq>
          </p:childTnLst>
        </p:cTn>
      </p:par>
    </p:tnLst>
    <p:bldLst>
      <p:bldGraphic spid="20" grpId="0">
        <p:bldSub>
          <a:bldChart bld="seriesEl" animBg="0"/>
        </p:bldSub>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20.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20  /  СТРУКТУРА ИСТОЧНИКОВ ИНВЕСТИЦИЙ</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Суммы вкладов не определяют доли в капитале</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Учредитель 2,5 + инвестор 7,0 = 9,5 млн ₽</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При закупочном стрессе внешний вклад 8,98 млн ₽</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rPr sz="2200" b="0">
                <a:solidFill>
                  <a:srgbClr val="FFFFFF"/>
                </a:solidFill>
                <a:latin typeface="Arial"/>
              </a:rPr>
              <a:t>Лаг 1 мес. + аванс 30%: минимум лишь 21 760 ₽; буфера нет.</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21.10.2026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20/22</a:t>
            </a:r>
          </a:p>
        </p:txBody>
      </p:sp>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
        <p:nvSpPr>
          <p:cNvPr id="18" name="Rectangle 17"/>
          <p:cNvSpPr/>
          <p:nvPr/>
        </p:nvSpPr>
        <p:spPr>
          <a:xfrm>
            <a:off x="6720840" y="2606040"/>
            <a:ext cx="4892040" cy="3429000"/>
          </a:xfrm>
          <a:prstGeom prst="rect">
            <a:avLst/>
          </a:prstGeom>
          <a:solidFill>
            <a:srgbClr val="0A1B19">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49440" y="2706624"/>
            <a:ext cx="4389120" cy="320040"/>
          </a:xfrm>
          <a:prstGeom prst="rect">
            <a:avLst/>
          </a:prstGeom>
          <a:noFill/>
        </p:spPr>
        <p:txBody>
          <a:bodyPr wrap="square" lIns="0" tIns="0" rIns="0">
            <a:spAutoFit/>
          </a:bodyPr>
          <a:lstStyle/>
          <a:p>
            <a:pPr>
              <a:spcAft>
                <a:spcPts val="1000"/>
              </a:spcAft>
              <a:defRPr sz="1200" b="1">
                <a:solidFill>
                  <a:srgbClr val="D6ED89"/>
                </a:solidFill>
                <a:latin typeface="Arial"/>
              </a:defRPr>
            </a:pPr>
            <a:r>
              <a:t>ПРОЕКТНЫЕ СУММЫ, НЕ ДОЛИ В КАПИТАЛЕ</a:t>
            </a:r>
          </a:p>
        </p:txBody>
      </p:sp>
      <p:graphicFrame>
        <p:nvGraphicFramePr>
          <p:cNvPr id="20" name="AV_DONUT_20"/>
          <p:cNvGraphicFramePr>
            <a:graphicFrameLocks noGrp="1"/>
          </p:cNvGraphicFramePr>
          <p:nvPr/>
        </p:nvGraphicFramePr>
        <p:xfrm>
          <a:off x="6949440" y="3154680"/>
          <a:ext cx="4434840" cy="2560320"/>
        </p:xfrm>
        <a:graphic>
          <a:graphicData uri="http://schemas.openxmlformats.org/drawingml/2006/chart">
            <c:chart xmlns:c="http://schemas.openxmlformats.org/drawingml/2006/chart" xmlns:r="http://schemas.openxmlformats.org/officeDocument/2006/relationships" r:id="rId6"/>
          </a:graphicData>
        </a:graphic>
      </p:graphicFrame>
      <p:sp>
        <p:nvSpPr>
          <p:cNvPr id="21" name="Rectangle 20"/>
          <p:cNvSpPr/>
          <p:nvPr/>
        </p:nvSpPr>
        <p:spPr>
          <a:xfrm>
            <a:off x="6885432" y="5852160"/>
            <a:ext cx="64008" cy="914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95160" y="5760720"/>
            <a:ext cx="2103120" cy="320040"/>
          </a:xfrm>
          <a:prstGeom prst="rect">
            <a:avLst/>
          </a:prstGeom>
          <a:noFill/>
        </p:spPr>
        <p:txBody>
          <a:bodyPr wrap="square" lIns="0" tIns="0" rIns="0">
            <a:spAutoFit/>
          </a:bodyPr>
          <a:lstStyle/>
          <a:p>
            <a:pPr>
              <a:spcAft>
                <a:spcPts val="1000"/>
              </a:spcAft>
              <a:defRPr sz="1000" b="0">
                <a:solidFill>
                  <a:srgbClr val="FFFFFF"/>
                </a:solidFill>
                <a:latin typeface="Arial"/>
              </a:defRPr>
            </a:pPr>
            <a:r>
              <a:t>Учредитель 2,5</a:t>
            </a:r>
          </a:p>
        </p:txBody>
      </p:sp>
      <p:sp>
        <p:nvSpPr>
          <p:cNvPr id="23" name="Rectangle 22"/>
          <p:cNvSpPr/>
          <p:nvPr/>
        </p:nvSpPr>
        <p:spPr>
          <a:xfrm>
            <a:off x="9125712" y="5852160"/>
            <a:ext cx="64008" cy="91440"/>
          </a:xfrm>
          <a:prstGeom prst="rect">
            <a:avLst/>
          </a:prstGeom>
          <a:solidFill>
            <a:srgbClr val="E7AE65">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35440" y="5760720"/>
            <a:ext cx="2103120" cy="320040"/>
          </a:xfrm>
          <a:prstGeom prst="rect">
            <a:avLst/>
          </a:prstGeom>
          <a:noFill/>
        </p:spPr>
        <p:txBody>
          <a:bodyPr wrap="square" lIns="0" tIns="0" rIns="0">
            <a:spAutoFit/>
          </a:bodyPr>
          <a:lstStyle/>
          <a:p>
            <a:pPr>
              <a:spcAft>
                <a:spcPts val="1000"/>
              </a:spcAft>
              <a:defRPr sz="1000" b="0">
                <a:solidFill>
                  <a:srgbClr val="FFFFFF"/>
                </a:solidFill>
                <a:latin typeface="Arial"/>
              </a:defRPr>
            </a:pPr>
            <a:r>
              <a:t>Инвестор 7</a:t>
            </a:r>
          </a:p>
        </p:txBody>
      </p:sp>
    </p:spTree>
  </p:cSld>
  <p:clrMapOvr>
    <a:masterClrMapping/>
  </p:clrMapOvr>
  <mc:AlternateContent xmlns:mc="http://schemas.openxmlformats.org/markup-compatibility/2006">
    <mc:Choice xmlns:p159="http://schemas.microsoft.com/office/powerpoint/2015/09/main" Requires="p159">
      <p:transition spd="slow" advClick="1">
        <p159:morph option="byObject"/>
      </p:transition>
    </mc:Choice>
    <mc:Fallback>
      <p:transition spd="med" advClick="1">
        <p:fade/>
      </p:transition>
    </mc:Fallback>
  </mc:AlternateContent>
  <p:timing>
    <p:tnLst>
      <p:par>
        <p:cTn id="1" dur="indefinite" restart="never" nodeType="tmRoot">
          <p:childTnLst>
            <p:seq concurrent="1" nextAc="seek">
              <p:cTn id="2" dur="indefinite" nodeType="mainSeq">
                <p:childTnLst>
                  <p:par>
                    <p:cTn id="3" nodeType="withEffect" fill="hold" presetID="21" presetClass="entr" grpId="0">
                      <p:stCondLst>
                        <p:cond delay="0"/>
                      </p:stCondLst>
                      <p:childTnLst>
                        <p:set>
                          <p:cBhvr>
                            <p:cTn id="4" dur="1" fill="hold">
                              <p:stCondLst>
                                <p:cond delay="0"/>
                              </p:stCondLst>
                            </p:cTn>
                            <p:tgtEl>
                              <p:spTgt spid="20">
                                <p:graphicEl>
                                  <a:chart bldStep="ptInSeries" seriesIdx="0" categoryIdx="0"/>
                                </p:graphicEl>
                              </p:spTgt>
                            </p:tgtEl>
                            <p:attrNameLst>
                              <p:attrName>style.visibility</p:attrName>
                            </p:attrNameLst>
                          </p:cBhvr>
                          <p:to>
                            <p:strVal val="visible"/>
                          </p:to>
                        </p:set>
                        <p:animEffect transition="in" filter="wheel(1)">
                          <p:cBhvr>
                            <p:cTn id="5" dur="650" fill="hold"/>
                            <p:tgtEl>
                              <p:spTgt spid="20">
                                <p:graphicEl>
                                  <a:chart bldStep="ptInSeries" seriesIdx="0" categoryIdx="0"/>
                                </p:graphicEl>
                              </p:spTgt>
                            </p:tgtEl>
                          </p:cBhvr>
                        </p:animEffect>
                      </p:childTnLst>
                    </p:cTn>
                  </p:par>
                  <p:par>
                    <p:cTn id="6" nodeType="withEffect" fill="hold" presetID="21" presetClass="entr" grpId="0">
                      <p:stCondLst>
                        <p:cond delay="700"/>
                      </p:stCondLst>
                      <p:childTnLst>
                        <p:set>
                          <p:cBhvr>
                            <p:cTn id="7" dur="1" fill="hold">
                              <p:stCondLst>
                                <p:cond delay="0"/>
                              </p:stCondLst>
                            </p:cTn>
                            <p:tgtEl>
                              <p:spTgt spid="20">
                                <p:graphicEl>
                                  <a:chart bldStep="ptInSeries" seriesIdx="0" categoryIdx="1"/>
                                </p:graphicEl>
                              </p:spTgt>
                            </p:tgtEl>
                            <p:attrNameLst>
                              <p:attrName>style.visibility</p:attrName>
                            </p:attrNameLst>
                          </p:cBhvr>
                          <p:to>
                            <p:strVal val="visible"/>
                          </p:to>
                        </p:set>
                        <p:animEffect transition="in" filter="wheel(1)">
                          <p:cBhvr>
                            <p:cTn id="8" dur="650" fill="hold"/>
                            <p:tgtEl>
                              <p:spTgt spid="20">
                                <p:graphicEl>
                                  <a:chart bldStep="ptInSeries" seriesIdx="0" categoryIdx="1"/>
                                </p:graphicEl>
                              </p:spTgt>
                            </p:tgtEl>
                          </p:cBhvr>
                        </p:animEffect>
                      </p:childTnLst>
                    </p:cTn>
                  </p:par>
                </p:childTnLst>
              </p:cTn>
              <p:prevCondLst>
                <p:cond evt="onPrev" delay="0">
                  <p:tgtEl>
                    <p:sldTgt/>
                  </p:tgtEl>
                </p:cond>
              </p:prevCondLst>
              <p:nextCondLst>
                <p:cond evt="onNext" delay="0">
                  <p:tgtEl>
                    <p:sldTgt/>
                  </p:tgtEl>
                </p:cond>
              </p:nextCondLst>
            </p:seq>
          </p:childTnLst>
        </p:cTn>
      </p:par>
    </p:tnLst>
    <p:bldLst>
      <p:bldGraphic spid="20" grpId="0">
        <p:bldSub>
          <a:bldChart bld="seriesEl" animBg="0"/>
        </p:bldSub>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21.jpg"/>
          <p:cNvPicPr>
            <a:picLocks noChangeAspect="1"/>
          </p:cNvPicPr>
          <p:nvPr/>
        </p:nvPicPr>
        <p:blipFill>
          <a:blip r:embed="rId3"/>
          <a:stretch>
            <a:fillRect/>
          </a:stretch>
        </p:blipFill>
        <p:spPr>
          <a:xfrm>
            <a:off x="0" y="0"/>
            <a:ext cx="12191999" cy="6858000"/>
          </a:xfrm>
          <a:prstGeom prst="rect">
            <a:avLst/>
          </a:prstGeom>
        </p:spPr>
      </p:pic>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
        <p:nvSpPr>
          <p:cNvPr id="18" name="Rectangle 17"/>
          <p:cNvSpPr/>
          <p:nvPr/>
        </p:nvSpPr>
        <p:spPr>
          <a:xfrm>
            <a:off x="320040" y="256032"/>
            <a:ext cx="11567160" cy="6117336"/>
          </a:xfrm>
          <a:prstGeom prst="rect">
            <a:avLst/>
          </a:prstGeom>
          <a:solidFill>
            <a:srgbClr val="0A1B19">
              <a:alpha val="96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93192"/>
            <a:ext cx="10789920" cy="320040"/>
          </a:xfrm>
          <a:prstGeom prst="rect">
            <a:avLst/>
          </a:prstGeom>
          <a:noFill/>
        </p:spPr>
        <p:txBody>
          <a:bodyPr wrap="square" lIns="0" rIns="0" tIns="0">
            <a:spAutoFit/>
          </a:bodyPr>
          <a:lstStyle/>
          <a:p>
            <a:pPr>
              <a:spcAft>
                <a:spcPts val="1000"/>
              </a:spcAft>
              <a:defRPr sz="1300" b="1">
                <a:solidFill>
                  <a:srgbClr val="D6ED89"/>
                </a:solidFill>
                <a:latin typeface="Arial"/>
              </a:defRPr>
            </a:pPr>
            <a:r>
              <a:t>АГРОВЕКТОР / 21 / КЛЮЧЕВЫЕ ПОКАЗАТЕЛИ</a:t>
            </a:r>
          </a:p>
        </p:txBody>
      </p:sp>
      <p:sp>
        <p:nvSpPr>
          <p:cNvPr id="20" name="TextBox 19"/>
          <p:cNvSpPr txBox="1"/>
          <p:nvPr/>
        </p:nvSpPr>
        <p:spPr>
          <a:xfrm>
            <a:off x="566928" y="914400"/>
            <a:ext cx="10972800" cy="548640"/>
          </a:xfrm>
          <a:prstGeom prst="rect">
            <a:avLst/>
          </a:prstGeom>
          <a:noFill/>
        </p:spPr>
        <p:txBody>
          <a:bodyPr wrap="square" lIns="0" rIns="0" tIns="0">
            <a:spAutoFit/>
          </a:bodyPr>
          <a:lstStyle/>
          <a:p>
            <a:pPr>
              <a:spcAft>
                <a:spcPts val="1000"/>
              </a:spcAft>
              <a:defRPr sz="2700" b="1">
                <a:solidFill>
                  <a:srgbClr val="FFFFFF"/>
                </a:solidFill>
                <a:latin typeface="Arial"/>
              </a:defRPr>
            </a:pPr>
            <a:r>
              <a:t>Финансы и мощность: расчет не равен подтвержденной готовности</a:t>
            </a:r>
          </a:p>
        </p:txBody>
      </p:sp>
      <p:sp>
        <p:nvSpPr>
          <p:cNvPr id="21" name="TextBox 20"/>
          <p:cNvSpPr txBox="1"/>
          <p:nvPr/>
        </p:nvSpPr>
        <p:spPr>
          <a:xfrm>
            <a:off x="566928" y="6519672"/>
            <a:ext cx="10698480" cy="201168"/>
          </a:xfrm>
          <a:prstGeom prst="rect">
            <a:avLst/>
          </a:prstGeom>
          <a:noFill/>
        </p:spPr>
        <p:txBody>
          <a:bodyPr wrap="square" lIns="0" rIns="0" tIns="0">
            <a:spAutoFit/>
          </a:bodyPr>
          <a:lstStyle/>
          <a:p>
            <a:pPr>
              <a:spcAft>
                <a:spcPts val="1000"/>
              </a:spcAft>
              <a:defRPr sz="900" b="0">
                <a:solidFill>
                  <a:srgbClr val="CCDACF"/>
                </a:solidFill>
                <a:latin typeface="Arial"/>
              </a:defRPr>
            </a:pPr>
            <a:r>
              <a:t>Проектные гипотезы и расчеты; не подтвержденный бизнес. Референс: Практика 08.10.26. / Редакция 21.10.2026</a:t>
            </a:r>
          </a:p>
        </p:txBody>
      </p:sp>
      <p:sp>
        <p:nvSpPr>
          <p:cNvPr id="22" name="TextBox 21"/>
          <p:cNvSpPr txBox="1"/>
          <p:nvPr/>
        </p:nvSpPr>
        <p:spPr>
          <a:xfrm>
            <a:off x="11082528" y="6501384"/>
            <a:ext cx="640080" cy="219456"/>
          </a:xfrm>
          <a:prstGeom prst="rect">
            <a:avLst/>
          </a:prstGeom>
          <a:noFill/>
        </p:spPr>
        <p:txBody>
          <a:bodyPr wrap="square" lIns="0" rIns="0" tIns="0">
            <a:spAutoFit/>
          </a:bodyPr>
          <a:lstStyle/>
          <a:p>
            <a:pPr>
              <a:spcAft>
                <a:spcPts val="1000"/>
              </a:spcAft>
              <a:defRPr sz="1000" b="1">
                <a:solidFill>
                  <a:srgbClr val="D6ED89"/>
                </a:solidFill>
                <a:latin typeface="Arial"/>
              </a:defRPr>
            </a:pPr>
            <a:r>
              <a:t>21/22</a:t>
            </a:r>
          </a:p>
        </p:txBody>
      </p:sp>
      <p:graphicFrame>
        <p:nvGraphicFramePr>
          <p:cNvPr id="23" name="Table 22"/>
          <p:cNvGraphicFramePr>
            <a:graphicFrameLocks noGrp="1"/>
          </p:cNvGraphicFramePr>
          <p:nvPr/>
        </p:nvGraphicFramePr>
        <p:xfrm>
          <a:off x="548640" y="1828800"/>
          <a:ext cx="11064240" cy="3474720"/>
        </p:xfrm>
        <a:graphic>
          <a:graphicData uri="http://schemas.openxmlformats.org/drawingml/2006/table">
            <a:tbl>
              <a:tblPr firstRow="1" bandRow="1">
                <a:tableStyleId>{5C22544A-7EE6-4342-B048-85BDC9FD1C3A}</a:tableStyleId>
              </a:tblPr>
              <a:tblGrid>
                <a:gridCol w="5577840"/>
                <a:gridCol w="2743200"/>
                <a:gridCol w="2743200"/>
              </a:tblGrid>
              <a:tr h="579120">
                <a:tc>
                  <a:txBody>
                    <a:bodyPr/>
                    <a:lstStyle/>
                    <a:p>
                      <a:pPr>
                        <a:defRPr sz="1800" b="1">
                          <a:solidFill>
                            <a:srgbClr val="E3F4B0"/>
                          </a:solidFill>
                          <a:latin typeface="Arial"/>
                        </a:defRPr>
                      </a:pPr>
                      <a:r>
                        <a:t>Показатель</a:t>
                      </a:r>
                    </a:p>
                  </a:txBody>
                  <a:tcPr marL="100584" marR="82296" marT="64008">
                    <a:solidFill>
                      <a:srgbClr val="264E3B"/>
                    </a:solidFill>
                  </a:tcPr>
                </a:tc>
                <a:tc>
                  <a:txBody>
                    <a:bodyPr/>
                    <a:lstStyle/>
                    <a:p>
                      <a:pPr>
                        <a:defRPr sz="1800" b="1">
                          <a:solidFill>
                            <a:srgbClr val="E3F4B0"/>
                          </a:solidFill>
                          <a:latin typeface="Arial"/>
                        </a:defRPr>
                      </a:pPr>
                      <a:r>
                        <a:t>2027</a:t>
                      </a:r>
                    </a:p>
                  </a:txBody>
                  <a:tcPr marL="100584" marR="82296" marT="64008">
                    <a:solidFill>
                      <a:srgbClr val="264E3B"/>
                    </a:solidFill>
                  </a:tcPr>
                </a:tc>
                <a:tc>
                  <a:txBody>
                    <a:bodyPr/>
                    <a:lstStyle/>
                    <a:p>
                      <a:pPr>
                        <a:defRPr sz="1800" b="1">
                          <a:solidFill>
                            <a:srgbClr val="E3F4B0"/>
                          </a:solidFill>
                          <a:latin typeface="Arial"/>
                        </a:defRPr>
                      </a:pPr>
                      <a:r>
                        <a:t>2031</a:t>
                      </a:r>
                    </a:p>
                  </a:txBody>
                  <a:tcPr marL="100584" marR="82296" marT="64008">
                    <a:solidFill>
                      <a:srgbClr val="264E3B"/>
                    </a:solidFill>
                  </a:tcPr>
                </a:tc>
              </a:tr>
              <a:tr h="579120">
                <a:tc>
                  <a:txBody>
                    <a:bodyPr/>
                    <a:lstStyle/>
                    <a:p>
                      <a:pPr>
                        <a:defRPr sz="1800" b="0">
                          <a:solidFill>
                            <a:srgbClr val="FFFFFF"/>
                          </a:solidFill>
                          <a:latin typeface="Arial"/>
                        </a:defRPr>
                      </a:pPr>
                      <a:r>
                        <a:t>Выручка, млн ₽</a:t>
                      </a:r>
                    </a:p>
                  </a:txBody>
                  <a:tcPr marL="100584" marR="82296" marT="64008">
                    <a:solidFill>
                      <a:srgbClr val="102620"/>
                    </a:solidFill>
                  </a:tcPr>
                </a:tc>
                <a:tc>
                  <a:txBody>
                    <a:bodyPr/>
                    <a:lstStyle/>
                    <a:p>
                      <a:pPr>
                        <a:defRPr sz="1800" b="0">
                          <a:solidFill>
                            <a:srgbClr val="FFFFFF"/>
                          </a:solidFill>
                          <a:latin typeface="Arial"/>
                        </a:defRPr>
                      </a:pPr>
                      <a:r>
                        <a:t>8,800</a:t>
                      </a:r>
                    </a:p>
                  </a:txBody>
                  <a:tcPr marL="100584" marR="82296" marT="64008">
                    <a:solidFill>
                      <a:srgbClr val="102620"/>
                    </a:solidFill>
                  </a:tcPr>
                </a:tc>
                <a:tc>
                  <a:txBody>
                    <a:bodyPr/>
                    <a:lstStyle/>
                    <a:p>
                      <a:pPr>
                        <a:defRPr sz="1800" b="0">
                          <a:solidFill>
                            <a:srgbClr val="FFFFFF"/>
                          </a:solidFill>
                          <a:latin typeface="Arial"/>
                        </a:defRPr>
                      </a:pPr>
                      <a:r>
                        <a:t>22,695</a:t>
                      </a:r>
                    </a:p>
                  </a:txBody>
                  <a:tcPr marL="100584" marR="82296" marT="64008">
                    <a:solidFill>
                      <a:srgbClr val="102620"/>
                    </a:solidFill>
                  </a:tcPr>
                </a:tc>
              </a:tr>
              <a:tr h="579120">
                <a:tc>
                  <a:txBody>
                    <a:bodyPr/>
                    <a:lstStyle/>
                    <a:p>
                      <a:pPr>
                        <a:defRPr sz="1800" b="0">
                          <a:solidFill>
                            <a:srgbClr val="FFFFFF"/>
                          </a:solidFill>
                          <a:latin typeface="Arial"/>
                        </a:defRPr>
                      </a:pPr>
                      <a:r>
                        <a:t>EBITDA, млн ₽</a:t>
                      </a:r>
                    </a:p>
                  </a:txBody>
                  <a:tcPr marL="100584" marR="82296" marT="64008">
                    <a:solidFill>
                      <a:srgbClr val="19372C"/>
                    </a:solidFill>
                  </a:tcPr>
                </a:tc>
                <a:tc>
                  <a:txBody>
                    <a:bodyPr/>
                    <a:lstStyle/>
                    <a:p>
                      <a:pPr>
                        <a:defRPr sz="1800" b="0">
                          <a:solidFill>
                            <a:srgbClr val="FFFFFF"/>
                          </a:solidFill>
                          <a:latin typeface="Arial"/>
                        </a:defRPr>
                      </a:pPr>
                      <a:r>
                        <a:t>0,273</a:t>
                      </a:r>
                    </a:p>
                  </a:txBody>
                  <a:tcPr marL="100584" marR="82296" marT="64008">
                    <a:solidFill>
                      <a:srgbClr val="19372C"/>
                    </a:solidFill>
                  </a:tcPr>
                </a:tc>
                <a:tc>
                  <a:txBody>
                    <a:bodyPr/>
                    <a:lstStyle/>
                    <a:p>
                      <a:pPr>
                        <a:defRPr sz="1800" b="0">
                          <a:solidFill>
                            <a:srgbClr val="FFFFFF"/>
                          </a:solidFill>
                          <a:latin typeface="Arial"/>
                        </a:defRPr>
                      </a:pPr>
                      <a:r>
                        <a:t>8,489</a:t>
                      </a:r>
                    </a:p>
                  </a:txBody>
                  <a:tcPr marL="100584" marR="82296" marT="64008">
                    <a:solidFill>
                      <a:srgbClr val="19372C"/>
                    </a:solidFill>
                  </a:tcPr>
                </a:tc>
              </a:tr>
              <a:tr h="579120">
                <a:tc>
                  <a:txBody>
                    <a:bodyPr/>
                    <a:lstStyle/>
                    <a:p>
                      <a:pPr>
                        <a:defRPr sz="1800" b="0">
                          <a:solidFill>
                            <a:srgbClr val="FFFFFF"/>
                          </a:solidFill>
                          <a:latin typeface="Arial"/>
                        </a:defRPr>
                      </a:pPr>
                      <a:r>
                        <a:t>FCF, млн ₽</a:t>
                      </a:r>
                    </a:p>
                  </a:txBody>
                  <a:tcPr marL="100584" marR="82296" marT="64008">
                    <a:solidFill>
                      <a:srgbClr val="102620"/>
                    </a:solidFill>
                  </a:tcPr>
                </a:tc>
                <a:tc>
                  <a:txBody>
                    <a:bodyPr/>
                    <a:lstStyle/>
                    <a:p>
                      <a:pPr>
                        <a:defRPr sz="1800" b="0">
                          <a:solidFill>
                            <a:srgbClr val="FFFFFF"/>
                          </a:solidFill>
                          <a:latin typeface="Arial"/>
                        </a:defRPr>
                      </a:pPr>
                      <a:r>
                        <a:t>-0,255</a:t>
                      </a:r>
                    </a:p>
                  </a:txBody>
                  <a:tcPr marL="100584" marR="82296" marT="64008">
                    <a:solidFill>
                      <a:srgbClr val="102620"/>
                    </a:solidFill>
                  </a:tcPr>
                </a:tc>
                <a:tc>
                  <a:txBody>
                    <a:bodyPr/>
                    <a:lstStyle/>
                    <a:p>
                      <a:pPr>
                        <a:defRPr sz="1800" b="0">
                          <a:solidFill>
                            <a:srgbClr val="FFFFFF"/>
                          </a:solidFill>
                          <a:latin typeface="Arial"/>
                        </a:defRPr>
                      </a:pPr>
                      <a:r>
                        <a:t>8,528</a:t>
                      </a:r>
                    </a:p>
                  </a:txBody>
                  <a:tcPr marL="100584" marR="82296" marT="64008">
                    <a:solidFill>
                      <a:srgbClr val="102620"/>
                    </a:solidFill>
                  </a:tcPr>
                </a:tc>
              </a:tr>
              <a:tr h="579120">
                <a:tc>
                  <a:txBody>
                    <a:bodyPr/>
                    <a:lstStyle/>
                    <a:p>
                      <a:pPr>
                        <a:defRPr sz="1800" b="0">
                          <a:solidFill>
                            <a:srgbClr val="FFFFFF"/>
                          </a:solidFill>
                          <a:latin typeface="Arial"/>
                        </a:defRPr>
                      </a:pPr>
                      <a:r>
                        <a:t>Внесение / мониторинг</a:t>
                      </a:r>
                    </a:p>
                  </a:txBody>
                  <a:tcPr marL="100584" marR="82296" marT="64008">
                    <a:solidFill>
                      <a:srgbClr val="19372C"/>
                    </a:solidFill>
                  </a:tcPr>
                </a:tc>
                <a:tc>
                  <a:txBody>
                    <a:bodyPr/>
                    <a:lstStyle/>
                    <a:p>
                      <a:pPr>
                        <a:defRPr sz="1800" b="0">
                          <a:solidFill>
                            <a:srgbClr val="FFFFFF"/>
                          </a:solidFill>
                          <a:latin typeface="Arial"/>
                        </a:defRPr>
                      </a:pPr>
                      <a:r>
                        <a:t>6000 / 4000</a:t>
                      </a:r>
                    </a:p>
                  </a:txBody>
                  <a:tcPr marL="100584" marR="82296" marT="64008">
                    <a:solidFill>
                      <a:srgbClr val="19372C"/>
                    </a:solidFill>
                  </a:tcPr>
                </a:tc>
                <a:tc>
                  <a:txBody>
                    <a:bodyPr/>
                    <a:lstStyle/>
                    <a:p>
                      <a:pPr>
                        <a:defRPr sz="1800" b="0">
                          <a:solidFill>
                            <a:srgbClr val="FFFFFF"/>
                          </a:solidFill>
                          <a:latin typeface="Arial"/>
                        </a:defRPr>
                      </a:pPr>
                      <a:r>
                        <a:t>13000 / 10000</a:t>
                      </a:r>
                    </a:p>
                  </a:txBody>
                  <a:tcPr marL="100584" marR="82296" marT="64008">
                    <a:solidFill>
                      <a:srgbClr val="19372C"/>
                    </a:solidFill>
                  </a:tcPr>
                </a:tc>
              </a:tr>
              <a:tr h="579120">
                <a:tc>
                  <a:txBody>
                    <a:bodyPr/>
                    <a:lstStyle/>
                    <a:p>
                      <a:pPr>
                        <a:defRPr sz="1800" b="0">
                          <a:solidFill>
                            <a:srgbClr val="FFFFFF"/>
                          </a:solidFill>
                          <a:latin typeface="Arial"/>
                        </a:defRPr>
                      </a:pPr>
                      <a:r>
                        <a:t>Бригады / FTE</a:t>
                      </a:r>
                    </a:p>
                  </a:txBody>
                  <a:tcPr marL="100584" marR="82296" marT="64008">
                    <a:solidFill>
                      <a:srgbClr val="102620"/>
                    </a:solidFill>
                  </a:tcPr>
                </a:tc>
                <a:tc>
                  <a:txBody>
                    <a:bodyPr/>
                    <a:lstStyle/>
                    <a:p>
                      <a:pPr>
                        <a:defRPr sz="1800" b="0">
                          <a:solidFill>
                            <a:srgbClr val="FFFFFF"/>
                          </a:solidFill>
                          <a:latin typeface="Arial"/>
                        </a:defRPr>
                      </a:pPr>
                      <a:r>
                        <a:t>1 / 3</a:t>
                      </a:r>
                    </a:p>
                  </a:txBody>
                  <a:tcPr marL="100584" marR="82296" marT="64008">
                    <a:solidFill>
                      <a:srgbClr val="102620"/>
                    </a:solidFill>
                  </a:tcPr>
                </a:tc>
                <a:tc>
                  <a:txBody>
                    <a:bodyPr/>
                    <a:lstStyle/>
                    <a:p>
                      <a:pPr>
                        <a:defRPr sz="1800" b="0">
                          <a:solidFill>
                            <a:srgbClr val="FFFFFF"/>
                          </a:solidFill>
                          <a:latin typeface="Arial"/>
                        </a:defRPr>
                      </a:pPr>
                      <a:r>
                        <a:t>1 / 3</a:t>
                      </a:r>
                    </a:p>
                  </a:txBody>
                  <a:tcPr marL="100584" marR="82296" marT="64008">
                    <a:solidFill>
                      <a:srgbClr val="102620"/>
                    </a:solidFill>
                  </a:tcPr>
                </a:tc>
              </a:tr>
            </a:tbl>
          </a:graphicData>
        </a:graphic>
      </p:graphicFrame>
      <p:sp>
        <p:nvSpPr>
          <p:cNvPr id="24" name="TextBox 23"/>
          <p:cNvSpPr txBox="1"/>
          <p:nvPr/>
        </p:nvSpPr>
        <p:spPr>
          <a:xfrm>
            <a:off x="612648" y="5504688"/>
            <a:ext cx="10881360" cy="594360"/>
          </a:xfrm>
          <a:prstGeom prst="rect">
            <a:avLst/>
          </a:prstGeom>
          <a:noFill/>
        </p:spPr>
        <p:txBody>
          <a:bodyPr wrap="square" lIns="0" rIns="0" tIns="0">
            <a:spAutoFit/>
          </a:bodyPr>
          <a:lstStyle/>
          <a:p>
            <a:pPr>
              <a:spcAft>
                <a:spcPts val="1000"/>
              </a:spcAft>
              <a:defRPr sz="1600" b="0">
                <a:solidFill>
                  <a:srgbClr val="D6ED89"/>
                </a:solidFill>
                <a:latin typeface="Arial"/>
              </a:defRPr>
            </a:pPr>
            <a:r>
              <a:t>Поздние объемы ресурсно не подтверждены. FCF 2031 включает возврат резерва 2 млн ₽ только в конце горизонта.</a:t>
            </a:r>
          </a:p>
        </p:txBody>
      </p:sp>
    </p:spTree>
  </p:cSld>
  <p:clrMapOvr>
    <a:masterClrMapping/>
  </p:clrMapOvr>
  <mc:AlternateContent xmlns:mc="http://schemas.openxmlformats.org/markup-compatibility/2006">
    <mc:Choice xmlns:p159="http://schemas.microsoft.com/office/powerpoint/2015/09/main" Requires="p159">
      <p:transition spd="slow" advClick="1">
        <p159:morph option="byObject"/>
      </p:transition>
    </mc:Choice>
    <mc:Fallback>
      <p:transition spd="med" advClick="1">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22.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22  /  АНАЛИЗ РИСКОВ</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rPr sz="3200" b="1">
                <a:solidFill>
                  <a:srgbClr val="FFFFFF"/>
                </a:solidFill>
                <a:latin typeface="Arial"/>
              </a:rPr>
              <a:t>Проверки — GO.</a:t>
            </a:r>
          </a:p>
          <a:p>
            <a:pPr>
              <a:spcAft>
                <a:spcPts val="1000"/>
              </a:spcAft>
              <a:defRPr sz="3200" b="1">
                <a:solidFill>
                  <a:srgbClr val="FFFFFF"/>
                </a:solidFill>
                <a:latin typeface="Arial"/>
              </a:defRPr>
            </a:pPr>
            <a:r>
              <a:rPr sz="3200" b="1">
                <a:solidFill>
                  <a:srgbClr val="FFFFFF"/>
                </a:solidFill>
                <a:latin typeface="Arial"/>
              </a:rPr>
              <a:t>Закупка — после gates.</a:t>
            </a:r>
            <a:endParaRP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rPr sz="2200" b="0">
                <a:solidFill>
                  <a:srgbClr val="FFFFFF"/>
                </a:solidFill>
                <a:latin typeface="Arial"/>
              </a:rPr>
              <a:t>Проверить: допуск, спрос, КП и команду, мощность и кассу.</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rPr sz="2200" b="0">
                <a:solidFill>
                  <a:srgbClr val="FFFFFF"/>
                </a:solidFill>
                <a:latin typeface="Arial"/>
              </a:rPr>
              <a:t>Внешние проверки открыты. До их закрытия — NO-GO на закупку.</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Мониторинг-only требует отдельной модели; масштабирование — после фактического сезона.</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21.10.2026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22/22</a:t>
            </a:r>
          </a:p>
        </p:txBody>
      </p:sp>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spd="slow" advClick="1">
        <p159:morph option="byObject"/>
      </p:transition>
    </mc:Choice>
    <mc:Fallback>
      <p:transition spd="med" advClick="1">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234</TotalTime>
  <Words>19726</Words>
  <Application>Microsoft Macintosh PowerPoint</Application>
  <PresentationFormat>Широкоэкранный</PresentationFormat>
  <Paragraphs>1105</Paragraphs>
  <Slides>22</Slides>
  <Notes>22</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22</vt:i4>
      </vt:variant>
    </vt:vector>
  </HeadingPairs>
  <TitlesOfParts>
    <vt:vector size="25" baseType="lpstr">
      <vt:lpstr>Arial</vt:lpstr>
      <vt:lpstr>Calibri</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Даниил Важдаев</cp:lastModifiedBy>
  <cp:revision>4</cp:revision>
  <dcterms:created xsi:type="dcterms:W3CDTF">2013-01-27T09:14:16Z</dcterms:created>
  <dcterms:modified xsi:type="dcterms:W3CDTF">2026-10-21T10:14:34Z</dcterms:modified>
  <cp:category/>
</cp:coreProperties>
</file>