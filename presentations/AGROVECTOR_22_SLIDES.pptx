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barChart>
        <c:barDir val="col"/>
        <c:grouping val="clustered"/>
        <c:ser>
          <c:idx val="0"/>
          <c:order val="0"/>
          <c:tx>
            <c:strRef>
              <c:f>Sheet1!$B$1</c:f>
              <c:strCache>
                <c:ptCount val="1"/>
                <c:pt idx="0">
                  <c:v>Выручка</c:v>
                </c:pt>
              </c:strCache>
            </c:strRef>
          </c:tx>
          <c:spPr>
            <a:solidFill>
              <a:srgbClr val="164C38"/>
            </a:solidFill>
            <a:ln w="25400">
              <a:solidFill>
                <a:srgbClr val="164C38"/>
              </a:solidFill>
            </a:ln>
          </c:spPr>
          <c:cat>
            <c:strRef>
              <c:f>Sheet1!$A$2:$A$6</c:f>
              <c:strCache>
                <c:ptCount val="5"/>
                <c:pt idx="0">
                  <c:v>2027</c:v>
                </c:pt>
                <c:pt idx="1">
                  <c:v>2028</c:v>
                </c:pt>
                <c:pt idx="2">
                  <c:v>2029</c:v>
                </c:pt>
                <c:pt idx="3">
                  <c:v>2030</c:v>
                </c:pt>
                <c:pt idx="4">
                  <c:v>2031</c:v>
                </c:pt>
              </c:strCache>
            </c:strRef>
          </c:cat>
          <c:val>
            <c:numRef>
              <c:f>Sheet1!$B$2:$B$6</c:f>
              <c:numCache>
                <c:formatCode>General</c:formatCode>
                <c:ptCount val="5"/>
                <c:pt idx="0">
                  <c:v>8.8</c:v>
                </c:pt>
                <c:pt idx="1">
                  <c:v>13.728</c:v>
                </c:pt>
                <c:pt idx="2">
                  <c:v>17.630080000000003</c:v>
                </c:pt>
                <c:pt idx="3">
                  <c:v>20.078822400000004</c:v>
                </c:pt>
                <c:pt idx="4">
                  <c:v>22.695256064000002</c:v>
                </c:pt>
              </c:numCache>
            </c:numRef>
          </c:val>
        </c:ser>
        <c:ser>
          <c:idx val="1"/>
          <c:order val="1"/>
          <c:tx>
            <c:strRef>
              <c:f>Sheet1!$C$1</c:f>
              <c:strCache>
                <c:ptCount val="1"/>
                <c:pt idx="0">
                  <c:v>EBITDA</c:v>
                </c:pt>
              </c:strCache>
            </c:strRef>
          </c:tx>
          <c:spPr>
            <a:solidFill>
              <a:srgbClr val="7EB94A"/>
            </a:solidFill>
            <a:ln w="25400">
              <a:solidFill>
                <a:srgbClr val="7EB94A"/>
              </a:solidFill>
            </a:ln>
          </c:spPr>
          <c:cat>
            <c:strRef>
              <c:f>Sheet1!$A$2:$A$6</c:f>
              <c:strCache>
                <c:ptCount val="5"/>
                <c:pt idx="0">
                  <c:v>2027</c:v>
                </c:pt>
                <c:pt idx="1">
                  <c:v>2028</c:v>
                </c:pt>
                <c:pt idx="2">
                  <c:v>2029</c:v>
                </c:pt>
                <c:pt idx="3">
                  <c:v>2030</c:v>
                </c:pt>
                <c:pt idx="4">
                  <c:v>2031</c:v>
                </c:pt>
              </c:strCache>
            </c:strRef>
          </c:cat>
          <c:val>
            <c:numRef>
              <c:f>Sheet1!$C$2:$C$6</c:f>
              <c:numCache>
                <c:formatCode>General</c:formatCode>
                <c:ptCount val="5"/>
                <c:pt idx="0">
                  <c:v>1.96</c:v>
                </c:pt>
                <c:pt idx="1">
                  <c:v>5.16</c:v>
                </c:pt>
                <c:pt idx="2">
                  <c:v>7.619380000000004</c:v>
                </c:pt>
                <c:pt idx="3">
                  <c:v>9.035079900000003</c:v>
                </c:pt>
                <c:pt idx="4">
                  <c:v>10.540193564000003</c:v>
                </c:pt>
              </c:numCache>
            </c:numRef>
          </c:val>
        </c:ser>
        <c:ser>
          <c:idx val="2"/>
          <c:order val="2"/>
          <c:tx>
            <c:strRef>
              <c:f>Sheet1!$D$1</c:f>
              <c:strCache>
                <c:ptCount val="1"/>
                <c:pt idx="0">
                  <c:v>Свободный CF</c:v>
                </c:pt>
              </c:strCache>
            </c:strRef>
          </c:tx>
          <c:spPr>
            <a:solidFill>
              <a:srgbClr val="739DAB"/>
            </a:solidFill>
            <a:ln w="25400">
              <a:solidFill>
                <a:srgbClr val="739DAB"/>
              </a:solidFill>
            </a:ln>
          </c:spPr>
          <c:cat>
            <c:strRef>
              <c:f>Sheet1!$A$2:$A$6</c:f>
              <c:strCache>
                <c:ptCount val="5"/>
                <c:pt idx="0">
                  <c:v>2027</c:v>
                </c:pt>
                <c:pt idx="1">
                  <c:v>2028</c:v>
                </c:pt>
                <c:pt idx="2">
                  <c:v>2029</c:v>
                </c:pt>
                <c:pt idx="3">
                  <c:v>2030</c:v>
                </c:pt>
                <c:pt idx="4">
                  <c:v>2031</c:v>
                </c:pt>
              </c:strCache>
            </c:strRef>
          </c:cat>
          <c:val>
            <c:numRef>
              <c:f>Sheet1!$D$2:$D$6</c:f>
              <c:numCache>
                <c:formatCode>General</c:formatCode>
                <c:ptCount val="5"/>
                <c:pt idx="0">
                  <c:v>1.432</c:v>
                </c:pt>
                <c:pt idx="1">
                  <c:v>4.03632</c:v>
                </c:pt>
                <c:pt idx="2">
                  <c:v>5.961575200000003</c:v>
                </c:pt>
                <c:pt idx="3">
                  <c:v>6.930350556000001</c:v>
                </c:pt>
                <c:pt idx="4">
                  <c:v>10.578478200160003</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1500"/>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500"/>
            </a:pPr>
          </a:p>
        </c:txPr>
        <c:crossAx val="-2068027336"/>
        <c:crosses val="autoZero"/>
      </c:valAx>
    </c:plotArea>
    <c:legend>
      <c:legendPos val="b"/>
      <c:overlay val="0"/>
      <c:txPr>
        <a:bodyPr/>
        <a:lstStyle/>
        <a:p>
          <a:pPr>
            <a:defRPr sz="1500"/>
          </a:pPr>
        </a:p>
      </c:txPr>
    </c:legend>
    <c:dispBlanksAs val="gap"/>
  </c:chart>
  <c:txPr>
    <a:bodyPr/>
    <a:lstStyle/>
    <a:p>
      <a:pPr>
        <a:defRPr sz="1500">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barChart>
        <c:barDir val="bar"/>
        <c:grouping val="clustered"/>
        <c:ser>
          <c:idx val="0"/>
          <c:order val="0"/>
          <c:tx>
            <c:strRef>
              <c:f>Sheet1!$B$1</c:f>
              <c:strCache>
                <c:ptCount val="1"/>
                <c:pt idx="0">
                  <c:v>NPV</c:v>
                </c:pt>
              </c:strCache>
            </c:strRef>
          </c:tx>
          <c:spPr>
            <a:solidFill>
              <a:srgbClr val="164C38"/>
            </a:solidFill>
            <a:ln w="25400">
              <a:solidFill>
                <a:srgbClr val="164C38"/>
              </a:solidFill>
            </a:ln>
          </c:spPr>
          <c:cat>
            <c:strRef>
              <c:f>Sheet1!$A$2:$A$7</c:f>
              <c:strCache>
                <c:ptCount val="6"/>
                <c:pt idx="0">
                  <c:v>База</c:v>
                </c:pt>
                <c:pt idx="1">
                  <c:v>Цена −10%</c:v>
                </c:pt>
                <c:pt idx="2">
                  <c:v>Объем −25%</c:v>
                </c:pt>
                <c:pt idx="3">
                  <c:v>Переменные +20%</c:v>
                </c:pt>
                <c:pt idx="4">
                  <c:v>Задержка на год</c:v>
                </c:pt>
                <c:pt idx="5">
                  <c:v>Внесение 900 ₽/га</c:v>
                </c:pt>
              </c:strCache>
            </c:strRef>
          </c:cat>
          <c:val>
            <c:numRef>
              <c:f>Sheet1!$B$2:$B$7</c:f>
              <c:numCache>
                <c:formatCode>General</c:formatCode>
                <c:ptCount val="6"/>
                <c:pt idx="0">
                  <c:v>3.946443104442745</c:v>
                </c:pt>
                <c:pt idx="1">
                  <c:v>0.04487293632982997</c:v>
                </c:pt>
                <c:pt idx="2">
                  <c:v>-2.6388362920894077</c:v>
                </c:pt>
                <c:pt idx="3">
                  <c:v>1.4115262854426354</c:v>
                </c:pt>
                <c:pt idx="4">
                  <c:v>-1.4330412442990532</c:v>
                </c:pt>
                <c:pt idx="5">
                  <c:v>-6.605370129557806</c:v>
                </c:pt>
              </c:numCache>
            </c:numRef>
          </c:val>
        </c:ser>
        <c:axId val="-2068027336"/>
        <c:axId val="-2113994440"/>
      </c:barChart>
      <c:catAx>
        <c:axId val="-2068027336"/>
        <c:scaling>
          <c:orientation val="minMax"/>
        </c:scaling>
        <c:delete val="0"/>
        <c:axPos val="l"/>
        <c:majorTickMark val="out"/>
        <c:minorTickMark val="none"/>
        <c:tickLblPos val="nextTo"/>
        <c:txPr>
          <a:bodyPr/>
          <a:lstStyle/>
          <a:p>
            <a:pPr>
              <a:defRPr sz="15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500"/>
            </a:pPr>
          </a:p>
        </c:txPr>
        <c:crossAx val="-2068027336"/>
        <c:crosses val="autoZero"/>
      </c:valAx>
    </c:plotArea>
    <c:dispBlanksAs val="gap"/>
  </c:chart>
  <c:txPr>
    <a:bodyPr/>
    <a:lstStyle/>
    <a:p>
      <a:pPr>
        <a:defRPr sz="15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АгроВектор — мобильный сервис для малых и средних сельхозпредприятий и фермерских хозяйств. Клиент покупает не дрон, а согласованное обследование, карту проблемных зон, точечное внесение жидких удобрений, СЗР, биопрепаратов или энтомофагов и отчет о работе. Агрохолдинги рассматриваются как вторичный сегмент. Полноценное водное орошение исключено: конструкция сервиса ориентирована на малые объемы технологических составов, а не доставку поливной воды.</a:t>
            </a:r>
          </a:p>
          <a:p/>
          <a:p>
            <a:r>
              <a:t>[ДОПУЩЕНИЕ] Базовый кластер — Татарстан, радиус до 150 км, только после проверки полетной и агрохимической доступности конкретных участков. Одна бригада, основной и резервный агродроны, отдельный мониторинговый аппарат. Первый коммерческий сезон — апрель–сентябрь 2027; подготовка начинается осенью 2026. Контракты, разрешения, поставщики и инвестиции пока не подтверждены.</a:t>
            </a:r>
          </a:p>
          <a:p/>
          <a:p>
            <a:r>
              <a:t>[ДОПУЩЕНИЕ] Социальная составляющая — добровольная гражданская переподготовка людей с опытом управления БПЛА после СВО для работы в АПК. Общие требования к компетенциям, безопасности и допускам одинаковы для всех сотрудников; прежний опыт не заменяет профессиональную подготовку.</a:t>
            </a:r>
          </a:p>
          <a:p/>
          <a:p>
            <a:r>
              <a:t>[РАСЧЕТ] Ключевые показатели условного базового сценария:</a:t>
            </a:r>
          </a:p>
          <a:p/>
          <a:p>
            <a:r>
              <a:t>| Показатель | Значение |</a:t>
            </a:r>
          </a:p>
          <a:p>
            <a:r>
              <a:t>| --- | --- |</a:t>
            </a:r>
          </a:p>
          <a:p>
            <a:r>
              <a:t>| Начальная потребность | 9 500 000 руб. |</a:t>
            </a:r>
          </a:p>
          <a:p>
            <a:r>
              <a:t>| CAPEX / запуск / ликвидность | 7 000 000 / 500 000 / 2 000 000 руб. |</a:t>
            </a:r>
          </a:p>
          <a:p>
            <a:r>
              <a:t>| Выручка 2027 / EBITDA 2027 | 8 800 000 / 1 960 000 руб. |</a:t>
            </a:r>
          </a:p>
          <a:p>
            <a:r>
              <a:t>| NPV за 5 лет, ставка 24% | 3 946 443 руб. |</a:t>
            </a:r>
          </a:p>
          <a:p>
            <a:r>
              <a:t>| Простая / дисконтированная окупаемость | 2,68 / 3,88 года |</a:t>
            </a:r>
          </a:p>
          <a:p/>
          <a:p>
            <a:r>
              <a:t>[ДОПУЩЕНИЕ] Рекомендация инвестору — условное поэтапное финансирование. Не закупать весь парк без юридического заключения по региону, подтверждения кадрового бюджета и коммерческого портфеля. Положительная NPV не компенсирует отсутствие права на работы. Мониторинг без внесения не объявляется равноценной финансовой заменой: такой вариант требует отдельной малокапитальной модели.</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SMART-цели первого сезона. Даты являются контрольным планом, а не подтверждением выполненных работ. При пропуске правовой или закупочной контрольной точки календарь пересматривается до финансирования.</a:t>
            </a:r>
          </a:p>
          <a:p/>
          <a:p>
            <a:r>
              <a:t>| Цель | Измеримый результат | Срок | Ответственный и доказательство |</a:t>
            </a:r>
          </a:p>
          <a:p>
            <a:r>
              <a:t>| --- | --- | --- | --- |</a:t>
            </a:r>
          </a:p>
          <a:p>
            <a:r>
              <a:t>| Правовая применимость | Карта требований по всем выбранным полям; решение GO/NO-GO | 31.10.2026 | Директор; письменное заключение юриста |</a:t>
            </a:r>
          </a:p>
          <a:p>
            <a:r>
              <a:t>| Подтверждение спроса | 20 интервью; заявки на 6 000 га-проходов и 4 000 га-обследований | 30.11.2026 | Директор; реестр полей и заявок, без объявления их продажами |</a:t>
            </a:r>
          </a:p>
          <a:p>
            <a:r>
              <a:t>| Коммерческий портфель | 10 клиентов; суммарно 6 000 га-проходов и 4 000 га-обследований | 11.04.2027 | Директор; подписанные договоры и календарь |</a:t>
            </a:r>
          </a:p>
          <a:p>
            <a:r>
              <a:t>| Техническая готовность | Приняты 3 аппарата; 2 оператора прошли оценку; пилот 100 га внутри сезонного объема | 30.04.2027 | Операционный руководитель; до 11.04 — приемка и допуски, в апреле — акт пилота |</a:t>
            </a:r>
          </a:p>
          <a:p>
            <a:r>
              <a:t>| Первый сезон | 6 000 га-проходов, 4 000 га-обследований; выручка 8,8 млн руб. без НДС | 12.09.2027 | Директор; акты, журнал операций, бухгалтерский учет |</a:t>
            </a:r>
          </a:p>
          <a:p>
            <a:r>
              <a:t>| Гражданская подготовка | 2 оператора: индивидуальный план, наставник и оценка; контроль занятости через 3 месяца | 11.04.2027; контроль 12.07.2027 | Операционный руководитель; протоколы обучения и кадровый учет |</a:t>
            </a:r>
          </a:p>
          <a:p/>
          <a:p>
            <a:r>
              <a:t>Обучение добровольное; квоты по биографическому статусу нет. Самостоятельные работы допускаются только после оценки компетенций. Безопасность: 100% заданий проходят проверку готовности; все опасные события регистрируются. Цель — ноль работ без необходимых допусков, а не обещание отсутствия любого инцидента.</a:t>
            </a:r>
          </a:p>
          <a:p/>
          <a:p>
            <a:r>
              <a:t>Комментарий к слайду:</a:t>
            </a:r>
          </a:p>
          <a:p>
            <a:r>
              <a:t>Объемы на слайде: внесение / мониторинг. Полные цели и критерии — в разделе 2. Готовность до 11.04; пилот в апреле входит в сезонный объем.</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Продукт — договорная услуга: обследование поля, согласование карты задания, точечное внесение удобрений, СЗР, биопрепаратов либо выпуск энтомофагов при подтвержденной применимости оборудования и технологии, затем отчет о выполнении. Особый сценарий — локальные и труднодоступные участки, для которых клиент рассматривает альтернативу своему обычному способу обработки. Орошение и продажа дронов в модель не входят.</a:t>
            </a:r>
          </a:p>
          <a:p/>
          <a:p>
            <a:r>
              <a:t>[ДОПУЩЕНИЕ] Заказчик предоставляет препараты и необходимые сведения о поле; внешний агроном проверяет агрономическую постановку задачи. Исполнитель отвечает за согласованное выполнение, прослеживаемость и документацию, но не обещает универсального роста урожайности. Отчет содержит объем, параметры задания и отклонения.</a:t>
            </a:r>
          </a:p>
          <a:p/>
          <a:p>
            <a:r>
              <a:t>### Сравнение с конкретными конкурентами</a:t>
            </a:r>
          </a:p>
          <a:p/>
          <a:p>
            <a:r>
              <a:t>Дата проверки открытых предложений: 06.10.2026. АгроВектор находится до запуска. Сравнение отражает наличие предложения, а не доказанное превосходство по качеству. Агропрофи — региональный конкурент; Агродроны ЮФО и Гермес — межрегиональные ориентиры, работа в Татарстане ими здесь не подтверждается.</a:t>
            </a:r>
          </a:p>
          <a:p/>
          <a:p>
            <a:r>
              <a:t>| Фактор ценности | АгроВектор | ГК Агропрофи / XAG | Агродроны ЮФО | Гермес |</a:t>
            </a:r>
          </a:p>
          <a:p>
            <a:r>
              <a:t>|---|---|---|---|---|</a:t>
            </a:r>
          </a:p>
          <a:p>
            <a:r>
              <a:t>| Услуга внесения | Запланирована | Предлагается [3][4] | Предлагается [7] | Предлагается [6] |</a:t>
            </a:r>
          </a:p>
          <a:p>
            <a:r>
              <a:t>| Мониторинг и картирование | Запланированы | Средства мониторинга заявлены; состав услуги уточняется [3] | Отдельная услуга не подтверждена | Мониторинг и карты заявлены [6] |</a:t>
            </a:r>
          </a:p>
          <a:p>
            <a:r>
              <a:t>| Обслуживание Татарстана | План после проверки участков | Татарстан заявлен [3] | Заявлен ЮФО [7] | Краснодарский край и Адыгея [6] |</a:t>
            </a:r>
          </a:p>
          <a:p>
            <a:r>
              <a:t>| Публичный тариф внесения | 1300 руб./га-проход, план | По запросу | В среднем 900 руб./га [7] | По запросу |</a:t>
            </a:r>
          </a:p>
          <a:p>
            <a:r>
              <a:t>| Отчетность заказчику | Отчет за 48 часов, цель | Состав отчета уточняется | Акты и закрывающие документы заявлены [7] | Состав отчета уточняется |</a:t>
            </a:r>
          </a:p>
          <a:p>
            <a:r>
              <a:t>| Опыт исполнения | Коммерческий сезон еще не проведен | Более 50 тыс. га суммарно, заявление без периода [3] | Собственный парк заявлен [7] | Полевые кейсы опубликованы [6] |</a:t>
            </a:r>
          </a:p>
          <a:p/>
          <a:p>
            <a:r>
              <a:t>### Стратегическая канва по факторам выбора клиента</a:t>
            </a:r>
          </a:p>
          <a:p/>
          <a:p>
            <a:r>
              <a:t>Качественная канва сопоставляет цену, состав пакета, территорию, минимальный объем и срок отчета. Для несопоставимых и нераскрытых параметров числовые баллы не назначаются. Целевой профиль проекта не является достигнутым результатом.</a:t>
            </a:r>
          </a:p>
          <a:p/>
          <a:p>
            <a:r>
              <a:t>| Фактор выбора клиента | АгроВектор: цель | Агропрофи / XAG | Агродроны ЮФО | Гермес |</a:t>
            </a:r>
          </a:p>
          <a:p>
            <a:r>
              <a:t>| --- | --- | --- | --- | --- |</a:t>
            </a:r>
          </a:p>
          <a:p>
            <a:r>
              <a:t>| Цена внесения, руб./га | 1 300 без НДС | По запросу | 900, средняя; состав уточняется | По запросу |</a:t>
            </a:r>
          </a:p>
          <a:p>
            <a:r>
              <a:t>| Мониторинг + внесение | Один договор, план | Состав пакета уточняется | Мониторинг не подтвержден | Оба направления заявлены |</a:t>
            </a:r>
          </a:p>
          <a:p>
            <a:r>
              <a:t>| Локальная доступность | Татарстан, до 150 км; условно | Татарстан заявлен | ЮФО | Краснодар / Адыгея |</a:t>
            </a:r>
          </a:p>
          <a:p>
            <a:r>
              <a:t>| Минимальный маршрут | 100 га-проходов, план | Не раскрыт | Не раскрыт | Не раскрыт |</a:t>
            </a:r>
          </a:p>
          <a:p>
            <a:r>
              <a:t>| Срок отчета | Не более 48 часов, цель | Не раскрыт | Акты заявлены; срок не раскрыт | Не раскрыт |</a:t>
            </a:r>
          </a:p>
          <a:p/>
          <a:p>
            <a:r>
              <a:t>[ДОПУЩЕНИЕ] Позиционирование: локальный маршрут от 100 га-проходов, один договор на мониторинг и внесение, отчет за 48 часов. Это проверяемая гипотеза, не доказанное превосходство. У конкурентов уже есть сходные услуги. Премия к ориентиру 900 руб./га требует сопоставимых коммерческих предложений и платного пилота. Неизвестные характеристики конкурентов не считаются их недостатками. Источники: [3][4][6][7]; проверка 06.10.2026.</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Business Model Canvas фиксирует проверяемые гипотезы раннего проекта. До подтверждения договоров указанные сегменты и партнерства не считаются сформированным рынком сбыта.</a:t>
            </a:r>
          </a:p>
          <a:p/>
          <a:p>
            <a:r>
              <a:t>| Блок | Содержание модели | Проверка гипотезы |</a:t>
            </a:r>
          </a:p>
          <a:p>
            <a:r>
              <a:t>|---|---|---|</a:t>
            </a:r>
          </a:p>
          <a:p>
            <a:r>
              <a:t>| 1. Потребительские сегменты | Хозяйства в разрешенной зоне Татарстана; агрономические службы с локальными задачами, сложными участками и дефицитом подходящих окон | Интервью по конкретным полям, культурам и календарям |</a:t>
            </a:r>
          </a:p>
          <a:p>
            <a:r>
              <a:t>| 2. Ценностное предложение | Мониторинг, карта задания, подходящее точечное внесение и отчет в одном договорном контуре | Платный пилот, согласованные критерии приемки |</a:t>
            </a:r>
          </a:p>
          <a:p>
            <a:r>
              <a:t>| 3. Каналы | Прямые продажи директора, рекомендации агрономов, демонстрации на согласованных площадках | Стоимость привлечения и переход заявки в договор |</a:t>
            </a:r>
          </a:p>
          <a:p>
            <a:r>
              <a:t>| 4. Отношения с клиентами | Персональное планирование сезона, единый контакт, уведомления о переносах, разбор отклонений | Продление договора и реестр претензий |</a:t>
            </a:r>
          </a:p>
          <a:p>
            <a:r>
              <a:t>| 5. Потоки доходов | Оплата внесения за га-проход; отдельная оплата согласованного мониторинга за га-обследование | Акты, отсутствие повторного выставления одного объема |</a:t>
            </a:r>
          </a:p>
          <a:p>
            <a:r>
              <a:t>| 6. Ключевые ресурсы | Одна бригада, основной и резервный аппараты внесения, мониторинговый аппарат, транспорт, документы и оборотный резерв | Приемка, ресурсный календарь и кассовый план |</a:t>
            </a:r>
          </a:p>
          <a:p>
            <a:r>
              <a:t>| 7. Ключевые действия | Продажи, правовая проверка, планирование, подготовка задания, безопасное исполнение, обслуживание и отчетность | Регламенты, журналы и контроль качества |</a:t>
            </a:r>
          </a:p>
          <a:p>
            <a:r>
              <a:t>| 8. Ключевые партнеры | Внешний агроном, учебный партнер, сервис техники, юрист, бухгалтер; поставщики препаратов взаимодействуют с клиентом | Договоры, квалификация, сроки реакции |</a:t>
            </a:r>
          </a:p>
          <a:p>
            <a:r>
              <a:t>| 9. Структура затрат | Техника, труд, транспорт, обслуживание, страхование, обучение, внешние специалисты и резерв ликвидности | Сметы, предложения поставщиков, ежемесячный план-факт |</a:t>
            </a:r>
          </a:p>
          <a:p/>
          <a:p>
            <a:r>
              <a:t>[ДОПУЩЕНИЕ] Выпуск энтомофагов относится к согласованной операции внесения, а не формирует третью строку выручки. Повторный проход учитывается только при отдельном задании и фактическом выполнении. Площадь мониторинга может совпадать с обработанными полями; это разные услуги, но не дополнительные уникальные гектары территории.</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Приоритет — КФХ и малые/средние сельхозпредприятия с фрагментированными полями, культурами высокой ценности, переувлажненными участками и недостаточной собственной техникой. Покупатель — руководитель хозяйства; технический заказчик и приемщик — агроном. Агрохолдинги — вторичный сегмент для пиков нагрузки и сложных участков, а не якорь первого сезона.</a:t>
            </a:r>
          </a:p>
          <a:p/>
          <a:p>
            <a:r>
              <a:t>### TAM SAM SOM и проверка расчета</a:t>
            </a:r>
          </a:p>
          <a:p/>
          <a:p>
            <a:r>
              <a:t>Рынок проекта — платные услуги агродронов по внесению и мониторингу для КФХ и малых/средних хозяйств. Оценка — годовая, в ценах 2027 года, без НДС, препаратов клиента и продажи дронов. TAM — потенциальный спрос выбранного сегмента РФ; SAM — его доступная часть в кластере Татарстана до 150 км; SOM — объем, который одна бригада планирует продать и выполнить в первом сезоне. SAM вложен в TAM. Доступность требует проверки конкретного поля.</a:t>
            </a:r>
          </a:p>
          <a:p/>
          <a:p>
            <a:r>
              <a:t>[ДОПУЩЕНИЕ] База 2000 хозяйств РФ и 200 хозяйств кластера, средняя площадь 2000 га, пригодность 15%, 1,5 прохода внесения и 0,5 обследования на пригодный гектар — параметры сценария. Список хозяйств и пригодность не подтверждены. Поэтому эти результаты называются сценарной емкостью выбранного сегмента, а не установленной емкостью всей России. До адресного реестра точность 1,245 млрд руб. арифметическая, а не статистическая.</a:t>
            </a:r>
          </a:p>
          <a:p/>
          <a:p>
            <a:r>
              <a:t>[РАСЧЕТ] Пригодная площадь = число хозяйств × средняя площадь × доля пригодности. Внесение = пригодная площадь × 1,5; мониторинг = пригодная площадь × 0,5. Емкость = внесение × 1300 + мониторинг × 250.</a:t>
            </a:r>
          </a:p>
          <a:p/>
          <a:p>
            <a:r>
              <a:t>| Уровень | Хозяйства | Пригодная площадь, га | Внесение, га-проходы | Мониторинг, га-обследования | Емкость, руб./год |</a:t>
            </a:r>
          </a:p>
          <a:p>
            <a:r>
              <a:t>|---|---:|---:|---:|---:|---:|</a:t>
            </a:r>
          </a:p>
          <a:p>
            <a:r>
              <a:t>| TAM выбранного сегмента, сценарий | 2000 | 600000 | 900000 | 300000 | 1245000000 |</a:t>
            </a:r>
          </a:p>
          <a:p>
            <a:r>
              <a:t>| SAM кластера, сценарий | 200 | 60000 | 90000 | 30000 | 124500000 |</a:t>
            </a:r>
          </a:p>
          <a:p>
            <a:r>
              <a:t>| SOM сезона 2027, цель | 10 | Не суммируется по услугам | 6000 | 4000 | 8800000 |</a:t>
            </a:r>
          </a:p>
          <a:p/>
          <a:p>
            <a:r>
              <a:t>[РАСЧЕТ] TAM = 2000 × 2000 × 0,15 × (1,5 × 1300 + 0,5 × 250). SAM использует ту же формулу для 200 хозяйств. SOM = 6000 × 1300 + 4000 × 250 = 7,8 млн + 1,0 млн = 8,8 млн руб. Средние 600 га-проходов на каждого из 10 клиентов относятся к внесению; 400 га-обследований на клиента — отдельная целевая услуга, если все 10 заказывают мониторинг.</a:t>
            </a:r>
          </a:p>
          <a:p/>
          <a:p>
            <a:r>
              <a:t>| Доля SOM в SAM | Расчет | Результат |</a:t>
            </a:r>
          </a:p>
          <a:p>
            <a:r>
              <a:t>|---|---|---:|</a:t>
            </a:r>
          </a:p>
          <a:p>
            <a:r>
              <a:t>| По внесению | 6000 / 90000 × 100% | 6,67% |</a:t>
            </a:r>
          </a:p>
          <a:p>
            <a:r>
              <a:t>| По мониторингу | 4000 / 30000 × 100% | 13,33% |</a:t>
            </a:r>
          </a:p>
          <a:p>
            <a:r>
              <a:t>| По выручке двух услуг | 8800000 / 124500000 × 100% | 7,07% |</a:t>
            </a:r>
          </a:p>
          <a:p/>
          <a:p>
            <a:r>
              <a:t>Микс SOM отличается от среднего микса TAM/SAM: 0,667 обследования на проход против 0,333. Это возможно как отдельный спрос на мониторинг, но должно подтверждаться заявками. Если сохранить средний микс SAM, мониторинг при 6000 проходах составит 2000 обследований, SOM — 8,3 млн руб., доля — 6,67%. Финансовая база 8,8 млн сохранена как проверяемая цель, а не исправлена без подтверждения портфеля.</a:t>
            </a:r>
          </a:p>
          <a:p/>
          <a:p>
            <a:r>
              <a:t>[РАСЧЕТ] Ограничение мощности: 6000 / 130 + 4000 / 500 = 54,15 полевых дня при плановых производительностях проекта. Это ниже потолка 120 дней, однако пики агрономических окон, погода, транспорт и отдых могут ограничить загрузку. SOM проверяется одновременно по договорам, кадрам и календарю. Резервный борт не создает вторую бригаду.</a:t>
            </a:r>
          </a:p>
          <a:p/>
          <a:p>
            <a:r>
              <a:t>### Чувствительность сценарной емкости</a:t>
            </a:r>
          </a:p>
          <a:p/>
          <a:p>
            <a:r>
              <a:t>При прежних числе хозяйств, площади, частоте и тарифах меняется только пригодность. Диапазон не является доверительным интервалом.</a:t>
            </a:r>
          </a:p>
          <a:p/>
          <a:p>
            <a:r>
              <a:t>| Пригодность | TAM, руб./год | SAM, руб./год | Цель SOM / SAM |</a:t>
            </a:r>
          </a:p>
          <a:p>
            <a:r>
              <a:t>|---|---:|---:|---:|</a:t>
            </a:r>
          </a:p>
          <a:p>
            <a:r>
              <a:t>| 10% | 830000000 | 83000000 | 10,60% |</a:t>
            </a:r>
          </a:p>
          <a:p>
            <a:r>
              <a:t>| 15%, база | 1245000000 | 124500000 | 7,07% |</a:t>
            </a:r>
          </a:p>
          <a:p>
            <a:r>
              <a:t>| 20% | 1660000000 | 166000000 | 5,30% |</a:t>
            </a:r>
          </a:p>
          <a:p/>
          <a:p>
            <a:r>
              <a:t>Для подтверждения оценки нужны адресный список хозяйств, площадь и культуры по каждому клиенту, агрономически подходящие операции, доступность участков, частота заказов и готовность оплатить тариф. Национальная площадь обработок не подменяет выручку подрядчиков и не служит знаменателем региональных долей.</a:t>
            </a:r>
          </a:p>
          <a:p/>
          <a:p>
            <a:r>
              <a:t>### Выход на рынок</a:t>
            </a:r>
          </a:p>
          <a:p/>
          <a:p>
            <a:r>
              <a:t>[ДОПУЩЕНИЕ] Каналы: прямые продажи через агрономов, партнеры по биопрепаратам и удобрениям, фермерские объединения, демонстрации на поле и рекомендации. Плановая воронка: 100 адресных контактов → 40 квалифицированных разговоров → 20 обследований/предложений → 10 сезонных клиентов. Ни одно соглашение пока не подписано. Предварительное интервью не считается продажей.</a:t>
            </a:r>
          </a:p>
          <a:p/>
          <a:p>
            <a:r>
              <a:t>[ДОПУЩЕНИЕ] Годовой маркетинговый бюджет 240000 руб. входит в постоянный OPEX. Денежный CAC при 10 новых клиентах — 24000 руб. без распределения зарплаты директора; это не fully-loaded CAC. Средняя выручка на клиента в первом сезоне — 880000 руб. при условном распределении всех услуг между десятью клиентами. Агрономические консультации, дорога в согласованном радиусе и отчет включены; дальний выезд и малый участок требуют отдельной сметы и не заложены как дополнительная выручка.</a:t>
            </a:r>
          </a:p>
          <a:p/>
          <a:p>
            <a:r>
              <a:t>[ДОПУЩЕНИЕ] Коммерческие условия: минимальный планируемый маршрут 100 га-проходов, 30% аванс, остаток после акта; модель ликвидности консервативно не опирается на аванс. Ценность проверяется на сопоставимых контрольных участках: сроки, площадь, качество покрытия, повреждение колеи, расход состава. Процент экономии СЗР и прирост урожая до испытаний не обещаются.</a:t>
            </a:r>
          </a:p>
          <a:p/>
          <a:p>
            <a:r>
              <a:t>[ДОПУЩЕНИЕ] Контроль спроса: если к решению о закупке нет подтвержденного доступного портфеля на 6000 га-проходов, капиталоемкий запуск переносится; допускается отдельный малый пилот через законного оператора. Его экономика не подменяет базовую модель собственной бригады.</a:t>
            </a:r>
          </a:p>
          <a:p/>
          <a:p>
            <a:r>
              <a:t>### Наблюдаемая отрасль и динамика</a:t>
            </a:r>
          </a:p>
          <a:p/>
          <a:p>
            <a:r>
              <a:t>[ФАКТ] Министр сельского хозяйства сообщила об около 600 тыс.га полей, обработанных агродронами в 2025 году.[8] РСХБ в публикации 16.07.2026 приводит 781 тыс.га за 2025 год и прогноз 1058 тыс.га на 2026 год.[9]</a:t>
            </a:r>
          </a:p>
          <a:p/>
          <a:p>
            <a:r>
              <a:t>[ДОПУЩЕНИЕ] Источники расходятся по 2025 году; охват и правила учета проходов недостаточно раскрыты. Их нельзя объединять в один ряд или выдавать прогноз 2026 за выполненные работы. Сопоставимый первичный национальный итог 2024 не подтвержден. Площади включают не только внешние платные услуги, поэтому умножение отраслевой площади на наш тариф не является доказанным объемом сервисного рынка. Приведенный выше TAM — сценарная будущая корзина, а не текущая платная выручка отрасли.</a:t>
            </a:r>
          </a:p>
          <a:p/>
          <a:p>
            <a:r>
              <a:t>[РАСЧЕТ] Внутри оценки РСХБ прогнозный рост 2026 к 2025 составляет 35,47% (1058/781−1), но этот темп не переносится на финансовую модель АгроВектора: ее выручку определяют собственные гектары, тариф и мощность. Плановый средний CAC 24000 руб. и выручка 880000 руб. на клиента рассчитаны как 240000/10 и 8800000/10 соответственно.</a:t>
            </a:r>
          </a:p>
          <a:p/>
          <a:p>
            <a:r>
              <a:t>Комментарий к слайду:</a:t>
            </a:r>
          </a:p>
          <a:p>
            <a:r>
              <a:t>TAM/SAM — собственная гипотеза снизу вверх. Вести: около 600 тыс. га обработано в 2025, со слов министра; РСХБ: 781 тыс. га в 2025 и прогноз 1058 тыс. га в 2026. Различия определений не разрешены; ряды не смешиваются. Все числа рынка на слайде сценарные. Бюджет маркетинга 240 тыс. рублей; денежный CAC 24 тыс. рублей без зарплаты директора. URL — контекст отрасли, не источник TAM/SAM.</a:t>
            </a:r>
          </a:p>
          <a:p/>
          <a:p>
            <a:r>
              <a:t>Внешние URL:</a:t>
            </a:r>
          </a:p>
          <a:p>
            <a:r>
              <a:t>https://www.vesti.ru/article/4893778</a:t>
            </a:r>
          </a:p>
          <a:p>
            <a:r>
              <a:t>https://www.rshb.ru/news/16072026-000004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[ФАКТ] Сопоставлены публичные предложения пяти сервисов. Дата проверки 05.09.2026; сведения — заявления самих поставщиков, не подтверждение действующих допусков, выручки или качества. Н/д означает отсутствие подтвержденной цифры, а не нулевую цену или долю.</a:t>
            </a:r>
          </a:p>
          <a:p/>
          <a:p>
            <a:r>
              <a:t>| Компания | География и услуга | Цена,руб./га | Доля рынка,% | Источник |</a:t>
            </a:r>
          </a:p>
          <a:p>
            <a:r>
              <a:t>|---|---|---|---|---|</a:t>
            </a:r>
          </a:p>
          <a:p>
            <a:r>
              <a:t>| BeeAir / BeeUAV | Татарстан заявлен на сайте; контактный адрес МО; обработка; мониторинг; аренда | Н/д; по запросу | Н/д | [1][2] |</a:t>
            </a:r>
          </a:p>
          <a:p>
            <a:r>
              <a:t>| ГК Агропрофи / XAG | Поволжье включая Татарстан; обработка; посев; продажа техники | Н/д; по запросу | Н/д | [3][4] |</a:t>
            </a:r>
          </a:p>
          <a:p>
            <a:r>
              <a:t>| Аграс / аграс.рф | Челябинская область и Урал по материалам сайта; аренда пилота/техники; демонстрация | Н/д; по запросу | Н/д | [5] |</a:t>
            </a:r>
          </a:p>
          <a:p>
            <a:r>
              <a:t>| Гермес | Краснодарский край и Адыгея; виноградники; удобрения; мониторинг | Н/д; по запросу | Н/д | [6] |</a:t>
            </a:r>
          </a:p>
          <a:p>
            <a:r>
              <a:t>| Агродроны ЮФО | ЮФО; контакт в Элисте; обработка полей; внесение; посев | 900 | Н/д | [7] |</a:t>
            </a:r>
          </a:p>
          <a:p/>
          <a:p>
            <a:r>
              <a:t>[ФАКТ] «Агродроны ЮФО» называют в среднем 900 руб./га с индивидуальным расчетом по виду обработки и объему. НДС в тарифе не раскрыт; публикация не является коммерческим предложением для поля в Татарстане.[7] BeeAir/BeeUAV заявляет Татарстан, но указывает контактный адрес в Московской области; реальное покрытие региона необходимо уточнить.[1][2]</a:t>
            </a:r>
          </a:p>
          <a:p/>
          <a:p>
            <a:r>
              <a:t>[ДОПУЩЕНИЕ] Наземные подрядчики и собственный опрыскиватель хозяйства — заменители, не участники одного статистически измеренного рынка агродронных услуг. Их сравнивают по полной смете одного задания: доступность поля, календарь, препарат, норма внесения, транспорт, отчет и ответственность. Международные производители дронов не подменяют российских исполнителей услуги.</a:t>
            </a:r>
          </a:p>
          <a:p/>
          <a:p>
            <a:r>
              <a:t>[РАСЧЕТ] Тариф АгроВектора 1300 руб. выше единственного подтвержденного публичного ориентира 900 руб. на 44,44%. Сравнение не выровнено по региону, составу услуги и НДС; премия требует подтверждения оплатой пилота. Стресс 900 руб. приведен в разделе 18 и дает отрицательную NPV. Демпинговое позиционирование в проекте не используется.</a:t>
            </a:r>
          </a:p>
          <a:p/>
          <a:p>
            <a:r>
              <a:t>[ДОПУЩЕНИЕ] Фактические выручки и знаменатель регионального рынка не раскрыты, поэтому именованные доли не присваиваются и круговая диаграмма выдуманных долей не строится. Целевая доля АгроВектора 7,07% относится исключительно к сценарному денежному SAM раздела 5. Для рыночного подтверждения нужны реестр доступных хозяйств, сопоставимые КП минимум трех подрядчиков и фактические гектары оплаченных работ.</a:t>
            </a:r>
          </a:p>
          <a:p/>
          <a:p>
            <a:r>
              <a:t>### Доли конкретных конкурентов</a:t>
            </a:r>
          </a:p>
          <a:p/>
          <a:p>
            <a:r>
              <a:t>Доля по выручке = выручка компании от сопоставимых услуг в территории и году / суммарная выручка всех исполнителей тех же услуг в той же территории и году × 100%. Альтернатива — доля по оплачиваемым га-проходам; смешивать эти показатели нельзя. Для сопоставления с AgroVector нужен рынок услуг кластера Татарстана за один сезон, а не продажи оборудования или мировая доля марки XAG/DJI.</a:t>
            </a:r>
          </a:p>
          <a:p/>
          <a:p>
            <a:r>
              <a:t>| Компания | Доля услуг кластера Татарстана, % | Доступное основание | Что требуется для расчета |</a:t>
            </a:r>
          </a:p>
          <a:p>
            <a:r>
              <a:t>|---|---|---|---|</a:t>
            </a:r>
          </a:p>
          <a:p>
            <a:r>
              <a:t>| ГК Агропрофи | Не установлена | 50 тыс.+ га суммарно; период и доля Татарстана не раскрыты | Годовой объем или выручка услуг в кластере и итог рынка |</a:t>
            </a:r>
          </a:p>
          <a:p>
            <a:r>
              <a:t>| BeeAir / BeeUAV | Не установлена | В прежнем реестре заявлен Татарстан; сайт повторно недоступен 06.10.2026 | Подтверждение покрытия, годовые продажи и итог рынка |</a:t>
            </a:r>
          </a:p>
          <a:p>
            <a:r>
              <a:t>| Агродроны ЮФО | Не установлена | Предложение относится к ЮФО; не подтверждено присутствие в кластере | Покрытие кластера и сопоставимая статистика |</a:t>
            </a:r>
          </a:p>
          <a:p>
            <a:r>
              <a:t>| Гермес | Не установлена | Предложение относится к Краснодарскому краю и Адыгее | Покрытие кластера и сопоставимая статистика |</a:t>
            </a:r>
          </a:p>
          <a:p>
            <a:r>
              <a:t>| Аграс | Не установлена | Межрегиональный ориентир из предыдущего реестра | Покрытие кластера и сопоставимая статистика |</a:t>
            </a:r>
          </a:p>
          <a:p>
            <a:r>
              <a:t>| АгроВектор | Продажи проекта не подтверждены | 7,07% — цель от сценарного SAM, не фактическая доля | Фактические акты и подтвержденный знаменатель рынка |</a:t>
            </a:r>
          </a:p>
          <a:p/>
          <a:p>
            <a:r>
              <a:t>[ФАКТ] При проверке 06.10.2026 Агропрофи публикует более 50 тыс. обработанных гектаров без годового периода. Нельзя делить этот накопленный показатель на годовую площадь РФ, на сценарные 90000 га-проходов SAM или на 60000 га земли: полученные проценты не являются рыночной долей. Ни один сопоставимый процент по именованным конкурентам в проверенных источниках не подтвержден. Числовая доля требует данных исполнителей или исследования рынка с раскрытой методикой.</a:t>
            </a:r>
          </a:p>
          <a:p/>
          <a:p>
            <a:r>
              <a:t>Комментарий к слайду:</a:t>
            </a:r>
          </a:p>
          <a:p>
            <a:r>
              <a:t>Агродроны ЮФО: «Стоимость зависит от вида обработки и объёма участка. В среднем 900 рублей за гектар. Итоговая цена рассчитывается индивидуально». Состав, НДС, логистика и препараты требуют запроса КП. Доли всех участников неизвестны. BeeUAV рекламирует Татарстан; адрес на сайте — Московская область, локальное присутствие требует проверки. Канва слайда 3 не является оценкой перечисленных компаний.</a:t>
            </a:r>
          </a:p>
          <a:p/>
          <a:p>
            <a:r>
              <a:t>Внешние URL:</a:t>
            </a:r>
          </a:p>
          <a:p>
            <a:r>
              <a:t>https://agrdron.ru/</a:t>
            </a:r>
          </a:p>
          <a:p>
            <a:r>
              <a:t>https://beeuav.ru/</a:t>
            </a:r>
          </a:p>
          <a:p>
            <a:r>
              <a:t>https://xag-ap.ru/spraying.php</a:t>
            </a:r>
          </a:p>
          <a:p>
            <a:r>
              <a:t>https://germes-technology.ru/</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SWOT отражает внутреннюю конструкцию проекта и сценарии внешней среды, а не доказанные преимущества действующей компании.</a:t>
            </a:r>
          </a:p>
          <a:p/>
          <a:p>
            <a:r>
              <a:t>| Группа | Фактор | Коммерческое последствие | Управленческое действие |</a:t>
            </a:r>
          </a:p>
          <a:p>
            <a:r>
              <a:t>|---|---|---|---|</a:t>
            </a:r>
          </a:p>
          <a:p>
            <a:r>
              <a:t>| S | Связка мониторинга, задания и отчета | Возможность продавать понятный результат | Единый паспорт заказа и критерии приемки |</a:t>
            </a:r>
          </a:p>
          <a:p>
            <a:r>
              <a:t>| S | Резервный аппарат внесения | Снижение зависимости от единичного отказа | Проверять готовность резерва перед выездом |</a:t>
            </a:r>
          </a:p>
          <a:p>
            <a:r>
              <a:t>| S | Компактная команда | Короткая цепочка согласования | Закрепить полномочия остановки работ |</a:t>
            </a:r>
          </a:p>
          <a:p>
            <a:r>
              <a:t>| W | Отсутствие подтвержденного портфеля | Риск недозагрузки после закупки | Условное инвестиционное решение после проверки заявок |</a:t>
            </a:r>
          </a:p>
          <a:p>
            <a:r>
              <a:t>| W | Одна бригада и совмещение ролей | Конфликты сроков и зависимость от людей | Единый календарь, ограничение принимаемых обязательств |</a:t>
            </a:r>
          </a:p>
          <a:p>
            <a:r>
              <a:t>| W | Экономный фонд труда | Риск вакансий, текучести и перегрузки | Проверить предложения кандидатам до закупок |</a:t>
            </a:r>
          </a:p>
          <a:p>
            <a:r>
              <a:t>| O | Неудовлетворенные локальные задачи клиентов | Возможность повторных заказов | Проверять проблему на конкретном поле |</a:t>
            </a:r>
          </a:p>
          <a:p>
            <a:r>
              <a:t>| O | Гражданская переподготовка кандидатов с опытом БПЛА | Потенциальный кадровый канал | Добровольный отбор и обучение на равных условиях |</a:t>
            </a:r>
          </a:p>
          <a:p>
            <a:r>
              <a:t>| T | Ограничения полетов и технологий | Невозможность исполнения части договоров | Юридический стоп-фактор и прозрачные условия переноса |</a:t>
            </a:r>
          </a:p>
          <a:p>
            <a:r>
              <a:t>| T | Несовпадение погоды и агрономических окон | Потеря объемов без технической поломки | Приоритеты заданий, запас времени, отказ от перегруза |</a:t>
            </a:r>
          </a:p>
          <a:p>
            <a:r>
              <a:t>| T | Ценовое давление или задержка оплаты | Снижение маржи и кассовый разрыв | Авансирование, проверка дебиторской задолженности |</a:t>
            </a:r>
          </a:p>
          <a:p/>
          <a:p>
            <a:r>
              <a:t>[ДОПУЩЕНИЕ] SO-стратегия — тестировать комплексное предложение на локальных задачах; WO — закрывать дефицит компетенций наставником и внешним агрономом. ST — использовать отчетность и технический резерв для управляемого исполнения. WT — не расширять парк и географию до подтверждения юридической доступности, кадров и фактической экономики сезона.</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Пять сил Портера оцениваются сценарно; уровни не являются результатом измерения регионального рынка.</a:t>
            </a:r>
          </a:p>
          <a:p/>
          <a:p>
            <a:r>
              <a:t>| Сила | Уровень гипотезы | Механизм воздействия | Ответ проекта | Что проверить |</a:t>
            </a:r>
          </a:p>
          <a:p>
            <a:r>
              <a:t>|---|---|---|---|---|</a:t>
            </a:r>
          </a:p>
          <a:p>
            <a:r>
              <a:t>| Конкуренция действующих исполнителей | Высокий | Сравнение тарифов и свободных окон | Продавать определенное задание, сроки и приемку | Сопоставимые предложения по одинаковому полю |</a:t>
            </a:r>
          </a:p>
          <a:p>
            <a:r>
              <a:t>| Угроза новых участников | Средний | Появление дополнительной услуги у действующих подрядчиков | Развивать повторные договоры и дисциплину качества | Реальные сроки запуска и стоимость готовности |</a:t>
            </a:r>
          </a:p>
          <a:p>
            <a:r>
              <a:t>| Угроза заменителей | Высокий | Наземная обработка, собственная техника, отказ от операции | Отбирать задачи, где клиент видит ценность сервиса | Полная стоимость и применимость альтернатив |</a:t>
            </a:r>
          </a:p>
          <a:p>
            <a:r>
              <a:t>| Власть покупателей | Высокий | Сезонный торг и концентрация заказов | Разделять объемы по клиентам, фиксировать условия заранее | Концентрацию портфеля и причины отказов |</a:t>
            </a:r>
          </a:p>
          <a:p>
            <a:r>
              <a:t>| Власть поставщиков | Средний–высокий | Зависимость от техники, аккумуляторов и ремонта | Резервный аппарат, запас критичных деталей, сервисный договор | Совместимость, гарантийные условия, сроки ремонта |</a:t>
            </a:r>
          </a:p>
          <a:p/>
          <a:p>
            <a:r>
              <a:t>[РАСЧЕТ] Гипотеза зависит от повторного спроса и исполнения в сезонном окне. Устойчивое преимущество до полевой проверки не подтверждено.</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Предпочтительная форма — ООО: долевое участие инвестора, отделение имущества компании, договорная ответственность и управляемая отчетность. Окончательные ОКВЭД, объект УСН, корпоративный договор и страховой пакет утверждаются с юристом и бухгалтером. Компания не позиционируется как продавец техники. Вход инвестора не означает гарантированного распределения прибыли.</a:t>
            </a:r>
          </a:p>
          <a:p/>
          <a:p>
            <a:r>
              <a:t>### Обязательные условия законного выполнения работ</a:t>
            </a:r>
          </a:p>
          <a:p/>
          <a:p>
            <a:r>
              <a:t>[ФАКТ] Статья 33 Воздушного кодекса различает государственный учет гражданских БВС с максимальной взлетной массой от 0,15 до 30 кг включительно и государственную регистрацию аппаратов более 30 кг. Масса определяется не пустым аппаратом и не баком.[15]</a:t>
            </a:r>
          </a:p>
          <a:p/>
          <a:p>
            <a:r>
              <a:t>[ФАКТ] С 01.09.2026 действуют ФАП по приказу Минтранса 02.07.2026№303, заменившие приказ 494. Они предусматривают сертификат эксплуатанта, эксплуатационную спецификацию, требования к персоналу, организации работ и страхованию; перечень включает авиационно-химические работы. Аппарат до 30 кг не дает общего освобождения коммерческих АХР от требований к эксплуатанту.[16][17]</a:t>
            </a:r>
          </a:p>
          <a:p/>
          <a:p>
            <a:r>
              <a:t>[ДОПУЩЕНИЕ] Для каждого задания проверяется вся цепочка: законное владение и учет/регистрация конкретного борта → требуемые документы летной годности и персонала → сертификат и соответствующие работы в спецификации → действующие ограничения воздушного пространства и региональные запреты → необходимые разрешения/согласования/план полета → допустимость препарата → безопасность участка. Договор с фермером, малая высота и частная земля не признаются самостоятельными основаниями полета. Проект не имеет подтвержденного участия в ЭПР или индивидуального исключения из запрета. Текущий разрешительный маршрут именно для Татарстана остается незакрытым условием инвестиционного решения.</a:t>
            </a:r>
          </a:p>
          <a:p/>
          <a:p>
            <a:r>
              <a:t>[ФАКТ] Россельхознадзор указывает необходимость использования зарегистрированных препаратов с соблюдением регламентов применения.[24] Статья 16 закона 490-ФЗ предусматривает обычное уведомление пчеловодов не ранее 10 и не позднее 5 календарных дней до применения пестицидов в пределах 7 км, с установленными законом каналами и содержанием; специальный порядок для ЧС не распространяется автоматически на срочный коммерческий заказ.[22][23]</a:t>
            </a:r>
          </a:p>
          <a:p/>
          <a:p>
            <a:r>
              <a:t>[ДОПУЩЕНИЕ] Агроном до принятия заказа проверяет актуальный реестр, культуру, вредный объект, разрешенный способ, дозу, норму рабочего раствора, кратность и сроки ожидания. Ни один препарат пока не утвержден для проекта. Разрешенность обычной авиационной обработки не приравнивается к разрешению произвольно уменьшать объем раствора для БАС. Биопрепараты и энтомофаги также требуют проверки их правового статуса, технологии и экологических ограничений. Препараты принимает ответственный специалист; партия и документы прослеживаются. Хранение, смешивание, СИЗ, предотвращение разлива и передача отходов регулируются отдельными SOP и договорными обязанностями; имущество клиента не снимает ответственности исполнителя.</a:t>
            </a:r>
          </a:p>
          <a:p/>
          <a:p>
            <a:r>
              <a:t>### Переходный санитарный риск 2026</a:t>
            </a:r>
          </a:p>
          <a:p/>
          <a:p>
            <a:r>
              <a:t>[ФАКТ] Февральские поправки 2026 к СанПиН 2.1.3684-21 предусматривают специальные условия для БАС, включая 700 м в конкретных положениях. С 01.09.2026 введены новые СП 2.2.4285-26 и отменены прежние правила условий труда.[18][19][21]</a:t>
            </a:r>
          </a:p>
          <a:p/>
          <a:p>
            <a:r>
              <a:t>[ФАКТ] В прочитанной текстовой копии новых СП пункт 287 связывает авиационную защиту культур с отсутствием возможности наземной техники, а пункт 291 предусматривает остановку при обнаружении людей или животных в установленных пределах 2000 м.[27] Это неофициальная текстовая копия; официальный акт найден, но первичный скан полностью построчно не сверен.[20]</a:t>
            </a:r>
          </a:p>
          <a:p/>
          <a:p>
            <a:r>
              <a:t>[ДОПУЩЕНИЕ] До письменной правовой сверки новых СП и специальных поправок не считать 700 м универсальной зоной безопасности или основанием для любой обработки. Спорные участки исключаются из подтвержденного портфеля. Для каждого поля фиксируются люди, животные, пасеки, водные объекты, соседние культуры, ограничения препарата и погодные пределы оборудования. При любом несоответствии — остановка, безопасное завершение и уведомление ответственных. Уведомление пчеловодов в 7 км не заменяется санитарным расстоянием 700 м.</a:t>
            </a:r>
          </a:p>
          <a:p/>
          <a:p>
            <a:r>
              <a:t>[ФАКТ] Стратегия развития беспилотной авиации утверждена распоряжением Правительства 21.06.2023№1630-р до 2030 года и на перспективу 2035 года.[26]</a:t>
            </a:r>
          </a:p>
          <a:p/>
          <a:p>
            <a:r>
              <a:t>[ДОПУЩЕНИЕ] Стратегия — контекст развития отрасли, не индивидуальное разрешение, гарантированная субсидия или госзаказ. В финансовой модели отсутствуют гранты и льготы, не подтвержденные для компании. Правовой раздел является исследовательским основанием для due diligence, а не заключением о допустимости конкретного вылета.</a:t>
            </a:r>
          </a:p>
          <a:p/>
          <a:p>
            <a:r>
              <a:t>Комментарий к слайду:</a:t>
            </a:r>
          </a:p>
          <a:p>
            <a:r>
              <a:t>До закупки требуется письменная карта применимых норм от юриста, а перед выездом — повторная проверка. Базовые URL Росавиации и портала правовой информации — точки входа для проверки, не подтверждение выданного разрешения. При наличии окончательной секции 9 ее конкретные внешние ссылки автоматически подхватываются. Не смешивать массу пустого БВС, полезную нагрузку и максимальную взлетную массу. Мониторинг-only не доказан как прибыльная замена базовой модели.</a:t>
            </a:r>
          </a:p>
          <a:p/>
          <a:p>
            <a:r>
              <a:t>Внешние URL:</a:t>
            </a:r>
          </a:p>
          <a:p>
            <a:r>
              <a:t>https://base.garant.ru/414829385/</a:t>
            </a:r>
          </a:p>
          <a:p>
            <a:r>
              <a:t>http://publication.pravo.gov.ru/document/0001202608280041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Матрица власти и интереса используется для распределения коммуникаций. Высокая власть означает способность остановить финансирование, разрешение либо исполнение заказа, а не особый статус участника.</a:t>
            </a:r>
          </a:p>
          <a:p/>
          <a:p>
            <a:r>
              <a:t>| Стейкхолдер | Власть / интерес | Ожидание или конфликт | Взаимодействие | Ответственный |</a:t>
            </a:r>
          </a:p>
          <a:p>
            <a:r>
              <a:t>|---|---|---|---|---|</a:t>
            </a:r>
          </a:p>
          <a:p>
            <a:r>
              <a:t>| Учредитель | Высокая / высокий | Сохранение капитала и управляемость | Еженедельный контроль запуска, месячный план-факт | Директор |</a:t>
            </a:r>
          </a:p>
          <a:p>
            <a:r>
              <a:t>| Долевой инвестор | Высокая / высокий | Прозрачность расходов и условий участия | Отчетность, согласование крупных решений | Директор |</a:t>
            </a:r>
          </a:p>
          <a:p>
            <a:r>
              <a:t>| Клиенты и их агрономы | Высокая / высокий | Соблюдение окна, качество, понятная приемка | Паспорт поля, календарь, отчет, разбор претензий | Директор и операционный руководитель |</a:t>
            </a:r>
          </a:p>
          <a:p>
            <a:r>
              <a:t>| Уполномоченные органы | Высокая / переменный | Соблюдение применимых требований | Документы и согласования по конкретной территории | Внешний юрист |</a:t>
            </a:r>
          </a:p>
          <a:p>
            <a:r>
              <a:t>| Операторы | Средняя / высокий | Безопасность, оплата, реалистичная нагрузка | Инструктаж, обратная связь, право остановки | Операционный руководитель |</a:t>
            </a:r>
          </a:p>
          <a:p>
            <a:r>
              <a:t>| Кандидаты после СВО | Низкая / высокий | Добровольный переход в гражданскую профессию | Конфиденциальный отбор, наставник, ясные требования | Директор |</a:t>
            </a:r>
          </a:p>
          <a:p>
            <a:r>
              <a:t>| Учебный партнер и агроном | Средняя / высокий | Корректные задания и границы ответственности | Программа обучения, проверка знаний, согласование карт | Операционный руководитель |</a:t>
            </a:r>
          </a:p>
          <a:p>
            <a:r>
              <a:t>| Сервис оборудования | Средняя / средний | Оплата и планируемое обслуживание | Регламент ремонтов, сроки реакции | Операционный руководитель |</a:t>
            </a:r>
          </a:p>
          <a:p>
            <a:r>
              <a:t>| Соседи полей и местное сообщество | Низкая / переменный | Отсутствие недопустимого воздействия | Канал обращений, предусмотренное уведомление | Директор |</a:t>
            </a:r>
          </a:p>
          <a:p/>
          <a:p>
            <a:r>
              <a:t>[ДОПУЩЕНИЕ] Социальная коммуникация не раскрывает персональную историю сотрудников без согласия и не обещает привилегированного допуска к полетам. Жалобы на безопасность рассматриваются независимо от коммерческой ценности заказа.</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Производственный контур включает одну бригаду из двух операторов, два аппарата внесения — основной и резервный — и один мониторинговый. Резерв восстанавливает доступность при отказе основного, но не удваивает производительность. Полный цикл заказа: проверка применимости и разрешений → обследование и согласование задания → подготовка техники и материалов клиента → выполнение → контроль и актирование.</a:t>
            </a:r>
          </a:p>
          <a:p/>
          <a:p>
            <a:r>
              <a:t>[ДОПУЩЕНИЕ] Сезон длится 22 недели. Плановая емкость внесения опирается на 100 эффективных рабочих дней с производительностью 130 га-проходов в день. Это интегральная гипотеза с учетом переездов и подготовки, которую необходимо подтвердить хронометражем. Календарные недели не означают ежедневную летную доступность.</a:t>
            </a:r>
          </a:p>
          <a:p/>
          <a:p>
            <a:r>
              <a:t>[РАСЧЕТ] 22 недели = 154 календарных дня. В пятом году внесение требует 100 × 130 = 13 000 га-проходов, мониторинг — 20 × 500 = 10 000 га-обследований. Последовательное выполнение занимает 120 полевых рабочих дней; остаются 34 дня погодного и логистического резерва. [ДОПУЩЕНИЕ] Это напряженный потолок, а не гарантированная мощность: производительность мониторинга 500 га в день и достаточность резерва требуют проверки.</a:t>
            </a:r>
          </a:p>
          <a:p/>
          <a:p>
            <a:r>
              <a:t>| Год | Внесение, га-проходы | Мониторинг, га-обследования |</a:t>
            </a:r>
          </a:p>
          <a:p>
            <a:r>
              <a:t>|---|---:|---:|</a:t>
            </a:r>
          </a:p>
          <a:p>
            <a:r>
              <a:t>| 2027 | 6000 | 4000 |</a:t>
            </a:r>
          </a:p>
          <a:p>
            <a:r>
              <a:t>| 2028 | 9000 | 6000 |</a:t>
            </a:r>
          </a:p>
          <a:p>
            <a:r>
              <a:t>| 2029 | 11000 | 8000 |</a:t>
            </a:r>
          </a:p>
          <a:p>
            <a:r>
              <a:t>| 2030 | 12000 | 9000 |</a:t>
            </a:r>
          </a:p>
          <a:p>
            <a:r>
              <a:t>| 2031 | 13000 | 10000 |</a:t>
            </a:r>
          </a:p>
          <a:p/>
          <a:p>
            <a:r>
              <a:t>[ДОПУЩЕНИЕ] Мониторинг проводится помощником в отдельных согласованных окнах при сохранении необходимых условий безопасности. Одновременные полеты внесения и мониторинга без отдельной команды недопустимы. Обработка данных переносится в нелетное время; совокупный календарь обеих услуг проверяется до подтверждения заказа. Объемы последних лет являются целями, а не доказательством наличия трудового ресурса.</a:t>
            </a:r>
          </a:p>
          <a:p/>
          <a:p>
            <a:r>
              <a:t>[ДОПУЩЕНИЕ] Тарифы 2027 года без НДС: 1300 руб. за га-проход внесения и 250 руб. за га-обследование. Препараты клиента не включены. Полевой пилот 100 га проводится в апреле 2027 года внутри 6000 га-проходов первого сезона и не прибавляется повторно. Перед выездом проверяются документы, погода, состояние техники, пригодность материала и согласованный контур. При отклонении задание приостанавливается; повторная работа оформляется по условиям договора, а не автоматически как новая выручка.</a:t>
            </a:r>
          </a:p>
          <a:p/>
          <a:p>
            <a:r>
              <a:t>[РАСЧЕТ] Проверка совместной мощности:22×7=154 календарных дня; внесение 13000/130=100 дней, мониторинг 10000/500=20 дней, резерв 34 дня. [ДОПУЩЕНИЕ] Производительность мониторинга 500 га/день и 120 полевых дней — напряженный потолок, а не гарантия; работы выполняются последовательно, выходные и нормы отдыха соблюдаются. Полевой пилот 100 га в апреле включен в 6000 га-проходов первого сезона. При невозможности подтвердить такой календарь объемыY 4–Y 5 снижаются.</a:t>
            </a:r>
          </a:p>
          <a:p/>
          <a:p>
            <a:r>
              <a:t>[ДОПУЩЕНИЕ] Базовые 4 млн руб. на основной и резервный аппараты внесения не подтверждены КП. Ориентир пары XAG P 100 Pro — 5,98 млн руб.; закупочный стресс требует 11,48 млн руб. финансирования. Проверка комплектации и производительности обязательна; подробности в разделе 17.</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Штат — 3 FTE: директор, совмещающий продажи и управление финансами; оператор — операционный руководитель; второй оператор, выполняющий также функции помощника. Внешние агроном, юрист и бухгалтер привлекаются по договорам и включаются в бюджет отдельно от штатного фонда труда. Наименования «Продажи» и «Операционный руководитель» в проектных таблицах обозначают функции, а не дополнительные вакансии.</a:t>
            </a:r>
          </a:p>
          <a:p/>
          <a:p>
            <a:r>
              <a:t>| Роль | Основные обязанности | Ограничение полномочий |</a:t>
            </a:r>
          </a:p>
          <a:p>
            <a:r>
              <a:t>|---|---|---|</a:t>
            </a:r>
          </a:p>
          <a:p>
            <a:r>
              <a:t>| Директор / продажи | Клиенты, договоры, деньги, партнеры, персонал | Не отменяет профессиональный запрет на выполнение |</a:t>
            </a:r>
          </a:p>
          <a:p>
            <a:r>
              <a:t>| Оператор / операционный руководитель | Календарь, техника, безопасность, наставничество | Не заменяет агронома и юридическую проверку |</a:t>
            </a:r>
          </a:p>
          <a:p>
            <a:r>
              <a:t>| Второй оператор / помощник | Подготовка, контроль, мониторинг в отдельных окнах | Самостоятельные действия только после проверки компетенций |</a:t>
            </a:r>
          </a:p>
          <a:p>
            <a:r>
              <a:t>| Внешний агроном | Задания, технологическая применимость, качество | Не предоставляет автоматического разрешения на полеты |</a:t>
            </a:r>
          </a:p>
          <a:p>
            <a:r>
              <a:t>| Внешние юрист и бухгалтер | Правовая готовность, учет, договорные и налоговые вопросы | Работают в согласованном объеме услуг |</a:t>
            </a:r>
          </a:p>
          <a:p/>
          <a:p>
            <a:r>
              <a:t>[ДОПУЩЕНИЕ] Полная стоимость штатного труда принята на уровне 3 млн руб. в год. Это экономный и рискованный бюджет, требующий проверки начислений, условий кандидатов и сезонной нагрузки; рост обязательных выплат нельзя скрывать за неоплачиваемыми переработками.</a:t>
            </a:r>
          </a:p>
          <a:p/>
          <a:p>
            <a:r>
              <a:t>[ДОПУЩЕНИЕ] Людям с опытом БПЛА после СВО предлагается добровольная гражданская переподготовка: оценка исходных навыков, обучение агротехнологии и безопасности, работа с наставником, практическая проверка и документированное решение о готовности. Требования одинаковы для всех кандидатов; прежний опыт не означает автоматического допуска. При необходимости предусматривается индивидуальный темп адаптации и добровольное обращение за поддержкой без раскрытия чувствительных данных клиентам.</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WBS формируется из единого набора работ в `scripts/build_plan.py`; табличное представление — `data/project_plan.csv`. Иерархия охватывает проверку модели, финансирование и подготовку ресурсов, предсезонную готовность, коммерческий сезон и итоговый аудит. Каждый пакет имеет проверяемый результат, а не только факт затраченного времени.</a:t>
            </a:r>
          </a:p>
          <a:p/>
          <a:p>
            <a:r>
              <a:t>[ДОПУЩЕНИЕ] Отдельный пакет M предусматривает восемь недель предсезонной готовности и ожидания погодного окна после J. Приемочные испытания I не подменяются зимней коммерческой обработкой; полевой пилот включается в апрельский сезон. Закупка не разрешает автоматически начинать работы: необходима готовность по G и контроль перед конкретным выездом.</a:t>
            </a:r>
          </a:p>
          <a:p/>
          <a:p>
            <a:r>
              <a:t>| WBS | ID | Работа | Результат |</a:t>
            </a:r>
          </a:p>
          <a:p>
            <a:r>
              <a:t>| --- | --- | --- | --- |</a:t>
            </a:r>
          </a:p>
          <a:p>
            <a:r>
              <a:t>| 1.1 | A | Проверка региона, полетов и схемы АХР | Письменная карта разрешений и стоп-факторов |</a:t>
            </a:r>
          </a:p>
          <a:p>
            <a:r>
              <a:t>| 1.2 | B | Интервью и предварительные заявки хозяйств | 20 интервью; заявки на 6000 га-проходов |</a:t>
            </a:r>
          </a:p>
          <a:p>
            <a:r>
              <a:t>| 1.3 | C | ООО, договоры, учет и страховой проект | ООО; договоры; страховые предложения |</a:t>
            </a:r>
          </a:p>
          <a:p>
            <a:r>
              <a:t>| 2.1 | D | Инвестиционное решение и финансирование | 9.5 млн руб.; пройден юридический gate |</a:t>
            </a:r>
          </a:p>
          <a:p>
            <a:r>
              <a:t>| 2.2 | E | Закупка и приемка оборудования | Комплектность; серийные номера; акты |</a:t>
            </a:r>
          </a:p>
          <a:p>
            <a:r>
              <a:t>| 2.3 | F | Подбор и гражданская переподготовка | Два оператора; экзамен и допуск |</a:t>
            </a:r>
          </a:p>
          <a:p>
            <a:r>
              <a:t>| 2.4 | G | Разрешительная готовность и учет БВС | Документы на конкретные БВС/работы; либо no-go |</a:t>
            </a:r>
          </a:p>
          <a:p>
            <a:r>
              <a:t>| 3.1 | H | SOP, CRM, карты и контроль качества | Чек-листы; шаблон отчета; аварийный план |</a:t>
            </a:r>
          </a:p>
          <a:p>
            <a:r>
              <a:t>| 3.2 | I | Стендовые и контролируемые приемочные испытания | Акт приемки; полевой пилот 100 га включен в апрельский сезон |</a:t>
            </a:r>
          </a:p>
          <a:p>
            <a:r>
              <a:t>| 3.3 | J | Сезонные договоры и маршрутизация | 10 клиентов; согласованный календарь |</a:t>
            </a:r>
          </a:p>
          <a:p>
            <a:r>
              <a:t>| 3.4 | M | Предсезонная готовность и ожидание погодного окна | Повторная проверка разрешений и погодного окна |</a:t>
            </a:r>
          </a:p>
          <a:p>
            <a:r>
              <a:t>| 4.1 | K | Первый коммерческий сезон | 6000 га-проходов; 4000 га-обследований |</a:t>
            </a:r>
          </a:p>
          <a:p>
            <a:r>
              <a:t>| 4.2 | L | Аудит сезона и решение о продолжении | Факт P&amp;L/ДДС; претензии; продления |</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Диаграмма Ганта должна строиться из того же набора задач, длительностей и зависимостей, что WBS и сетевой график. Базовый старт коммерческого сезона — 12 апреля 2027 года после восьминедельного пакета M; продолжительность сезона K — 22 недели. Это плановый ориентир, а не гарантия летной доступности.</a:t>
            </a:r>
          </a:p>
          <a:p/>
          <a:p>
            <a:r>
              <a:t>[ДОПУЩЕНИЕ] Параллельность подготовки не означает возможность параллельной загрузки одной бригады в поле. Директор проверяет доступность исполнителей; переносы отражаются в едином календаре и согласуются с клиентами.</a:t>
            </a:r>
          </a:p>
          <a:p/>
          <a:p>
            <a:r>
              <a:t>[РАСЧЕТ] Календарь в календарных неделях; связи finish-to-start. Начало подготовки 07.09.2026. Даты — план, не выданные разрешения.</a:t>
            </a:r>
          </a:p>
          <a:p/>
          <a:p>
            <a:r>
              <a:t>| ID | Начало | Окончание | Недели | Резерв, нед. |</a:t>
            </a:r>
          </a:p>
          <a:p>
            <a:r>
              <a:t>| --- | --- | --- | --- | --- |</a:t>
            </a:r>
          </a:p>
          <a:p>
            <a:r>
              <a:t>| A | 2026-09-07 | 2026-10-04 | 4 | 0 |</a:t>
            </a:r>
          </a:p>
          <a:p>
            <a:r>
              <a:t>| B | 2026-09-07 | 2026-10-11 | 5 | 2 |</a:t>
            </a:r>
          </a:p>
          <a:p>
            <a:r>
              <a:t>| C | 2026-10-05 | 2026-10-25 | 3 | 0 |</a:t>
            </a:r>
          </a:p>
          <a:p>
            <a:r>
              <a:t>| D | 2026-10-26 | 2026-11-01 | 1 | 0 |</a:t>
            </a:r>
          </a:p>
          <a:p>
            <a:r>
              <a:t>| E | 2026-11-02 | 2026-12-06 | 5 | 0 |</a:t>
            </a:r>
          </a:p>
          <a:p>
            <a:r>
              <a:t>| F | 2026-11-02 | 2026-12-13 | 6 | 2 |</a:t>
            </a:r>
          </a:p>
          <a:p>
            <a:r>
              <a:t>| G | 2026-12-07 | 2027-01-17 | 6 | 0 |</a:t>
            </a:r>
          </a:p>
          <a:p>
            <a:r>
              <a:t>| H | 2026-12-14 | 2027-01-03 | 3 | 2 |</a:t>
            </a:r>
          </a:p>
          <a:p>
            <a:r>
              <a:t>| I | 2027-01-18 | 2027-01-31 | 2 | 0 |</a:t>
            </a:r>
          </a:p>
          <a:p>
            <a:r>
              <a:t>| J | 2027-02-01 | 2027-02-14 | 2 | 0 |</a:t>
            </a:r>
          </a:p>
          <a:p>
            <a:r>
              <a:t>| M | 2027-02-15 | 2027-04-11 | 8 | 0 |</a:t>
            </a:r>
          </a:p>
          <a:p>
            <a:r>
              <a:t>| K | 2027-04-12 | 2027-09-12 | 22 | 0 |</a:t>
            </a:r>
          </a:p>
          <a:p>
            <a:r>
              <a:t>| L | 2027-09-13 | 2027-09-26 | 2 | 0 |</a:t>
            </a:r>
          </a:p>
          <a:p/>
          <a:p>
            <a:r>
              <a:t>```mermaid</a:t>
            </a:r>
          </a:p>
          <a:p>
            <a:r>
              <a:t>gantt</a:t>
            </a:r>
          </a:p>
          <a:p>
            <a:r>
              <a:t>    title АгроВектор — подготовка и первый сезон</a:t>
            </a:r>
          </a:p>
          <a:p>
            <a:r>
              <a:t>    dateFormat YYYY-MM-DD</a:t>
            </a:r>
          </a:p>
          <a:p>
            <a:r>
              <a:t>    A Проверка региона, полетов и схемы АХР :crit, A, 2026-09-07, 28 d</a:t>
            </a:r>
          </a:p>
          <a:p>
            <a:r>
              <a:t>    B Интервью и предварительные заявки хозяйств :B, 2026-09-07, 35 d</a:t>
            </a:r>
          </a:p>
          <a:p>
            <a:r>
              <a:t>    C ООО, договоры, учет и страховой проект :crit, C, 2026-10-05, 21 d</a:t>
            </a:r>
          </a:p>
          <a:p>
            <a:r>
              <a:t>    D Инвестиционное решение и финансирование :crit, D, 2026-10-26, 7 d</a:t>
            </a:r>
          </a:p>
          <a:p>
            <a:r>
              <a:t>    E Закупка и приемка оборудования :crit, E, 2026-11-02, 35 d</a:t>
            </a:r>
          </a:p>
          <a:p>
            <a:r>
              <a:t>    F Подбор и гражданская переподготовка :F, 2026-11-02, 42 d</a:t>
            </a:r>
          </a:p>
          <a:p>
            <a:r>
              <a:t>    G Разрешительная готовность и учет БВС :crit, G, 2026-12-07, 42 d</a:t>
            </a:r>
          </a:p>
          <a:p>
            <a:r>
              <a:t>    H SOP, CRM, карты и контроль качества :H, 2026-12-14, 21 d</a:t>
            </a:r>
          </a:p>
          <a:p>
            <a:r>
              <a:t>    I Стендовые и контролируемые приемочные испытания :crit, I, 2027-01-18, 14 d</a:t>
            </a:r>
          </a:p>
          <a:p>
            <a:r>
              <a:t>    J Сезонные договоры и маршрутизация :crit, J, 2027-02-01, 14 d</a:t>
            </a:r>
          </a:p>
          <a:p>
            <a:r>
              <a:t>    M Предсезонная готовность и ожидание погодного окна :crit, M, 2027-02-15, 56 d</a:t>
            </a:r>
          </a:p>
          <a:p>
            <a:r>
              <a:t>    K Первый коммерческий сезон :crit, K, 2027-04-12, 154 d</a:t>
            </a:r>
          </a:p>
          <a:p>
            <a:r>
              <a:t>    L Аудит сезона и решение о продолжении :crit, L, 2027-09-13, 14 d</a:t>
            </a:r>
          </a:p>
          <a:p>
            <a:r>
              <a:t>```</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Сетевая модель использует зависимости «окончание–начало» и длительности в календарных неделях из `scripts/build_plan.py`. Ранние и поздние сроки, резервы и критический путь рассчитываются по единому набору задач; независимо заданные даты в текст не вводятся.</a:t>
            </a:r>
          </a:p>
          <a:p/>
          <a:p>
            <a:r>
              <a:t>[ДОПУЩЕНИЕ] Связь начала сезона проходит через J → M → K. Пакет M является явной работой ожидания и повторной проверки готовности, а не свободным резервом, который можно автоматически расходовать на задержки. Критический путь не гарантирует разрешений или подходящей погоды.</a:t>
            </a:r>
          </a:p>
          <a:p/>
          <a:p>
            <a:r>
              <a:t>[РАСЧЕТ] Критический путь: **A → C → D → E → G → I → J → M → K → L**. Продолжительность 55 недель, включая погодный буфер M и первый сезон K. Это плановый CPM, не прогноз срока выдачи документов.</a:t>
            </a:r>
          </a:p>
          <a:p/>
          <a:p>
            <a:r>
              <a:t>| ID | Предшественники | ES | EF | LS | LF | Резерв |</a:t>
            </a:r>
          </a:p>
          <a:p>
            <a:r>
              <a:t>| --- | --- | --- | --- | --- | --- | --- |</a:t>
            </a:r>
          </a:p>
          <a:p>
            <a:r>
              <a:t>| A | — | 0 | 4 | 0 | 4 | 0 |</a:t>
            </a:r>
          </a:p>
          <a:p>
            <a:r>
              <a:t>| B | — | 0 | 5 | 2 | 7 | 2 |</a:t>
            </a:r>
          </a:p>
          <a:p>
            <a:r>
              <a:t>| C | A | 4 | 7 | 4 | 7 | 0 |</a:t>
            </a:r>
          </a:p>
          <a:p>
            <a:r>
              <a:t>| D | B;C | 7 | 8 | 7 | 8 | 0 |</a:t>
            </a:r>
          </a:p>
          <a:p>
            <a:r>
              <a:t>| E | D | 8 | 13 | 8 | 13 | 0 |</a:t>
            </a:r>
          </a:p>
          <a:p>
            <a:r>
              <a:t>| F | D | 8 | 14 | 10 | 16 | 2 |</a:t>
            </a:r>
          </a:p>
          <a:p>
            <a:r>
              <a:t>| G | E | 13 | 19 | 13 | 19 | 0 |</a:t>
            </a:r>
          </a:p>
          <a:p>
            <a:r>
              <a:t>| H | E;F | 14 | 17 | 16 | 19 | 2 |</a:t>
            </a:r>
          </a:p>
          <a:p>
            <a:r>
              <a:t>| I | G;H | 19 | 21 | 19 | 21 | 0 |</a:t>
            </a:r>
          </a:p>
          <a:p>
            <a:r>
              <a:t>| J | I | 21 | 23 | 21 | 23 | 0 |</a:t>
            </a:r>
          </a:p>
          <a:p>
            <a:r>
              <a:t>| M | J | 23 | 31 | 23 | 31 | 0 |</a:t>
            </a:r>
          </a:p>
          <a:p>
            <a:r>
              <a:t>| K | M | 31 | 53 | 31 | 53 | 0 |</a:t>
            </a:r>
          </a:p>
          <a:p>
            <a:r>
              <a:t>| L | K | 53 | 55 | 53 | 55 | 0 |</a:t>
            </a:r>
          </a:p>
          <a:p/>
          <a:p>
            <a:r>
              <a:t>```mermaid</a:t>
            </a:r>
          </a:p>
          <a:p>
            <a:r>
              <a:t>flowchart LR</a:t>
            </a:r>
          </a:p>
          <a:p>
            <a:r>
              <a:t>    A["A: 4 нед."]</a:t>
            </a:r>
          </a:p>
          <a:p>
            <a:r>
              <a:t>    B["B: 5 нед."]</a:t>
            </a:r>
          </a:p>
          <a:p>
            <a:r>
              <a:t>    C["C: 3 нед."]</a:t>
            </a:r>
          </a:p>
          <a:p>
            <a:r>
              <a:t>    A --&gt; C</a:t>
            </a:r>
          </a:p>
          <a:p>
            <a:r>
              <a:t>    D["D: 1 нед."]</a:t>
            </a:r>
          </a:p>
          <a:p>
            <a:r>
              <a:t>    B --&gt; D</a:t>
            </a:r>
          </a:p>
          <a:p>
            <a:r>
              <a:t>    C --&gt; D</a:t>
            </a:r>
          </a:p>
          <a:p>
            <a:r>
              <a:t>    E["E: 5 нед."]</a:t>
            </a:r>
          </a:p>
          <a:p>
            <a:r>
              <a:t>    D --&gt; E</a:t>
            </a:r>
          </a:p>
          <a:p>
            <a:r>
              <a:t>    F["F: 6 нед."]</a:t>
            </a:r>
          </a:p>
          <a:p>
            <a:r>
              <a:t>    D --&gt; F</a:t>
            </a:r>
          </a:p>
          <a:p>
            <a:r>
              <a:t>    G["G: 6 нед."]</a:t>
            </a:r>
          </a:p>
          <a:p>
            <a:r>
              <a:t>    E --&gt; G</a:t>
            </a:r>
          </a:p>
          <a:p>
            <a:r>
              <a:t>    H["H: 3 нед."]</a:t>
            </a:r>
          </a:p>
          <a:p>
            <a:r>
              <a:t>    E --&gt; H</a:t>
            </a:r>
          </a:p>
          <a:p>
            <a:r>
              <a:t>    F --&gt; H</a:t>
            </a:r>
          </a:p>
          <a:p>
            <a:r>
              <a:t>    I["I: 2 нед."]</a:t>
            </a:r>
          </a:p>
          <a:p>
            <a:r>
              <a:t>    G --&gt; I</a:t>
            </a:r>
          </a:p>
          <a:p>
            <a:r>
              <a:t>    H --&gt; I</a:t>
            </a:r>
          </a:p>
          <a:p>
            <a:r>
              <a:t>    J["J: 2 нед."]</a:t>
            </a:r>
          </a:p>
          <a:p>
            <a:r>
              <a:t>    I --&gt; J</a:t>
            </a:r>
          </a:p>
          <a:p>
            <a:r>
              <a:t>    M["M: 8 нед."]</a:t>
            </a:r>
          </a:p>
          <a:p>
            <a:r>
              <a:t>    J --&gt; M</a:t>
            </a:r>
          </a:p>
          <a:p>
            <a:r>
              <a:t>    K["K: 22 нед."]</a:t>
            </a:r>
          </a:p>
          <a:p>
            <a:r>
              <a:t>    M --&gt; K</a:t>
            </a:r>
          </a:p>
          <a:p>
            <a:r>
              <a:t>    L["L: 2 нед."]</a:t>
            </a:r>
          </a:p>
          <a:p>
            <a:r>
              <a:t>    K --&gt; L</a:t>
            </a:r>
          </a:p>
          <a:p>
            <a:r>
              <a:t>```</a:t>
            </a:r>
          </a:p>
          <a:p/>
          <a:p>
            <a:r>
              <a:t>Комментарий к слайду:</a:t>
            </a:r>
          </a:p>
          <a:p>
            <a:r>
              <a:t>Связи и длительности полностью извлечены из project_plan.csv.</a:t>
            </a:r>
          </a:p>
          <a:p>
            <a:r>
              <a:t>A Проверка региона, полетов и схемы АХР: предшественники нет, ES 0, EF 4, LS 0, LF 4, резерв 0</a:t>
            </a:r>
          </a:p>
          <a:p>
            <a:r>
              <a:t>B Интервью и предварительные заявки хозяйств: предшественники нет, ES 0, EF 5, LS 2, LF 7, резерв 2</a:t>
            </a:r>
          </a:p>
          <a:p>
            <a:r>
              <a:t>C ООО, договоры, учет и страховой проект: предшественники A, ES 4, EF 7, LS 4, LF 7, резерв 0</a:t>
            </a:r>
          </a:p>
          <a:p>
            <a:r>
              <a:t>D Инвестиционное решение и финансирование: предшественники B;C, ES 7, EF 8, LS 7, LF 8, резерв 0</a:t>
            </a:r>
          </a:p>
          <a:p>
            <a:r>
              <a:t>E Закупка и приемка оборудования: предшественники D, ES 8, EF 13, LS 8, LF 13, резерв 0</a:t>
            </a:r>
          </a:p>
          <a:p>
            <a:r>
              <a:t>F Подбор и гражданская переподготовка: предшественники D, ES 8, EF 14, LS 10, LF 16, резерв 2</a:t>
            </a:r>
          </a:p>
          <a:p>
            <a:r>
              <a:t>G Разрешительная готовность и учет БВС: предшественники E, ES 13, EF 19, LS 13, LF 19, резерв 0</a:t>
            </a:r>
          </a:p>
          <a:p>
            <a:r>
              <a:t>H SOP, CRM, карты и контроль качества: предшественники E;F, ES 14, EF 17, LS 16, LF 19, резерв 2</a:t>
            </a:r>
          </a:p>
          <a:p>
            <a:r>
              <a:t>I Стендовые и контролируемые приемочные испытания: предшественники G;H, ES 19, EF 21, LS 19, LF 21, резерв 0</a:t>
            </a:r>
          </a:p>
          <a:p>
            <a:r>
              <a:t>J Сезонные договоры и маршрутизация: предшественники I, ES 21, EF 23, LS 21, LF 23, резерв 0</a:t>
            </a:r>
          </a:p>
          <a:p>
            <a:r>
              <a:t>M Предсезонная готовность и ожидание погодного окна: предшественники J, ES 23, EF 31, LS 23, LF 31, резерв 0</a:t>
            </a:r>
          </a:p>
          <a:p>
            <a:r>
              <a:t>K Первый коммерческий сезон: предшественники M, ES 31, EF 53, LS 31, LF 53, резерв 0</a:t>
            </a:r>
          </a:p>
          <a:p>
            <a:r>
              <a:t>L Аудит сезона и решение о продолжении: предшественники K, ES 53, EF 55, LS 53, LF 55, резерв 0</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RACI переносится из единого проектного набора: R — исполнитель, A — ответственный за результат, C — консультируемый, I — информируемый. Для каждой работы сохраняется один A; делегирование исполнения не снимает ответственности за приемку.</a:t>
            </a:r>
          </a:p>
          <a:p/>
          <a:p>
            <a:r>
              <a:t>[ДОПУЩЕНИЕ] «Продажи» выполняет директор, «Операционный руководитель» — один из двух операторов. Внешний агроном, юрист, бухгалтер и учебный партнер не увеличивают штат до дополнительных FTE, но требуют оплачиваемого времени. Ответственность инвестора за решение о финансировании не означает оперативного руководства полетами. Матрица должна сопровождаться проверкой нагрузки совмещаемых ролей.</a:t>
            </a:r>
          </a:p>
          <a:p/>
          <a:p>
            <a:r>
              <a:t>| ID | R — выполняет | A — принимает | C — консультирует | I — информируется |</a:t>
            </a:r>
          </a:p>
          <a:p>
            <a:r>
              <a:t>| --- | --- | --- | --- | --- |</a:t>
            </a:r>
          </a:p>
          <a:p>
            <a:r>
              <a:t>| A | Юрист | Директор | Агроном;Операционный руководитель | Инвестор |</a:t>
            </a:r>
          </a:p>
          <a:p>
            <a:r>
              <a:t>| B | Продажи | Директор | Агроном | Инвестор |</a:t>
            </a:r>
          </a:p>
          <a:p>
            <a:r>
              <a:t>| C | Юрист | Директор | Бухгалтер | Инвестор |</a:t>
            </a:r>
          </a:p>
          <a:p>
            <a:r>
              <a:t>| D | Директор | Инвестор | Бухгалтер;Юрист | Команда |</a:t>
            </a:r>
          </a:p>
          <a:p>
            <a:r>
              <a:t>| E | Операционный руководитель | Директор | Агроном | Бухгалтер |</a:t>
            </a:r>
          </a:p>
          <a:p>
            <a:r>
              <a:t>| F | Операционный руководитель | Директор | Учебный партнер;Агроном | Инвестор |</a:t>
            </a:r>
          </a:p>
          <a:p>
            <a:r>
              <a:t>| G | Юрист | Директор | Операционный руководитель | Клиенты |</a:t>
            </a:r>
          </a:p>
          <a:p>
            <a:r>
              <a:t>| H | Агроном | Операционный руководитель | Юрист | Продажи |</a:t>
            </a:r>
          </a:p>
          <a:p>
            <a:r>
              <a:t>| I | Оператор | Операционный руководитель | Агроном;Клиент | Директор |</a:t>
            </a:r>
          </a:p>
          <a:p>
            <a:r>
              <a:t>| J | Продажи | Директор | Агроном;Клиент | Бухгалтер |</a:t>
            </a:r>
          </a:p>
          <a:p>
            <a:r>
              <a:t>| M | Операционный руководитель | Директор | Агроном;Клиент | Инвестор |</a:t>
            </a:r>
          </a:p>
          <a:p>
            <a:r>
              <a:t>| K | Оператор | Операционный руководитель | Агроном;Клиент | Директор |</a:t>
            </a:r>
          </a:p>
          <a:p>
            <a:r>
              <a:t>| L | Бухгалтер | Директор | Агроном;Операционный руководитель | Инвестор |</a:t>
            </a:r>
          </a:p>
          <a:p/>
          <a:p>
            <a:r>
              <a:t>Комментарий к слайду:</a:t>
            </a:r>
          </a:p>
          <a:p>
            <a:r>
              <a:t>Матрица извлечена из CSV без изменения распределения ответственности. Опер. рук. — операционный руководитель; учеб. партнер — учебный партнер.</a:t>
            </a:r>
          </a:p>
          <a:p>
            <a:r>
              <a:t>A Проверка региона, полетов и схемы АХР: R Юрист; A Директор; C Агроном;Операционный руководитель; I Инвестор</a:t>
            </a:r>
          </a:p>
          <a:p>
            <a:r>
              <a:t>B Интервью и предварительные заявки хозяйств: R Продажи; A Директор; C Агроном; I Инвестор</a:t>
            </a:r>
          </a:p>
          <a:p>
            <a:r>
              <a:t>C ООО, договоры, учет и страховой проект: R Юрист; A Директор; C Бухгалтер; I Инвестор</a:t>
            </a:r>
          </a:p>
          <a:p>
            <a:r>
              <a:t>D Инвестиционное решение и финансирование: R Директор; A Инвестор; C Бухгалтер;Юрист; I Команда</a:t>
            </a:r>
          </a:p>
          <a:p>
            <a:r>
              <a:t>E Закупка и приемка оборудования: R Операционный руководитель; A Директор; C Агроном; I Бухгалтер</a:t>
            </a:r>
          </a:p>
          <a:p>
            <a:r>
              <a:t>F Подбор и гражданская переподготовка: R Операционный руководитель; A Директор; C Учебный партнер;Агроном; I Инвестор</a:t>
            </a:r>
          </a:p>
          <a:p>
            <a:r>
              <a:t>G Разрешительная готовность и учет БВС: R Юрист; A Директор; C Операционный руководитель; I Клиенты</a:t>
            </a:r>
          </a:p>
          <a:p>
            <a:r>
              <a:t>H SOP, CRM, карты и контроль качества: R Агроном; A Операционный руководитель; C Юрист; I Продажи</a:t>
            </a:r>
          </a:p>
          <a:p>
            <a:r>
              <a:t>I Стендовые и контролируемые приемочные испытания: R Оператор; A Операционный руководитель; C Агроном;Клиент; I Директор</a:t>
            </a:r>
          </a:p>
          <a:p>
            <a:r>
              <a:t>J Сезонные договоры и маршрутизация: R Продажи; A Директор; C Агроном;Клиент; I Бухгалтер</a:t>
            </a:r>
          </a:p>
          <a:p>
            <a:r>
              <a:t>M Предсезонная готовность и ожидание погодного окна: R Операционный руководитель; A Директор; C Агроном;Клиент; I Инвестор</a:t>
            </a:r>
          </a:p>
          <a:p>
            <a:r>
              <a:t>K Первый коммерческий сезон: R Оператор; A Операционный руководитель; C Агроном;Клиент; I Директор</a:t>
            </a:r>
          </a:p>
          <a:p>
            <a:r>
              <a:t>L Аудит сезона и решение о продолжении: R Бухгалтер; A Директор; C Агроном;Операционный руководитель; I Инвестор</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Модель — номинальные рубли РФ,2027–2031, одна бригада, без долга и субсидий. Цены 2027 без НДС: внесение 1300 руб./га-проход, мониторинг 250 руб./га-обследование. Рост цен 4% в год, переменных и фиксированных затрат 5%; рост загрузки не означает приобретения второй бригады. Препараты и энтомофаги предоставляет клиент; их стоимость отсутствует и в выручке, и в расходах. Все закупочные бюджеты — полная цена с невозмещаемыми налогами у российского поставщика; прямой импорт в базу не включен.</a:t>
            </a:r>
          </a:p>
          <a:p/>
          <a:p>
            <a:r>
              <a:t>### CAPEX, OPEX и единичная экономика</a:t>
            </a:r>
          </a:p>
          <a:p/>
          <a:p>
            <a:r>
              <a:t>[ДОПУЩЕНИЕ] CAPEX 7 млн: два аппарата внесения с АКБ/зарядкой 4 млн; авто и прицеп 1,4 млн; мониторинговый аппарат 0,6 млн; смешивание и безопасность 0,4 млн; IT 0,2 млн; капитальный запас заменяемых узлов 0,4 млн. Последний не является запасом расходных химикатов. Конкретные модели выбираются после проверки максимальной взлетной массы и законной эксплуатации; бюджет не равен подтвержденному предложению поставщика.</a:t>
            </a:r>
          </a:p>
          <a:p/>
          <a:p>
            <a:r>
              <a:t>[ДОПУЩЕНИЕ] Переменные внесения 400 руб./га-проход: топливо/логистика 150, энергия 50, текущее обслуживание 130, СИЗ/мойка/обращение с отходами 70. Мониторинг 60 руб./га-обследование: логистика 30, энергия/обслуживание 20, переменная обработка данных 10. Штатная зарплата и амортизация в эти ставки не включены; АКБ и капитальные узлы финансируются CAPEX замен, а не повторно в текущем ремонте.</a:t>
            </a:r>
          </a:p>
          <a:p/>
          <a:p>
            <a:r>
              <a:t>[ДОПУЩЕНИЕ] Постоянный OPEX 2027 — 4,2 млнруб.: штат с начислениями 3 млн; аренда 360 тыс.; страхование/комплаенс 300 тыс. (страхование 120, юрист 60, внешний агроном 120); маркетинг 240 тыс.; IT 120 тыс.; администрирование 180 тыс. (бухгалтер 120, банк/прочее 60). Бюджеты внешних специалистов и труда экономные; подтверждение их достаточности является инвестиционным gate. Стартовые 500 тыс. распределены на первоначальное обучение 200, подготовку правового/операционного досье 200 и организационные расходы 100; ежегодное сопровождение не дублирует эти разовые работы.</a:t>
            </a:r>
          </a:p>
          <a:p/>
          <a:p>
            <a:r>
              <a:t>[РАСЧЕТ]</a:t>
            </a:r>
          </a:p>
          <a:p/>
          <a:p>
            <a:r>
              <a:t>| Услуга 2027 | Тариф | Переменные | Вклад до УСН | УСН 6% | Вклад после УСН |</a:t>
            </a:r>
          </a:p>
          <a:p>
            <a:r>
              <a:t>| --- | --- | --- | --- | --- | --- |</a:t>
            </a:r>
          </a:p>
          <a:p>
            <a:r>
              <a:t>| Внесение, руб./га-проход | 1300 | 400 | 900 | 78 | 822 |</a:t>
            </a:r>
          </a:p>
          <a:p>
            <a:r>
              <a:t>| Мониторинг, руб./га-обследование | 250 | 60 | 190 | 15 | 175 |</a:t>
            </a:r>
          </a:p>
          <a:p/>
          <a:p>
            <a:r>
              <a:t>[РАСЧЕТ] Вклад до постоянных затрат 2027:6,16 млнруб., маржинальность 70%. После УСН вклад 5,632 млн. EBITDA-безубыточность при постоянном миксе услуг:6 млнруб. выручки; денежная операционная безубыточность после УСН — 6 562 500 руб., или одновременно 4 474,4 га-проходов и 2 983,0 га-обследований. Это пропорциональный набор услуг, не два независимых порога. CAPEX и возврат инвестиций этим порогом не покрываются.</a:t>
            </a:r>
          </a:p>
          <a:p/>
          <a:p>
            <a:r>
              <a:t>### Налоги и денежный поток</a:t>
            </a:r>
          </a:p>
          <a:p/>
          <a:p>
            <a:r>
              <a:t>[ФАКТ] ФНС указывает базовую ставку УСН «доходы»6%; актуальный график освобождения от НДС на УСН уточнен законом 04.07.2026№228-ФЗ:2027–2029 порог 20 млн,2030 —15 млн,2031 —10 млнруб.[14][12][11]</a:t>
            </a:r>
          </a:p>
          <a:p/>
          <a:p>
            <a:r>
              <a:t>[ДОПУЩЕНИЕ] УСН в модели 6% выручки без снижения на страховые взносы — консервативный бюджет, а не выбор оптимального налогообложения. При утрате освобождения применяется 5% НДС сверх тарифа при сохранении законных условий специальной ставки, без вычета входного НДС; общая ставка и вычеты требуют отдельного сопоставления с бухгалтером.[28]</a:t>
            </a:r>
          </a:p>
          <a:p/>
          <a:p>
            <a:r>
              <a:t>[РАСЧЕТ] НДС рассчитывается отдельно: проверяется доход прошлого года и месячное превышение текущего порога с началом обложения со следующего месяца. В базе 2027–2029 НДС отсутствует, с 2030 начисляется 5% сверх выручки из-за превышения доходом 2029 порога 15 млн. Собранный налог полностью перечисляется, не входит в выручку/EBITDA/УСН/FCF. Денежные сроки уплаты упрощены; право переложить налог на клиента должно быть закреплено в договоре.</a:t>
            </a:r>
          </a:p>
          <a:p/>
          <a:p>
            <a:r>
              <a:t>[ДОПУЩЕНИЕ] Амортизация начальных 7 млн линейно 5 лет; замен —3 года с года покупки. CAPEX замен 2027–2031:0 /300000 /600000 /900000 /600000 руб. в номинале. Возмещение входного НДС не финансирует инвестиции. Остаточная стоимость оборудования в денежном потоке равна нулю.</a:t>
            </a:r>
          </a:p>
          <a:p/>
          <a:p>
            <a:r>
              <a:t>[РАСЧЕТ] Выручка=объем×тариф по каждой услуге; EBITDA=выручка−переменные−фиксированныйOPEX; EBIT=EBITDA−амортизация; расчетная чистая прибыль=EBIT−УСН. FCF=EBITDA−УСН−CAPEXзамен+возвратрезерва. УСН платится с доходов даже при убытке. Амортизация не вычитается из FCF повторно.</a:t>
            </a:r>
          </a:p>
          <a:p/>
          <a:p>
            <a:r>
              <a:t>[РАСЧЕТ] Все суммы таблицы — рубли, без округления исходных формул:</a:t>
            </a:r>
          </a:p>
          <a:p/>
          <a:p>
            <a:r>
              <a:t>| Год | Выручка | Переменные | Фикс.OPEX | EBITDA | Амортизация | УСН | Чистая прибыль | CAPEX замен | FCF |</a:t>
            </a:r>
          </a:p>
          <a:p>
            <a:r>
              <a:t>| --- | --- | --- | --- | --- | --- | --- | --- | --- | --- |</a:t>
            </a:r>
          </a:p>
          <a:p>
            <a:r>
              <a:t>| 2027 | 8 800 000,00 | 2 640 000,00 | 4 200 000,00 | 1 960 000,00 | 1 400 000,00 | 528 000,00 | 32 000,00 | 0,00 | 1 432 000,00 |</a:t>
            </a:r>
          </a:p>
          <a:p>
            <a:r>
              <a:t>| 2028 | 13 728 000,00 | 4 158 000,00 | 4 410 000,00 | 5 160 000,00 | 1 500 000,00 | 823 680,00 | 2 836 320,00 | 300 000,00 | 4 036 320,00 |</a:t>
            </a:r>
          </a:p>
          <a:p>
            <a:r>
              <a:t>| 2029 | 17 630 080,00 | 5 380 200,00 | 4 630 500,00 | 7 619 380,00 | 1 700 000,00 | 1 057 804,80 | 4 861 575,20 | 600 000,00 | 5 961 575,20 |</a:t>
            </a:r>
          </a:p>
          <a:p>
            <a:r>
              <a:t>| 2030 | 20 078 822,40 | 6 181 717,50 | 4 862 025,00 | 9 035 079,90 | 2 000 000,00 | 1 204 729,34 | 5 830 350,56 | 900 000,00 | 6 930 350,56 |</a:t>
            </a:r>
          </a:p>
          <a:p>
            <a:r>
              <a:t>| 2031 | 22 695 256,06 | 7 049 936,25 | 5 105 126,25 | 10 540 193,56 | 2 100 000,00 | 1 361 715,36 | 7 078 478,20 | 600 000,00 | 10 578 478,20 |</a:t>
            </a:r>
          </a:p>
          <a:p/>
          <a:p>
            <a:r>
              <a:t>### Ликвидность и сезонность</a:t>
            </a:r>
          </a:p>
          <a:p/>
          <a:p>
            <a:r>
              <a:t>[ДОПУЩЕНИЕ] Поступления и выполнение распределены апрель–сентябрь 10/20/25/20/15/10%. Услуги оплачиваются в месяц выполнения; плановый договорный аванс 30% не используется для улучшения модели. Фиксированные расходы 350000 руб./месяц. Подготовительные расходы 2026 свернуты в t 0; годовая модель оценивается на условную дату 31.12.2026, не заменяет календарь траншей осени 2026.</a:t>
            </a:r>
          </a:p>
          <a:p/>
          <a:p>
            <a:r>
              <a:t>[РАСЧЕТ] После оплаты оборудования и запуска на счете 2 млнруб. Минимум месячного остатка 2027 — 950 000 руб., конец года — 3 432 000 руб. Без поступлений резерв покрывает 5,71 месяца постоянных расходов. Отдельная таблица: `data/monthly_cashflow_2027.csv`; отсутствие месячного минуса не исключает внутримесячного разрыва.</a:t>
            </a:r>
          </a:p>
          <a:p/>
          <a:p>
            <a:r>
              <a:t>[ДОПУЩЕНИЕ] Резерв 2 млн учитывается только в t 0 и возвращается в конце 2031 при завершении оценочного проекта. Рост дебиторской задолженности не смоделирован; резерв не индексируется. Для продолжающегося бизнеса его возврат исключается. Инвестиционный NPV не является суммой дивидендов инвестору.</a:t>
            </a:r>
          </a:p>
          <a:p/>
          <a:p>
            <a:r>
              <a:t>### Проверка закупочного бюджета</a:t>
            </a:r>
          </a:p>
          <a:p/>
          <a:p>
            <a:r>
              <a:t>[ДОПУЩЕНИЕ] Базовые 4 млн руб. на два аппарата внесения — закупочный лимит без выбранной модели, не подтвержденная цена. Производительность 130 га/день подтверждается приемочным испытанием выбранного комплекта, а не характеристиками другой модели.</a:t>
            </a:r>
          </a:p>
          <a:p/>
          <a:p>
            <a:r>
              <a:t>[ФАКТ] На 06.10.2026 Агропрофи публикует XAG P 100 Pro за 2 990 000 руб. за комплект: https://xag-ap.ru/ . Состав, налоги, доставка и условия требуют письменного КП. Это ориентир, не договор или решение о выборе модели.</a:t>
            </a:r>
          </a:p>
          <a:p/>
          <a:p>
            <a:r>
              <a:t>[РАСЧЕТ] Два комплекта стоят 5 980 000 руб., превышение базового лимита — 1 980 000 руб. При прочих равных CAPEX — 8 980 000 руб., финансирование — 11 480 000 руб., NPV — 1 966 443 руб. Это изолированный тест удорожания закупки, не новая полноценная база. Обучение и сопровождение в комплекте нужно исключить из повторного счета после получения КП.</a:t>
            </a:r>
          </a:p>
          <a:p/>
          <a:p>
            <a:r>
              <a:t>[ДОПУЩЕНИЕ] До инвестирования нужны два сопоставимых КП с АКБ, зарядкой, доставкой, обучением, сервисом и налогами. Необходимо либо подтвердить комплект в лимите 4 млн руб. с нужной выработкой, либо пересчитать модель, финансирование и сроки целиком. Без этого закупочный этап не утверждается.</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Ставка дисконтирования 24% — требуемая доходность проектного капитала, не рыночная котировка WACC; финансирование долевое. Потоки номинальные, конец каждого года, t 0=-9500000 руб. Ликвидационная стоимость оборудования 0; возврат оборотного резерва 2 млн только в концеY 5.</a:t>
            </a:r>
          </a:p>
          <a:p/>
          <a:p>
            <a:r>
              <a:t>[РАСЧЕТ] NPV=−9500000+Σ(FCFₜ/1,24ᵗ)=3 946 443,10 руб. Простая окупаемость 2,676 года; дисконтированная 3,885 года. Доля года — условная интерполяция, а не точная дата при сезонном потоке.</a:t>
            </a:r>
          </a:p>
          <a:p/>
          <a:p>
            <a:r>
              <a:t>| Период | FCF, руб. | Коэффициент | PV, руб. | Накопленный PV |</a:t>
            </a:r>
          </a:p>
          <a:p>
            <a:r>
              <a:t>| --- | --- | --- | --- | --- |</a:t>
            </a:r>
          </a:p>
          <a:p>
            <a:r>
              <a:t>| 0 | -9 500 000,00 | 1,000000 | -9 500 000,00 | -9 500 000,00 |</a:t>
            </a:r>
          </a:p>
          <a:p>
            <a:r>
              <a:t>| 1 | 1 432 000,00 | 0,806452 | 1 154 838,71 | -8 345 161,29 |</a:t>
            </a:r>
          </a:p>
          <a:p>
            <a:r>
              <a:t>| 2 | 4 036 320,00 | 0,650364 | 2 625 078,04 | -5 720 083,25 |</a:t>
            </a:r>
          </a:p>
          <a:p>
            <a:r>
              <a:t>| 3 | 5 961 575,20 | 0,524487 | 3 126 770,25 | -2 593 313,00 |</a:t>
            </a:r>
          </a:p>
          <a:p>
            <a:r>
              <a:t>| 4 | 6 930 350,56 | 0,422974 | 2 931 355,31 | 338 042,31 |</a:t>
            </a:r>
          </a:p>
          <a:p>
            <a:r>
              <a:t>| 5 | 10 578 478,20 | 0,341108 | 3 608 400,79 | 3 946 443,10 |</a:t>
            </a:r>
          </a:p>
          <a:p/>
          <a:p>
            <a:r>
              <a:t>[РАСЧЕТ] Если бизнес продолжает работу и резерв не высвобождается, NPV без возврата 2 млн составляет 3 264 227,62 руб. Это отдельная проверка терминального допущения, не прибавка стоимости бизнеса.</a:t>
            </a:r>
          </a:p>
          <a:p/>
          <a:p>
            <a:r>
              <a:t>[РАСЧЕТ] Чувствительность (каждый стресс отдельно, горизонт не удлиняется):</a:t>
            </a:r>
          </a:p>
          <a:p/>
          <a:p>
            <a:r>
              <a:t>| Сценарий | NPV,руб. | Простая окупаемость,лет | Дисконтированная,лет |</a:t>
            </a:r>
          </a:p>
          <a:p>
            <a:r>
              <a:t>| --- | --- | --- | --- |</a:t>
            </a:r>
          </a:p>
          <a:p>
            <a:r>
              <a:t>| База | 3 946 443,10 | 2,676 | 3,885 |</a:t>
            </a:r>
          </a:p>
          <a:p>
            <a:r>
              <a:t>| Оба тарифа−10% | 44 872,94 | 3,366 | 5,000 |</a:t>
            </a:r>
          </a:p>
          <a:p>
            <a:r>
              <a:t>| Оба объема−25% | -2 638 836,29 | 4,141 | Не достигнута |</a:t>
            </a:r>
          </a:p>
          <a:p>
            <a:r>
              <a:t>| Переменные+20% | 1 411 526,29 | 3,089 | 4,702 |</a:t>
            </a:r>
          </a:p>
          <a:p>
            <a:r>
              <a:t>| Задержка 1 год | -1 433 041,24 | 3,793 | Не достигнута |</a:t>
            </a:r>
          </a:p>
          <a:p>
            <a:r>
              <a:t>| Внесение 900 руб. в 2027; мониторинг без изменения | -6 605 370,13 | Не достигнута | Не достигнута |</a:t>
            </a:r>
          </a:p>
          <a:p/>
          <a:p>
            <a:r>
              <a:t>[ДОПУЩЕНИЕ] При задержке 2027 выручка 0, расходы сохранения готовности 900000 руб.; объемы и замены сдвинуты на год, цены/расходы индексируются по календарю. Это условие успешной консервации, а не полный штат в простое. При невозможности сократить расходы результат хуже. Тариф 900 руб. в стрессе индексируется далее на 4%, постоянные затраты не сокращаются. Он является проверкой ценового давления, не утверждением сопоставимости чужой услуги.</a:t>
            </a:r>
          </a:p>
          <a:p/>
          <a:p>
            <a:r>
              <a:t>[РАСЧЕТ] Снижение тарифа на 10% почти обнуляет NPV; дисконтированная окупаемость этого стресса наступает только в концеY 5 с возвратом резерва. При недозагрузке 25% либо годовой задержке дисконтированная окупаемость за 5 лет не достигается. Основное условие вложения капитала — проверка готовности клиентов оплачивать именно плановый тариф.</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Потребность до запуска разделена на оборудование, подготовительные расходы и ликвидность; приведенные суммы являются бюджетными лимитами до получения предложений поставщиков.</a:t>
            </a:r>
          </a:p>
          <a:p/>
          <a:p>
            <a:r>
              <a:t>| Назначение | Сумма, млн руб. | Контроль использования |</a:t>
            </a:r>
          </a:p>
          <a:p>
            <a:r>
              <a:t>|---|---:|---|</a:t>
            </a:r>
          </a:p>
          <a:p>
            <a:r>
              <a:t>| CAPEX | 7,0 | Спецификация основного, резервного и мониторингового аппаратов, транспорта и оснащения; приемка |</a:t>
            </a:r>
          </a:p>
          <a:p>
            <a:r>
              <a:t>| Стартовые расходы | 0,5 | Подготовка запуска, первоначальное обучение и организационные услуги без повторного учета в CAPEX |</a:t>
            </a:r>
          </a:p>
          <a:p>
            <a:r>
              <a:t>| Оборотный резерв | 2,0 | Покрытие временного дефицита денег по платежному календарю |</a:t>
            </a:r>
          </a:p>
          <a:p>
            <a:r>
              <a:t>| Всего | 9,5 | [РАСЧЕТ] 7,0 + 0,5 + 2,0 |</a:t>
            </a:r>
          </a:p>
          <a:p/>
          <a:p>
            <a:r>
              <a:t>[ДОПУЩЕНИЕ] Резерв не является свободным бюджетом расширения или повторной статьей расходов. До инвестиционного go/no-go в 2026 году сверяются состав поставки, гарантия, сервис, применимость техники и кассовые обязательства. Стоимость внешних специалистов, труда и эксплуатации должна иметь отдельные строки операционной модели; отсутствие коммерческого предложения не оправдывает нулевую оценку. Достаточность резерва проверяется помесячным денежным потоком, включая задержку старта и оплаты.</a:t>
            </a:r>
          </a:p>
          <a:p/>
          <a:p>
            <a:r>
              <a:t>[ДОПУЩЕНИЕ] Базовые 4 млн руб. на основной и резервный аппараты внесения не подтверждены КП. Ориентир пары XAG P 100 Pro — 5,98 млн руб.; закупочный стресс требует 11,48 млн руб. финансирования. Проверка комплектации и производительности обязательна; подробности в разделе 17.</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Финансирование предполагается исключительно долевым: учредитель вносит 2,5 млн руб., внешний инвестор — 7 млн руб. Долг и гранты в базовый источник покрытия не включены; социальная направленность не означает подтвержденного права на субсидию.</a:t>
            </a:r>
          </a:p>
          <a:p/>
          <a:p>
            <a:r>
              <a:t>| Источник | Вклад, млн руб. | Условие |</a:t>
            </a:r>
          </a:p>
          <a:p>
            <a:r>
              <a:t>|---|---:|---|</a:t>
            </a:r>
          </a:p>
          <a:p>
            <a:r>
              <a:t>| Учредитель | 2,5 | Подтвержденная доступность денег и оформление вклада |</a:t>
            </a:r>
          </a:p>
          <a:p>
            <a:r>
              <a:t>| Внешний долевой инвестор | 7,0 | Проверка модели, юридическая готовность и подписанные условия |</a:t>
            </a:r>
          </a:p>
          <a:p>
            <a:r>
              <a:t>| Итого | 9,5 | [РАСЧЕТ] 2,5 + 7,0; соответствует стартовой потребности |</a:t>
            </a:r>
          </a:p>
          <a:p/>
          <a:p>
            <a:r>
              <a:t>[ДОПУЩЕНИЕ] Доля инвестора не установлена. Отношение денежного вклада к потребности не используется как готовая оценка доли: необходимы согласование оценки бизнеса, корпоративных прав, порядка дополнительного финансирования и выхода. Документы должны определять отчетность, решения, требующие согласования, и последствия отказа от запуска. Крупные закупки привязываются к подтвержденной готовности.</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[РАСЧЕТ] Сводные показатели из тех же исходных данных:</a:t>
            </a:r>
          </a:p>
          <a:p/>
          <a:p>
            <a:r>
              <a:t>| Показатель | 2027 | 2031 |</a:t>
            </a:r>
          </a:p>
          <a:p>
            <a:r>
              <a:t>| --- | --- | --- |</a:t>
            </a:r>
          </a:p>
          <a:p>
            <a:r>
              <a:t>| Га-проходы внесения | 6000 | 13000 |</a:t>
            </a:r>
          </a:p>
          <a:p>
            <a:r>
              <a:t>| Га-обследования | 4000 | 10000 |</a:t>
            </a:r>
          </a:p>
          <a:p>
            <a:r>
              <a:t>| Загрузка потолка внесения | 46,2% | 100% |</a:t>
            </a:r>
          </a:p>
          <a:p>
            <a:r>
              <a:t>| Бригады / штат | 1 /3 FTE | 1 /3 FTE |</a:t>
            </a:r>
          </a:p>
          <a:p>
            <a:r>
              <a:t>| Выручка,руб. | 8 800 000 | 22 695 256 |</a:t>
            </a:r>
          </a:p>
          <a:p>
            <a:r>
              <a:t>| EBITDA,руб. | 1 960 000 | 10 540 194 |</a:t>
            </a:r>
          </a:p>
          <a:p>
            <a:r>
              <a:t>| Рентабельность EBITDA | 22,3% | 46,4% |</a:t>
            </a:r>
          </a:p>
          <a:p>
            <a:r>
              <a:t>| FCF,руб. | 1 432 000 | 10 578 478 |</a:t>
            </a:r>
          </a:p>
          <a:p>
            <a:r>
              <a:t>| Выручка наFTE,руб. | 2 933 333 | 7 565 085 |</a:t>
            </a:r>
          </a:p>
          <a:p/>
          <a:p>
            <a:r>
              <a:t>[ДОПУЩЕНИЕ] KPI операционного качества: отчет не позднее 48 часов после задания;100% работ с полетным и агрономическим чек-листом;0 несогласованных отклонений в дозе/контуре; регистрация каждого опасного события; повторные договоры не менее 60% клиентов после первого сезона. Эти цели еще не достигнуты. Рост рентабельности к 2031 обусловлен загрузкой одной команды и требует отдельного подтверждения мощности и оплаты труда, а не считается гарантированным эффектом технологии.</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Реестр использует экспертные категории вероятности В и воздействия У: Н — низкое, С — среднее, В — высокое. Это не статистические частоты. Остаточный риск указан после исполнения мер и подлежит пересмотру по фактическим событиям.</a:t>
            </a:r>
          </a:p>
          <a:p/>
          <a:p>
            <a:r>
              <a:t>| Риск | Вероятность | Воздействие | Меры снижения | Остаточный риск В/У | Владелец | Триггер |</a:t>
            </a:r>
          </a:p>
          <a:p>
            <a:r>
              <a:t>|---|---|---|---|---|---|---|</a:t>
            </a:r>
          </a:p>
          <a:p>
            <a:r>
              <a:t>| Запрет или недоступность разрешений | С | В | Правовая проверка до вложений; повторная проверка выезда; no-go | С/В | Директор, юрист | Нет письменного основания для работы |</a:t>
            </a:r>
          </a:p>
          <a:p>
            <a:r>
              <a:t>| Потеря погодных окон | В | В | Приоритеты, маршрутизация, реалистичные договоры; запрет небезопасного ускорения | С/В | Операционный руководитель | Переносы нарушают согласованные сроки |</a:t>
            </a:r>
          </a:p>
          <a:p>
            <a:r>
              <a:t>| Недозагрузка | С | В | Проверка заявок, пилот, договоры до сезона; отказ от расширения | С/С | Директор | Объем подтвержденных заказов ниже плана |</a:t>
            </a:r>
          </a:p>
          <a:p>
            <a:r>
              <a:t>| Поломка и задержка сервиса | С | В | Основной и резервный аппараты, обслуживание, запас деталей | Н/С | Операционный руководитель | Дефект до выезда или растущий срок ремонта |</a:t>
            </a:r>
          </a:p>
          <a:p>
            <a:r>
              <a:t>| Ошибка внесения, недопустимое воздействие | С | В | Проверка агрономом, параметры задания, стоп-процедура, разбор инцидента | Н/В | Операционный руководитель | Несоответствие карты, условий или материала |</a:t>
            </a:r>
          </a:p>
          <a:p>
            <a:r>
              <a:t>| Дефицит кадров и перегрузка | В | В | Проверка фонда труда, наставник, календарь отдыха, ограничение заказов | С/В | Директор | Вакансия, переработки, ошибки подготовки |</a:t>
            </a:r>
          </a:p>
          <a:p>
            <a:r>
              <a:t>| Конфликт мониторинга и внесения | С | В | Раздельные окна; без отдельной команды одновременные полеты запрещены | Н/С | Операционный руководитель | Двойное бронирование людей или техники |</a:t>
            </a:r>
          </a:p>
          <a:p>
            <a:r>
              <a:t>| Задержка платежей | С | В | Аванс, лимиты дебиторской задолженности, платежный календарь | С/С | Директор, бухгалтер | Просрочка или прогноз отрицательного остатка |</a:t>
            </a:r>
          </a:p>
          <a:p>
            <a:r>
              <a:t>| Неудачная гражданская адаптация | С | С | Добровольность, равные требования, индивидуальное обучение, конфиденциальность | Н/С | Директор | Кандидат сообщает о трудностях или не проходит проверку |</a:t>
            </a:r>
          </a:p>
          <a:p>
            <a:r>
              <a:t>| Завышенное обещание эффекта | С | С | Не гарантировать урожайность; фиксировать объем и критерии приемки | Н/С | Директор, агроном | Клиент ожидает результат вне договора |</a:t>
            </a:r>
          </a:p>
          <a:p/>
          <a:p>
            <a:r>
              <a:t>[ДОПУЩЕНИЕ] При правовом запрете, отсутствии безопасных условий или неподтвержденной компетенции применяется остановка независимо от остаточного рейтинга. Владелец фиксирует событие, решение и условия возобновления; директор пересчитывает календарь и ликвидность. После сезона проверяются фактические затраты, претензии и продления. Масштабирование допускается только после подтверждения способности одной бригады выполнять обязательства без скрытой неоплачиваемой нагрузки.</a:t>
            </a:r>
          </a:p>
          <a:p/>
          <a:p>
            <a:r>
              <a:t>## Sources</a:t>
            </a:r>
          </a:p>
          <a:p/>
          <a:p>
            <a:r>
              <a:t>[1] https://beeuav.ru — Аренда сельскохозяйственных дронов в Татарстане | Агродроны под ключ</a:t>
            </a:r>
          </a:p>
          <a:p>
            <a:r>
              <a:t>[2] https://beeuav.ru/uslugi/obrabotka-polej — Обработка полей дронами в сельском хозяйстве | Точное опрыскивание до 10 га/час</a:t>
            </a:r>
          </a:p>
          <a:p>
            <a:r>
              <a:t>[3] https://xag-ap.ru — Агродроны XAG для опрыскивания полей — купить в Поволжье</a:t>
            </a:r>
          </a:p>
          <a:p>
            <a:r>
              <a:t>[4] https://xag-ap.ru/spraying.php — Обработка полей дроном — опрыскивание, посев | Агропрофи</a:t>
            </a:r>
          </a:p>
          <a:p>
            <a:r>
              <a:t>[5] https://xn--80aai6cg.xn--p1ai — Агродроны и инновации для сельского хозяйства</a:t>
            </a:r>
          </a:p>
          <a:p>
            <a:r>
              <a:t>[6] https://germes-technology.ru — Агродроны «Гермес»</a:t>
            </a:r>
          </a:p>
          <a:p>
            <a:r>
              <a:t>[7] https://agrdron.ru — Агродроны ЮФО — обработка полей агродронами</a:t>
            </a:r>
          </a:p>
          <a:p>
            <a:r>
              <a:t>[8] https://www.vesti.ru/article/4893778 — Лут: в 2025 году в РФ обработали около 600 тысяч га полей с помощью агродронов - Новости на Вести.ru</a:t>
            </a:r>
          </a:p>
          <a:p>
            <a:r>
              <a:t>[9] https://www.rshb.ru/news/16072026-000004 — День поля: площадь обработанных агродронами полей в России в 2026 году вырастет на треть – РСХБ</a:t>
            </a:r>
          </a:p>
          <a:p>
            <a:r>
              <a:t>[11] https://pravo.ppt.ru/fz/228-fz-343389 — Федеральный закон от 04.07.2026 № 228-ФЗ О внесении изменений в статью 145 части второй Налогового кодекса Российской Федерации (в редакции от 05.09.2026)</a:t>
            </a:r>
          </a:p>
          <a:p>
            <a:r>
              <a:t>[12] https://www.nalog.gov.ru/rn33/news/tax_doc_news/16636398 — Порог доходов для уплаты НДС на УСН сохранён на уровне 20 млн рублей до 2029 года |  ФНС России  | 33 Владимирская область</a:t>
            </a:r>
          </a:p>
          <a:p>
            <a:r>
              <a:t>[14] https://www.nalog.gov.ru/rn77/taxation/taxes/usn — Упрощенная система налогообложения |  ФНС России  | 77 город Москва</a:t>
            </a:r>
          </a:p>
          <a:p>
            <a:r>
              <a:t>[15] https://www.consultant.ru/document/cons_doc_LAW_13744/009711b4b9730b8597cfd79d7160a30bcae04d60 — ВЗК РФ Статья 33. Государственная регистрация и государственный учет воздушных судов \ КонсультантПлюс</a:t>
            </a:r>
          </a:p>
          <a:p>
            <a:r>
              <a:t>[16] http://publication.pravo.gov.ru/document/0001202608280041 — Приказ Министерства транспорта Российской Федерации от 02.07.2026 № 303 ∙ Официальное опубликование правовых актов</a:t>
            </a:r>
          </a:p>
          <a:p>
            <a:r>
              <a:t>[17] https://base.garant.ru/414829385 — Приказ Министерства транспорта Российской Федерации от 02.07.2026 № 303 “Об утверждении Федеральных авиационных правил «Требования к эксплуатанту, выполняющему авиационные работы, и порядок выдачи ему документа, подтверждающего соответствие требованиям федеральных авиационных правил” | ГАРАНТ</a:t>
            </a:r>
          </a:p>
          <a:p>
            <a:r>
              <a:t>[18] http://publication.pravo.gov.ru/document/0001202602270023?index=2 — Постановление Главного государственного санитарного врача Российской Федерации от 12.02.2026 № 2 ∙ Официальное опубликование правовых актов</a:t>
            </a:r>
          </a:p>
          <a:p>
            <a:r>
              <a:t>[19] https://www.consultant.ru/document/cons_doc_LAW_527669/4e1be0f3b6a61b723c0f41a8cdd22c5410404e57 — ИЗМЕНЕНИЯ, ВНОСИМЫЕ В САНИТАРНЫЕ ПРАВИЛА И НОРМЫ САНПИН 2.1.3684-21 "САНИТАРНО-ЭПИДЕМИОЛОГИЧЕСКИЕ ТРЕБОВАНИЯ К СОДЕРЖАНИЮ ТЕРРИТОРИЙ ГОРОДСКИХ И СЕЛЬСКИХ ПОСЕЛЕНИЙ, К ВОДНЫМ ОБЪЕКТАМ, ПИТЬЕВОЙ ВОДЕ И ПИТЬЕВОМУ ВОДОСНАБЖЕНИЮ, АТМОСФЕРНОМУ ВОЗДУХУ,... \ КонсультантПлюс</a:t>
            </a:r>
          </a:p>
          <a:p>
            <a:r>
              <a:t>[20] http://publication.pravo.gov.ru/document/0001202606020080?index=49 — Постановление Главного государственного санитарного врача Российской Федерации от 02.06.2026 № 15 ∙ Официальное опубликование правовых актов</a:t>
            </a:r>
          </a:p>
          <a:p>
            <a:r>
              <a:t>[21] https://www.consultant.ru/document/cons_doc_LAW_535845/92d969e26a4326c5d02fa79b8f9cf4994ee5633b — ФЕДЕРАЛЬНАЯ СЛУЖБА ПО НАДЗОРУ В СФЕРЕ ЗАЩИТЫ ПРАВ ПОТРЕБИТЕЛЕЙ И БЛАГОПОЛУЧИЯ ЧЕЛОВЕКА ГЛАВНЫЙ ГОСУДАРСТВЕННЫЙ САНИТАРНЫЙ ВРАЧ РОССИЙСКОЙ ФЕДЕРАЦИИ ПОСТАНОВЛЕНИЕ от 2 июня 2026 г. N 15 ОБ УТВЕРЖДЕНИИ САНИТАРНЫХ ПРАВИЛ СП 2.2.4285-26... \ КонсультантПлюс</a:t>
            </a:r>
          </a:p>
          <a:p>
            <a:r>
              <a:t>[22] https://legalacts.ru/doc/federalnyi-zakon-ot-30122020-n-490-fz-o-pchelovodstve-v — 490-ФЗ О пчеловодстве в Российской Федерации</a:t>
            </a:r>
          </a:p>
          <a:p>
            <a:r>
              <a:t>[23] https://fsvps.gov.ru/news/rosselhoznadzor-informiruet-o-vvode-v-jekspluataciju-portala-pchelovoda-i-napominaet-o-neobhodimosti-uvedomljat-o-predstojashhih-obrabotkah-selhozugodij-pesticidami-cherez-fgis-saturn — Россельхознадзор информирует о вводе в эксплуатацию «Портала пчеловода» и напоминает о необходимости уведомлять о предстоящих обработках сельхозугодий пестицидами через ФГИС «Сатурн» | Главное | Россельхознадзор</a:t>
            </a:r>
          </a:p>
          <a:p>
            <a:r>
              <a:t>[24] https://fsvps.gov.ru/news/rosselhoznadzor-napominaet-o-pravilah-bezopasnogo-obrashhenija-s-pesticidami-i-agrohimikatami — Россельхознадзор напоминает о правилах безопасного обращения с пестицидами и агрохимикатами | Главное | Россельхознадзор</a:t>
            </a:r>
          </a:p>
          <a:p>
            <a:r>
              <a:t>[26] http://static.government.ru/media/files/3m4AHa9s3PrYTDr316ibUtyEVUpnRT2x.pdf — Стратегия БАС, распоряжение 1630-р</a:t>
            </a:r>
          </a:p>
          <a:p>
            <a:r>
              <a:t>[27] https://tk-expert.ru/uploads/files/docs/%D0%9F%D0%9E%D0%A1%D0%A2%D0%90%D0%9D%D0%9E%D0%92%D0%9B%D0%95%D0%9D%D0%98%D0%95%2002.06.2026%20N15%20%D0%A1%D0%90%D0%9D%D0%98%D0%A2%D0%90%D0%A0%D0%9D%D0%AB%D0%A5%20%D0%9F%D0%A0%D0%90%D0%92%D0%98%D0%9B%20%D0%A1%D0%9F%2002.2.4285-26%20%D0%A1%D0%90%D0%9D%D0%98%D0%A2%D0%90%D0%A0%D0%9D%D0%9E-%D0%AD%D0%9F%D0%98%D0%94%D0%95%D0%9C%D0%98%D0%9E%D0%9B%D0%9E%D0%93%D0%98%D0%A7%D0%95%D0%A1%D0%9A%D0%98%D0%95%20%D0%A2%D0%A0%D0%95%D0%91.%D0%9A%20%D0%A3%D0%A1%D0%9B%D0%9E%D0%92%D0%98%D0%AF%D0%9C%20%D0%A2%D0%A0%D0%A3%D0%94%D0%90.pdf — СП 2.2.4285-26, текст постановления 02.06.2026 №15 (копия)</a:t>
            </a:r>
          </a:p>
          <a:p>
            <a:r>
              <a:t>[28] https://www.nalog.gov.ru/rn77/taxation/taxes/nds_usn — https://www.nalog.gov.ru/rn77/taxation/taxes/nds_usn/</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Резюме</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 Концепция сервиса  •  [РАСЧЕТ] Финансы базового сценария</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01 / 22</a:t>
            </a:r>
          </a:p>
        </p:txBody>
      </p:sp>
      <p:sp>
        <p:nvSpPr>
          <p:cNvPr id="7" name="TextBox 6"/>
          <p:cNvSpPr txBox="1"/>
          <p:nvPr/>
        </p:nvSpPr>
        <p:spPr>
          <a:xfrm>
            <a:off x="594360" y="1764792"/>
            <a:ext cx="6400800" cy="914400"/>
          </a:xfrm>
          <a:prstGeom prst="rect">
            <a:avLst/>
          </a:prstGeom>
          <a:noFill/>
        </p:spPr>
        <p:txBody>
          <a:bodyPr wrap="square" lIns="13716" rIns="13716" tIns="0" bIns="0">
            <a:spAutoFit/>
          </a:bodyPr>
          <a:lstStyle/>
          <a:p>
            <a:pPr>
              <a:spcBef>
                <a:spcPts val="0"/>
              </a:spcBef>
              <a:spcAft>
                <a:spcPts val="500"/>
              </a:spcAft>
              <a:defRPr sz="4800" b="1">
                <a:solidFill>
                  <a:srgbClr val="FFFFFF"/>
                </a:solidFill>
                <a:latin typeface="Arial"/>
              </a:defRPr>
            </a:pPr>
            <a:r>
              <a:t>АгроВектор</a:t>
            </a:r>
          </a:p>
        </p:txBody>
      </p:sp>
      <p:sp>
        <p:nvSpPr>
          <p:cNvPr id="8" name="TextBox 7"/>
          <p:cNvSpPr txBox="1"/>
          <p:nvPr/>
        </p:nvSpPr>
        <p:spPr>
          <a:xfrm>
            <a:off x="640080" y="2743200"/>
            <a:ext cx="5943600" cy="1051560"/>
          </a:xfrm>
          <a:prstGeom prst="rect">
            <a:avLst/>
          </a:prstGeom>
          <a:noFill/>
        </p:spPr>
        <p:txBody>
          <a:bodyPr wrap="square" lIns="13716" rIns="13716" tIns="0" bIns="0">
            <a:spAutoFit/>
          </a:bodyPr>
          <a:lstStyle/>
          <a:p>
            <a:pPr>
              <a:spcBef>
                <a:spcPts val="0"/>
              </a:spcBef>
              <a:spcAft>
                <a:spcPts val="500"/>
              </a:spcAft>
              <a:defRPr sz="2500" b="0">
                <a:solidFill>
                  <a:srgbClr val="FFFFFF"/>
                </a:solidFill>
                <a:latin typeface="Arial"/>
              </a:defRPr>
            </a:pPr>
            <a:r>
              <a:t>Мониторинг посевов и точечное внесение</a:t>
            </a:r>
          </a:p>
          <a:p>
            <a:pPr>
              <a:spcBef>
                <a:spcPts val="0"/>
              </a:spcBef>
              <a:spcAft>
                <a:spcPts val="500"/>
              </a:spcAft>
              <a:defRPr sz="2500" b="0">
                <a:solidFill>
                  <a:srgbClr val="FFFFFF"/>
                </a:solidFill>
                <a:latin typeface="Arial"/>
              </a:defRPr>
            </a:pPr>
            <a:r>
              <a:t>с проверяемым заданием и отчетом</a:t>
            </a:r>
          </a:p>
        </p:txBody>
      </p:sp>
      <p:sp>
        <p:nvSpPr>
          <p:cNvPr id="9" name="TextBox 8"/>
          <p:cNvSpPr txBox="1"/>
          <p:nvPr/>
        </p:nvSpPr>
        <p:spPr>
          <a:xfrm>
            <a:off x="640080" y="4142232"/>
            <a:ext cx="5669280" cy="914400"/>
          </a:xfrm>
          <a:prstGeom prst="rect">
            <a:avLst/>
          </a:prstGeom>
          <a:noFill/>
        </p:spPr>
        <p:txBody>
          <a:bodyPr wrap="square" lIns="13716" rIns="13716" tIns="0" bIns="0">
            <a:spAutoFit/>
          </a:bodyPr>
          <a:lstStyle/>
          <a:p>
            <a:pPr>
              <a:spcBef>
                <a:spcPts val="0"/>
              </a:spcBef>
              <a:spcAft>
                <a:spcPts val="500"/>
              </a:spcAft>
              <a:defRPr sz="1800" b="0">
                <a:solidFill>
                  <a:srgbClr val="AFC5B8"/>
                </a:solidFill>
                <a:latin typeface="Arial"/>
              </a:defRPr>
            </a:pPr>
            <a:r>
              <a:t>Одна бригада • Татарстан — условная зона</a:t>
            </a:r>
          </a:p>
          <a:p>
            <a:pPr>
              <a:spcBef>
                <a:spcPts val="0"/>
              </a:spcBef>
              <a:spcAft>
                <a:spcPts val="500"/>
              </a:spcAft>
              <a:defRPr sz="1800" b="0">
                <a:solidFill>
                  <a:srgbClr val="AFC5B8"/>
                </a:solidFill>
                <a:latin typeface="Arial"/>
              </a:defRPr>
            </a:pPr>
            <a:r>
              <a:t>Гражданская переподготовка специалистов БПЛА</a:t>
            </a:r>
          </a:p>
        </p:txBody>
      </p:sp>
      <p:sp>
        <p:nvSpPr>
          <p:cNvPr id="10" name="Rounded Rectangle 9"/>
          <p:cNvSpPr/>
          <p:nvPr/>
        </p:nvSpPr>
        <p:spPr>
          <a:xfrm>
            <a:off x="6629400" y="1755648"/>
            <a:ext cx="2423160" cy="34107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12280" y="1938528"/>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30568" y="2112264"/>
            <a:ext cx="2020824"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9,5</a:t>
            </a:r>
          </a:p>
        </p:txBody>
      </p:sp>
      <p:sp>
        <p:nvSpPr>
          <p:cNvPr id="13" name="TextBox 12"/>
          <p:cNvSpPr txBox="1"/>
          <p:nvPr/>
        </p:nvSpPr>
        <p:spPr>
          <a:xfrm>
            <a:off x="6830568" y="2843784"/>
            <a:ext cx="2020824"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млн ₽</a:t>
            </a:r>
          </a:p>
        </p:txBody>
      </p:sp>
      <p:sp>
        <p:nvSpPr>
          <p:cNvPr id="14" name="TextBox 13"/>
          <p:cNvSpPr txBox="1"/>
          <p:nvPr/>
        </p:nvSpPr>
        <p:spPr>
          <a:xfrm>
            <a:off x="6830568" y="3447288"/>
            <a:ext cx="2020824" cy="1645920"/>
          </a:xfrm>
          <a:prstGeom prst="rect">
            <a:avLst/>
          </a:prstGeom>
          <a:noFill/>
        </p:spPr>
        <p:txBody>
          <a:bodyPr wrap="square" lIns="13716" rIns="13716" tIns="0" bIns="0">
            <a:spAutoFit/>
          </a:bodyPr>
          <a:lstStyle/>
          <a:p>
            <a:pPr>
              <a:spcBef>
                <a:spcPts val="0"/>
              </a:spcBef>
              <a:spcAft>
                <a:spcPts val="500"/>
              </a:spcAft>
              <a:defRPr sz="1800" b="0">
                <a:solidFill>
                  <a:srgbClr val="092A20"/>
                </a:solidFill>
                <a:latin typeface="Arial"/>
              </a:defRPr>
            </a:pPr>
            <a:r>
              <a:t>Стартовая потребность</a:t>
            </a:r>
          </a:p>
        </p:txBody>
      </p:sp>
      <p:sp>
        <p:nvSpPr>
          <p:cNvPr id="15" name="Rounded Rectangle 14"/>
          <p:cNvSpPr/>
          <p:nvPr/>
        </p:nvSpPr>
        <p:spPr>
          <a:xfrm>
            <a:off x="9253728" y="1755648"/>
            <a:ext cx="2423160" cy="34107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436607" y="1938528"/>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54896" y="2112264"/>
            <a:ext cx="2020824"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3,95</a:t>
            </a:r>
          </a:p>
        </p:txBody>
      </p:sp>
      <p:sp>
        <p:nvSpPr>
          <p:cNvPr id="18" name="TextBox 17"/>
          <p:cNvSpPr txBox="1"/>
          <p:nvPr/>
        </p:nvSpPr>
        <p:spPr>
          <a:xfrm>
            <a:off x="9454896" y="2843784"/>
            <a:ext cx="2020824"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млн ₽ NPV</a:t>
            </a:r>
          </a:p>
        </p:txBody>
      </p:sp>
      <p:sp>
        <p:nvSpPr>
          <p:cNvPr id="19" name="TextBox 18"/>
          <p:cNvSpPr txBox="1"/>
          <p:nvPr/>
        </p:nvSpPr>
        <p:spPr>
          <a:xfrm>
            <a:off x="9454896" y="3447288"/>
            <a:ext cx="2020824" cy="1645920"/>
          </a:xfrm>
          <a:prstGeom prst="rect">
            <a:avLst/>
          </a:prstGeom>
          <a:noFill/>
        </p:spPr>
        <p:txBody>
          <a:bodyPr wrap="square" lIns="13716" rIns="13716" tIns="0" bIns="0">
            <a:spAutoFit/>
          </a:bodyPr>
          <a:lstStyle/>
          <a:p>
            <a:pPr>
              <a:spcBef>
                <a:spcPts val="0"/>
              </a:spcBef>
              <a:spcAft>
                <a:spcPts val="500"/>
              </a:spcAft>
              <a:defRPr sz="1800" b="0">
                <a:solidFill>
                  <a:srgbClr val="092A20"/>
                </a:solidFill>
                <a:latin typeface="Arial"/>
              </a:defRPr>
            </a:pPr>
            <a:r>
              <a:t>Ставка 24%; горизонт 5 лет</a:t>
            </a:r>
          </a:p>
        </p:txBody>
      </p:sp>
      <p:sp>
        <p:nvSpPr>
          <p:cNvPr id="20" name="Rounded Rectangle 19"/>
          <p:cNvSpPr/>
          <p:nvPr/>
        </p:nvSpPr>
        <p:spPr>
          <a:xfrm>
            <a:off x="502920" y="5513832"/>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5596128"/>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Решение: поэтапное финансирование после правовой проверки и подтверждения спроса</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SMART-цели</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02 / 22</a:t>
            </a:r>
          </a:p>
        </p:txBody>
      </p:sp>
      <p:graphicFrame>
        <p:nvGraphicFramePr>
          <p:cNvPr id="7" name="Table 6"/>
          <p:cNvGraphicFramePr>
            <a:graphicFrameLocks noGrp="1"/>
          </p:cNvGraphicFramePr>
          <p:nvPr/>
        </p:nvGraphicFramePr>
        <p:xfrm>
          <a:off x="502920" y="1737360"/>
          <a:ext cx="11183112" cy="3520440"/>
        </p:xfrm>
        <a:graphic>
          <a:graphicData uri="http://schemas.openxmlformats.org/drawingml/2006/table">
            <a:tbl>
              <a:tblPr firstRow="1" bandRow="1">
                <a:tableStyleId>{5C22544A-7EE6-4342-B048-85BDC9FD1C3A}</a:tableStyleId>
              </a:tblPr>
              <a:tblGrid>
                <a:gridCol w="4709160"/>
                <a:gridCol w="2103120"/>
                <a:gridCol w="4370832"/>
              </a:tblGrid>
              <a:tr h="502920">
                <a:tc>
                  <a:txBody>
                    <a:bodyPr/>
                    <a:lstStyle/>
                    <a:p>
                      <a:pPr>
                        <a:spcAft>
                          <a:spcPts val="0"/>
                        </a:spcAft>
                        <a:defRPr sz="1500" b="1">
                          <a:solidFill>
                            <a:srgbClr val="FFFFFF"/>
                          </a:solidFill>
                          <a:latin typeface="Arial"/>
                        </a:defRPr>
                      </a:pPr>
                      <a:r>
                        <a:t>Цель / результат</a:t>
                      </a:r>
                    </a:p>
                  </a:txBody>
                  <a:tcPr marL="91440" marR="91440" marT="45720" marB="45720">
                    <a:solidFill>
                      <a:srgbClr val="164C38"/>
                    </a:solidFill>
                  </a:tcPr>
                </a:tc>
                <a:tc>
                  <a:txBody>
                    <a:bodyPr/>
                    <a:lstStyle/>
                    <a:p>
                      <a:pPr>
                        <a:spcAft>
                          <a:spcPts val="0"/>
                        </a:spcAft>
                        <a:defRPr sz="1500" b="1">
                          <a:solidFill>
                            <a:srgbClr val="FFFFFF"/>
                          </a:solidFill>
                          <a:latin typeface="Arial"/>
                        </a:defRPr>
                      </a:pPr>
                      <a:r>
                        <a:t>Срок</a:t>
                      </a:r>
                    </a:p>
                  </a:txBody>
                  <a:tcPr marL="91440" marR="91440" marT="45720" marB="45720">
                    <a:solidFill>
                      <a:srgbClr val="164C38"/>
                    </a:solidFill>
                  </a:tcPr>
                </a:tc>
                <a:tc>
                  <a:txBody>
                    <a:bodyPr/>
                    <a:lstStyle/>
                    <a:p>
                      <a:pPr>
                        <a:spcAft>
                          <a:spcPts val="0"/>
                        </a:spcAft>
                        <a:defRPr sz="1500" b="1">
                          <a:solidFill>
                            <a:srgbClr val="FFFFFF"/>
                          </a:solidFill>
                          <a:latin typeface="Arial"/>
                        </a:defRPr>
                      </a:pPr>
                      <a:r>
                        <a:t>Подтверждение</a:t>
                      </a:r>
                    </a:p>
                  </a:txBody>
                  <a:tcPr marL="91440" marR="91440" marT="45720" marB="45720">
                    <a:solidFill>
                      <a:srgbClr val="164C38"/>
                    </a:solidFill>
                  </a:tcPr>
                </a:tc>
              </a:tr>
              <a:tr h="502920">
                <a:tc>
                  <a:txBody>
                    <a:bodyPr/>
                    <a:lstStyle/>
                    <a:p>
                      <a:pPr>
                        <a:spcAft>
                          <a:spcPts val="0"/>
                        </a:spcAft>
                        <a:defRPr sz="1500" b="0">
                          <a:solidFill>
                            <a:srgbClr val="092A20"/>
                          </a:solidFill>
                          <a:latin typeface="Arial"/>
                        </a:defRPr>
                      </a:pPr>
                      <a:r>
                        <a:t>Правовая карта всех полей; GO/NO-GO</a:t>
                      </a:r>
                    </a:p>
                  </a:txBody>
                  <a:tcPr marL="91440" marR="91440" marT="45720" marB="45720">
                    <a:solidFill>
                      <a:srgbClr val="FFFFFF"/>
                    </a:solidFill>
                  </a:tcPr>
                </a:tc>
                <a:tc>
                  <a:txBody>
                    <a:bodyPr/>
                    <a:lstStyle/>
                    <a:p>
                      <a:pPr>
                        <a:spcAft>
                          <a:spcPts val="0"/>
                        </a:spcAft>
                        <a:defRPr sz="1500" b="0">
                          <a:solidFill>
                            <a:srgbClr val="092A20"/>
                          </a:solidFill>
                          <a:latin typeface="Arial"/>
                        </a:defRPr>
                      </a:pPr>
                      <a:r>
                        <a:t>31.10.2026</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Директор; заключение юриста</a:t>
                      </a:r>
                    </a:p>
                  </a:txBody>
                  <a:tcPr marL="91440" marR="91440" marT="45720" marB="45720">
                    <a:solidFill>
                      <a:srgbClr val="FFFFFF"/>
                    </a:solidFill>
                  </a:tcPr>
                </a:tc>
              </a:tr>
              <a:tr h="502920">
                <a:tc>
                  <a:txBody>
                    <a:bodyPr/>
                    <a:lstStyle/>
                    <a:p>
                      <a:pPr>
                        <a:spcAft>
                          <a:spcPts val="0"/>
                        </a:spcAft>
                        <a:defRPr sz="1500" b="0">
                          <a:solidFill>
                            <a:srgbClr val="092A20"/>
                          </a:solidFill>
                          <a:latin typeface="Arial"/>
                        </a:defRPr>
                      </a:pPr>
                      <a:r>
                        <a:t>20 интервью; заявки: 6 000 / 4 000</a:t>
                      </a:r>
                    </a:p>
                  </a:txBody>
                  <a:tcPr marL="91440" marR="91440" marT="45720" marB="45720">
                    <a:solidFill>
                      <a:srgbClr val="EFF4EF"/>
                    </a:solidFill>
                  </a:tcPr>
                </a:tc>
                <a:tc>
                  <a:txBody>
                    <a:bodyPr/>
                    <a:lstStyle/>
                    <a:p>
                      <a:pPr>
                        <a:spcAft>
                          <a:spcPts val="0"/>
                        </a:spcAft>
                        <a:defRPr sz="1500" b="0">
                          <a:solidFill>
                            <a:srgbClr val="092A20"/>
                          </a:solidFill>
                          <a:latin typeface="Arial"/>
                        </a:defRPr>
                      </a:pPr>
                      <a:r>
                        <a:t>30.11.2026</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Директор; реестр заявок</a:t>
                      </a:r>
                    </a:p>
                  </a:txBody>
                  <a:tcPr marL="91440" marR="91440" marT="45720" marB="45720">
                    <a:solidFill>
                      <a:srgbClr val="EFF4EF"/>
                    </a:solidFill>
                  </a:tcPr>
                </a:tc>
              </a:tr>
              <a:tr h="502920">
                <a:tc>
                  <a:txBody>
                    <a:bodyPr/>
                    <a:lstStyle/>
                    <a:p>
                      <a:pPr>
                        <a:spcAft>
                          <a:spcPts val="0"/>
                        </a:spcAft>
                        <a:defRPr sz="1500" b="0">
                          <a:solidFill>
                            <a:srgbClr val="092A20"/>
                          </a:solidFill>
                          <a:latin typeface="Arial"/>
                        </a:defRPr>
                      </a:pPr>
                      <a:r>
                        <a:t>10 клиентов; договоры: 6 000 / 4 000</a:t>
                      </a:r>
                    </a:p>
                  </a:txBody>
                  <a:tcPr marL="91440" marR="91440" marT="45720" marB="45720">
                    <a:solidFill>
                      <a:srgbClr val="FFFFFF"/>
                    </a:solidFill>
                  </a:tcPr>
                </a:tc>
                <a:tc>
                  <a:txBody>
                    <a:bodyPr/>
                    <a:lstStyle/>
                    <a:p>
                      <a:pPr>
                        <a:spcAft>
                          <a:spcPts val="0"/>
                        </a:spcAft>
                        <a:defRPr sz="1500" b="0">
                          <a:solidFill>
                            <a:srgbClr val="092A20"/>
                          </a:solidFill>
                          <a:latin typeface="Arial"/>
                        </a:defRPr>
                      </a:pPr>
                      <a:r>
                        <a:t>11.04.2027</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Директор; договоры и календарь</a:t>
                      </a:r>
                    </a:p>
                  </a:txBody>
                  <a:tcPr marL="91440" marR="91440" marT="45720" marB="45720">
                    <a:solidFill>
                      <a:srgbClr val="FFFFFF"/>
                    </a:solidFill>
                  </a:tcPr>
                </a:tc>
              </a:tr>
              <a:tr h="502920">
                <a:tc>
                  <a:txBody>
                    <a:bodyPr/>
                    <a:lstStyle/>
                    <a:p>
                      <a:pPr>
                        <a:spcAft>
                          <a:spcPts val="0"/>
                        </a:spcAft>
                        <a:defRPr sz="1500" b="0">
                          <a:solidFill>
                            <a:srgbClr val="092A20"/>
                          </a:solidFill>
                          <a:latin typeface="Arial"/>
                        </a:defRPr>
                      </a:pPr>
                      <a:r>
                        <a:t>3 аппарата; 2 оператора; пилот 100 га</a:t>
                      </a:r>
                    </a:p>
                  </a:txBody>
                  <a:tcPr marL="91440" marR="91440" marT="45720" marB="45720">
                    <a:solidFill>
                      <a:srgbClr val="EFF4EF"/>
                    </a:solidFill>
                  </a:tcPr>
                </a:tc>
                <a:tc>
                  <a:txBody>
                    <a:bodyPr/>
                    <a:lstStyle/>
                    <a:p>
                      <a:pPr>
                        <a:spcAft>
                          <a:spcPts val="0"/>
                        </a:spcAft>
                        <a:defRPr sz="1500" b="0">
                          <a:solidFill>
                            <a:srgbClr val="092A20"/>
                          </a:solidFill>
                          <a:latin typeface="Arial"/>
                        </a:defRPr>
                      </a:pPr>
                      <a:r>
                        <a:t>30.04.2027</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Опер. руководитель; акты и допуски</a:t>
                      </a:r>
                    </a:p>
                  </a:txBody>
                  <a:tcPr marL="91440" marR="91440" marT="45720" marB="45720">
                    <a:solidFill>
                      <a:srgbClr val="EFF4EF"/>
                    </a:solidFill>
                  </a:tcPr>
                </a:tc>
              </a:tr>
              <a:tr h="502920">
                <a:tc>
                  <a:txBody>
                    <a:bodyPr/>
                    <a:lstStyle/>
                    <a:p>
                      <a:pPr>
                        <a:spcAft>
                          <a:spcPts val="0"/>
                        </a:spcAft>
                        <a:defRPr sz="1500" b="0">
                          <a:solidFill>
                            <a:srgbClr val="092A20"/>
                          </a:solidFill>
                          <a:latin typeface="Arial"/>
                        </a:defRPr>
                      </a:pPr>
                      <a:r>
                        <a:t>6 000 / 4 000; выручка 8,8 млн ₽</a:t>
                      </a:r>
                    </a:p>
                  </a:txBody>
                  <a:tcPr marL="91440" marR="91440" marT="45720" marB="45720">
                    <a:solidFill>
                      <a:srgbClr val="FFFFFF"/>
                    </a:solidFill>
                  </a:tcPr>
                </a:tc>
                <a:tc>
                  <a:txBody>
                    <a:bodyPr/>
                    <a:lstStyle/>
                    <a:p>
                      <a:pPr>
                        <a:spcAft>
                          <a:spcPts val="0"/>
                        </a:spcAft>
                        <a:defRPr sz="1500" b="0">
                          <a:solidFill>
                            <a:srgbClr val="092A20"/>
                          </a:solidFill>
                          <a:latin typeface="Arial"/>
                        </a:defRPr>
                      </a:pPr>
                      <a:r>
                        <a:t>12.09.2027</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Директор; акты и учет</a:t>
                      </a:r>
                    </a:p>
                  </a:txBody>
                  <a:tcPr marL="91440" marR="91440" marT="45720" marB="45720">
                    <a:solidFill>
                      <a:srgbClr val="FFFFFF"/>
                    </a:solidFill>
                  </a:tcPr>
                </a:tc>
              </a:tr>
              <a:tr h="502920">
                <a:tc>
                  <a:txBody>
                    <a:bodyPr/>
                    <a:lstStyle/>
                    <a:p>
                      <a:pPr>
                        <a:spcAft>
                          <a:spcPts val="0"/>
                        </a:spcAft>
                        <a:defRPr sz="1500" b="0">
                          <a:solidFill>
                            <a:srgbClr val="092A20"/>
                          </a:solidFill>
                          <a:latin typeface="Arial"/>
                        </a:defRPr>
                      </a:pPr>
                      <a:r>
                        <a:t>2 оператора: обучение и наставник</a:t>
                      </a:r>
                    </a:p>
                  </a:txBody>
                  <a:tcPr marL="91440" marR="91440" marT="45720" marB="45720">
                    <a:solidFill>
                      <a:srgbClr val="EFF4EF"/>
                    </a:solidFill>
                  </a:tcPr>
                </a:tc>
                <a:tc>
                  <a:txBody>
                    <a:bodyPr/>
                    <a:lstStyle/>
                    <a:p>
                      <a:pPr>
                        <a:spcAft>
                          <a:spcPts val="0"/>
                        </a:spcAft>
                        <a:defRPr sz="1500" b="0">
                          <a:solidFill>
                            <a:srgbClr val="092A20"/>
                          </a:solidFill>
                          <a:latin typeface="Arial"/>
                        </a:defRPr>
                      </a:pPr>
                      <a:r>
                        <a:t>11.04.2027; контроль 12.07.2027</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Опер. руководитель; протоколы</a:t>
                      </a:r>
                    </a:p>
                  </a:txBody>
                  <a:tcPr marL="91440" marR="91440" marT="45720" marB="45720">
                    <a:solidFill>
                      <a:srgbClr val="EFF4EF"/>
                    </a:solidFill>
                  </a:tcPr>
                </a:tc>
              </a:tr>
            </a:tbl>
          </a:graphicData>
        </a:graphic>
      </p:graphicFrame>
      <p:sp>
        <p:nvSpPr>
          <p:cNvPr id="8" name="Rounded Rectangle 7"/>
          <p:cNvSpPr/>
          <p:nvPr/>
        </p:nvSpPr>
        <p:spPr>
          <a:xfrm>
            <a:off x="502920" y="5715000"/>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97296"/>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Коммерческие цели не отменяют право остановить небезопасное задание</a:t>
            </a:r>
          </a:p>
        </p:txBody>
      </p:sp>
      <p:sp>
        <p:nvSpPr>
          <p:cNvPr id="10" name="TextBox 9"/>
          <p:cNvSpPr txBox="1"/>
          <p:nvPr/>
        </p:nvSpPr>
        <p:spPr>
          <a:xfrm>
            <a:off x="594360" y="5321808"/>
            <a:ext cx="10972800" cy="329184"/>
          </a:xfrm>
          <a:prstGeom prst="rect">
            <a:avLst/>
          </a:prstGeom>
          <a:noFill/>
        </p:spPr>
        <p:txBody>
          <a:bodyPr wrap="square" lIns="13716" rIns="13716" tIns="0" bIns="0">
            <a:spAutoFit/>
          </a:bodyPr>
          <a:lstStyle/>
          <a:p>
            <a:pPr>
              <a:spcBef>
                <a:spcPts val="0"/>
              </a:spcBef>
              <a:spcAft>
                <a:spcPts val="500"/>
              </a:spcAft>
              <a:defRPr sz="1500" b="0">
                <a:solidFill>
                  <a:srgbClr val="AFC5B8"/>
                </a:solidFill>
                <a:latin typeface="Arial"/>
              </a:defRPr>
            </a:pPr>
            <a:r>
              <a:t>Объемы: га-проходы внесения / га-обследования. Это разные операции, не сумма площади.</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Описание продукта и стратегическая канва</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Качественная стратегическая канва: цель проекта и публичные предложения конкурентов</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03 / 22</a:t>
            </a:r>
          </a:p>
        </p:txBody>
      </p:sp>
      <p:sp>
        <p:nvSpPr>
          <p:cNvPr id="7" name="TextBox 6"/>
          <p:cNvSpPr txBox="1"/>
          <p:nvPr/>
        </p:nvSpPr>
        <p:spPr>
          <a:xfrm>
            <a:off x="594360" y="1664208"/>
            <a:ext cx="10972800" cy="457200"/>
          </a:xfrm>
          <a:prstGeom prst="rect">
            <a:avLst/>
          </a:prstGeom>
          <a:noFill/>
        </p:spPr>
        <p:txBody>
          <a:bodyPr wrap="square" lIns="13716" rIns="13716" tIns="0" bIns="0">
            <a:spAutoFit/>
          </a:bodyPr>
          <a:lstStyle/>
          <a:p>
            <a:pPr>
              <a:spcBef>
                <a:spcPts val="0"/>
              </a:spcBef>
              <a:spcAft>
                <a:spcPts val="500"/>
              </a:spcAft>
              <a:defRPr sz="2300" b="1">
                <a:solidFill>
                  <a:srgbClr val="FFFFFF"/>
                </a:solidFill>
                <a:latin typeface="Arial"/>
              </a:defRPr>
            </a:pPr>
            <a:r>
              <a:t>Обследование, карта задания, внесение, отчет</a:t>
            </a:r>
          </a:p>
        </p:txBody>
      </p:sp>
      <p:graphicFrame>
        <p:nvGraphicFramePr>
          <p:cNvPr id="8" name="Table 7"/>
          <p:cNvGraphicFramePr>
            <a:graphicFrameLocks noGrp="1"/>
          </p:cNvGraphicFramePr>
          <p:nvPr/>
        </p:nvGraphicFramePr>
        <p:xfrm>
          <a:off x="502920" y="2194560"/>
          <a:ext cx="11183112" cy="3246120"/>
        </p:xfrm>
        <a:graphic>
          <a:graphicData uri="http://schemas.openxmlformats.org/drawingml/2006/table">
            <a:tbl>
              <a:tblPr firstRow="1" bandRow="1">
                <a:tableStyleId>{5C22544A-7EE6-4342-B048-85BDC9FD1C3A}</a:tableStyleId>
              </a:tblPr>
              <a:tblGrid>
                <a:gridCol w="2103120"/>
                <a:gridCol w="2267712"/>
                <a:gridCol w="2267712"/>
                <a:gridCol w="2276856"/>
                <a:gridCol w="2267712"/>
              </a:tblGrid>
              <a:tr h="541020">
                <a:tc>
                  <a:txBody>
                    <a:bodyPr/>
                    <a:lstStyle/>
                    <a:p>
                      <a:pPr>
                        <a:spcAft>
                          <a:spcPts val="0"/>
                        </a:spcAft>
                        <a:defRPr sz="1500" b="1">
                          <a:solidFill>
                            <a:srgbClr val="FFFFFF"/>
                          </a:solidFill>
                          <a:latin typeface="Arial"/>
                        </a:defRPr>
                      </a:pPr>
                      <a:r>
                        <a:t>Фактор выбора клиента</a:t>
                      </a:r>
                    </a:p>
                  </a:txBody>
                  <a:tcPr marL="91440" marR="91440" marT="45720" marB="45720">
                    <a:solidFill>
                      <a:srgbClr val="164C38"/>
                    </a:solidFill>
                  </a:tcPr>
                </a:tc>
                <a:tc>
                  <a:txBody>
                    <a:bodyPr/>
                    <a:lstStyle/>
                    <a:p>
                      <a:pPr>
                        <a:spcAft>
                          <a:spcPts val="0"/>
                        </a:spcAft>
                        <a:defRPr sz="1500" b="1">
                          <a:solidFill>
                            <a:srgbClr val="FFFFFF"/>
                          </a:solidFill>
                          <a:latin typeface="Arial"/>
                        </a:defRPr>
                      </a:pPr>
                      <a:r>
                        <a:t>АгроВектор: цель</a:t>
                      </a:r>
                    </a:p>
                  </a:txBody>
                  <a:tcPr marL="91440" marR="91440" marT="45720" marB="45720">
                    <a:solidFill>
                      <a:srgbClr val="164C38"/>
                    </a:solidFill>
                  </a:tcPr>
                </a:tc>
                <a:tc>
                  <a:txBody>
                    <a:bodyPr/>
                    <a:lstStyle/>
                    <a:p>
                      <a:pPr>
                        <a:spcAft>
                          <a:spcPts val="0"/>
                        </a:spcAft>
                        <a:defRPr sz="1500" b="1">
                          <a:solidFill>
                            <a:srgbClr val="FFFFFF"/>
                          </a:solidFill>
                          <a:latin typeface="Arial"/>
                        </a:defRPr>
                      </a:pPr>
                      <a:r>
                        <a:t>Агропрофи / XAG</a:t>
                      </a:r>
                    </a:p>
                  </a:txBody>
                  <a:tcPr marL="91440" marR="91440" marT="45720" marB="45720">
                    <a:solidFill>
                      <a:srgbClr val="164C38"/>
                    </a:solidFill>
                  </a:tcPr>
                </a:tc>
                <a:tc>
                  <a:txBody>
                    <a:bodyPr/>
                    <a:lstStyle/>
                    <a:p>
                      <a:pPr>
                        <a:spcAft>
                          <a:spcPts val="0"/>
                        </a:spcAft>
                        <a:defRPr sz="1500" b="1">
                          <a:solidFill>
                            <a:srgbClr val="FFFFFF"/>
                          </a:solidFill>
                          <a:latin typeface="Arial"/>
                        </a:defRPr>
                      </a:pPr>
                      <a:r>
                        <a:t>Агродроны ЮФО</a:t>
                      </a:r>
                    </a:p>
                  </a:txBody>
                  <a:tcPr marL="91440" marR="91440" marT="45720" marB="45720">
                    <a:solidFill>
                      <a:srgbClr val="164C38"/>
                    </a:solidFill>
                  </a:tcPr>
                </a:tc>
                <a:tc>
                  <a:txBody>
                    <a:bodyPr/>
                    <a:lstStyle/>
                    <a:p>
                      <a:pPr>
                        <a:spcAft>
                          <a:spcPts val="0"/>
                        </a:spcAft>
                        <a:defRPr sz="1500" b="1">
                          <a:solidFill>
                            <a:srgbClr val="FFFFFF"/>
                          </a:solidFill>
                          <a:latin typeface="Arial"/>
                        </a:defRPr>
                      </a:pPr>
                      <a:r>
                        <a:t>Гермес</a:t>
                      </a:r>
                    </a:p>
                  </a:txBody>
                  <a:tcPr marL="91440" marR="91440" marT="45720" marB="45720">
                    <a:solidFill>
                      <a:srgbClr val="164C38"/>
                    </a:solidFill>
                  </a:tcPr>
                </a:tc>
              </a:tr>
              <a:tr h="541020">
                <a:tc>
                  <a:txBody>
                    <a:bodyPr/>
                    <a:lstStyle/>
                    <a:p>
                      <a:pPr>
                        <a:spcAft>
                          <a:spcPts val="0"/>
                        </a:spcAft>
                        <a:defRPr sz="1500" b="0">
                          <a:solidFill>
                            <a:srgbClr val="092A20"/>
                          </a:solidFill>
                          <a:latin typeface="Arial"/>
                        </a:defRPr>
                      </a:pPr>
                      <a:r>
                        <a:t>Цена внесения, руб./га</a:t>
                      </a:r>
                    </a:p>
                  </a:txBody>
                  <a:tcPr marL="91440" marR="91440" marT="45720" marB="45720">
                    <a:solidFill>
                      <a:srgbClr val="FFFFFF"/>
                    </a:solidFill>
                  </a:tcPr>
                </a:tc>
                <a:tc>
                  <a:txBody>
                    <a:bodyPr/>
                    <a:lstStyle/>
                    <a:p>
                      <a:pPr>
                        <a:spcAft>
                          <a:spcPts val="0"/>
                        </a:spcAft>
                        <a:defRPr sz="1500" b="0">
                          <a:solidFill>
                            <a:srgbClr val="092A20"/>
                          </a:solidFill>
                          <a:latin typeface="Arial"/>
                        </a:defRPr>
                      </a:pPr>
                      <a:r>
                        <a:t>1 300 без НДС</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По запросу</a:t>
                      </a:r>
                    </a:p>
                  </a:txBody>
                  <a:tcPr marL="91440" marR="91440" marT="45720" marB="45720">
                    <a:solidFill>
                      <a:srgbClr val="FFFFFF"/>
                    </a:solidFill>
                  </a:tcPr>
                </a:tc>
                <a:tc>
                  <a:txBody>
                    <a:bodyPr/>
                    <a:lstStyle/>
                    <a:p>
                      <a:pPr>
                        <a:spcAft>
                          <a:spcPts val="0"/>
                        </a:spcAft>
                        <a:defRPr sz="1500" b="0">
                          <a:solidFill>
                            <a:srgbClr val="092A20"/>
                          </a:solidFill>
                          <a:latin typeface="Arial"/>
                        </a:defRPr>
                      </a:pPr>
                      <a:r>
                        <a:t>900, средняя; состав уточняется</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По запросу</a:t>
                      </a:r>
                    </a:p>
                  </a:txBody>
                  <a:tcPr marL="91440" marR="91440" marT="45720" marB="45720">
                    <a:solidFill>
                      <a:srgbClr val="FFFFFF"/>
                    </a:solidFill>
                  </a:tcPr>
                </a:tc>
              </a:tr>
              <a:tr h="541020">
                <a:tc>
                  <a:txBody>
                    <a:bodyPr/>
                    <a:lstStyle/>
                    <a:p>
                      <a:pPr>
                        <a:spcAft>
                          <a:spcPts val="0"/>
                        </a:spcAft>
                        <a:defRPr sz="1500" b="0">
                          <a:solidFill>
                            <a:srgbClr val="092A20"/>
                          </a:solidFill>
                          <a:latin typeface="Arial"/>
                        </a:defRPr>
                      </a:pPr>
                      <a:r>
                        <a:t>Мониторинг + внесение</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Один договор, план</a:t>
                      </a:r>
                    </a:p>
                  </a:txBody>
                  <a:tcPr marL="91440" marR="91440" marT="45720" marB="45720">
                    <a:solidFill>
                      <a:srgbClr val="EFF4EF"/>
                    </a:solidFill>
                  </a:tcPr>
                </a:tc>
                <a:tc>
                  <a:txBody>
                    <a:bodyPr/>
                    <a:lstStyle/>
                    <a:p>
                      <a:pPr>
                        <a:spcAft>
                          <a:spcPts val="0"/>
                        </a:spcAft>
                        <a:defRPr sz="1500" b="0">
                          <a:solidFill>
                            <a:srgbClr val="092A20"/>
                          </a:solidFill>
                          <a:latin typeface="Arial"/>
                        </a:defRPr>
                      </a:pPr>
                      <a:r>
                        <a:t>Состав пакета уточняется</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Мониторинг не подтвержден</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Оба направления заявлены</a:t>
                      </a:r>
                    </a:p>
                  </a:txBody>
                  <a:tcPr marL="91440" marR="91440" marT="45720" marB="45720">
                    <a:solidFill>
                      <a:srgbClr val="EFF4EF"/>
                    </a:solidFill>
                  </a:tcPr>
                </a:tc>
              </a:tr>
              <a:tr h="541020">
                <a:tc>
                  <a:txBody>
                    <a:bodyPr/>
                    <a:lstStyle/>
                    <a:p>
                      <a:pPr>
                        <a:spcAft>
                          <a:spcPts val="0"/>
                        </a:spcAft>
                        <a:defRPr sz="1500" b="0">
                          <a:solidFill>
                            <a:srgbClr val="092A20"/>
                          </a:solidFill>
                          <a:latin typeface="Arial"/>
                        </a:defRPr>
                      </a:pPr>
                      <a:r>
                        <a:t>Локальная доступность</a:t>
                      </a:r>
                    </a:p>
                  </a:txBody>
                  <a:tcPr marL="91440" marR="91440" marT="45720" marB="45720">
                    <a:solidFill>
                      <a:srgbClr val="FFFFFF"/>
                    </a:solidFill>
                  </a:tcPr>
                </a:tc>
                <a:tc>
                  <a:txBody>
                    <a:bodyPr/>
                    <a:lstStyle/>
                    <a:p>
                      <a:pPr>
                        <a:spcAft>
                          <a:spcPts val="0"/>
                        </a:spcAft>
                        <a:defRPr sz="1500" b="0">
                          <a:solidFill>
                            <a:srgbClr val="092A20"/>
                          </a:solidFill>
                          <a:latin typeface="Arial"/>
                        </a:defRPr>
                      </a:pPr>
                      <a:r>
                        <a:t>Татарстан, до 150 км; условно</a:t>
                      </a:r>
                    </a:p>
                  </a:txBody>
                  <a:tcPr marL="91440" marR="91440" marT="45720" marB="45720">
                    <a:solidFill>
                      <a:srgbClr val="FFFFFF"/>
                    </a:solidFill>
                  </a:tcPr>
                </a:tc>
                <a:tc>
                  <a:txBody>
                    <a:bodyPr/>
                    <a:lstStyle/>
                    <a:p>
                      <a:pPr>
                        <a:spcAft>
                          <a:spcPts val="0"/>
                        </a:spcAft>
                        <a:defRPr sz="1500" b="0">
                          <a:solidFill>
                            <a:srgbClr val="092A20"/>
                          </a:solidFill>
                          <a:latin typeface="Arial"/>
                        </a:defRPr>
                      </a:pPr>
                      <a:r>
                        <a:t>Татарстан заявлен</a:t>
                      </a:r>
                    </a:p>
                  </a:txBody>
                  <a:tcPr marL="91440" marR="91440" marT="45720" marB="45720">
                    <a:solidFill>
                      <a:srgbClr val="FFFFFF"/>
                    </a:solidFill>
                  </a:tcPr>
                </a:tc>
                <a:tc>
                  <a:txBody>
                    <a:bodyPr/>
                    <a:lstStyle/>
                    <a:p>
                      <a:pPr>
                        <a:spcAft>
                          <a:spcPts val="0"/>
                        </a:spcAft>
                        <a:defRPr sz="1500" b="0">
                          <a:solidFill>
                            <a:srgbClr val="092A20"/>
                          </a:solidFill>
                          <a:latin typeface="Arial"/>
                        </a:defRPr>
                      </a:pPr>
                      <a:r>
                        <a:t>ЮФО</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Краснодар / Адыгея</a:t>
                      </a:r>
                    </a:p>
                  </a:txBody>
                  <a:tcPr marL="91440" marR="91440" marT="45720" marB="45720">
                    <a:solidFill>
                      <a:srgbClr val="FFFFFF"/>
                    </a:solidFill>
                  </a:tcPr>
                </a:tc>
              </a:tr>
              <a:tr h="541020">
                <a:tc>
                  <a:txBody>
                    <a:bodyPr/>
                    <a:lstStyle/>
                    <a:p>
                      <a:pPr>
                        <a:spcAft>
                          <a:spcPts val="0"/>
                        </a:spcAft>
                        <a:defRPr sz="1500" b="0">
                          <a:solidFill>
                            <a:srgbClr val="092A20"/>
                          </a:solidFill>
                          <a:latin typeface="Arial"/>
                        </a:defRPr>
                      </a:pPr>
                      <a:r>
                        <a:t>Минимальный маршрут</a:t>
                      </a:r>
                    </a:p>
                  </a:txBody>
                  <a:tcPr marL="91440" marR="91440" marT="45720" marB="45720">
                    <a:solidFill>
                      <a:srgbClr val="EFF4EF"/>
                    </a:solidFill>
                  </a:tcPr>
                </a:tc>
                <a:tc>
                  <a:txBody>
                    <a:bodyPr/>
                    <a:lstStyle/>
                    <a:p>
                      <a:pPr>
                        <a:spcAft>
                          <a:spcPts val="0"/>
                        </a:spcAft>
                        <a:defRPr sz="1500" b="0">
                          <a:solidFill>
                            <a:srgbClr val="092A20"/>
                          </a:solidFill>
                          <a:latin typeface="Arial"/>
                        </a:defRPr>
                      </a:pPr>
                      <a:r>
                        <a:t>100 га-проходов, план</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Не раскрыт</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Не раскрыт</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Не раскрыт</a:t>
                      </a:r>
                    </a:p>
                  </a:txBody>
                  <a:tcPr marL="91440" marR="91440" marT="45720" marB="45720">
                    <a:solidFill>
                      <a:srgbClr val="EFF4EF"/>
                    </a:solidFill>
                  </a:tcPr>
                </a:tc>
              </a:tr>
              <a:tr h="541020">
                <a:tc>
                  <a:txBody>
                    <a:bodyPr/>
                    <a:lstStyle/>
                    <a:p>
                      <a:pPr>
                        <a:spcAft>
                          <a:spcPts val="0"/>
                        </a:spcAft>
                        <a:defRPr sz="1500" b="0">
                          <a:solidFill>
                            <a:srgbClr val="092A20"/>
                          </a:solidFill>
                          <a:latin typeface="Arial"/>
                        </a:defRPr>
                      </a:pPr>
                      <a:r>
                        <a:t>Срок отчета</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Не более 48 часов, цель</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Не раскрыт</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Акты заявлены; срок не раскрыт</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Не раскрыт</a:t>
                      </a:r>
                    </a:p>
                  </a:txBody>
                  <a:tcPr marL="91440" marR="91440" marT="45720" marB="45720">
                    <a:solidFill>
                      <a:srgbClr val="FFFFFF"/>
                    </a:solidFill>
                  </a:tcPr>
                </a:tc>
              </a:tr>
            </a:tbl>
          </a:graphicData>
        </a:graphic>
      </p:graphicFrame>
      <p:sp>
        <p:nvSpPr>
          <p:cNvPr id="9" name="Rounded Rectangle 8"/>
          <p:cNvSpPr/>
          <p:nvPr/>
        </p:nvSpPr>
        <p:spPr>
          <a:xfrm>
            <a:off x="502920" y="5513832"/>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5596128"/>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Цель проекта — не достигнутое преимущество. Нераскрытая характеристика — не недостаток</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Business Model Canvas</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04 / 22</a:t>
            </a:r>
          </a:p>
        </p:txBody>
      </p:sp>
      <p:sp>
        <p:nvSpPr>
          <p:cNvPr id="7" name="Rounded Rectangle 6"/>
          <p:cNvSpPr/>
          <p:nvPr/>
        </p:nvSpPr>
        <p:spPr>
          <a:xfrm>
            <a:off x="502920" y="1691640"/>
            <a:ext cx="3593592" cy="1234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 y="1819656"/>
            <a:ext cx="3264408" cy="320040"/>
          </a:xfrm>
          <a:prstGeom prst="rect">
            <a:avLst/>
          </a:prstGeom>
          <a:noFill/>
        </p:spPr>
        <p:txBody>
          <a:bodyPr wrap="square" lIns="13716" rIns="13716" tIns="0" bIns="0">
            <a:spAutoFit/>
          </a:bodyPr>
          <a:lstStyle/>
          <a:p>
            <a:pPr>
              <a:spcBef>
                <a:spcPts val="0"/>
              </a:spcBef>
              <a:spcAft>
                <a:spcPts val="500"/>
              </a:spcAft>
              <a:defRPr sz="1900" b="1">
                <a:solidFill>
                  <a:srgbClr val="164C38"/>
                </a:solidFill>
                <a:latin typeface="Arial"/>
              </a:defRPr>
            </a:pPr>
            <a:r>
              <a:t>1 / Сегменты</a:t>
            </a:r>
          </a:p>
        </p:txBody>
      </p:sp>
      <p:sp>
        <p:nvSpPr>
          <p:cNvPr id="9" name="TextBox 8"/>
          <p:cNvSpPr txBox="1"/>
          <p:nvPr/>
        </p:nvSpPr>
        <p:spPr>
          <a:xfrm>
            <a:off x="667512" y="2221992"/>
            <a:ext cx="3264408" cy="621792"/>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КФХ и средние хозяйства; локальные сложные участки</a:t>
            </a:r>
          </a:p>
        </p:txBody>
      </p:sp>
      <p:sp>
        <p:nvSpPr>
          <p:cNvPr id="10" name="Rounded Rectangle 9"/>
          <p:cNvSpPr/>
          <p:nvPr/>
        </p:nvSpPr>
        <p:spPr>
          <a:xfrm>
            <a:off x="4297680" y="1691640"/>
            <a:ext cx="3593592" cy="1234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62272" y="1819656"/>
            <a:ext cx="3264408" cy="320040"/>
          </a:xfrm>
          <a:prstGeom prst="rect">
            <a:avLst/>
          </a:prstGeom>
          <a:noFill/>
        </p:spPr>
        <p:txBody>
          <a:bodyPr wrap="square" lIns="13716" rIns="13716" tIns="0" bIns="0">
            <a:spAutoFit/>
          </a:bodyPr>
          <a:lstStyle/>
          <a:p>
            <a:pPr>
              <a:spcBef>
                <a:spcPts val="0"/>
              </a:spcBef>
              <a:spcAft>
                <a:spcPts val="500"/>
              </a:spcAft>
              <a:defRPr sz="1900" b="1">
                <a:solidFill>
                  <a:srgbClr val="164C38"/>
                </a:solidFill>
                <a:latin typeface="Arial"/>
              </a:defRPr>
            </a:pPr>
            <a:r>
              <a:t>2 / Ценность</a:t>
            </a:r>
          </a:p>
        </p:txBody>
      </p:sp>
      <p:sp>
        <p:nvSpPr>
          <p:cNvPr id="12" name="TextBox 11"/>
          <p:cNvSpPr txBox="1"/>
          <p:nvPr/>
        </p:nvSpPr>
        <p:spPr>
          <a:xfrm>
            <a:off x="4462272" y="2221992"/>
            <a:ext cx="3264408" cy="621792"/>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Обследование, карта задания, внесение и отчет</a:t>
            </a:r>
          </a:p>
        </p:txBody>
      </p:sp>
      <p:sp>
        <p:nvSpPr>
          <p:cNvPr id="13" name="Rounded Rectangle 12"/>
          <p:cNvSpPr/>
          <p:nvPr/>
        </p:nvSpPr>
        <p:spPr>
          <a:xfrm>
            <a:off x="8092440" y="1691640"/>
            <a:ext cx="3593592" cy="1234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57032" y="1819656"/>
            <a:ext cx="3264408" cy="320040"/>
          </a:xfrm>
          <a:prstGeom prst="rect">
            <a:avLst/>
          </a:prstGeom>
          <a:noFill/>
        </p:spPr>
        <p:txBody>
          <a:bodyPr wrap="square" lIns="13716" rIns="13716" tIns="0" bIns="0">
            <a:spAutoFit/>
          </a:bodyPr>
          <a:lstStyle/>
          <a:p>
            <a:pPr>
              <a:spcBef>
                <a:spcPts val="0"/>
              </a:spcBef>
              <a:spcAft>
                <a:spcPts val="500"/>
              </a:spcAft>
              <a:defRPr sz="1900" b="1">
                <a:solidFill>
                  <a:srgbClr val="164C38"/>
                </a:solidFill>
                <a:latin typeface="Arial"/>
              </a:defRPr>
            </a:pPr>
            <a:r>
              <a:t>3 / Каналы</a:t>
            </a:r>
          </a:p>
        </p:txBody>
      </p:sp>
      <p:sp>
        <p:nvSpPr>
          <p:cNvPr id="15" name="TextBox 14"/>
          <p:cNvSpPr txBox="1"/>
          <p:nvPr/>
        </p:nvSpPr>
        <p:spPr>
          <a:xfrm>
            <a:off x="8257032" y="2221992"/>
            <a:ext cx="3264408" cy="621792"/>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Директор; агрономы; демонстрации; рекомендации</a:t>
            </a:r>
          </a:p>
        </p:txBody>
      </p:sp>
      <p:sp>
        <p:nvSpPr>
          <p:cNvPr id="16" name="Rounded Rectangle 15"/>
          <p:cNvSpPr/>
          <p:nvPr/>
        </p:nvSpPr>
        <p:spPr>
          <a:xfrm>
            <a:off x="502920" y="3072384"/>
            <a:ext cx="3593592" cy="1234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3200400"/>
            <a:ext cx="3264408" cy="320040"/>
          </a:xfrm>
          <a:prstGeom prst="rect">
            <a:avLst/>
          </a:prstGeom>
          <a:noFill/>
        </p:spPr>
        <p:txBody>
          <a:bodyPr wrap="square" lIns="13716" rIns="13716" tIns="0" bIns="0">
            <a:spAutoFit/>
          </a:bodyPr>
          <a:lstStyle/>
          <a:p>
            <a:pPr>
              <a:spcBef>
                <a:spcPts val="0"/>
              </a:spcBef>
              <a:spcAft>
                <a:spcPts val="500"/>
              </a:spcAft>
              <a:defRPr sz="1900" b="1">
                <a:solidFill>
                  <a:srgbClr val="164C38"/>
                </a:solidFill>
                <a:latin typeface="Arial"/>
              </a:defRPr>
            </a:pPr>
            <a:r>
              <a:t>4 / Отношения</a:t>
            </a:r>
          </a:p>
        </p:txBody>
      </p:sp>
      <p:sp>
        <p:nvSpPr>
          <p:cNvPr id="18" name="TextBox 17"/>
          <p:cNvSpPr txBox="1"/>
          <p:nvPr/>
        </p:nvSpPr>
        <p:spPr>
          <a:xfrm>
            <a:off x="667512" y="3602736"/>
            <a:ext cx="3264408" cy="621792"/>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Один контакт; календарь сезона; разбор отклонений</a:t>
            </a:r>
          </a:p>
        </p:txBody>
      </p:sp>
      <p:sp>
        <p:nvSpPr>
          <p:cNvPr id="19" name="Rounded Rectangle 18"/>
          <p:cNvSpPr/>
          <p:nvPr/>
        </p:nvSpPr>
        <p:spPr>
          <a:xfrm>
            <a:off x="4297680" y="3072384"/>
            <a:ext cx="3593592" cy="1234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62272" y="3200400"/>
            <a:ext cx="3264408" cy="320040"/>
          </a:xfrm>
          <a:prstGeom prst="rect">
            <a:avLst/>
          </a:prstGeom>
          <a:noFill/>
        </p:spPr>
        <p:txBody>
          <a:bodyPr wrap="square" lIns="13716" rIns="13716" tIns="0" bIns="0">
            <a:spAutoFit/>
          </a:bodyPr>
          <a:lstStyle/>
          <a:p>
            <a:pPr>
              <a:spcBef>
                <a:spcPts val="0"/>
              </a:spcBef>
              <a:spcAft>
                <a:spcPts val="500"/>
              </a:spcAft>
              <a:defRPr sz="1900" b="1">
                <a:solidFill>
                  <a:srgbClr val="164C38"/>
                </a:solidFill>
                <a:latin typeface="Arial"/>
              </a:defRPr>
            </a:pPr>
            <a:r>
              <a:t>5 / Доходы</a:t>
            </a:r>
          </a:p>
        </p:txBody>
      </p:sp>
      <p:sp>
        <p:nvSpPr>
          <p:cNvPr id="21" name="TextBox 20"/>
          <p:cNvSpPr txBox="1"/>
          <p:nvPr/>
        </p:nvSpPr>
        <p:spPr>
          <a:xfrm>
            <a:off x="4462272" y="3602736"/>
            <a:ext cx="3264408" cy="621792"/>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₽/га-проход и ₽/га-обследование; без двойного счета</a:t>
            </a:r>
          </a:p>
        </p:txBody>
      </p:sp>
      <p:sp>
        <p:nvSpPr>
          <p:cNvPr id="22" name="Rounded Rectangle 21"/>
          <p:cNvSpPr/>
          <p:nvPr/>
        </p:nvSpPr>
        <p:spPr>
          <a:xfrm>
            <a:off x="8092440" y="3072384"/>
            <a:ext cx="3593592" cy="1234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57032" y="3200400"/>
            <a:ext cx="3264408" cy="320040"/>
          </a:xfrm>
          <a:prstGeom prst="rect">
            <a:avLst/>
          </a:prstGeom>
          <a:noFill/>
        </p:spPr>
        <p:txBody>
          <a:bodyPr wrap="square" lIns="13716" rIns="13716" tIns="0" bIns="0">
            <a:spAutoFit/>
          </a:bodyPr>
          <a:lstStyle/>
          <a:p>
            <a:pPr>
              <a:spcBef>
                <a:spcPts val="0"/>
              </a:spcBef>
              <a:spcAft>
                <a:spcPts val="500"/>
              </a:spcAft>
              <a:defRPr sz="1900" b="1">
                <a:solidFill>
                  <a:srgbClr val="164C38"/>
                </a:solidFill>
                <a:latin typeface="Arial"/>
              </a:defRPr>
            </a:pPr>
            <a:r>
              <a:t>6 / Ресурсы</a:t>
            </a:r>
          </a:p>
        </p:txBody>
      </p:sp>
      <p:sp>
        <p:nvSpPr>
          <p:cNvPr id="24" name="TextBox 23"/>
          <p:cNvSpPr txBox="1"/>
          <p:nvPr/>
        </p:nvSpPr>
        <p:spPr>
          <a:xfrm>
            <a:off x="8257032" y="3602736"/>
            <a:ext cx="3264408" cy="621792"/>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Бригада; основной и резервный БВС; мониторинг</a:t>
            </a:r>
          </a:p>
        </p:txBody>
      </p:sp>
      <p:sp>
        <p:nvSpPr>
          <p:cNvPr id="25" name="Rounded Rectangle 24"/>
          <p:cNvSpPr/>
          <p:nvPr/>
        </p:nvSpPr>
        <p:spPr>
          <a:xfrm>
            <a:off x="502920" y="4453128"/>
            <a:ext cx="3593592" cy="1234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4581144"/>
            <a:ext cx="3264408" cy="320040"/>
          </a:xfrm>
          <a:prstGeom prst="rect">
            <a:avLst/>
          </a:prstGeom>
          <a:noFill/>
        </p:spPr>
        <p:txBody>
          <a:bodyPr wrap="square" lIns="13716" rIns="13716" tIns="0" bIns="0">
            <a:spAutoFit/>
          </a:bodyPr>
          <a:lstStyle/>
          <a:p>
            <a:pPr>
              <a:spcBef>
                <a:spcPts val="0"/>
              </a:spcBef>
              <a:spcAft>
                <a:spcPts val="500"/>
              </a:spcAft>
              <a:defRPr sz="1900" b="1">
                <a:solidFill>
                  <a:srgbClr val="164C38"/>
                </a:solidFill>
                <a:latin typeface="Arial"/>
              </a:defRPr>
            </a:pPr>
            <a:r>
              <a:t>7 / Действия</a:t>
            </a:r>
          </a:p>
        </p:txBody>
      </p:sp>
      <p:sp>
        <p:nvSpPr>
          <p:cNvPr id="27" name="TextBox 26"/>
          <p:cNvSpPr txBox="1"/>
          <p:nvPr/>
        </p:nvSpPr>
        <p:spPr>
          <a:xfrm>
            <a:off x="667512" y="4983480"/>
            <a:ext cx="3264408" cy="621792"/>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Правовая проверка; выполнение; контроль; сервис</a:t>
            </a:r>
          </a:p>
        </p:txBody>
      </p:sp>
      <p:sp>
        <p:nvSpPr>
          <p:cNvPr id="28" name="Rounded Rectangle 27"/>
          <p:cNvSpPr/>
          <p:nvPr/>
        </p:nvSpPr>
        <p:spPr>
          <a:xfrm>
            <a:off x="4297680" y="4453128"/>
            <a:ext cx="3593592" cy="1234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62272" y="4581144"/>
            <a:ext cx="3264408" cy="320040"/>
          </a:xfrm>
          <a:prstGeom prst="rect">
            <a:avLst/>
          </a:prstGeom>
          <a:noFill/>
        </p:spPr>
        <p:txBody>
          <a:bodyPr wrap="square" lIns="13716" rIns="13716" tIns="0" bIns="0">
            <a:spAutoFit/>
          </a:bodyPr>
          <a:lstStyle/>
          <a:p>
            <a:pPr>
              <a:spcBef>
                <a:spcPts val="0"/>
              </a:spcBef>
              <a:spcAft>
                <a:spcPts val="500"/>
              </a:spcAft>
              <a:defRPr sz="1900" b="1">
                <a:solidFill>
                  <a:srgbClr val="164C38"/>
                </a:solidFill>
                <a:latin typeface="Arial"/>
              </a:defRPr>
            </a:pPr>
            <a:r>
              <a:t>8 / Партнеры</a:t>
            </a:r>
          </a:p>
        </p:txBody>
      </p:sp>
      <p:sp>
        <p:nvSpPr>
          <p:cNvPr id="30" name="TextBox 29"/>
          <p:cNvSpPr txBox="1"/>
          <p:nvPr/>
        </p:nvSpPr>
        <p:spPr>
          <a:xfrm>
            <a:off x="4462272" y="4983480"/>
            <a:ext cx="3264408" cy="621792"/>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Агроном; обучение; сервис; юрист; бухгалтер</a:t>
            </a:r>
          </a:p>
        </p:txBody>
      </p:sp>
      <p:sp>
        <p:nvSpPr>
          <p:cNvPr id="31" name="Rounded Rectangle 30"/>
          <p:cNvSpPr/>
          <p:nvPr/>
        </p:nvSpPr>
        <p:spPr>
          <a:xfrm>
            <a:off x="8092440" y="4453128"/>
            <a:ext cx="3593592" cy="1234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57032" y="4581144"/>
            <a:ext cx="3264408" cy="320040"/>
          </a:xfrm>
          <a:prstGeom prst="rect">
            <a:avLst/>
          </a:prstGeom>
          <a:noFill/>
        </p:spPr>
        <p:txBody>
          <a:bodyPr wrap="square" lIns="13716" rIns="13716" tIns="0" bIns="0">
            <a:spAutoFit/>
          </a:bodyPr>
          <a:lstStyle/>
          <a:p>
            <a:pPr>
              <a:spcBef>
                <a:spcPts val="0"/>
              </a:spcBef>
              <a:spcAft>
                <a:spcPts val="500"/>
              </a:spcAft>
              <a:defRPr sz="1900" b="1">
                <a:solidFill>
                  <a:srgbClr val="164C38"/>
                </a:solidFill>
                <a:latin typeface="Arial"/>
              </a:defRPr>
            </a:pPr>
            <a:r>
              <a:t>9 / Затраты</a:t>
            </a:r>
          </a:p>
        </p:txBody>
      </p:sp>
      <p:sp>
        <p:nvSpPr>
          <p:cNvPr id="33" name="TextBox 32"/>
          <p:cNvSpPr txBox="1"/>
          <p:nvPr/>
        </p:nvSpPr>
        <p:spPr>
          <a:xfrm>
            <a:off x="8257032" y="4983480"/>
            <a:ext cx="3264408" cy="621792"/>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Техника; труд; эксплуатация; услуги; ликвидность</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Маркетинговый план</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[РАСЧЕТ] на [ДОПУЩЕНИЕ]: TAM / SAM / SOM — сценарные, не внешняя статистика</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05 / 22</a:t>
            </a:r>
          </a:p>
        </p:txBody>
      </p:sp>
      <p:sp>
        <p:nvSpPr>
          <p:cNvPr id="7" name="TextBox 6"/>
          <p:cNvSpPr txBox="1"/>
          <p:nvPr/>
        </p:nvSpPr>
        <p:spPr>
          <a:xfrm>
            <a:off x="502920" y="6071616"/>
            <a:ext cx="11155680" cy="402336"/>
          </a:xfrm>
          <a:prstGeom prst="rect">
            <a:avLst/>
          </a:prstGeom>
          <a:noFill/>
        </p:spPr>
        <p:txBody>
          <a:bodyPr wrap="square" lIns="13716" rIns="13716" tIns="0" bIns="0">
            <a:spAutoFit/>
          </a:bodyPr>
          <a:lstStyle/>
          <a:p>
            <a:pPr>
              <a:spcBef>
                <a:spcPts val="0"/>
              </a:spcBef>
              <a:spcAft>
                <a:spcPts val="500"/>
              </a:spcAft>
              <a:defRPr sz="900" b="0">
                <a:solidFill>
                  <a:srgbClr val="AFC5B8"/>
                </a:solidFill>
                <a:latin typeface="Arial"/>
              </a:defRPr>
            </a:pPr>
            <a:r>
              <a:t>Источники: https://www.vesti.ru/article/4893778 · https://www.rshb.ru/news/16072026-000004</a:t>
            </a:r>
          </a:p>
        </p:txBody>
      </p:sp>
      <p:sp>
        <p:nvSpPr>
          <p:cNvPr id="8" name="Rounded Rectangle 7"/>
          <p:cNvSpPr/>
          <p:nvPr/>
        </p:nvSpPr>
        <p:spPr>
          <a:xfrm>
            <a:off x="502920" y="1737360"/>
            <a:ext cx="3593592" cy="25420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920240"/>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093976"/>
            <a:ext cx="3191256"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1,245 млрд</a:t>
            </a:r>
          </a:p>
        </p:txBody>
      </p:sp>
      <p:sp>
        <p:nvSpPr>
          <p:cNvPr id="11" name="TextBox 10"/>
          <p:cNvSpPr txBox="1"/>
          <p:nvPr/>
        </p:nvSpPr>
        <p:spPr>
          <a:xfrm>
            <a:off x="704088" y="2825496"/>
            <a:ext cx="3191256"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TAM / ₽ в год</a:t>
            </a:r>
          </a:p>
        </p:txBody>
      </p:sp>
      <p:sp>
        <p:nvSpPr>
          <p:cNvPr id="12" name="TextBox 11"/>
          <p:cNvSpPr txBox="1"/>
          <p:nvPr/>
        </p:nvSpPr>
        <p:spPr>
          <a:xfrm>
            <a:off x="704088" y="3429000"/>
            <a:ext cx="3191256" cy="777239"/>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2 000 хозяйств × 2 000 га</a:t>
            </a:r>
          </a:p>
          <a:p>
            <a:pPr>
              <a:spcBef>
                <a:spcPts val="0"/>
              </a:spcBef>
              <a:spcAft>
                <a:spcPts val="500"/>
              </a:spcAft>
              <a:defRPr sz="1600" b="0">
                <a:solidFill>
                  <a:srgbClr val="092A20"/>
                </a:solidFill>
                <a:latin typeface="Arial"/>
              </a:defRPr>
            </a:pPr>
            <a:r>
              <a:t>15% пригодной площади</a:t>
            </a:r>
          </a:p>
        </p:txBody>
      </p:sp>
      <p:sp>
        <p:nvSpPr>
          <p:cNvPr id="13" name="Rounded Rectangle 12"/>
          <p:cNvSpPr/>
          <p:nvPr/>
        </p:nvSpPr>
        <p:spPr>
          <a:xfrm>
            <a:off x="4297680" y="1737360"/>
            <a:ext cx="3593592" cy="25420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920240"/>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98848" y="2093976"/>
            <a:ext cx="3191256"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124,5 млн</a:t>
            </a:r>
          </a:p>
        </p:txBody>
      </p:sp>
      <p:sp>
        <p:nvSpPr>
          <p:cNvPr id="16" name="TextBox 15"/>
          <p:cNvSpPr txBox="1"/>
          <p:nvPr/>
        </p:nvSpPr>
        <p:spPr>
          <a:xfrm>
            <a:off x="4498848" y="2825496"/>
            <a:ext cx="3191256"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SAM / ₽ в год</a:t>
            </a:r>
          </a:p>
        </p:txBody>
      </p:sp>
      <p:sp>
        <p:nvSpPr>
          <p:cNvPr id="17" name="TextBox 16"/>
          <p:cNvSpPr txBox="1"/>
          <p:nvPr/>
        </p:nvSpPr>
        <p:spPr>
          <a:xfrm>
            <a:off x="4498848" y="3429000"/>
            <a:ext cx="3191256" cy="777239"/>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200 хозяйств × 2 000 га</a:t>
            </a:r>
          </a:p>
          <a:p>
            <a:pPr>
              <a:spcBef>
                <a:spcPts val="0"/>
              </a:spcBef>
              <a:spcAft>
                <a:spcPts val="500"/>
              </a:spcAft>
              <a:defRPr sz="1600" b="0">
                <a:solidFill>
                  <a:srgbClr val="092A20"/>
                </a:solidFill>
                <a:latin typeface="Arial"/>
              </a:defRPr>
            </a:pPr>
            <a:r>
              <a:t>Условный доступный кластер</a:t>
            </a:r>
          </a:p>
        </p:txBody>
      </p:sp>
      <p:sp>
        <p:nvSpPr>
          <p:cNvPr id="18" name="Rounded Rectangle 17"/>
          <p:cNvSpPr/>
          <p:nvPr/>
        </p:nvSpPr>
        <p:spPr>
          <a:xfrm>
            <a:off x="8092440" y="1737360"/>
            <a:ext cx="3593592" cy="25420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75320" y="1920240"/>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93608" y="2093976"/>
            <a:ext cx="3191256"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8,8 млн</a:t>
            </a:r>
          </a:p>
        </p:txBody>
      </p:sp>
      <p:sp>
        <p:nvSpPr>
          <p:cNvPr id="21" name="TextBox 20"/>
          <p:cNvSpPr txBox="1"/>
          <p:nvPr/>
        </p:nvSpPr>
        <p:spPr>
          <a:xfrm>
            <a:off x="8293608" y="2825496"/>
            <a:ext cx="3191256"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SOM / первый сезон</a:t>
            </a:r>
          </a:p>
        </p:txBody>
      </p:sp>
      <p:sp>
        <p:nvSpPr>
          <p:cNvPr id="22" name="TextBox 21"/>
          <p:cNvSpPr txBox="1"/>
          <p:nvPr/>
        </p:nvSpPr>
        <p:spPr>
          <a:xfrm>
            <a:off x="8293608" y="3429000"/>
            <a:ext cx="3191256" cy="777239"/>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6 000 га-проходов × 1 300 ₽</a:t>
            </a:r>
          </a:p>
          <a:p>
            <a:pPr>
              <a:spcBef>
                <a:spcPts val="0"/>
              </a:spcBef>
              <a:spcAft>
                <a:spcPts val="500"/>
              </a:spcAft>
              <a:defRPr sz="1600" b="0">
                <a:solidFill>
                  <a:srgbClr val="092A20"/>
                </a:solidFill>
                <a:latin typeface="Arial"/>
              </a:defRPr>
            </a:pPr>
            <a:r>
              <a:t>+ 4 000 обследований × 250 ₽</a:t>
            </a:r>
          </a:p>
        </p:txBody>
      </p:sp>
      <p:sp>
        <p:nvSpPr>
          <p:cNvPr id="23" name="TextBox 22"/>
          <p:cNvSpPr txBox="1"/>
          <p:nvPr/>
        </p:nvSpPr>
        <p:spPr>
          <a:xfrm>
            <a:off x="594360" y="4480560"/>
            <a:ext cx="10972800" cy="594360"/>
          </a:xfrm>
          <a:prstGeom prst="rect">
            <a:avLst/>
          </a:prstGeom>
          <a:noFill/>
        </p:spPr>
        <p:txBody>
          <a:bodyPr wrap="square" lIns="13716" rIns="13716" tIns="0" bIns="0">
            <a:spAutoFit/>
          </a:bodyPr>
          <a:lstStyle/>
          <a:p>
            <a:pPr>
              <a:spcBef>
                <a:spcPts val="0"/>
              </a:spcBef>
              <a:spcAft>
                <a:spcPts val="500"/>
              </a:spcAft>
              <a:defRPr sz="1700" b="0">
                <a:solidFill>
                  <a:srgbClr val="FFFFFF"/>
                </a:solidFill>
                <a:latin typeface="Arial"/>
              </a:defRPr>
            </a:pPr>
            <a:r>
              <a:t>TAM = 2 000 × 2 000 × 15% × (1,5 × 1 300 + 0,5 × 250); SAM — для 200 хозяйств.</a:t>
            </a:r>
          </a:p>
        </p:txBody>
      </p:sp>
      <p:sp>
        <p:nvSpPr>
          <p:cNvPr id="24" name="TextBox 23"/>
          <p:cNvSpPr txBox="1"/>
          <p:nvPr/>
        </p:nvSpPr>
        <p:spPr>
          <a:xfrm>
            <a:off x="594360" y="5138928"/>
            <a:ext cx="10972800" cy="768096"/>
          </a:xfrm>
          <a:prstGeom prst="rect">
            <a:avLst/>
          </a:prstGeom>
          <a:noFill/>
        </p:spPr>
        <p:txBody>
          <a:bodyPr wrap="square" lIns="13716" rIns="13716" tIns="0" bIns="0">
            <a:spAutoFit/>
          </a:bodyPr>
          <a:lstStyle/>
          <a:p>
            <a:pPr>
              <a:spcBef>
                <a:spcPts val="0"/>
              </a:spcBef>
              <a:spcAft>
                <a:spcPts val="500"/>
              </a:spcAft>
              <a:defRPr sz="1600" b="0">
                <a:solidFill>
                  <a:srgbClr val="AFC5B8"/>
                </a:solidFill>
                <a:latin typeface="Arial"/>
              </a:defRPr>
            </a:pPr>
            <a:r>
              <a:t>SOM / SAM: 7,07% выручки; 6,67% внесения; 13,33% мониторинга.</a:t>
            </a:r>
          </a:p>
          <a:p>
            <a:pPr>
              <a:spcBef>
                <a:spcPts val="0"/>
              </a:spcBef>
              <a:spcAft>
                <a:spcPts val="500"/>
              </a:spcAft>
              <a:defRPr sz="1600" b="0">
                <a:solidFill>
                  <a:srgbClr val="AFC5B8"/>
                </a:solidFill>
                <a:latin typeface="Arial"/>
              </a:defRPr>
            </a:pPr>
            <a:r>
              <a:t>2 000 / 200 хозяйств — гипотезы, не реестр. Микс SOM отличается от SAM.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Анализ конкурентов</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[ФАКТ] Публичные предложения  •  [ДОПУЩЕНИЕ] Тариф АгроВектора</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06 / 22</a:t>
            </a:r>
          </a:p>
        </p:txBody>
      </p:sp>
      <p:sp>
        <p:nvSpPr>
          <p:cNvPr id="7" name="TextBox 6"/>
          <p:cNvSpPr txBox="1"/>
          <p:nvPr/>
        </p:nvSpPr>
        <p:spPr>
          <a:xfrm>
            <a:off x="502920" y="6071616"/>
            <a:ext cx="11155680" cy="402336"/>
          </a:xfrm>
          <a:prstGeom prst="rect">
            <a:avLst/>
          </a:prstGeom>
          <a:noFill/>
        </p:spPr>
        <p:txBody>
          <a:bodyPr wrap="square" lIns="13716" rIns="13716" tIns="0" bIns="0">
            <a:spAutoFit/>
          </a:bodyPr>
          <a:lstStyle/>
          <a:p>
            <a:pPr>
              <a:spcBef>
                <a:spcPts val="0"/>
              </a:spcBef>
              <a:spcAft>
                <a:spcPts val="500"/>
              </a:spcAft>
              <a:defRPr sz="900" b="0">
                <a:solidFill>
                  <a:srgbClr val="AFC5B8"/>
                </a:solidFill>
                <a:latin typeface="Arial"/>
              </a:defRPr>
            </a:pPr>
            <a:r>
              <a:t>Источники: https://agrdron.ru/ · https://beeuav.ru/ · https://xag-ap.ru/spraying.php · https://germes-technology.ru/</a:t>
            </a:r>
          </a:p>
        </p:txBody>
      </p:sp>
      <p:graphicFrame>
        <p:nvGraphicFramePr>
          <p:cNvPr id="8" name="Table 7"/>
          <p:cNvGraphicFramePr>
            <a:graphicFrameLocks noGrp="1"/>
          </p:cNvGraphicFramePr>
          <p:nvPr/>
        </p:nvGraphicFramePr>
        <p:xfrm>
          <a:off x="502920" y="1737360"/>
          <a:ext cx="11183112" cy="3749039"/>
        </p:xfrm>
        <a:graphic>
          <a:graphicData uri="http://schemas.openxmlformats.org/drawingml/2006/table">
            <a:tbl>
              <a:tblPr firstRow="1" bandRow="1">
                <a:tableStyleId>{5C22544A-7EE6-4342-B048-85BDC9FD1C3A}</a:tableStyleId>
              </a:tblPr>
              <a:tblGrid>
                <a:gridCol w="2971800"/>
                <a:gridCol w="3703320"/>
                <a:gridCol w="3136392"/>
                <a:gridCol w="1371600"/>
              </a:tblGrid>
              <a:tr h="535577">
                <a:tc>
                  <a:txBody>
                    <a:bodyPr/>
                    <a:lstStyle/>
                    <a:p>
                      <a:pPr>
                        <a:spcAft>
                          <a:spcPts val="0"/>
                        </a:spcAft>
                        <a:defRPr sz="1500" b="1">
                          <a:solidFill>
                            <a:srgbClr val="FFFFFF"/>
                          </a:solidFill>
                          <a:latin typeface="Arial"/>
                        </a:defRPr>
                      </a:pPr>
                      <a:r>
                        <a:t>Исполнитель</a:t>
                      </a:r>
                    </a:p>
                  </a:txBody>
                  <a:tcPr marL="91440" marR="91440" marT="45720" marB="45720">
                    <a:solidFill>
                      <a:srgbClr val="164C38"/>
                    </a:solidFill>
                  </a:tcPr>
                </a:tc>
                <a:tc>
                  <a:txBody>
                    <a:bodyPr/>
                    <a:lstStyle/>
                    <a:p>
                      <a:pPr>
                        <a:spcAft>
                          <a:spcPts val="0"/>
                        </a:spcAft>
                        <a:defRPr sz="1500" b="1">
                          <a:solidFill>
                            <a:srgbClr val="FFFFFF"/>
                          </a:solidFill>
                          <a:latin typeface="Arial"/>
                        </a:defRPr>
                      </a:pPr>
                      <a:r>
                        <a:t>Публичное предложение</a:t>
                      </a:r>
                    </a:p>
                  </a:txBody>
                  <a:tcPr marL="91440" marR="91440" marT="45720" marB="45720">
                    <a:solidFill>
                      <a:srgbClr val="164C38"/>
                    </a:solidFill>
                  </a:tcPr>
                </a:tc>
                <a:tc>
                  <a:txBody>
                    <a:bodyPr/>
                    <a:lstStyle/>
                    <a:p>
                      <a:pPr>
                        <a:spcAft>
                          <a:spcPts val="0"/>
                        </a:spcAft>
                        <a:defRPr sz="1500" b="1">
                          <a:solidFill>
                            <a:srgbClr val="FFFFFF"/>
                          </a:solidFill>
                          <a:latin typeface="Arial"/>
                        </a:defRPr>
                      </a:pPr>
                      <a:r>
                        <a:t>Цена, ₽/га</a:t>
                      </a:r>
                    </a:p>
                  </a:txBody>
                  <a:tcPr marL="91440" marR="91440" marT="45720" marB="45720">
                    <a:solidFill>
                      <a:srgbClr val="164C38"/>
                    </a:solidFill>
                  </a:tcPr>
                </a:tc>
                <a:tc>
                  <a:txBody>
                    <a:bodyPr/>
                    <a:lstStyle/>
                    <a:p>
                      <a:pPr>
                        <a:spcAft>
                          <a:spcPts val="0"/>
                        </a:spcAft>
                        <a:defRPr sz="1500" b="1">
                          <a:solidFill>
                            <a:srgbClr val="FFFFFF"/>
                          </a:solidFill>
                          <a:latin typeface="Arial"/>
                        </a:defRPr>
                      </a:pPr>
                      <a:r>
                        <a:t>Доля рынка</a:t>
                      </a:r>
                    </a:p>
                  </a:txBody>
                  <a:tcPr marL="91440" marR="91440" marT="45720" marB="45720">
                    <a:solidFill>
                      <a:srgbClr val="164C38"/>
                    </a:solidFill>
                  </a:tcPr>
                </a:tc>
              </a:tr>
              <a:tr h="535577">
                <a:tc>
                  <a:txBody>
                    <a:bodyPr/>
                    <a:lstStyle/>
                    <a:p>
                      <a:pPr>
                        <a:spcAft>
                          <a:spcPts val="0"/>
                        </a:spcAft>
                        <a:defRPr sz="1500" b="0">
                          <a:solidFill>
                            <a:srgbClr val="092A20"/>
                          </a:solidFill>
                          <a:latin typeface="Arial"/>
                        </a:defRPr>
                      </a:pPr>
                      <a:r>
                        <a:t>Агродроны ЮФО</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Обработка полей; ЮФО</a:t>
                      </a:r>
                    </a:p>
                  </a:txBody>
                  <a:tcPr marL="91440" marR="91440" marT="45720" marB="45720">
                    <a:solidFill>
                      <a:srgbClr val="FFFFFF"/>
                    </a:solidFill>
                  </a:tcPr>
                </a:tc>
                <a:tc>
                  <a:txBody>
                    <a:bodyPr/>
                    <a:lstStyle/>
                    <a:p>
                      <a:pPr>
                        <a:spcAft>
                          <a:spcPts val="0"/>
                        </a:spcAft>
                        <a:defRPr sz="1500" b="0">
                          <a:solidFill>
                            <a:srgbClr val="092A20"/>
                          </a:solidFill>
                          <a:latin typeface="Arial"/>
                        </a:defRPr>
                      </a:pPr>
                      <a:r>
                        <a:t>900 — средняя заявленная</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н/д</a:t>
                      </a:r>
                    </a:p>
                  </a:txBody>
                  <a:tcPr marL="91440" marR="91440" marT="45720" marB="45720">
                    <a:solidFill>
                      <a:srgbClr val="FFFFFF"/>
                    </a:solidFill>
                  </a:tcPr>
                </a:tc>
              </a:tr>
              <a:tr h="535577">
                <a:tc>
                  <a:txBody>
                    <a:bodyPr/>
                    <a:lstStyle/>
                    <a:p>
                      <a:pPr>
                        <a:spcAft>
                          <a:spcPts val="0"/>
                        </a:spcAft>
                        <a:defRPr sz="1500" b="0">
                          <a:solidFill>
                            <a:srgbClr val="092A20"/>
                          </a:solidFill>
                          <a:latin typeface="Arial"/>
                        </a:defRPr>
                      </a:pPr>
                      <a:r>
                        <a:t>BeeUAV</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Аренда и обработка</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н/д; по запросу</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н/д</a:t>
                      </a:r>
                    </a:p>
                  </a:txBody>
                  <a:tcPr marL="91440" marR="91440" marT="45720" marB="45720">
                    <a:solidFill>
                      <a:srgbClr val="EFF4EF"/>
                    </a:solidFill>
                  </a:tcPr>
                </a:tc>
              </a:tr>
              <a:tr h="535577">
                <a:tc>
                  <a:txBody>
                    <a:bodyPr/>
                    <a:lstStyle/>
                    <a:p>
                      <a:pPr>
                        <a:spcAft>
                          <a:spcPts val="0"/>
                        </a:spcAft>
                        <a:defRPr sz="1500" b="0">
                          <a:solidFill>
                            <a:srgbClr val="092A20"/>
                          </a:solidFill>
                          <a:latin typeface="Arial"/>
                        </a:defRPr>
                      </a:pPr>
                      <a:r>
                        <a:t>Агропрофи / XAG</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Обработка и посев; Поволжье</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н/д</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н/д</a:t>
                      </a:r>
                    </a:p>
                  </a:txBody>
                  <a:tcPr marL="91440" marR="91440" marT="45720" marB="45720">
                    <a:solidFill>
                      <a:srgbClr val="FFFFFF"/>
                    </a:solidFill>
                  </a:tcPr>
                </a:tc>
              </a:tr>
              <a:tr h="535577">
                <a:tc>
                  <a:txBody>
                    <a:bodyPr/>
                    <a:lstStyle/>
                    <a:p>
                      <a:pPr>
                        <a:spcAft>
                          <a:spcPts val="0"/>
                        </a:spcAft>
                        <a:defRPr sz="1500" b="0">
                          <a:solidFill>
                            <a:srgbClr val="092A20"/>
                          </a:solidFill>
                          <a:latin typeface="Arial"/>
                        </a:defRPr>
                      </a:pPr>
                      <a:r>
                        <a:t>Гермес</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Краснодарский край, Адыгея</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н/д</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н/д</a:t>
                      </a:r>
                    </a:p>
                  </a:txBody>
                  <a:tcPr marL="91440" marR="91440" marT="45720" marB="45720">
                    <a:solidFill>
                      <a:srgbClr val="EFF4EF"/>
                    </a:solidFill>
                  </a:tcPr>
                </a:tc>
              </a:tr>
              <a:tr h="535577">
                <a:tc>
                  <a:txBody>
                    <a:bodyPr/>
                    <a:lstStyle/>
                    <a:p>
                      <a:pPr>
                        <a:spcAft>
                          <a:spcPts val="0"/>
                        </a:spcAft>
                        <a:defRPr sz="1500" b="0">
                          <a:solidFill>
                            <a:srgbClr val="092A20"/>
                          </a:solidFill>
                          <a:latin typeface="Arial"/>
                        </a:defRPr>
                      </a:pPr>
                      <a:r>
                        <a:t>Аграс / аграс.рф</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Аренда техники / пилота</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н/д</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н/д</a:t>
                      </a:r>
                    </a:p>
                  </a:txBody>
                  <a:tcPr marL="91440" marR="91440" marT="45720" marB="45720">
                    <a:solidFill>
                      <a:srgbClr val="FFFFFF"/>
                    </a:solidFill>
                  </a:tcPr>
                </a:tc>
              </a:tr>
              <a:tr h="535577">
                <a:tc>
                  <a:txBody>
                    <a:bodyPr/>
                    <a:lstStyle/>
                    <a:p>
                      <a:pPr>
                        <a:spcAft>
                          <a:spcPts val="0"/>
                        </a:spcAft>
                        <a:defRPr sz="1500" b="0">
                          <a:solidFill>
                            <a:srgbClr val="092A20"/>
                          </a:solidFill>
                          <a:latin typeface="Arial"/>
                        </a:defRPr>
                      </a:pPr>
                      <a:r>
                        <a:t>АгроВектор [ДОПУЩЕНИЕ]</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Карта + выполнение + отчет</a:t>
                      </a:r>
                    </a:p>
                  </a:txBody>
                  <a:tcPr marL="91440" marR="91440" marT="45720" marB="45720">
                    <a:solidFill>
                      <a:srgbClr val="EFF4EF"/>
                    </a:solidFill>
                  </a:tcPr>
                </a:tc>
                <a:tc>
                  <a:txBody>
                    <a:bodyPr/>
                    <a:lstStyle/>
                    <a:p>
                      <a:pPr>
                        <a:spcAft>
                          <a:spcPts val="0"/>
                        </a:spcAft>
                        <a:defRPr sz="1500" b="0">
                          <a:solidFill>
                            <a:srgbClr val="092A20"/>
                          </a:solidFill>
                          <a:latin typeface="Arial"/>
                        </a:defRPr>
                      </a:pPr>
                      <a:r>
                        <a:t>1 300 без НДС</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н/д</a:t>
                      </a:r>
                    </a:p>
                  </a:txBody>
                  <a:tcPr marL="91440" marR="91440" marT="45720" marB="45720">
                    <a:solidFill>
                      <a:srgbClr val="EFF4EF"/>
                    </a:solidFill>
                  </a:tcPr>
                </a:tc>
              </a:tr>
            </a:tbl>
          </a:graphicData>
        </a:graphic>
      </p:graphicFrame>
      <p:sp>
        <p:nvSpPr>
          <p:cNvPr id="9" name="Rounded Rectangle 8"/>
          <p:cNvSpPr/>
          <p:nvPr/>
        </p:nvSpPr>
        <p:spPr>
          <a:xfrm>
            <a:off x="502920" y="5513832"/>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5596128"/>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900 ₽ — не нижняя граница и не сопоставимое КП. Нужен единый состав работ для сравнения</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Развернутый SWOT</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07 / 22</a:t>
            </a:r>
          </a:p>
        </p:txBody>
      </p:sp>
      <p:sp>
        <p:nvSpPr>
          <p:cNvPr id="7" name="Rounded Rectangle 6"/>
          <p:cNvSpPr/>
          <p:nvPr/>
        </p:nvSpPr>
        <p:spPr>
          <a:xfrm>
            <a:off x="502920" y="1719072"/>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85800"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2103120"/>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S / Конструкция сервиса</a:t>
            </a:r>
          </a:p>
        </p:txBody>
      </p:sp>
      <p:sp>
        <p:nvSpPr>
          <p:cNvPr id="10" name="TextBox 9"/>
          <p:cNvSpPr txBox="1"/>
          <p:nvPr/>
        </p:nvSpPr>
        <p:spPr>
          <a:xfrm>
            <a:off x="704088" y="2706624"/>
            <a:ext cx="5074920" cy="822960"/>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Мониторинг + задание + отчет</a:t>
            </a:r>
          </a:p>
          <a:p>
            <a:pPr>
              <a:spcBef>
                <a:spcPts val="0"/>
              </a:spcBef>
              <a:spcAft>
                <a:spcPts val="500"/>
              </a:spcAft>
              <a:defRPr sz="1700" b="0">
                <a:solidFill>
                  <a:srgbClr val="092A20"/>
                </a:solidFill>
                <a:latin typeface="Arial"/>
              </a:defRPr>
            </a:pPr>
            <a:r>
              <a:t>Резервный аппарат</a:t>
            </a:r>
          </a:p>
          <a:p>
            <a:pPr>
              <a:spcBef>
                <a:spcPts val="0"/>
              </a:spcBef>
              <a:spcAft>
                <a:spcPts val="500"/>
              </a:spcAft>
              <a:defRPr sz="1700" b="0">
                <a:solidFill>
                  <a:srgbClr val="092A20"/>
                </a:solidFill>
                <a:latin typeface="Arial"/>
              </a:defRPr>
            </a:pPr>
            <a:r>
              <a:t>→ Единая приемка и готовность резерва</a:t>
            </a:r>
          </a:p>
        </p:txBody>
      </p:sp>
      <p:sp>
        <p:nvSpPr>
          <p:cNvPr id="11" name="Rounded Rectangle 10"/>
          <p:cNvSpPr/>
          <p:nvPr/>
        </p:nvSpPr>
        <p:spPr>
          <a:xfrm>
            <a:off x="6208776" y="1719072"/>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91656"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9944" y="2103120"/>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W / Ограничения</a:t>
            </a:r>
          </a:p>
        </p:txBody>
      </p:sp>
      <p:sp>
        <p:nvSpPr>
          <p:cNvPr id="14" name="TextBox 13"/>
          <p:cNvSpPr txBox="1"/>
          <p:nvPr/>
        </p:nvSpPr>
        <p:spPr>
          <a:xfrm>
            <a:off x="6409944" y="2706624"/>
            <a:ext cx="5074920" cy="822960"/>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Нет подтвержденного портфеля</a:t>
            </a:r>
          </a:p>
          <a:p>
            <a:pPr>
              <a:spcBef>
                <a:spcPts val="0"/>
              </a:spcBef>
              <a:spcAft>
                <a:spcPts val="500"/>
              </a:spcAft>
              <a:defRPr sz="1700" b="0">
                <a:solidFill>
                  <a:srgbClr val="092A20"/>
                </a:solidFill>
                <a:latin typeface="Arial"/>
              </a:defRPr>
            </a:pPr>
            <a:r>
              <a:t>Одна бригада; экономный ФОТ</a:t>
            </a:r>
          </a:p>
          <a:p>
            <a:pPr>
              <a:spcBef>
                <a:spcPts val="0"/>
              </a:spcBef>
              <a:spcAft>
                <a:spcPts val="500"/>
              </a:spcAft>
              <a:defRPr sz="1700" b="0">
                <a:solidFill>
                  <a:srgbClr val="092A20"/>
                </a:solidFill>
                <a:latin typeface="Arial"/>
              </a:defRPr>
            </a:pPr>
            <a:r>
              <a:t>→ Заявки до закупки, лимит нагрузки</a:t>
            </a:r>
          </a:p>
        </p:txBody>
      </p:sp>
      <p:sp>
        <p:nvSpPr>
          <p:cNvPr id="15" name="Rounded Rectangle 14"/>
          <p:cNvSpPr/>
          <p:nvPr/>
        </p:nvSpPr>
        <p:spPr>
          <a:xfrm>
            <a:off x="502920" y="3758183"/>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5800" y="3941063"/>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4142231"/>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O / Возможности</a:t>
            </a:r>
          </a:p>
        </p:txBody>
      </p:sp>
      <p:sp>
        <p:nvSpPr>
          <p:cNvPr id="18" name="TextBox 17"/>
          <p:cNvSpPr txBox="1"/>
          <p:nvPr/>
        </p:nvSpPr>
        <p:spPr>
          <a:xfrm>
            <a:off x="704088" y="4745736"/>
            <a:ext cx="5074920" cy="822960"/>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Локальные задачи хозяйств</a:t>
            </a:r>
          </a:p>
          <a:p>
            <a:pPr>
              <a:spcBef>
                <a:spcPts val="0"/>
              </a:spcBef>
              <a:spcAft>
                <a:spcPts val="500"/>
              </a:spcAft>
              <a:defRPr sz="1700" b="0">
                <a:solidFill>
                  <a:srgbClr val="092A20"/>
                </a:solidFill>
                <a:latin typeface="Arial"/>
              </a:defRPr>
            </a:pPr>
            <a:r>
              <a:t>Гражданская переподготовка</a:t>
            </a:r>
          </a:p>
          <a:p>
            <a:pPr>
              <a:spcBef>
                <a:spcPts val="0"/>
              </a:spcBef>
              <a:spcAft>
                <a:spcPts val="500"/>
              </a:spcAft>
              <a:defRPr sz="1700" b="0">
                <a:solidFill>
                  <a:srgbClr val="092A20"/>
                </a:solidFill>
                <a:latin typeface="Arial"/>
              </a:defRPr>
            </a:pPr>
            <a:r>
              <a:t>→ Платный пилот и наставничество</a:t>
            </a:r>
          </a:p>
        </p:txBody>
      </p:sp>
      <p:sp>
        <p:nvSpPr>
          <p:cNvPr id="19" name="Rounded Rectangle 18"/>
          <p:cNvSpPr/>
          <p:nvPr/>
        </p:nvSpPr>
        <p:spPr>
          <a:xfrm>
            <a:off x="6208776" y="3758183"/>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91656" y="3941063"/>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9944" y="4142231"/>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T / Угрозы</a:t>
            </a:r>
          </a:p>
        </p:txBody>
      </p:sp>
      <p:sp>
        <p:nvSpPr>
          <p:cNvPr id="22" name="TextBox 21"/>
          <p:cNvSpPr txBox="1"/>
          <p:nvPr/>
        </p:nvSpPr>
        <p:spPr>
          <a:xfrm>
            <a:off x="6409944" y="4745736"/>
            <a:ext cx="5074920" cy="822960"/>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Запреты; погода; ценовое давление</a:t>
            </a:r>
          </a:p>
          <a:p>
            <a:pPr>
              <a:spcBef>
                <a:spcPts val="0"/>
              </a:spcBef>
              <a:spcAft>
                <a:spcPts val="500"/>
              </a:spcAft>
              <a:defRPr sz="1700" b="0">
                <a:solidFill>
                  <a:srgbClr val="092A20"/>
                </a:solidFill>
                <a:latin typeface="Arial"/>
              </a:defRPr>
            </a:pPr>
            <a:r>
              <a:t>Просрочка платежей</a:t>
            </a:r>
          </a:p>
          <a:p>
            <a:pPr>
              <a:spcBef>
                <a:spcPts val="0"/>
              </a:spcBef>
              <a:spcAft>
                <a:spcPts val="500"/>
              </a:spcAft>
              <a:defRPr sz="1700" b="0">
                <a:solidFill>
                  <a:srgbClr val="092A20"/>
                </a:solidFill>
                <a:latin typeface="Arial"/>
              </a:defRPr>
            </a:pPr>
            <a:r>
              <a:t>→ No-go, резерв времени и аванс</a:t>
            </a:r>
          </a:p>
        </p:txBody>
      </p:sp>
      <p:sp>
        <p:nvSpPr>
          <p:cNvPr id="23" name="Rounded Rectangle 22"/>
          <p:cNvSpPr/>
          <p:nvPr/>
        </p:nvSpPr>
        <p:spPr>
          <a:xfrm>
            <a:off x="502920" y="5879592"/>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5961888"/>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Стратегия WT: не расширять парк до подтверждения правовой доступности, кадров и экономики</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Пять сил Портера</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08 / 22</a:t>
            </a:r>
          </a:p>
        </p:txBody>
      </p:sp>
      <p:graphicFrame>
        <p:nvGraphicFramePr>
          <p:cNvPr id="7" name="Table 6"/>
          <p:cNvGraphicFramePr>
            <a:graphicFrameLocks noGrp="1"/>
          </p:cNvGraphicFramePr>
          <p:nvPr/>
        </p:nvGraphicFramePr>
        <p:xfrm>
          <a:off x="502920" y="1737360"/>
          <a:ext cx="11183112" cy="3520440"/>
        </p:xfrm>
        <a:graphic>
          <a:graphicData uri="http://schemas.openxmlformats.org/drawingml/2006/table">
            <a:tbl>
              <a:tblPr firstRow="1" bandRow="1">
                <a:tableStyleId>{5C22544A-7EE6-4342-B048-85BDC9FD1C3A}</a:tableStyleId>
              </a:tblPr>
              <a:tblGrid>
                <a:gridCol w="3108960"/>
                <a:gridCol w="2331720"/>
                <a:gridCol w="5742432"/>
              </a:tblGrid>
              <a:tr h="586740">
                <a:tc>
                  <a:txBody>
                    <a:bodyPr/>
                    <a:lstStyle/>
                    <a:p>
                      <a:pPr>
                        <a:spcAft>
                          <a:spcPts val="0"/>
                        </a:spcAft>
                        <a:defRPr sz="1800" b="1">
                          <a:solidFill>
                            <a:srgbClr val="FFFFFF"/>
                          </a:solidFill>
                          <a:latin typeface="Arial"/>
                        </a:defRPr>
                      </a:pPr>
                      <a:r>
                        <a:t>Сила</a:t>
                      </a:r>
                    </a:p>
                  </a:txBody>
                  <a:tcPr marL="91440" marR="91440" marT="45720" marB="45720">
                    <a:solidFill>
                      <a:srgbClr val="164C38"/>
                    </a:solidFill>
                  </a:tcPr>
                </a:tc>
                <a:tc>
                  <a:txBody>
                    <a:bodyPr/>
                    <a:lstStyle/>
                    <a:p>
                      <a:pPr>
                        <a:spcAft>
                          <a:spcPts val="0"/>
                        </a:spcAft>
                        <a:defRPr sz="1800" b="1">
                          <a:solidFill>
                            <a:srgbClr val="FFFFFF"/>
                          </a:solidFill>
                          <a:latin typeface="Arial"/>
                        </a:defRPr>
                      </a:pPr>
                      <a:r>
                        <a:t>Уровень гипотезы</a:t>
                      </a:r>
                    </a:p>
                  </a:txBody>
                  <a:tcPr marL="91440" marR="91440" marT="45720" marB="45720">
                    <a:solidFill>
                      <a:srgbClr val="164C38"/>
                    </a:solidFill>
                  </a:tcPr>
                </a:tc>
                <a:tc>
                  <a:txBody>
                    <a:bodyPr/>
                    <a:lstStyle/>
                    <a:p>
                      <a:pPr>
                        <a:spcAft>
                          <a:spcPts val="0"/>
                        </a:spcAft>
                        <a:defRPr sz="1800" b="1">
                          <a:solidFill>
                            <a:srgbClr val="FFFFFF"/>
                          </a:solidFill>
                          <a:latin typeface="Arial"/>
                        </a:defRPr>
                      </a:pPr>
                      <a:r>
                        <a:t>Ответ проекта / что проверить</a:t>
                      </a:r>
                    </a:p>
                  </a:txBody>
                  <a:tcPr marL="91440" marR="91440" marT="45720" marB="45720">
                    <a:solidFill>
                      <a:srgbClr val="164C38"/>
                    </a:solidFill>
                  </a:tcPr>
                </a:tc>
              </a:tr>
              <a:tr h="586740">
                <a:tc>
                  <a:txBody>
                    <a:bodyPr/>
                    <a:lstStyle/>
                    <a:p>
                      <a:pPr>
                        <a:spcAft>
                          <a:spcPts val="0"/>
                        </a:spcAft>
                        <a:defRPr sz="1800" b="0">
                          <a:solidFill>
                            <a:srgbClr val="092A20"/>
                          </a:solidFill>
                          <a:latin typeface="Arial"/>
                        </a:defRPr>
                      </a:pPr>
                      <a:r>
                        <a:t>Соперничество</a:t>
                      </a:r>
                    </a:p>
                  </a:txBody>
                  <a:tcPr marL="91440" marR="91440" marT="45720" marB="45720">
                    <a:solidFill>
                      <a:srgbClr val="FFFFFF"/>
                    </a:solidFill>
                  </a:tcPr>
                </a:tc>
                <a:tc>
                  <a:txBody>
                    <a:bodyPr/>
                    <a:lstStyle/>
                    <a:p>
                      <a:pPr>
                        <a:spcAft>
                          <a:spcPts val="0"/>
                        </a:spcAft>
                        <a:defRPr sz="1800" b="0">
                          <a:solidFill>
                            <a:srgbClr val="092A20"/>
                          </a:solidFill>
                          <a:latin typeface="Arial"/>
                        </a:defRPr>
                      </a:pPr>
                      <a:r>
                        <a:t>Высокий</a:t>
                      </a:r>
                    </a:p>
                  </a:txBody>
                  <a:tcPr marL="91440" marR="91440" marT="45720" marB="45720">
                    <a:solidFill>
                      <a:srgbClr val="FFFFFF"/>
                    </a:solidFill>
                  </a:tcPr>
                </a:tc>
                <a:tc>
                  <a:txBody>
                    <a:bodyPr/>
                    <a:lstStyle/>
                    <a:p>
                      <a:pPr>
                        <a:spcAft>
                          <a:spcPts val="0"/>
                        </a:spcAft>
                        <a:defRPr sz="1800" b="0">
                          <a:solidFill>
                            <a:srgbClr val="092A20"/>
                          </a:solidFill>
                          <a:latin typeface="Arial"/>
                        </a:defRPr>
                      </a:pPr>
                      <a:r>
                        <a:t>Приемка и сроки; сопоставимые КП</a:t>
                      </a:r>
                    </a:p>
                  </a:txBody>
                  <a:tcPr marL="91440" marR="91440" marT="45720" marB="45720">
                    <a:solidFill>
                      <a:srgbClr val="FFFFFF"/>
                    </a:solidFill>
                  </a:tcPr>
                </a:tc>
              </a:tr>
              <a:tr h="586740">
                <a:tc>
                  <a:txBody>
                    <a:bodyPr/>
                    <a:lstStyle/>
                    <a:p>
                      <a:pPr>
                        <a:spcAft>
                          <a:spcPts val="0"/>
                        </a:spcAft>
                        <a:defRPr sz="1800" b="0">
                          <a:solidFill>
                            <a:srgbClr val="092A20"/>
                          </a:solidFill>
                          <a:latin typeface="Arial"/>
                        </a:defRPr>
                      </a:pPr>
                      <a:r>
                        <a:t>Новые участники</a:t>
                      </a:r>
                    </a:p>
                  </a:txBody>
                  <a:tcPr marL="91440" marR="91440" marT="45720" marB="45720">
                    <a:solidFill>
                      <a:srgbClr val="EFF4EF"/>
                    </a:solidFill>
                  </a:tcPr>
                </a:tc>
                <a:tc>
                  <a:txBody>
                    <a:bodyPr/>
                    <a:lstStyle/>
                    <a:p>
                      <a:pPr>
                        <a:spcAft>
                          <a:spcPts val="0"/>
                        </a:spcAft>
                        <a:defRPr sz="1800" b="0">
                          <a:solidFill>
                            <a:srgbClr val="092A20"/>
                          </a:solidFill>
                          <a:latin typeface="Arial"/>
                        </a:defRPr>
                      </a:pPr>
                      <a:r>
                        <a:t>Средний</a:t>
                      </a:r>
                    </a:p>
                  </a:txBody>
                  <a:tcPr marL="91440" marR="91440" marT="45720" marB="45720">
                    <a:solidFill>
                      <a:srgbClr val="EFF4EF"/>
                    </a:solidFill>
                  </a:tcPr>
                </a:tc>
                <a:tc>
                  <a:txBody>
                    <a:bodyPr/>
                    <a:lstStyle/>
                    <a:p>
                      <a:pPr>
                        <a:spcAft>
                          <a:spcPts val="0"/>
                        </a:spcAft>
                        <a:defRPr sz="1800" b="0">
                          <a:solidFill>
                            <a:srgbClr val="092A20"/>
                          </a:solidFill>
                          <a:latin typeface="Arial"/>
                        </a:defRPr>
                      </a:pPr>
                      <a:r>
                        <a:t>Повторные договоры; стоимость готовности</a:t>
                      </a:r>
                    </a:p>
                  </a:txBody>
                  <a:tcPr marL="91440" marR="91440" marT="45720" marB="45720">
                    <a:solidFill>
                      <a:srgbClr val="EFF4EF"/>
                    </a:solidFill>
                  </a:tcPr>
                </a:tc>
              </a:tr>
              <a:tr h="586740">
                <a:tc>
                  <a:txBody>
                    <a:bodyPr/>
                    <a:lstStyle/>
                    <a:p>
                      <a:pPr>
                        <a:spcAft>
                          <a:spcPts val="0"/>
                        </a:spcAft>
                        <a:defRPr sz="1800" b="0">
                          <a:solidFill>
                            <a:srgbClr val="092A20"/>
                          </a:solidFill>
                          <a:latin typeface="Arial"/>
                        </a:defRPr>
                      </a:pPr>
                      <a:r>
                        <a:t>Заменители</a:t>
                      </a:r>
                    </a:p>
                  </a:txBody>
                  <a:tcPr marL="91440" marR="91440" marT="45720" marB="45720">
                    <a:solidFill>
                      <a:srgbClr val="FFFFFF"/>
                    </a:solidFill>
                  </a:tcPr>
                </a:tc>
                <a:tc>
                  <a:txBody>
                    <a:bodyPr/>
                    <a:lstStyle/>
                    <a:p>
                      <a:pPr>
                        <a:spcAft>
                          <a:spcPts val="0"/>
                        </a:spcAft>
                        <a:defRPr sz="1800" b="0">
                          <a:solidFill>
                            <a:srgbClr val="092A20"/>
                          </a:solidFill>
                          <a:latin typeface="Arial"/>
                        </a:defRPr>
                      </a:pPr>
                      <a:r>
                        <a:t>Высокий</a:t>
                      </a:r>
                    </a:p>
                  </a:txBody>
                  <a:tcPr marL="91440" marR="91440" marT="45720" marB="45720">
                    <a:solidFill>
                      <a:srgbClr val="FFFFFF"/>
                    </a:solidFill>
                  </a:tcPr>
                </a:tc>
                <a:tc>
                  <a:txBody>
                    <a:bodyPr/>
                    <a:lstStyle/>
                    <a:p>
                      <a:pPr>
                        <a:spcAft>
                          <a:spcPts val="0"/>
                        </a:spcAft>
                        <a:defRPr sz="1800" b="0">
                          <a:solidFill>
                            <a:srgbClr val="092A20"/>
                          </a:solidFill>
                          <a:latin typeface="Arial"/>
                        </a:defRPr>
                      </a:pPr>
                      <a:r>
                        <a:t>Отбор задач; полная стоимость альтернатив</a:t>
                      </a:r>
                    </a:p>
                  </a:txBody>
                  <a:tcPr marL="91440" marR="91440" marT="45720" marB="45720">
                    <a:solidFill>
                      <a:srgbClr val="FFFFFF"/>
                    </a:solidFill>
                  </a:tcPr>
                </a:tc>
              </a:tr>
              <a:tr h="586740">
                <a:tc>
                  <a:txBody>
                    <a:bodyPr/>
                    <a:lstStyle/>
                    <a:p>
                      <a:pPr>
                        <a:spcAft>
                          <a:spcPts val="0"/>
                        </a:spcAft>
                        <a:defRPr sz="1800" b="0">
                          <a:solidFill>
                            <a:srgbClr val="092A20"/>
                          </a:solidFill>
                          <a:latin typeface="Arial"/>
                        </a:defRPr>
                      </a:pPr>
                      <a:r>
                        <a:t>Покупатели</a:t>
                      </a:r>
                    </a:p>
                  </a:txBody>
                  <a:tcPr marL="91440" marR="91440" marT="45720" marB="45720">
                    <a:solidFill>
                      <a:srgbClr val="EFF4EF"/>
                    </a:solidFill>
                  </a:tcPr>
                </a:tc>
                <a:tc>
                  <a:txBody>
                    <a:bodyPr/>
                    <a:lstStyle/>
                    <a:p>
                      <a:pPr>
                        <a:spcAft>
                          <a:spcPts val="0"/>
                        </a:spcAft>
                        <a:defRPr sz="1800" b="0">
                          <a:solidFill>
                            <a:srgbClr val="092A20"/>
                          </a:solidFill>
                          <a:latin typeface="Arial"/>
                        </a:defRPr>
                      </a:pPr>
                      <a:r>
                        <a:t>Высокий</a:t>
                      </a:r>
                    </a:p>
                  </a:txBody>
                  <a:tcPr marL="91440" marR="91440" marT="45720" marB="45720">
                    <a:solidFill>
                      <a:srgbClr val="EFF4EF"/>
                    </a:solidFill>
                  </a:tcPr>
                </a:tc>
                <a:tc>
                  <a:txBody>
                    <a:bodyPr/>
                    <a:lstStyle/>
                    <a:p>
                      <a:pPr>
                        <a:spcAft>
                          <a:spcPts val="0"/>
                        </a:spcAft>
                        <a:defRPr sz="1800" b="0">
                          <a:solidFill>
                            <a:srgbClr val="092A20"/>
                          </a:solidFill>
                          <a:latin typeface="Arial"/>
                        </a:defRPr>
                      </a:pPr>
                      <a:r>
                        <a:t>Лимит концентрации; причины отказов</a:t>
                      </a:r>
                    </a:p>
                  </a:txBody>
                  <a:tcPr marL="91440" marR="91440" marT="45720" marB="45720">
                    <a:solidFill>
                      <a:srgbClr val="EFF4EF"/>
                    </a:solidFill>
                  </a:tcPr>
                </a:tc>
              </a:tr>
              <a:tr h="586740">
                <a:tc>
                  <a:txBody>
                    <a:bodyPr/>
                    <a:lstStyle/>
                    <a:p>
                      <a:pPr>
                        <a:spcAft>
                          <a:spcPts val="0"/>
                        </a:spcAft>
                        <a:defRPr sz="1800" b="0">
                          <a:solidFill>
                            <a:srgbClr val="092A20"/>
                          </a:solidFill>
                          <a:latin typeface="Arial"/>
                        </a:defRPr>
                      </a:pPr>
                      <a:r>
                        <a:t>Поставщики</a:t>
                      </a:r>
                    </a:p>
                  </a:txBody>
                  <a:tcPr marL="91440" marR="91440" marT="45720" marB="45720">
                    <a:solidFill>
                      <a:srgbClr val="FFFFFF"/>
                    </a:solidFill>
                  </a:tcPr>
                </a:tc>
                <a:tc>
                  <a:txBody>
                    <a:bodyPr/>
                    <a:lstStyle/>
                    <a:p>
                      <a:pPr>
                        <a:spcAft>
                          <a:spcPts val="0"/>
                        </a:spcAft>
                        <a:defRPr sz="1800" b="0">
                          <a:solidFill>
                            <a:srgbClr val="092A20"/>
                          </a:solidFill>
                          <a:latin typeface="Arial"/>
                        </a:defRPr>
                      </a:pPr>
                      <a:r>
                        <a:t>Средний–высокий</a:t>
                      </a:r>
                    </a:p>
                  </a:txBody>
                  <a:tcPr marL="91440" marR="91440" marT="45720" marB="45720">
                    <a:solidFill>
                      <a:srgbClr val="FFFFFF"/>
                    </a:solidFill>
                  </a:tcPr>
                </a:tc>
                <a:tc>
                  <a:txBody>
                    <a:bodyPr/>
                    <a:lstStyle/>
                    <a:p>
                      <a:pPr>
                        <a:spcAft>
                          <a:spcPts val="0"/>
                        </a:spcAft>
                        <a:defRPr sz="1800" b="0">
                          <a:solidFill>
                            <a:srgbClr val="092A20"/>
                          </a:solidFill>
                          <a:latin typeface="Arial"/>
                        </a:defRPr>
                      </a:pPr>
                      <a:r>
                        <a:t>Запчасти, резерв, сервис; реальные сроки ремонта</a:t>
                      </a:r>
                    </a:p>
                  </a:txBody>
                  <a:tcPr marL="91440" marR="91440" marT="45720" marB="45720">
                    <a:solidFill>
                      <a:srgbClr val="FFFFFF"/>
                    </a:solidFill>
                  </a:tcPr>
                </a:tc>
              </a:tr>
            </a:tbl>
          </a:graphicData>
        </a:graphic>
      </p:graphicFrame>
      <p:sp>
        <p:nvSpPr>
          <p:cNvPr id="8" name="Rounded Rectangle 7"/>
          <p:cNvSpPr/>
          <p:nvPr/>
        </p:nvSpPr>
        <p:spPr>
          <a:xfrm>
            <a:off x="502920" y="5513832"/>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596128"/>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Устойчивое конкурентное преимущество до полевой проверки не подтверждено</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2600" b="1">
                <a:solidFill>
                  <a:srgbClr val="FFFFFF"/>
                </a:solidFill>
                <a:latin typeface="Arial"/>
              </a:defRPr>
            </a:pPr>
            <a:r>
              <a:t>Организационно-правовая форма и регуляторный контур</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 ООО и порядок проверки; не юридическое заключение</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09 / 22</a:t>
            </a:r>
          </a:p>
        </p:txBody>
      </p:sp>
      <p:sp>
        <p:nvSpPr>
          <p:cNvPr id="7" name="TextBox 6"/>
          <p:cNvSpPr txBox="1"/>
          <p:nvPr/>
        </p:nvSpPr>
        <p:spPr>
          <a:xfrm>
            <a:off x="502920" y="6071616"/>
            <a:ext cx="11155680" cy="402336"/>
          </a:xfrm>
          <a:prstGeom prst="rect">
            <a:avLst/>
          </a:prstGeom>
          <a:noFill/>
        </p:spPr>
        <p:txBody>
          <a:bodyPr wrap="square" lIns="13716" rIns="13716" tIns="0" bIns="0">
            <a:spAutoFit/>
          </a:bodyPr>
          <a:lstStyle/>
          <a:p>
            <a:pPr>
              <a:spcBef>
                <a:spcPts val="0"/>
              </a:spcBef>
              <a:spcAft>
                <a:spcPts val="500"/>
              </a:spcAft>
              <a:defRPr sz="900" b="0">
                <a:solidFill>
                  <a:srgbClr val="AFC5B8"/>
                </a:solidFill>
                <a:latin typeface="Arial"/>
              </a:defRPr>
            </a:pPr>
            <a:r>
              <a:t>Источники: https://base.garant.ru/414829385/ · http://publication.pravo.gov.ru/document/0001202608280041</a:t>
            </a:r>
          </a:p>
        </p:txBody>
      </p:sp>
      <p:sp>
        <p:nvSpPr>
          <p:cNvPr id="8" name="Rounded Rectangle 7"/>
          <p:cNvSpPr/>
          <p:nvPr/>
        </p:nvSpPr>
        <p:spPr>
          <a:xfrm>
            <a:off x="502920" y="1719072"/>
            <a:ext cx="3566160" cy="35021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103120"/>
            <a:ext cx="3163824"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ООО</a:t>
            </a:r>
          </a:p>
        </p:txBody>
      </p:sp>
      <p:sp>
        <p:nvSpPr>
          <p:cNvPr id="11" name="TextBox 10"/>
          <p:cNvSpPr txBox="1"/>
          <p:nvPr/>
        </p:nvSpPr>
        <p:spPr>
          <a:xfrm>
            <a:off x="704088" y="2706624"/>
            <a:ext cx="3163824" cy="2441448"/>
          </a:xfrm>
          <a:prstGeom prst="rect">
            <a:avLst/>
          </a:prstGeom>
          <a:noFill/>
        </p:spPr>
        <p:txBody>
          <a:bodyPr wrap="square" lIns="13716" rIns="13716" tIns="0" bIns="0">
            <a:spAutoFit/>
          </a:bodyPr>
          <a:lstStyle/>
          <a:p>
            <a:pPr>
              <a:spcBef>
                <a:spcPts val="0"/>
              </a:spcBef>
              <a:spcAft>
                <a:spcPts val="500"/>
              </a:spcAft>
              <a:defRPr sz="1800" b="0">
                <a:solidFill>
                  <a:srgbClr val="092A20"/>
                </a:solidFill>
                <a:latin typeface="Arial"/>
              </a:defRPr>
            </a:pPr>
            <a:r>
              <a:t>Договорный контур и долевое финансирование.</a:t>
            </a:r>
          </a:p>
          <a:p>
            <a:pPr>
              <a:spcBef>
                <a:spcPts val="0"/>
              </a:spcBef>
              <a:spcAft>
                <a:spcPts val="500"/>
              </a:spcAft>
              <a:defRPr sz="1800" b="0">
                <a:solidFill>
                  <a:srgbClr val="092A20"/>
                </a:solidFill>
                <a:latin typeface="Arial"/>
              </a:defRPr>
            </a:pPr>
          </a:p>
          <a:p>
            <a:pPr>
              <a:spcBef>
                <a:spcPts val="0"/>
              </a:spcBef>
              <a:spcAft>
                <a:spcPts val="500"/>
              </a:spcAft>
              <a:defRPr sz="1800" b="0">
                <a:solidFill>
                  <a:srgbClr val="092A20"/>
                </a:solidFill>
                <a:latin typeface="Arial"/>
              </a:defRPr>
            </a:pPr>
            <a:r>
              <a:t>Статус БВС определяется по максимальной взлетной массе, не по массе пустого аппарата.</a:t>
            </a:r>
          </a:p>
        </p:txBody>
      </p:sp>
      <p:graphicFrame>
        <p:nvGraphicFramePr>
          <p:cNvPr id="12" name="Table 11"/>
          <p:cNvGraphicFramePr>
            <a:graphicFrameLocks noGrp="1"/>
          </p:cNvGraphicFramePr>
          <p:nvPr/>
        </p:nvGraphicFramePr>
        <p:xfrm>
          <a:off x="4297680" y="1737360"/>
          <a:ext cx="7388352" cy="3502152"/>
        </p:xfrm>
        <a:graphic>
          <a:graphicData uri="http://schemas.openxmlformats.org/drawingml/2006/table">
            <a:tbl>
              <a:tblPr firstRow="1" bandRow="1">
                <a:tableStyleId>{5C22544A-7EE6-4342-B048-85BDC9FD1C3A}</a:tableStyleId>
              </a:tblPr>
              <a:tblGrid>
                <a:gridCol w="1737360"/>
                <a:gridCol w="5650992"/>
              </a:tblGrid>
              <a:tr h="583692">
                <a:tc>
                  <a:txBody>
                    <a:bodyPr/>
                    <a:lstStyle/>
                    <a:p>
                      <a:pPr>
                        <a:spcAft>
                          <a:spcPts val="0"/>
                        </a:spcAft>
                        <a:defRPr sz="1700" b="1">
                          <a:solidFill>
                            <a:srgbClr val="FFFFFF"/>
                          </a:solidFill>
                          <a:latin typeface="Arial"/>
                        </a:defRPr>
                      </a:pPr>
                      <a:r>
                        <a:t>Отдельный gate</a:t>
                      </a:r>
                    </a:p>
                  </a:txBody>
                  <a:tcPr marL="91440" marR="91440" marT="45720" marB="45720">
                    <a:solidFill>
                      <a:srgbClr val="164C38"/>
                    </a:solidFill>
                  </a:tcPr>
                </a:tc>
                <a:tc>
                  <a:txBody>
                    <a:bodyPr/>
                    <a:lstStyle/>
                    <a:p>
                      <a:pPr>
                        <a:spcAft>
                          <a:spcPts val="0"/>
                        </a:spcAft>
                        <a:defRPr sz="1700" b="1">
                          <a:solidFill>
                            <a:srgbClr val="FFFFFF"/>
                          </a:solidFill>
                          <a:latin typeface="Arial"/>
                        </a:defRPr>
                      </a:pPr>
                      <a:r>
                        <a:t>Что подтвердить до работы</a:t>
                      </a:r>
                    </a:p>
                  </a:txBody>
                  <a:tcPr marL="91440" marR="91440" marT="45720" marB="45720">
                    <a:solidFill>
                      <a:srgbClr val="164C38"/>
                    </a:solidFill>
                  </a:tcPr>
                </a:tc>
              </a:tr>
              <a:tr h="583692">
                <a:tc>
                  <a:txBody>
                    <a:bodyPr/>
                    <a:lstStyle/>
                    <a:p>
                      <a:pPr>
                        <a:spcAft>
                          <a:spcPts val="0"/>
                        </a:spcAft>
                        <a:defRPr sz="1700" b="0">
                          <a:solidFill>
                            <a:srgbClr val="092A20"/>
                          </a:solidFill>
                          <a:latin typeface="Arial"/>
                        </a:defRPr>
                      </a:pPr>
                      <a:r>
                        <a:t>БВС</a:t>
                      </a:r>
                    </a:p>
                  </a:txBody>
                  <a:tcPr marL="91440" marR="91440" marT="45720" marB="45720">
                    <a:solidFill>
                      <a:srgbClr val="FFFFFF"/>
                    </a:solidFill>
                  </a:tcPr>
                </a:tc>
                <a:tc>
                  <a:txBody>
                    <a:bodyPr/>
                    <a:lstStyle/>
                    <a:p>
                      <a:pPr>
                        <a:spcAft>
                          <a:spcPts val="0"/>
                        </a:spcAft>
                        <a:defRPr sz="1700" b="0">
                          <a:solidFill>
                            <a:srgbClr val="092A20"/>
                          </a:solidFill>
                          <a:latin typeface="Arial"/>
                        </a:defRPr>
                      </a:pPr>
                      <a:r>
                        <a:t>Учет / регистрация и применимые документы</a:t>
                      </a:r>
                    </a:p>
                  </a:txBody>
                  <a:tcPr marL="91440" marR="91440" marT="45720" marB="45720">
                    <a:solidFill>
                      <a:srgbClr val="FFFFFF"/>
                    </a:solidFill>
                  </a:tcPr>
                </a:tc>
              </a:tr>
              <a:tr h="583692">
                <a:tc>
                  <a:txBody>
                    <a:bodyPr/>
                    <a:lstStyle/>
                    <a:p>
                      <a:pPr>
                        <a:spcAft>
                          <a:spcPts val="0"/>
                        </a:spcAft>
                        <a:defRPr sz="1700" b="0">
                          <a:solidFill>
                            <a:srgbClr val="092A20"/>
                          </a:solidFill>
                          <a:latin typeface="Arial"/>
                        </a:defRPr>
                      </a:pPr>
                      <a:r>
                        <a:t>Полет</a:t>
                      </a:r>
                    </a:p>
                  </a:txBody>
                  <a:tcPr marL="91440" marR="91440" marT="45720" marB="45720">
                    <a:solidFill>
                      <a:srgbClr val="EFF4EF"/>
                    </a:solidFill>
                  </a:tcPr>
                </a:tc>
                <a:tc>
                  <a:txBody>
                    <a:bodyPr/>
                    <a:lstStyle/>
                    <a:p>
                      <a:pPr>
                        <a:spcAft>
                          <a:spcPts val="0"/>
                        </a:spcAft>
                        <a:defRPr sz="1700" b="0">
                          <a:solidFill>
                            <a:srgbClr val="092A20"/>
                          </a:solidFill>
                          <a:latin typeface="Arial"/>
                        </a:defRPr>
                      </a:pPr>
                      <a:r>
                        <a:t>Территория, маршрут и условия использования</a:t>
                      </a:r>
                    </a:p>
                  </a:txBody>
                  <a:tcPr marL="91440" marR="91440" marT="45720" marB="45720">
                    <a:solidFill>
                      <a:srgbClr val="EFF4EF"/>
                    </a:solidFill>
                  </a:tcPr>
                </a:tc>
              </a:tr>
              <a:tr h="583692">
                <a:tc>
                  <a:txBody>
                    <a:bodyPr/>
                    <a:lstStyle/>
                    <a:p>
                      <a:pPr>
                        <a:spcAft>
                          <a:spcPts val="0"/>
                        </a:spcAft>
                        <a:defRPr sz="1700" b="0">
                          <a:solidFill>
                            <a:srgbClr val="092A20"/>
                          </a:solidFill>
                          <a:latin typeface="Arial"/>
                        </a:defRPr>
                      </a:pPr>
                      <a:r>
                        <a:t>АХР</a:t>
                      </a:r>
                    </a:p>
                  </a:txBody>
                  <a:tcPr marL="91440" marR="91440" marT="45720" marB="45720">
                    <a:solidFill>
                      <a:srgbClr val="FFFFFF"/>
                    </a:solidFill>
                  </a:tcPr>
                </a:tc>
                <a:tc>
                  <a:txBody>
                    <a:bodyPr/>
                    <a:lstStyle/>
                    <a:p>
                      <a:pPr>
                        <a:spcAft>
                          <a:spcPts val="0"/>
                        </a:spcAft>
                        <a:defRPr sz="1700" b="0">
                          <a:solidFill>
                            <a:srgbClr val="092A20"/>
                          </a:solidFill>
                          <a:latin typeface="Arial"/>
                        </a:defRPr>
                      </a:pPr>
                      <a:r>
                        <a:t>Правомерность конкретной схемы выполнения</a:t>
                      </a:r>
                    </a:p>
                  </a:txBody>
                  <a:tcPr marL="91440" marR="91440" marT="45720" marB="45720">
                    <a:solidFill>
                      <a:srgbClr val="FFFFFF"/>
                    </a:solidFill>
                  </a:tcPr>
                </a:tc>
              </a:tr>
              <a:tr h="583692">
                <a:tc>
                  <a:txBody>
                    <a:bodyPr/>
                    <a:lstStyle/>
                    <a:p>
                      <a:pPr>
                        <a:spcAft>
                          <a:spcPts val="0"/>
                        </a:spcAft>
                        <a:defRPr sz="1700" b="0">
                          <a:solidFill>
                            <a:srgbClr val="092A20"/>
                          </a:solidFill>
                          <a:latin typeface="Arial"/>
                        </a:defRPr>
                      </a:pPr>
                      <a:r>
                        <a:t>Препарат</a:t>
                      </a:r>
                    </a:p>
                  </a:txBody>
                  <a:tcPr marL="91440" marR="91440" marT="45720" marB="45720">
                    <a:solidFill>
                      <a:srgbClr val="EFF4EF"/>
                    </a:solidFill>
                  </a:tcPr>
                </a:tc>
                <a:tc>
                  <a:txBody>
                    <a:bodyPr/>
                    <a:lstStyle/>
                    <a:p>
                      <a:pPr>
                        <a:spcAft>
                          <a:spcPts val="0"/>
                        </a:spcAft>
                        <a:defRPr sz="1700" b="0">
                          <a:solidFill>
                            <a:srgbClr val="092A20"/>
                          </a:solidFill>
                          <a:latin typeface="Arial"/>
                        </a:defRPr>
                      </a:pPr>
                      <a:r>
                        <a:t>Допустимость технологии и регламент применения</a:t>
                      </a:r>
                    </a:p>
                  </a:txBody>
                  <a:tcPr marL="91440" marR="91440" marT="45720" marB="45720">
                    <a:solidFill>
                      <a:srgbClr val="EFF4EF"/>
                    </a:solidFill>
                  </a:tcPr>
                </a:tc>
              </a:tr>
              <a:tr h="583692">
                <a:tc>
                  <a:txBody>
                    <a:bodyPr/>
                    <a:lstStyle/>
                    <a:p>
                      <a:pPr>
                        <a:spcAft>
                          <a:spcPts val="0"/>
                        </a:spcAft>
                        <a:defRPr sz="1700" b="0">
                          <a:solidFill>
                            <a:srgbClr val="092A20"/>
                          </a:solidFill>
                          <a:latin typeface="Arial"/>
                        </a:defRPr>
                      </a:pPr>
                      <a:r>
                        <a:t>Регион</a:t>
                      </a:r>
                    </a:p>
                  </a:txBody>
                  <a:tcPr marL="91440" marR="91440" marT="45720" marB="45720">
                    <a:solidFill>
                      <a:srgbClr val="FFFFFF"/>
                    </a:solidFill>
                  </a:tcPr>
                </a:tc>
                <a:tc>
                  <a:txBody>
                    <a:bodyPr/>
                    <a:lstStyle/>
                    <a:p>
                      <a:pPr>
                        <a:spcAft>
                          <a:spcPts val="0"/>
                        </a:spcAft>
                        <a:defRPr sz="1700" b="0">
                          <a:solidFill>
                            <a:srgbClr val="092A20"/>
                          </a:solidFill>
                          <a:latin typeface="Arial"/>
                        </a:defRPr>
                      </a:pPr>
                      <a:r>
                        <a:t>Действующий запрет / исключения, если применимы</a:t>
                      </a:r>
                    </a:p>
                  </a:txBody>
                  <a:tcPr marL="91440" marR="91440" marT="45720" marB="45720">
                    <a:solidFill>
                      <a:srgbClr val="FFFFFF"/>
                    </a:solidFill>
                  </a:tcPr>
                </a:tc>
              </a:tr>
            </a:tbl>
          </a:graphicData>
        </a:graphic>
      </p:graphicFrame>
      <p:sp>
        <p:nvSpPr>
          <p:cNvPr id="13" name="Rounded Rectangle 12"/>
          <p:cNvSpPr/>
          <p:nvPr/>
        </p:nvSpPr>
        <p:spPr>
          <a:xfrm>
            <a:off x="502920" y="5513832"/>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5596128"/>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[ФАКТ] С 01.09.2026 — ФАП-303. Санитарные условия требуют отдельной сверки; при сомнении NO-GO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Стейкхолдеры: власть и интерес</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10 / 22</a:t>
            </a:r>
          </a:p>
        </p:txBody>
      </p:sp>
      <p:sp>
        <p:nvSpPr>
          <p:cNvPr id="7" name="Rounded Rectangle 6"/>
          <p:cNvSpPr/>
          <p:nvPr/>
        </p:nvSpPr>
        <p:spPr>
          <a:xfrm>
            <a:off x="502920" y="1719072"/>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85800"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2103120"/>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Высокая власть / высокий интерес</a:t>
            </a:r>
          </a:p>
        </p:txBody>
      </p:sp>
      <p:sp>
        <p:nvSpPr>
          <p:cNvPr id="10" name="TextBox 9"/>
          <p:cNvSpPr txBox="1"/>
          <p:nvPr/>
        </p:nvSpPr>
        <p:spPr>
          <a:xfrm>
            <a:off x="704088" y="2706624"/>
            <a:ext cx="5074920" cy="822960"/>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Учредитель, инвестор, клиенты и агрономы</a:t>
            </a:r>
          </a:p>
          <a:p>
            <a:pPr>
              <a:spcBef>
                <a:spcPts val="0"/>
              </a:spcBef>
              <a:spcAft>
                <a:spcPts val="500"/>
              </a:spcAft>
              <a:defRPr sz="1600" b="0">
                <a:solidFill>
                  <a:srgbClr val="092A20"/>
                </a:solidFill>
                <a:latin typeface="Arial"/>
              </a:defRPr>
            </a:pPr>
            <a:r>
              <a:t>→ План-факт; договоры; приемка</a:t>
            </a:r>
          </a:p>
          <a:p>
            <a:pPr>
              <a:spcBef>
                <a:spcPts val="0"/>
              </a:spcBef>
              <a:spcAft>
                <a:spcPts val="500"/>
              </a:spcAft>
              <a:defRPr sz="1600" b="0">
                <a:solidFill>
                  <a:srgbClr val="092A20"/>
                </a:solidFill>
                <a:latin typeface="Arial"/>
              </a:defRPr>
            </a:pPr>
            <a:r>
              <a:t>Владелец: директор</a:t>
            </a:r>
          </a:p>
        </p:txBody>
      </p:sp>
      <p:sp>
        <p:nvSpPr>
          <p:cNvPr id="11" name="Rounded Rectangle 10"/>
          <p:cNvSpPr/>
          <p:nvPr/>
        </p:nvSpPr>
        <p:spPr>
          <a:xfrm>
            <a:off x="6208776" y="1719072"/>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91656"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9944" y="2103120"/>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Высокая власть / переменный интерес</a:t>
            </a:r>
          </a:p>
        </p:txBody>
      </p:sp>
      <p:sp>
        <p:nvSpPr>
          <p:cNvPr id="14" name="TextBox 13"/>
          <p:cNvSpPr txBox="1"/>
          <p:nvPr/>
        </p:nvSpPr>
        <p:spPr>
          <a:xfrm>
            <a:off x="6409944" y="2706624"/>
            <a:ext cx="5074920" cy="822960"/>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Уполномоченные органы</a:t>
            </a:r>
          </a:p>
          <a:p>
            <a:pPr>
              <a:spcBef>
                <a:spcPts val="0"/>
              </a:spcBef>
              <a:spcAft>
                <a:spcPts val="500"/>
              </a:spcAft>
              <a:defRPr sz="1600" b="0">
                <a:solidFill>
                  <a:srgbClr val="092A20"/>
                </a:solidFill>
                <a:latin typeface="Arial"/>
              </a:defRPr>
            </a:pPr>
            <a:r>
              <a:t>→ Документы по конкретной территории</a:t>
            </a:r>
          </a:p>
          <a:p>
            <a:pPr>
              <a:spcBef>
                <a:spcPts val="0"/>
              </a:spcBef>
              <a:spcAft>
                <a:spcPts val="500"/>
              </a:spcAft>
              <a:defRPr sz="1600" b="0">
                <a:solidFill>
                  <a:srgbClr val="092A20"/>
                </a:solidFill>
                <a:latin typeface="Arial"/>
              </a:defRPr>
            </a:pPr>
            <a:r>
              <a:t>Владелец: внешний юрист</a:t>
            </a:r>
          </a:p>
        </p:txBody>
      </p:sp>
      <p:sp>
        <p:nvSpPr>
          <p:cNvPr id="15" name="Rounded Rectangle 14"/>
          <p:cNvSpPr/>
          <p:nvPr/>
        </p:nvSpPr>
        <p:spPr>
          <a:xfrm>
            <a:off x="502920" y="3758183"/>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5800" y="3941063"/>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4142231"/>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Средняя власть / высокий интерес</a:t>
            </a:r>
          </a:p>
        </p:txBody>
      </p:sp>
      <p:sp>
        <p:nvSpPr>
          <p:cNvPr id="18" name="TextBox 17"/>
          <p:cNvSpPr txBox="1"/>
          <p:nvPr/>
        </p:nvSpPr>
        <p:spPr>
          <a:xfrm>
            <a:off x="704088" y="4745736"/>
            <a:ext cx="5074920" cy="822960"/>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Операторы, учебный партнер, агроном</a:t>
            </a:r>
          </a:p>
          <a:p>
            <a:pPr>
              <a:spcBef>
                <a:spcPts val="0"/>
              </a:spcBef>
              <a:spcAft>
                <a:spcPts val="500"/>
              </a:spcAft>
              <a:defRPr sz="1600" b="0">
                <a:solidFill>
                  <a:srgbClr val="092A20"/>
                </a:solidFill>
                <a:latin typeface="Arial"/>
              </a:defRPr>
            </a:pPr>
            <a:r>
              <a:t>→ Инструктаж, нагрузка, компетенции</a:t>
            </a:r>
          </a:p>
          <a:p>
            <a:pPr>
              <a:spcBef>
                <a:spcPts val="0"/>
              </a:spcBef>
              <a:spcAft>
                <a:spcPts val="500"/>
              </a:spcAft>
              <a:defRPr sz="1600" b="0">
                <a:solidFill>
                  <a:srgbClr val="092A20"/>
                </a:solidFill>
                <a:latin typeface="Arial"/>
              </a:defRPr>
            </a:pPr>
            <a:r>
              <a:t>Владелец: операционный руководитель</a:t>
            </a:r>
          </a:p>
        </p:txBody>
      </p:sp>
      <p:sp>
        <p:nvSpPr>
          <p:cNvPr id="19" name="Rounded Rectangle 18"/>
          <p:cNvSpPr/>
          <p:nvPr/>
        </p:nvSpPr>
        <p:spPr>
          <a:xfrm>
            <a:off x="6208776" y="3758183"/>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91656" y="3941063"/>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9944" y="4142231"/>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Низкая власть / высокий или переменный</a:t>
            </a:r>
          </a:p>
        </p:txBody>
      </p:sp>
      <p:sp>
        <p:nvSpPr>
          <p:cNvPr id="22" name="TextBox 21"/>
          <p:cNvSpPr txBox="1"/>
          <p:nvPr/>
        </p:nvSpPr>
        <p:spPr>
          <a:xfrm>
            <a:off x="6409944" y="4745736"/>
            <a:ext cx="5074920" cy="822960"/>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Кандидаты после СВО, соседи полей</a:t>
            </a:r>
          </a:p>
          <a:p>
            <a:pPr>
              <a:spcBef>
                <a:spcPts val="0"/>
              </a:spcBef>
              <a:spcAft>
                <a:spcPts val="500"/>
              </a:spcAft>
              <a:defRPr sz="1600" b="0">
                <a:solidFill>
                  <a:srgbClr val="092A20"/>
                </a:solidFill>
                <a:latin typeface="Arial"/>
              </a:defRPr>
            </a:pPr>
            <a:r>
              <a:t>→ Добровольность; канал обращений</a:t>
            </a:r>
          </a:p>
          <a:p>
            <a:pPr>
              <a:spcBef>
                <a:spcPts val="0"/>
              </a:spcBef>
              <a:spcAft>
                <a:spcPts val="500"/>
              </a:spcAft>
              <a:defRPr sz="1600" b="0">
                <a:solidFill>
                  <a:srgbClr val="092A20"/>
                </a:solidFill>
                <a:latin typeface="Arial"/>
              </a:defRPr>
            </a:pPr>
            <a:r>
              <a:t>Владелец: директор</a:t>
            </a:r>
          </a:p>
        </p:txBody>
      </p:sp>
      <p:sp>
        <p:nvSpPr>
          <p:cNvPr id="23" name="TextBox 22"/>
          <p:cNvSpPr txBox="1"/>
          <p:nvPr/>
        </p:nvSpPr>
        <p:spPr>
          <a:xfrm>
            <a:off x="594360" y="5897880"/>
            <a:ext cx="10972800" cy="502920"/>
          </a:xfrm>
          <a:prstGeom prst="rect">
            <a:avLst/>
          </a:prstGeom>
          <a:noFill/>
        </p:spPr>
        <p:txBody>
          <a:bodyPr wrap="square" lIns="13716" rIns="13716" tIns="0" bIns="0">
            <a:spAutoFit/>
          </a:bodyPr>
          <a:lstStyle/>
          <a:p>
            <a:pPr>
              <a:spcBef>
                <a:spcPts val="0"/>
              </a:spcBef>
              <a:spcAft>
                <a:spcPts val="500"/>
              </a:spcAft>
              <a:defRPr sz="1500" b="0">
                <a:solidFill>
                  <a:srgbClr val="AFC5B8"/>
                </a:solidFill>
                <a:latin typeface="Arial"/>
              </a:defRPr>
            </a:pPr>
            <a:r>
              <a:t>Сервис техники: средняя власть / средний интерес; регламент реакции — операционный руководитель.</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Производственный план</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 Производительность  •  [РАСЧЕТ] Календарная емкость бригады</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11 / 22</a:t>
            </a:r>
          </a:p>
        </p:txBody>
      </p:sp>
      <p:sp>
        <p:nvSpPr>
          <p:cNvPr id="7" name="Rounded Rectangle 6"/>
          <p:cNvSpPr/>
          <p:nvPr/>
        </p:nvSpPr>
        <p:spPr>
          <a:xfrm>
            <a:off x="502920" y="1719072"/>
            <a:ext cx="3584448" cy="33192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85800"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2075688"/>
            <a:ext cx="3182112"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13 000</a:t>
            </a:r>
          </a:p>
        </p:txBody>
      </p:sp>
      <p:sp>
        <p:nvSpPr>
          <p:cNvPr id="10" name="TextBox 9"/>
          <p:cNvSpPr txBox="1"/>
          <p:nvPr/>
        </p:nvSpPr>
        <p:spPr>
          <a:xfrm>
            <a:off x="704088" y="2807208"/>
            <a:ext cx="3182112"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га-проходов / потолок</a:t>
            </a:r>
          </a:p>
        </p:txBody>
      </p:sp>
      <p:sp>
        <p:nvSpPr>
          <p:cNvPr id="11" name="TextBox 10"/>
          <p:cNvSpPr txBox="1"/>
          <p:nvPr/>
        </p:nvSpPr>
        <p:spPr>
          <a:xfrm>
            <a:off x="704088" y="3410712"/>
            <a:ext cx="3182112" cy="1554479"/>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100 эффективных дней × 130 га</a:t>
            </a:r>
          </a:p>
          <a:p>
            <a:pPr>
              <a:spcBef>
                <a:spcPts val="0"/>
              </a:spcBef>
              <a:spcAft>
                <a:spcPts val="500"/>
              </a:spcAft>
              <a:defRPr sz="1700" b="0">
                <a:solidFill>
                  <a:srgbClr val="092A20"/>
                </a:solidFill>
                <a:latin typeface="Arial"/>
              </a:defRPr>
            </a:pPr>
            <a:r>
              <a:t>Основной + резервный аппарат</a:t>
            </a:r>
          </a:p>
          <a:p>
            <a:pPr>
              <a:spcBef>
                <a:spcPts val="0"/>
              </a:spcBef>
              <a:spcAft>
                <a:spcPts val="500"/>
              </a:spcAft>
              <a:defRPr sz="1700" b="0">
                <a:solidFill>
                  <a:srgbClr val="092A20"/>
                </a:solidFill>
                <a:latin typeface="Arial"/>
              </a:defRPr>
            </a:pPr>
            <a:r>
              <a:t>Резерв не удваивает мощность</a:t>
            </a:r>
          </a:p>
        </p:txBody>
      </p:sp>
      <p:sp>
        <p:nvSpPr>
          <p:cNvPr id="12" name="Rounded Rectangle 11"/>
          <p:cNvSpPr/>
          <p:nvPr/>
        </p:nvSpPr>
        <p:spPr>
          <a:xfrm>
            <a:off x="4297680" y="1719072"/>
            <a:ext cx="3584448" cy="33192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80560"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8848" y="2075688"/>
            <a:ext cx="3182112"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10 000</a:t>
            </a:r>
          </a:p>
        </p:txBody>
      </p:sp>
      <p:sp>
        <p:nvSpPr>
          <p:cNvPr id="15" name="TextBox 14"/>
          <p:cNvSpPr txBox="1"/>
          <p:nvPr/>
        </p:nvSpPr>
        <p:spPr>
          <a:xfrm>
            <a:off x="4498848" y="2807208"/>
            <a:ext cx="3182112"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га-обследований</a:t>
            </a:r>
          </a:p>
        </p:txBody>
      </p:sp>
      <p:sp>
        <p:nvSpPr>
          <p:cNvPr id="16" name="TextBox 15"/>
          <p:cNvSpPr txBox="1"/>
          <p:nvPr/>
        </p:nvSpPr>
        <p:spPr>
          <a:xfrm>
            <a:off x="4498848" y="3410712"/>
            <a:ext cx="3182112" cy="1554479"/>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20 отдельных дней × 500 га</a:t>
            </a:r>
          </a:p>
          <a:p>
            <a:pPr>
              <a:spcBef>
                <a:spcPts val="0"/>
              </a:spcBef>
              <a:spcAft>
                <a:spcPts val="500"/>
              </a:spcAft>
              <a:defRPr sz="1700" b="0">
                <a:solidFill>
                  <a:srgbClr val="092A20"/>
                </a:solidFill>
                <a:latin typeface="Arial"/>
              </a:defRPr>
            </a:pPr>
            <a:r>
              <a:t>Без одновременных полетов</a:t>
            </a:r>
          </a:p>
          <a:p>
            <a:pPr>
              <a:spcBef>
                <a:spcPts val="0"/>
              </a:spcBef>
              <a:spcAft>
                <a:spcPts val="500"/>
              </a:spcAft>
              <a:defRPr sz="1700" b="0">
                <a:solidFill>
                  <a:srgbClr val="092A20"/>
                </a:solidFill>
                <a:latin typeface="Arial"/>
              </a:defRPr>
            </a:pPr>
            <a:r>
              <a:t>Одной бригадой — по очереди</a:t>
            </a:r>
          </a:p>
        </p:txBody>
      </p:sp>
      <p:sp>
        <p:nvSpPr>
          <p:cNvPr id="17" name="Rounded Rectangle 16"/>
          <p:cNvSpPr/>
          <p:nvPr/>
        </p:nvSpPr>
        <p:spPr>
          <a:xfrm>
            <a:off x="8092440" y="1719072"/>
            <a:ext cx="3584448" cy="33192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275319"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3608" y="2075688"/>
            <a:ext cx="3182112"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34</a:t>
            </a:r>
          </a:p>
        </p:txBody>
      </p:sp>
      <p:sp>
        <p:nvSpPr>
          <p:cNvPr id="20" name="TextBox 19"/>
          <p:cNvSpPr txBox="1"/>
          <p:nvPr/>
        </p:nvSpPr>
        <p:spPr>
          <a:xfrm>
            <a:off x="8293608" y="2807208"/>
            <a:ext cx="3182112"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дня резерва</a:t>
            </a:r>
          </a:p>
        </p:txBody>
      </p:sp>
      <p:sp>
        <p:nvSpPr>
          <p:cNvPr id="21" name="TextBox 20"/>
          <p:cNvSpPr txBox="1"/>
          <p:nvPr/>
        </p:nvSpPr>
        <p:spPr>
          <a:xfrm>
            <a:off x="8293608" y="3410712"/>
            <a:ext cx="3182112" cy="1554479"/>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154 календарных дня сезона</a:t>
            </a:r>
          </a:p>
          <a:p>
            <a:pPr>
              <a:spcBef>
                <a:spcPts val="0"/>
              </a:spcBef>
              <a:spcAft>
                <a:spcPts val="500"/>
              </a:spcAft>
              <a:defRPr sz="1700" b="0">
                <a:solidFill>
                  <a:srgbClr val="092A20"/>
                </a:solidFill>
                <a:latin typeface="Arial"/>
              </a:defRPr>
            </a:pPr>
            <a:r>
              <a:t>− 100 дней внесения</a:t>
            </a:r>
          </a:p>
          <a:p>
            <a:pPr>
              <a:spcBef>
                <a:spcPts val="0"/>
              </a:spcBef>
              <a:spcAft>
                <a:spcPts val="500"/>
              </a:spcAft>
              <a:defRPr sz="1700" b="0">
                <a:solidFill>
                  <a:srgbClr val="092A20"/>
                </a:solidFill>
                <a:latin typeface="Arial"/>
              </a:defRPr>
            </a:pPr>
            <a:r>
              <a:t>− 20 дней мониторинга</a:t>
            </a:r>
          </a:p>
        </p:txBody>
      </p:sp>
      <p:sp>
        <p:nvSpPr>
          <p:cNvPr id="22" name="TextBox 21"/>
          <p:cNvSpPr txBox="1"/>
          <p:nvPr/>
        </p:nvSpPr>
        <p:spPr>
          <a:xfrm>
            <a:off x="594360" y="5175504"/>
            <a:ext cx="10972800" cy="457200"/>
          </a:xfrm>
          <a:prstGeom prst="rect">
            <a:avLst/>
          </a:prstGeom>
          <a:noFill/>
        </p:spPr>
        <p:txBody>
          <a:bodyPr wrap="square" lIns="13716" rIns="13716" tIns="0" bIns="0">
            <a:spAutoFit/>
          </a:bodyPr>
          <a:lstStyle/>
          <a:p>
            <a:pPr>
              <a:spcBef>
                <a:spcPts val="0"/>
              </a:spcBef>
              <a:spcAft>
                <a:spcPts val="500"/>
              </a:spcAft>
              <a:defRPr sz="2000" b="1">
                <a:solidFill>
                  <a:srgbClr val="FFFFFF"/>
                </a:solidFill>
                <a:latin typeface="Arial"/>
              </a:defRPr>
            </a:pPr>
            <a:r>
              <a:t>Проверка → обследование → подготовка → выполнение → контроль и акт</a:t>
            </a:r>
          </a:p>
        </p:txBody>
      </p:sp>
      <p:sp>
        <p:nvSpPr>
          <p:cNvPr id="23" name="Rounded Rectangle 22"/>
          <p:cNvSpPr/>
          <p:nvPr/>
        </p:nvSpPr>
        <p:spPr>
          <a:xfrm>
            <a:off x="502920" y="5733288"/>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5815583"/>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Это напряженный сценарный потолок. Хронометраж и достаточность резерва не подтверждены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Организационный план</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12 / 22</a:t>
            </a:r>
          </a:p>
        </p:txBody>
      </p:sp>
      <p:sp>
        <p:nvSpPr>
          <p:cNvPr id="7" name="TextBox 6"/>
          <p:cNvSpPr txBox="1"/>
          <p:nvPr/>
        </p:nvSpPr>
        <p:spPr>
          <a:xfrm>
            <a:off x="594360" y="1755648"/>
            <a:ext cx="3657600" cy="914400"/>
          </a:xfrm>
          <a:prstGeom prst="rect">
            <a:avLst/>
          </a:prstGeom>
          <a:noFill/>
        </p:spPr>
        <p:txBody>
          <a:bodyPr wrap="square" lIns="13716" rIns="13716" tIns="0" bIns="0">
            <a:spAutoFit/>
          </a:bodyPr>
          <a:lstStyle/>
          <a:p>
            <a:pPr>
              <a:spcBef>
                <a:spcPts val="0"/>
              </a:spcBef>
              <a:spcAft>
                <a:spcPts val="500"/>
              </a:spcAft>
              <a:defRPr sz="4400" b="1">
                <a:solidFill>
                  <a:srgbClr val="C8F26B"/>
                </a:solidFill>
                <a:latin typeface="Arial"/>
              </a:defRPr>
            </a:pPr>
            <a:r>
              <a:t>3 FTE</a:t>
            </a:r>
          </a:p>
        </p:txBody>
      </p:sp>
      <p:sp>
        <p:nvSpPr>
          <p:cNvPr id="8" name="TextBox 7"/>
          <p:cNvSpPr txBox="1"/>
          <p:nvPr/>
        </p:nvSpPr>
        <p:spPr>
          <a:xfrm>
            <a:off x="3200400" y="1847088"/>
            <a:ext cx="8321040" cy="786384"/>
          </a:xfrm>
          <a:prstGeom prst="rect">
            <a:avLst/>
          </a:prstGeom>
          <a:noFill/>
        </p:spPr>
        <p:txBody>
          <a:bodyPr wrap="square" lIns="13716" rIns="13716" tIns="0" bIns="0">
            <a:spAutoFit/>
          </a:bodyPr>
          <a:lstStyle/>
          <a:p>
            <a:pPr>
              <a:spcBef>
                <a:spcPts val="0"/>
              </a:spcBef>
              <a:spcAft>
                <a:spcPts val="500"/>
              </a:spcAft>
              <a:defRPr sz="2000" b="0">
                <a:solidFill>
                  <a:srgbClr val="FFFFFF"/>
                </a:solidFill>
                <a:latin typeface="Arial"/>
              </a:defRPr>
            </a:pPr>
            <a:r>
              <a:t>3,0 млн ₽ / год — бюджет штатного труда; требует проверки рынка и начислений</a:t>
            </a:r>
          </a:p>
        </p:txBody>
      </p:sp>
      <p:graphicFrame>
        <p:nvGraphicFramePr>
          <p:cNvPr id="9" name="Table 8"/>
          <p:cNvGraphicFramePr>
            <a:graphicFrameLocks noGrp="1"/>
          </p:cNvGraphicFramePr>
          <p:nvPr/>
        </p:nvGraphicFramePr>
        <p:xfrm>
          <a:off x="502920" y="2761488"/>
          <a:ext cx="11183112" cy="1746504"/>
        </p:xfrm>
        <a:graphic>
          <a:graphicData uri="http://schemas.openxmlformats.org/drawingml/2006/table">
            <a:tbl>
              <a:tblPr firstRow="1" bandRow="1">
                <a:tableStyleId>{5C22544A-7EE6-4342-B048-85BDC9FD1C3A}</a:tableStyleId>
              </a:tblPr>
              <a:tblGrid>
                <a:gridCol w="3931920"/>
                <a:gridCol w="7251192"/>
              </a:tblGrid>
              <a:tr h="436626">
                <a:tc>
                  <a:txBody>
                    <a:bodyPr/>
                    <a:lstStyle/>
                    <a:p>
                      <a:pPr>
                        <a:spcAft>
                          <a:spcPts val="0"/>
                        </a:spcAft>
                        <a:defRPr sz="1800" b="1">
                          <a:solidFill>
                            <a:srgbClr val="FFFFFF"/>
                          </a:solidFill>
                          <a:latin typeface="Arial"/>
                        </a:defRPr>
                      </a:pPr>
                      <a:r>
                        <a:t>Штатная роль</a:t>
                      </a:r>
                    </a:p>
                  </a:txBody>
                  <a:tcPr marL="91440" marR="91440" marT="45720" marB="45720">
                    <a:solidFill>
                      <a:srgbClr val="164C38"/>
                    </a:solidFill>
                  </a:tcPr>
                </a:tc>
                <a:tc>
                  <a:txBody>
                    <a:bodyPr/>
                    <a:lstStyle/>
                    <a:p>
                      <a:pPr>
                        <a:spcAft>
                          <a:spcPts val="0"/>
                        </a:spcAft>
                        <a:defRPr sz="1800" b="1">
                          <a:solidFill>
                            <a:srgbClr val="FFFFFF"/>
                          </a:solidFill>
                          <a:latin typeface="Arial"/>
                        </a:defRPr>
                      </a:pPr>
                      <a:r>
                        <a:t>Функции</a:t>
                      </a:r>
                    </a:p>
                  </a:txBody>
                  <a:tcPr marL="91440" marR="91440" marT="45720" marB="45720">
                    <a:solidFill>
                      <a:srgbClr val="164C38"/>
                    </a:solidFill>
                  </a:tcPr>
                </a:tc>
              </a:tr>
              <a:tr h="436626">
                <a:tc>
                  <a:txBody>
                    <a:bodyPr/>
                    <a:lstStyle/>
                    <a:p>
                      <a:pPr>
                        <a:spcAft>
                          <a:spcPts val="0"/>
                        </a:spcAft>
                        <a:defRPr sz="1800" b="0">
                          <a:solidFill>
                            <a:srgbClr val="092A20"/>
                          </a:solidFill>
                          <a:latin typeface="Arial"/>
                        </a:defRPr>
                      </a:pPr>
                      <a:r>
                        <a:t>Директор</a:t>
                      </a:r>
                    </a:p>
                  </a:txBody>
                  <a:tcPr marL="91440" marR="91440" marT="45720" marB="45720">
                    <a:solidFill>
                      <a:srgbClr val="FFFFFF"/>
                    </a:solidFill>
                  </a:tcPr>
                </a:tc>
                <a:tc>
                  <a:txBody>
                    <a:bodyPr/>
                    <a:lstStyle/>
                    <a:p>
                      <a:pPr>
                        <a:spcAft>
                          <a:spcPts val="0"/>
                        </a:spcAft>
                        <a:defRPr sz="1800" b="0">
                          <a:solidFill>
                            <a:srgbClr val="092A20"/>
                          </a:solidFill>
                          <a:latin typeface="Arial"/>
                        </a:defRPr>
                      </a:pPr>
                      <a:r>
                        <a:t>Продажи, договоры, деньги и партнеры</a:t>
                      </a:r>
                    </a:p>
                  </a:txBody>
                  <a:tcPr marL="91440" marR="91440" marT="45720" marB="45720">
                    <a:solidFill>
                      <a:srgbClr val="FFFFFF"/>
                    </a:solidFill>
                  </a:tcPr>
                </a:tc>
              </a:tr>
              <a:tr h="436626">
                <a:tc>
                  <a:txBody>
                    <a:bodyPr/>
                    <a:lstStyle/>
                    <a:p>
                      <a:pPr>
                        <a:spcAft>
                          <a:spcPts val="0"/>
                        </a:spcAft>
                        <a:defRPr sz="1800" b="0">
                          <a:solidFill>
                            <a:srgbClr val="092A20"/>
                          </a:solidFill>
                          <a:latin typeface="Arial"/>
                        </a:defRPr>
                      </a:pPr>
                      <a:r>
                        <a:t>Оператор / операционный руководитель</a:t>
                      </a:r>
                    </a:p>
                  </a:txBody>
                  <a:tcPr marL="91440" marR="91440" marT="45720" marB="45720">
                    <a:solidFill>
                      <a:srgbClr val="EFF4EF"/>
                    </a:solidFill>
                  </a:tcPr>
                </a:tc>
                <a:tc>
                  <a:txBody>
                    <a:bodyPr/>
                    <a:lstStyle/>
                    <a:p>
                      <a:pPr>
                        <a:spcAft>
                          <a:spcPts val="0"/>
                        </a:spcAft>
                        <a:defRPr sz="1800" b="0">
                          <a:solidFill>
                            <a:srgbClr val="092A20"/>
                          </a:solidFill>
                          <a:latin typeface="Arial"/>
                        </a:defRPr>
                      </a:pPr>
                      <a:r>
                        <a:t>Календарь, техника, безопасность и наставник</a:t>
                      </a:r>
                    </a:p>
                  </a:txBody>
                  <a:tcPr marL="91440" marR="91440" marT="45720" marB="45720">
                    <a:solidFill>
                      <a:srgbClr val="EFF4EF"/>
                    </a:solidFill>
                  </a:tcPr>
                </a:tc>
              </a:tr>
              <a:tr h="436626">
                <a:tc>
                  <a:txBody>
                    <a:bodyPr/>
                    <a:lstStyle/>
                    <a:p>
                      <a:pPr>
                        <a:spcAft>
                          <a:spcPts val="0"/>
                        </a:spcAft>
                        <a:defRPr sz="1800" b="0">
                          <a:solidFill>
                            <a:srgbClr val="092A20"/>
                          </a:solidFill>
                          <a:latin typeface="Arial"/>
                        </a:defRPr>
                      </a:pPr>
                      <a:r>
                        <a:t>Второй оператор / помощник</a:t>
                      </a:r>
                    </a:p>
                  </a:txBody>
                  <a:tcPr marL="91440" marR="91440" marT="45720" marB="45720">
                    <a:solidFill>
                      <a:srgbClr val="FFFFFF"/>
                    </a:solidFill>
                  </a:tcPr>
                </a:tc>
                <a:tc>
                  <a:txBody>
                    <a:bodyPr/>
                    <a:lstStyle/>
                    <a:p>
                      <a:pPr>
                        <a:spcAft>
                          <a:spcPts val="0"/>
                        </a:spcAft>
                        <a:defRPr sz="1800" b="0">
                          <a:solidFill>
                            <a:srgbClr val="092A20"/>
                          </a:solidFill>
                          <a:latin typeface="Arial"/>
                        </a:defRPr>
                      </a:pPr>
                      <a:r>
                        <a:t>Подготовка; мониторинг в отдельных окнах</a:t>
                      </a:r>
                    </a:p>
                  </a:txBody>
                  <a:tcPr marL="91440" marR="91440" marT="45720" marB="45720">
                    <a:solidFill>
                      <a:srgbClr val="FFFFFF"/>
                    </a:solidFill>
                  </a:tcPr>
                </a:tc>
              </a:tr>
            </a:tbl>
          </a:graphicData>
        </a:graphic>
      </p:graphicFrame>
      <p:sp>
        <p:nvSpPr>
          <p:cNvPr id="10" name="TextBox 9"/>
          <p:cNvSpPr txBox="1"/>
          <p:nvPr/>
        </p:nvSpPr>
        <p:spPr>
          <a:xfrm>
            <a:off x="594360" y="4709160"/>
            <a:ext cx="10972800" cy="548640"/>
          </a:xfrm>
          <a:prstGeom prst="rect">
            <a:avLst/>
          </a:prstGeom>
          <a:noFill/>
        </p:spPr>
        <p:txBody>
          <a:bodyPr wrap="square" lIns="13716" rIns="13716" tIns="0" bIns="0">
            <a:spAutoFit/>
          </a:bodyPr>
          <a:lstStyle/>
          <a:p>
            <a:pPr>
              <a:spcBef>
                <a:spcPts val="0"/>
              </a:spcBef>
              <a:spcAft>
                <a:spcPts val="500"/>
              </a:spcAft>
              <a:defRPr sz="1800" b="0">
                <a:solidFill>
                  <a:srgbClr val="AFC5B8"/>
                </a:solidFill>
                <a:latin typeface="Arial"/>
              </a:defRPr>
            </a:pPr>
            <a:r>
              <a:t>Вне штата: агроном, юрист, бухгалтер и учебный партнер — оплачиваемые услуги.</a:t>
            </a:r>
          </a:p>
        </p:txBody>
      </p:sp>
      <p:sp>
        <p:nvSpPr>
          <p:cNvPr id="11" name="Rounded Rectangle 10"/>
          <p:cNvSpPr/>
          <p:nvPr/>
        </p:nvSpPr>
        <p:spPr>
          <a:xfrm>
            <a:off x="502920" y="5513832"/>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5596128"/>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После СВО: добровольный отбор → гражданское обучение → наставник → проверка компетенций</a:t>
            </a:r>
          </a:p>
        </p:txBody>
      </p:sp>
      <p:sp>
        <p:nvSpPr>
          <p:cNvPr id="13" name="TextBox 12"/>
          <p:cNvSpPr txBox="1"/>
          <p:nvPr/>
        </p:nvSpPr>
        <p:spPr>
          <a:xfrm>
            <a:off x="594360" y="6080760"/>
            <a:ext cx="10972800" cy="356616"/>
          </a:xfrm>
          <a:prstGeom prst="rect">
            <a:avLst/>
          </a:prstGeom>
          <a:noFill/>
        </p:spPr>
        <p:txBody>
          <a:bodyPr wrap="square" lIns="13716" rIns="13716" tIns="0" bIns="0">
            <a:spAutoFit/>
          </a:bodyPr>
          <a:lstStyle/>
          <a:p>
            <a:pPr>
              <a:spcBef>
                <a:spcPts val="0"/>
              </a:spcBef>
              <a:spcAft>
                <a:spcPts val="500"/>
              </a:spcAft>
              <a:defRPr sz="1500" b="0">
                <a:solidFill>
                  <a:srgbClr val="AFC5B8"/>
                </a:solidFill>
                <a:latin typeface="Arial"/>
              </a:defRPr>
            </a:pPr>
            <a:r>
              <a:t>Одинаковые требования для всех; опыт не дает автоматического допуска. Личные данные — конфиденциально.</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WBS / иерархическая структура работ</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 WBS из data/project_plan.csv; каждый пакет имеет результат</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13 / 22</a:t>
            </a:r>
          </a:p>
        </p:txBody>
      </p:sp>
      <p:sp>
        <p:nvSpPr>
          <p:cNvPr id="7" name="Rounded Rectangle 6"/>
          <p:cNvSpPr/>
          <p:nvPr/>
        </p:nvSpPr>
        <p:spPr>
          <a:xfrm>
            <a:off x="502920" y="1719072"/>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85800"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2103120"/>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1 / Проверка модели</a:t>
            </a:r>
          </a:p>
        </p:txBody>
      </p:sp>
      <p:sp>
        <p:nvSpPr>
          <p:cNvPr id="10" name="TextBox 9"/>
          <p:cNvSpPr txBox="1"/>
          <p:nvPr/>
        </p:nvSpPr>
        <p:spPr>
          <a:xfrm>
            <a:off x="704088" y="2706624"/>
            <a:ext cx="5074920" cy="822960"/>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1.1 A — правовая карта</a:t>
            </a:r>
          </a:p>
          <a:p>
            <a:pPr>
              <a:spcBef>
                <a:spcPts val="0"/>
              </a:spcBef>
              <a:spcAft>
                <a:spcPts val="500"/>
              </a:spcAft>
              <a:defRPr sz="1700" b="0">
                <a:solidFill>
                  <a:srgbClr val="092A20"/>
                </a:solidFill>
                <a:latin typeface="Arial"/>
              </a:defRPr>
            </a:pPr>
            <a:r>
              <a:t>1.2 B — интервью и заявки</a:t>
            </a:r>
          </a:p>
          <a:p>
            <a:pPr>
              <a:spcBef>
                <a:spcPts val="0"/>
              </a:spcBef>
              <a:spcAft>
                <a:spcPts val="500"/>
              </a:spcAft>
              <a:defRPr sz="1700" b="0">
                <a:solidFill>
                  <a:srgbClr val="092A20"/>
                </a:solidFill>
                <a:latin typeface="Arial"/>
              </a:defRPr>
            </a:pPr>
            <a:r>
              <a:t>1.3 C — ООО и договоры</a:t>
            </a:r>
          </a:p>
        </p:txBody>
      </p:sp>
      <p:sp>
        <p:nvSpPr>
          <p:cNvPr id="11" name="Rounded Rectangle 10"/>
          <p:cNvSpPr/>
          <p:nvPr/>
        </p:nvSpPr>
        <p:spPr>
          <a:xfrm>
            <a:off x="6208776" y="1719072"/>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91656"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9944" y="2103120"/>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2 / Ресурсы</a:t>
            </a:r>
          </a:p>
        </p:txBody>
      </p:sp>
      <p:sp>
        <p:nvSpPr>
          <p:cNvPr id="14" name="TextBox 13"/>
          <p:cNvSpPr txBox="1"/>
          <p:nvPr/>
        </p:nvSpPr>
        <p:spPr>
          <a:xfrm>
            <a:off x="6409944" y="2706624"/>
            <a:ext cx="5074920" cy="822960"/>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2.1 D — инвестиционное решение</a:t>
            </a:r>
          </a:p>
          <a:p>
            <a:pPr>
              <a:spcBef>
                <a:spcPts val="0"/>
              </a:spcBef>
              <a:spcAft>
                <a:spcPts val="500"/>
              </a:spcAft>
              <a:defRPr sz="1700" b="0">
                <a:solidFill>
                  <a:srgbClr val="092A20"/>
                </a:solidFill>
                <a:latin typeface="Arial"/>
              </a:defRPr>
            </a:pPr>
            <a:r>
              <a:t>2.2 E — приемка техники</a:t>
            </a:r>
          </a:p>
          <a:p>
            <a:pPr>
              <a:spcBef>
                <a:spcPts val="0"/>
              </a:spcBef>
              <a:spcAft>
                <a:spcPts val="500"/>
              </a:spcAft>
              <a:defRPr sz="1700" b="0">
                <a:solidFill>
                  <a:srgbClr val="092A20"/>
                </a:solidFill>
                <a:latin typeface="Arial"/>
              </a:defRPr>
            </a:pPr>
            <a:r>
              <a:t>2.3 F — обучение</a:t>
            </a:r>
          </a:p>
          <a:p>
            <a:pPr>
              <a:spcBef>
                <a:spcPts val="0"/>
              </a:spcBef>
              <a:spcAft>
                <a:spcPts val="500"/>
              </a:spcAft>
              <a:defRPr sz="1700" b="0">
                <a:solidFill>
                  <a:srgbClr val="092A20"/>
                </a:solidFill>
                <a:latin typeface="Arial"/>
              </a:defRPr>
            </a:pPr>
            <a:r>
              <a:t>2.4 G — готовность БВС</a:t>
            </a:r>
          </a:p>
        </p:txBody>
      </p:sp>
      <p:sp>
        <p:nvSpPr>
          <p:cNvPr id="15" name="Rounded Rectangle 14"/>
          <p:cNvSpPr/>
          <p:nvPr/>
        </p:nvSpPr>
        <p:spPr>
          <a:xfrm>
            <a:off x="502920" y="3758183"/>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5800" y="3941063"/>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4142231"/>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3 / Предсезонная готовность</a:t>
            </a:r>
          </a:p>
        </p:txBody>
      </p:sp>
      <p:sp>
        <p:nvSpPr>
          <p:cNvPr id="18" name="TextBox 17"/>
          <p:cNvSpPr txBox="1"/>
          <p:nvPr/>
        </p:nvSpPr>
        <p:spPr>
          <a:xfrm>
            <a:off x="704088" y="4745736"/>
            <a:ext cx="5074920" cy="822960"/>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3.1 H — SOP, CRM, карты</a:t>
            </a:r>
          </a:p>
          <a:p>
            <a:pPr>
              <a:spcBef>
                <a:spcPts val="0"/>
              </a:spcBef>
              <a:spcAft>
                <a:spcPts val="500"/>
              </a:spcAft>
              <a:defRPr sz="1700" b="0">
                <a:solidFill>
                  <a:srgbClr val="092A20"/>
                </a:solidFill>
                <a:latin typeface="Arial"/>
              </a:defRPr>
            </a:pPr>
            <a:r>
              <a:t>3.2 I — приемочные испытания</a:t>
            </a:r>
          </a:p>
          <a:p>
            <a:pPr>
              <a:spcBef>
                <a:spcPts val="0"/>
              </a:spcBef>
              <a:spcAft>
                <a:spcPts val="500"/>
              </a:spcAft>
              <a:defRPr sz="1700" b="0">
                <a:solidFill>
                  <a:srgbClr val="092A20"/>
                </a:solidFill>
                <a:latin typeface="Arial"/>
              </a:defRPr>
            </a:pPr>
            <a:r>
              <a:t>3.3 J — договоры сезона</a:t>
            </a:r>
          </a:p>
          <a:p>
            <a:pPr>
              <a:spcBef>
                <a:spcPts val="0"/>
              </a:spcBef>
              <a:spcAft>
                <a:spcPts val="500"/>
              </a:spcAft>
              <a:defRPr sz="1700" b="0">
                <a:solidFill>
                  <a:srgbClr val="092A20"/>
                </a:solidFill>
                <a:latin typeface="Arial"/>
              </a:defRPr>
            </a:pPr>
            <a:r>
              <a:t>3.4 M — ожидание окна</a:t>
            </a:r>
          </a:p>
        </p:txBody>
      </p:sp>
      <p:sp>
        <p:nvSpPr>
          <p:cNvPr id="19" name="Rounded Rectangle 18"/>
          <p:cNvSpPr/>
          <p:nvPr/>
        </p:nvSpPr>
        <p:spPr>
          <a:xfrm>
            <a:off x="6208776" y="3758183"/>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91656" y="3941063"/>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9944" y="4142231"/>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4 / Исполнение и контроль</a:t>
            </a:r>
          </a:p>
        </p:txBody>
      </p:sp>
      <p:sp>
        <p:nvSpPr>
          <p:cNvPr id="22" name="TextBox 21"/>
          <p:cNvSpPr txBox="1"/>
          <p:nvPr/>
        </p:nvSpPr>
        <p:spPr>
          <a:xfrm>
            <a:off x="6409944" y="4745736"/>
            <a:ext cx="5074920" cy="822960"/>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4.1 K — коммерческий сезон</a:t>
            </a:r>
          </a:p>
          <a:p>
            <a:pPr>
              <a:spcBef>
                <a:spcPts val="0"/>
              </a:spcBef>
              <a:spcAft>
                <a:spcPts val="500"/>
              </a:spcAft>
              <a:defRPr sz="1700" b="0">
                <a:solidFill>
                  <a:srgbClr val="092A20"/>
                </a:solidFill>
                <a:latin typeface="Arial"/>
              </a:defRPr>
            </a:pPr>
            <a:r>
              <a:t>4.2 L — аудит и решение</a:t>
            </a:r>
          </a:p>
        </p:txBody>
      </p:sp>
      <p:sp>
        <p:nvSpPr>
          <p:cNvPr id="23" name="TextBox 22"/>
          <p:cNvSpPr txBox="1"/>
          <p:nvPr/>
        </p:nvSpPr>
        <p:spPr>
          <a:xfrm>
            <a:off x="594360" y="5925312"/>
            <a:ext cx="10972800" cy="475488"/>
          </a:xfrm>
          <a:prstGeom prst="rect">
            <a:avLst/>
          </a:prstGeom>
          <a:noFill/>
        </p:spPr>
        <p:txBody>
          <a:bodyPr wrap="square" lIns="13716" rIns="13716" tIns="0" bIns="0">
            <a:spAutoFit/>
          </a:bodyPr>
          <a:lstStyle/>
          <a:p>
            <a:pPr>
              <a:spcBef>
                <a:spcPts val="0"/>
              </a:spcBef>
              <a:spcAft>
                <a:spcPts val="500"/>
              </a:spcAft>
              <a:defRPr sz="1500" b="0">
                <a:solidFill>
                  <a:srgbClr val="AFC5B8"/>
                </a:solidFill>
                <a:latin typeface="Arial"/>
              </a:defRPr>
            </a:pPr>
            <a:r>
              <a:t>Закупка ≠ разрешение на работы. Полевой пилот 100 га включен в апрельский сезон, не прибавлен сверху.</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Диаграмма Ганта</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[РАСЧЕТ] Гант из CSV  •  [ДОПУЩЕНИЕ] Даты и длительности — план, не выданные разрешения</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14 / 22</a:t>
            </a:r>
          </a:p>
        </p:txBody>
      </p:sp>
      <p:sp>
        <p:nvSpPr>
          <p:cNvPr id="7" name="Rounded Rectangle 6"/>
          <p:cNvSpPr/>
          <p:nvPr/>
        </p:nvSpPr>
        <p:spPr>
          <a:xfrm>
            <a:off x="502920" y="1700784"/>
            <a:ext cx="11183112" cy="4160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776472"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39312"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0</a:t>
            </a:r>
          </a:p>
        </p:txBody>
      </p:sp>
      <p:sp>
        <p:nvSpPr>
          <p:cNvPr id="10" name="Rectangle 9"/>
          <p:cNvSpPr/>
          <p:nvPr/>
        </p:nvSpPr>
        <p:spPr>
          <a:xfrm>
            <a:off x="4453959"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16799"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5</a:t>
            </a:r>
          </a:p>
        </p:txBody>
      </p:sp>
      <p:sp>
        <p:nvSpPr>
          <p:cNvPr id="12" name="Rectangle 11"/>
          <p:cNvSpPr/>
          <p:nvPr/>
        </p:nvSpPr>
        <p:spPr>
          <a:xfrm>
            <a:off x="5131446"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94286"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10</a:t>
            </a:r>
          </a:p>
        </p:txBody>
      </p:sp>
      <p:sp>
        <p:nvSpPr>
          <p:cNvPr id="14" name="Rectangle 13"/>
          <p:cNvSpPr/>
          <p:nvPr/>
        </p:nvSpPr>
        <p:spPr>
          <a:xfrm>
            <a:off x="5808933"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71773"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15</a:t>
            </a:r>
          </a:p>
        </p:txBody>
      </p:sp>
      <p:sp>
        <p:nvSpPr>
          <p:cNvPr id="16" name="Rectangle 15"/>
          <p:cNvSpPr/>
          <p:nvPr/>
        </p:nvSpPr>
        <p:spPr>
          <a:xfrm>
            <a:off x="6486421"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261"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20</a:t>
            </a:r>
          </a:p>
        </p:txBody>
      </p:sp>
      <p:sp>
        <p:nvSpPr>
          <p:cNvPr id="18" name="Rectangle 17"/>
          <p:cNvSpPr/>
          <p:nvPr/>
        </p:nvSpPr>
        <p:spPr>
          <a:xfrm>
            <a:off x="7163908"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26748"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25</a:t>
            </a:r>
          </a:p>
        </p:txBody>
      </p:sp>
      <p:sp>
        <p:nvSpPr>
          <p:cNvPr id="20" name="Rectangle 19"/>
          <p:cNvSpPr/>
          <p:nvPr/>
        </p:nvSpPr>
        <p:spPr>
          <a:xfrm>
            <a:off x="7841395"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04235"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30</a:t>
            </a:r>
          </a:p>
        </p:txBody>
      </p:sp>
      <p:sp>
        <p:nvSpPr>
          <p:cNvPr id="22" name="Rectangle 21"/>
          <p:cNvSpPr/>
          <p:nvPr/>
        </p:nvSpPr>
        <p:spPr>
          <a:xfrm>
            <a:off x="8518882"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81722"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35</a:t>
            </a:r>
          </a:p>
        </p:txBody>
      </p:sp>
      <p:sp>
        <p:nvSpPr>
          <p:cNvPr id="24" name="Rectangle 23"/>
          <p:cNvSpPr/>
          <p:nvPr/>
        </p:nvSpPr>
        <p:spPr>
          <a:xfrm>
            <a:off x="9196370"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059210"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40</a:t>
            </a:r>
          </a:p>
        </p:txBody>
      </p:sp>
      <p:sp>
        <p:nvSpPr>
          <p:cNvPr id="26" name="Rectangle 25"/>
          <p:cNvSpPr/>
          <p:nvPr/>
        </p:nvSpPr>
        <p:spPr>
          <a:xfrm>
            <a:off x="9873857"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36697"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45</a:t>
            </a:r>
          </a:p>
        </p:txBody>
      </p:sp>
      <p:sp>
        <p:nvSpPr>
          <p:cNvPr id="28" name="Rectangle 27"/>
          <p:cNvSpPr/>
          <p:nvPr/>
        </p:nvSpPr>
        <p:spPr>
          <a:xfrm>
            <a:off x="10551344"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14184"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50</a:t>
            </a:r>
          </a:p>
        </p:txBody>
      </p:sp>
      <p:sp>
        <p:nvSpPr>
          <p:cNvPr id="30" name="Rectangle 29"/>
          <p:cNvSpPr/>
          <p:nvPr/>
        </p:nvSpPr>
        <p:spPr>
          <a:xfrm>
            <a:off x="11228832"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1091672"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55</a:t>
            </a:r>
          </a:p>
        </p:txBody>
      </p:sp>
      <p:sp>
        <p:nvSpPr>
          <p:cNvPr id="32" name="TextBox 31"/>
          <p:cNvSpPr txBox="1"/>
          <p:nvPr/>
        </p:nvSpPr>
        <p:spPr>
          <a:xfrm>
            <a:off x="640080" y="1965960"/>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A  Правовой gate</a:t>
            </a:r>
          </a:p>
        </p:txBody>
      </p:sp>
      <p:sp>
        <p:nvSpPr>
          <p:cNvPr id="33" name="Rounded Rectangle 32"/>
          <p:cNvSpPr/>
          <p:nvPr/>
        </p:nvSpPr>
        <p:spPr>
          <a:xfrm>
            <a:off x="3776472" y="2007107"/>
            <a:ext cx="541989" cy="164592"/>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2231136"/>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B  Спрос / заявки</a:t>
            </a:r>
          </a:p>
        </p:txBody>
      </p:sp>
      <p:sp>
        <p:nvSpPr>
          <p:cNvPr id="35" name="Rounded Rectangle 34"/>
          <p:cNvSpPr/>
          <p:nvPr/>
        </p:nvSpPr>
        <p:spPr>
          <a:xfrm>
            <a:off x="3776472" y="2272284"/>
            <a:ext cx="677487" cy="164592"/>
          </a:xfrm>
          <a:prstGeom prst="roundRect">
            <a:avLst>
              <a:gd name="adj" fmla="val 8000"/>
            </a:avLst>
          </a:prstGeom>
          <a:solidFill>
            <a:srgbClr val="91B6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 y="2496312"/>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C  ООО и договоры</a:t>
            </a:r>
          </a:p>
        </p:txBody>
      </p:sp>
      <p:sp>
        <p:nvSpPr>
          <p:cNvPr id="37" name="Rounded Rectangle 36"/>
          <p:cNvSpPr/>
          <p:nvPr/>
        </p:nvSpPr>
        <p:spPr>
          <a:xfrm>
            <a:off x="4318461" y="2537460"/>
            <a:ext cx="406492" cy="164592"/>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2761487"/>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D  Финансирование</a:t>
            </a:r>
          </a:p>
        </p:txBody>
      </p:sp>
      <p:sp>
        <p:nvSpPr>
          <p:cNvPr id="39" name="Rounded Rectangle 38"/>
          <p:cNvSpPr/>
          <p:nvPr/>
        </p:nvSpPr>
        <p:spPr>
          <a:xfrm>
            <a:off x="4724954" y="2802635"/>
            <a:ext cx="135497" cy="164592"/>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3026663"/>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E  Закупка</a:t>
            </a:r>
          </a:p>
        </p:txBody>
      </p:sp>
      <p:sp>
        <p:nvSpPr>
          <p:cNvPr id="41" name="Rounded Rectangle 40"/>
          <p:cNvSpPr/>
          <p:nvPr/>
        </p:nvSpPr>
        <p:spPr>
          <a:xfrm>
            <a:off x="4860451" y="3067811"/>
            <a:ext cx="677487" cy="164592"/>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0080" y="3291839"/>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F  Обучение</a:t>
            </a:r>
          </a:p>
        </p:txBody>
      </p:sp>
      <p:sp>
        <p:nvSpPr>
          <p:cNvPr id="43" name="Rounded Rectangle 42"/>
          <p:cNvSpPr/>
          <p:nvPr/>
        </p:nvSpPr>
        <p:spPr>
          <a:xfrm>
            <a:off x="4860451" y="3332987"/>
            <a:ext cx="812984" cy="164592"/>
          </a:xfrm>
          <a:prstGeom prst="roundRect">
            <a:avLst>
              <a:gd name="adj" fmla="val 8000"/>
            </a:avLst>
          </a:prstGeom>
          <a:solidFill>
            <a:srgbClr val="91B6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0080" y="3557015"/>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G  Готовность БВС</a:t>
            </a:r>
          </a:p>
        </p:txBody>
      </p:sp>
      <p:sp>
        <p:nvSpPr>
          <p:cNvPr id="45" name="Rounded Rectangle 44"/>
          <p:cNvSpPr/>
          <p:nvPr/>
        </p:nvSpPr>
        <p:spPr>
          <a:xfrm>
            <a:off x="5537938" y="3598163"/>
            <a:ext cx="812984" cy="164592"/>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0080" y="3822191"/>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H  SOP / CRM</a:t>
            </a:r>
          </a:p>
        </p:txBody>
      </p:sp>
      <p:sp>
        <p:nvSpPr>
          <p:cNvPr id="47" name="Rounded Rectangle 46"/>
          <p:cNvSpPr/>
          <p:nvPr/>
        </p:nvSpPr>
        <p:spPr>
          <a:xfrm>
            <a:off x="5673436" y="3863339"/>
            <a:ext cx="406492" cy="164592"/>
          </a:xfrm>
          <a:prstGeom prst="roundRect">
            <a:avLst>
              <a:gd name="adj" fmla="val 8000"/>
            </a:avLst>
          </a:prstGeom>
          <a:solidFill>
            <a:srgbClr val="91B6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0080" y="4087368"/>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I  Испытания</a:t>
            </a:r>
          </a:p>
        </p:txBody>
      </p:sp>
      <p:sp>
        <p:nvSpPr>
          <p:cNvPr id="49" name="Rounded Rectangle 48"/>
          <p:cNvSpPr/>
          <p:nvPr/>
        </p:nvSpPr>
        <p:spPr>
          <a:xfrm>
            <a:off x="6350923" y="4128515"/>
            <a:ext cx="270994" cy="164592"/>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0080" y="4352544"/>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J  Договоры сезона</a:t>
            </a:r>
          </a:p>
        </p:txBody>
      </p:sp>
      <p:sp>
        <p:nvSpPr>
          <p:cNvPr id="51" name="Rounded Rectangle 50"/>
          <p:cNvSpPr/>
          <p:nvPr/>
        </p:nvSpPr>
        <p:spPr>
          <a:xfrm>
            <a:off x="6621918" y="4393692"/>
            <a:ext cx="270994" cy="164592"/>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0080" y="4617720"/>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M  Ожидание окна</a:t>
            </a:r>
          </a:p>
        </p:txBody>
      </p:sp>
      <p:sp>
        <p:nvSpPr>
          <p:cNvPr id="53" name="Rounded Rectangle 52"/>
          <p:cNvSpPr/>
          <p:nvPr/>
        </p:nvSpPr>
        <p:spPr>
          <a:xfrm>
            <a:off x="6892913" y="4658868"/>
            <a:ext cx="1083979" cy="164592"/>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40080" y="4882896"/>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K  Сезон</a:t>
            </a:r>
          </a:p>
        </p:txBody>
      </p:sp>
      <p:sp>
        <p:nvSpPr>
          <p:cNvPr id="55" name="Rounded Rectangle 54"/>
          <p:cNvSpPr/>
          <p:nvPr/>
        </p:nvSpPr>
        <p:spPr>
          <a:xfrm>
            <a:off x="7976893" y="4924044"/>
            <a:ext cx="2980944" cy="164592"/>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40080" y="5148071"/>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L  Аудит</a:t>
            </a:r>
          </a:p>
        </p:txBody>
      </p:sp>
      <p:sp>
        <p:nvSpPr>
          <p:cNvPr id="57" name="Rounded Rectangle 56"/>
          <p:cNvSpPr/>
          <p:nvPr/>
        </p:nvSpPr>
        <p:spPr>
          <a:xfrm>
            <a:off x="10957837" y="5189219"/>
            <a:ext cx="270994" cy="164592"/>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0080" y="5522976"/>
            <a:ext cx="10698480" cy="301752"/>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Недели от 2026-09-07  •  Конец 2027-09-26  •  Темный = критический путь</a:t>
            </a:r>
          </a:p>
        </p:txBody>
      </p:sp>
      <p:sp>
        <p:nvSpPr>
          <p:cNvPr id="59" name="TextBox 58"/>
          <p:cNvSpPr txBox="1"/>
          <p:nvPr/>
        </p:nvSpPr>
        <p:spPr>
          <a:xfrm>
            <a:off x="594360" y="6025896"/>
            <a:ext cx="10972800" cy="411480"/>
          </a:xfrm>
          <a:prstGeom prst="rect">
            <a:avLst/>
          </a:prstGeom>
          <a:noFill/>
        </p:spPr>
        <p:txBody>
          <a:bodyPr wrap="square" lIns="13716" rIns="13716" tIns="0" bIns="0">
            <a:spAutoFit/>
          </a:bodyPr>
          <a:lstStyle/>
          <a:p>
            <a:pPr>
              <a:spcBef>
                <a:spcPts val="0"/>
              </a:spcBef>
              <a:spcAft>
                <a:spcPts val="500"/>
              </a:spcAft>
              <a:defRPr sz="1600" b="0">
                <a:solidFill>
                  <a:srgbClr val="AFC5B8"/>
                </a:solidFill>
                <a:latin typeface="Arial"/>
              </a:defRPr>
            </a:pPr>
            <a:r>
              <a:t>Сезон K: 2027-04-12 — 2027-09-12; пакет M: 8 недель ожидания окна.</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Сетевой график</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[РАСЧЕТ] Сеть finish-to-start из CSV; длительности — календарные недели</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15 / 22</a:t>
            </a:r>
          </a:p>
        </p:txBody>
      </p:sp>
      <p:cxnSp>
        <p:nvCxnSpPr>
          <p:cNvPr id="7" name="Connector 6"/>
          <p:cNvCxnSpPr/>
          <p:nvPr/>
        </p:nvCxnSpPr>
        <p:spPr>
          <a:xfrm>
            <a:off x="1472184" y="2770632"/>
            <a:ext cx="210311" cy="0"/>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472184" y="2770632"/>
            <a:ext cx="1298448" cy="1600199"/>
          </a:xfrm>
          <a:prstGeom prst="line">
            <a:avLst/>
          </a:prstGeom>
          <a:ln w="21590">
            <a:solidFill>
              <a:srgbClr val="AFC5B8"/>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560320" y="2770632"/>
            <a:ext cx="210312" cy="0"/>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648456" y="2770632"/>
            <a:ext cx="210312" cy="0"/>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648456" y="2770632"/>
            <a:ext cx="210312" cy="1600199"/>
          </a:xfrm>
          <a:prstGeom prst="line">
            <a:avLst/>
          </a:prstGeom>
          <a:ln w="21590">
            <a:solidFill>
              <a:srgbClr val="AFC5B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736592" y="2770632"/>
            <a:ext cx="210312" cy="0"/>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736592" y="2770632"/>
            <a:ext cx="210312" cy="1600199"/>
          </a:xfrm>
          <a:prstGeom prst="line">
            <a:avLst/>
          </a:prstGeom>
          <a:ln w="21590">
            <a:solidFill>
              <a:srgbClr val="AFC5B8"/>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736592" y="4370831"/>
            <a:ext cx="210312" cy="0"/>
          </a:xfrm>
          <a:prstGeom prst="line">
            <a:avLst/>
          </a:prstGeom>
          <a:ln w="21590">
            <a:solidFill>
              <a:srgbClr val="AFC5B8"/>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824728" y="2770632"/>
            <a:ext cx="210312" cy="0"/>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5824728" y="2770632"/>
            <a:ext cx="210312" cy="1600199"/>
          </a:xfrm>
          <a:prstGeom prst="line">
            <a:avLst/>
          </a:prstGeom>
          <a:ln w="21590">
            <a:solidFill>
              <a:srgbClr val="AFC5B8"/>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912864" y="2770632"/>
            <a:ext cx="210312" cy="0"/>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001000" y="2770632"/>
            <a:ext cx="210312" cy="0"/>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089136" y="2770632"/>
            <a:ext cx="210312" cy="0"/>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0177272" y="2770632"/>
            <a:ext cx="210312" cy="0"/>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94360" y="2331720"/>
            <a:ext cx="877824" cy="877824"/>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6656"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A</a:t>
            </a:r>
          </a:p>
        </p:txBody>
      </p:sp>
      <p:sp>
        <p:nvSpPr>
          <p:cNvPr id="23" name="TextBox 22"/>
          <p:cNvSpPr txBox="1"/>
          <p:nvPr/>
        </p:nvSpPr>
        <p:spPr>
          <a:xfrm>
            <a:off x="658368"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4 нед.</a:t>
            </a:r>
          </a:p>
        </p:txBody>
      </p:sp>
      <p:sp>
        <p:nvSpPr>
          <p:cNvPr id="24" name="Rounded Rectangle 23"/>
          <p:cNvSpPr/>
          <p:nvPr/>
        </p:nvSpPr>
        <p:spPr>
          <a:xfrm>
            <a:off x="594360" y="3931920"/>
            <a:ext cx="877824" cy="8778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6656" y="4032504"/>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B</a:t>
            </a:r>
          </a:p>
        </p:txBody>
      </p:sp>
      <p:sp>
        <p:nvSpPr>
          <p:cNvPr id="26" name="TextBox 25"/>
          <p:cNvSpPr txBox="1"/>
          <p:nvPr/>
        </p:nvSpPr>
        <p:spPr>
          <a:xfrm>
            <a:off x="658368" y="4471416"/>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5 нед.</a:t>
            </a:r>
          </a:p>
        </p:txBody>
      </p:sp>
      <p:sp>
        <p:nvSpPr>
          <p:cNvPr id="27" name="Rounded Rectangle 26"/>
          <p:cNvSpPr/>
          <p:nvPr/>
        </p:nvSpPr>
        <p:spPr>
          <a:xfrm>
            <a:off x="1682495" y="2331720"/>
            <a:ext cx="877824" cy="877824"/>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764792"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C</a:t>
            </a:r>
          </a:p>
        </p:txBody>
      </p:sp>
      <p:sp>
        <p:nvSpPr>
          <p:cNvPr id="29" name="TextBox 28"/>
          <p:cNvSpPr txBox="1"/>
          <p:nvPr/>
        </p:nvSpPr>
        <p:spPr>
          <a:xfrm>
            <a:off x="1746504"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3 нед.</a:t>
            </a:r>
          </a:p>
        </p:txBody>
      </p:sp>
      <p:sp>
        <p:nvSpPr>
          <p:cNvPr id="30" name="Rounded Rectangle 29"/>
          <p:cNvSpPr/>
          <p:nvPr/>
        </p:nvSpPr>
        <p:spPr>
          <a:xfrm>
            <a:off x="2770632" y="2331720"/>
            <a:ext cx="877824" cy="877824"/>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852927"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D</a:t>
            </a:r>
          </a:p>
        </p:txBody>
      </p:sp>
      <p:sp>
        <p:nvSpPr>
          <p:cNvPr id="32" name="TextBox 31"/>
          <p:cNvSpPr txBox="1"/>
          <p:nvPr/>
        </p:nvSpPr>
        <p:spPr>
          <a:xfrm>
            <a:off x="2834639"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1 нед.</a:t>
            </a:r>
          </a:p>
        </p:txBody>
      </p:sp>
      <p:sp>
        <p:nvSpPr>
          <p:cNvPr id="33" name="Rounded Rectangle 32"/>
          <p:cNvSpPr/>
          <p:nvPr/>
        </p:nvSpPr>
        <p:spPr>
          <a:xfrm>
            <a:off x="3858768" y="2331720"/>
            <a:ext cx="877824" cy="877824"/>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941063"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E</a:t>
            </a:r>
          </a:p>
        </p:txBody>
      </p:sp>
      <p:sp>
        <p:nvSpPr>
          <p:cNvPr id="35" name="TextBox 34"/>
          <p:cNvSpPr txBox="1"/>
          <p:nvPr/>
        </p:nvSpPr>
        <p:spPr>
          <a:xfrm>
            <a:off x="3922776"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5 нед.</a:t>
            </a:r>
          </a:p>
        </p:txBody>
      </p:sp>
      <p:sp>
        <p:nvSpPr>
          <p:cNvPr id="36" name="Rounded Rectangle 35"/>
          <p:cNvSpPr/>
          <p:nvPr/>
        </p:nvSpPr>
        <p:spPr>
          <a:xfrm>
            <a:off x="3858768" y="3931920"/>
            <a:ext cx="877824" cy="8778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941063" y="4032504"/>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F</a:t>
            </a:r>
          </a:p>
        </p:txBody>
      </p:sp>
      <p:sp>
        <p:nvSpPr>
          <p:cNvPr id="38" name="TextBox 37"/>
          <p:cNvSpPr txBox="1"/>
          <p:nvPr/>
        </p:nvSpPr>
        <p:spPr>
          <a:xfrm>
            <a:off x="3922776" y="4471416"/>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6 нед.</a:t>
            </a:r>
          </a:p>
        </p:txBody>
      </p:sp>
      <p:sp>
        <p:nvSpPr>
          <p:cNvPr id="39" name="Rounded Rectangle 38"/>
          <p:cNvSpPr/>
          <p:nvPr/>
        </p:nvSpPr>
        <p:spPr>
          <a:xfrm>
            <a:off x="4946904" y="2331720"/>
            <a:ext cx="877824" cy="877824"/>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029200"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G</a:t>
            </a:r>
          </a:p>
        </p:txBody>
      </p:sp>
      <p:sp>
        <p:nvSpPr>
          <p:cNvPr id="41" name="TextBox 40"/>
          <p:cNvSpPr txBox="1"/>
          <p:nvPr/>
        </p:nvSpPr>
        <p:spPr>
          <a:xfrm>
            <a:off x="5010912"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6 нед.</a:t>
            </a:r>
          </a:p>
        </p:txBody>
      </p:sp>
      <p:sp>
        <p:nvSpPr>
          <p:cNvPr id="42" name="Rounded Rectangle 41"/>
          <p:cNvSpPr/>
          <p:nvPr/>
        </p:nvSpPr>
        <p:spPr>
          <a:xfrm>
            <a:off x="4946904" y="3931920"/>
            <a:ext cx="877824" cy="8778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029200" y="4032504"/>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H</a:t>
            </a:r>
          </a:p>
        </p:txBody>
      </p:sp>
      <p:sp>
        <p:nvSpPr>
          <p:cNvPr id="44" name="TextBox 43"/>
          <p:cNvSpPr txBox="1"/>
          <p:nvPr/>
        </p:nvSpPr>
        <p:spPr>
          <a:xfrm>
            <a:off x="5010912" y="4471416"/>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3 нед.</a:t>
            </a:r>
          </a:p>
        </p:txBody>
      </p:sp>
      <p:sp>
        <p:nvSpPr>
          <p:cNvPr id="45" name="Rounded Rectangle 44"/>
          <p:cNvSpPr/>
          <p:nvPr/>
        </p:nvSpPr>
        <p:spPr>
          <a:xfrm>
            <a:off x="6035040" y="2331720"/>
            <a:ext cx="877824" cy="877824"/>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17336"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I</a:t>
            </a:r>
          </a:p>
        </p:txBody>
      </p:sp>
      <p:sp>
        <p:nvSpPr>
          <p:cNvPr id="47" name="TextBox 46"/>
          <p:cNvSpPr txBox="1"/>
          <p:nvPr/>
        </p:nvSpPr>
        <p:spPr>
          <a:xfrm>
            <a:off x="6099048"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2 нед.</a:t>
            </a:r>
          </a:p>
        </p:txBody>
      </p:sp>
      <p:sp>
        <p:nvSpPr>
          <p:cNvPr id="48" name="Rounded Rectangle 47"/>
          <p:cNvSpPr/>
          <p:nvPr/>
        </p:nvSpPr>
        <p:spPr>
          <a:xfrm>
            <a:off x="7123176" y="2331720"/>
            <a:ext cx="877824" cy="877824"/>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205472"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J</a:t>
            </a:r>
          </a:p>
        </p:txBody>
      </p:sp>
      <p:sp>
        <p:nvSpPr>
          <p:cNvPr id="50" name="TextBox 49"/>
          <p:cNvSpPr txBox="1"/>
          <p:nvPr/>
        </p:nvSpPr>
        <p:spPr>
          <a:xfrm>
            <a:off x="7187184"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2 нед.</a:t>
            </a:r>
          </a:p>
        </p:txBody>
      </p:sp>
      <p:sp>
        <p:nvSpPr>
          <p:cNvPr id="51" name="Rounded Rectangle 50"/>
          <p:cNvSpPr/>
          <p:nvPr/>
        </p:nvSpPr>
        <p:spPr>
          <a:xfrm>
            <a:off x="8211312" y="2331720"/>
            <a:ext cx="877824" cy="877824"/>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293608"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M</a:t>
            </a:r>
          </a:p>
        </p:txBody>
      </p:sp>
      <p:sp>
        <p:nvSpPr>
          <p:cNvPr id="53" name="TextBox 52"/>
          <p:cNvSpPr txBox="1"/>
          <p:nvPr/>
        </p:nvSpPr>
        <p:spPr>
          <a:xfrm>
            <a:off x="8275320"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8 нед.</a:t>
            </a:r>
          </a:p>
        </p:txBody>
      </p:sp>
      <p:sp>
        <p:nvSpPr>
          <p:cNvPr id="54" name="Rounded Rectangle 53"/>
          <p:cNvSpPr/>
          <p:nvPr/>
        </p:nvSpPr>
        <p:spPr>
          <a:xfrm>
            <a:off x="9299448" y="2331720"/>
            <a:ext cx="877824" cy="877824"/>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381744"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K</a:t>
            </a:r>
          </a:p>
        </p:txBody>
      </p:sp>
      <p:sp>
        <p:nvSpPr>
          <p:cNvPr id="56" name="TextBox 55"/>
          <p:cNvSpPr txBox="1"/>
          <p:nvPr/>
        </p:nvSpPr>
        <p:spPr>
          <a:xfrm>
            <a:off x="9363456"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22 нед.</a:t>
            </a:r>
          </a:p>
        </p:txBody>
      </p:sp>
      <p:sp>
        <p:nvSpPr>
          <p:cNvPr id="57" name="Rounded Rectangle 56"/>
          <p:cNvSpPr/>
          <p:nvPr/>
        </p:nvSpPr>
        <p:spPr>
          <a:xfrm>
            <a:off x="10387584" y="2331720"/>
            <a:ext cx="877824" cy="877824"/>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0469880"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L</a:t>
            </a:r>
          </a:p>
        </p:txBody>
      </p:sp>
      <p:sp>
        <p:nvSpPr>
          <p:cNvPr id="59" name="TextBox 58"/>
          <p:cNvSpPr txBox="1"/>
          <p:nvPr/>
        </p:nvSpPr>
        <p:spPr>
          <a:xfrm>
            <a:off x="10451592"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2 нед.</a:t>
            </a:r>
          </a:p>
        </p:txBody>
      </p:sp>
      <p:sp>
        <p:nvSpPr>
          <p:cNvPr id="60" name="TextBox 59"/>
          <p:cNvSpPr txBox="1"/>
          <p:nvPr/>
        </p:nvSpPr>
        <p:spPr>
          <a:xfrm>
            <a:off x="594360" y="5138928"/>
            <a:ext cx="10972800" cy="402336"/>
          </a:xfrm>
          <a:prstGeom prst="rect">
            <a:avLst/>
          </a:prstGeom>
          <a:noFill/>
        </p:spPr>
        <p:txBody>
          <a:bodyPr wrap="square" lIns="13716" rIns="13716" tIns="0" bIns="0">
            <a:spAutoFit/>
          </a:bodyPr>
          <a:lstStyle/>
          <a:p>
            <a:pPr>
              <a:spcBef>
                <a:spcPts val="0"/>
              </a:spcBef>
              <a:spcAft>
                <a:spcPts val="500"/>
              </a:spcAft>
              <a:defRPr sz="2000" b="1">
                <a:solidFill>
                  <a:srgbClr val="FFFFFF"/>
                </a:solidFill>
                <a:latin typeface="Arial"/>
              </a:defRPr>
            </a:pPr>
            <a:r>
              <a:t>Критический путь: A → C → D → E → G → I → J → M → K → L</a:t>
            </a:r>
          </a:p>
        </p:txBody>
      </p:sp>
      <p:sp>
        <p:nvSpPr>
          <p:cNvPr id="61" name="Rounded Rectangle 60"/>
          <p:cNvSpPr/>
          <p:nvPr/>
        </p:nvSpPr>
        <p:spPr>
          <a:xfrm>
            <a:off x="502920" y="5733288"/>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58368" y="5815583"/>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55 недель от проверки до аудита; M — явная работа ожидания, не свободный резерв</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Матрица ответственности RACI</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 R — выполняет; A — принимает; C — консультирует; I — информируется</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16 / 22</a:t>
            </a:r>
          </a:p>
        </p:txBody>
      </p:sp>
      <p:graphicFrame>
        <p:nvGraphicFramePr>
          <p:cNvPr id="7" name="Table 6"/>
          <p:cNvGraphicFramePr>
            <a:graphicFrameLocks noGrp="1"/>
          </p:cNvGraphicFramePr>
          <p:nvPr/>
        </p:nvGraphicFramePr>
        <p:xfrm>
          <a:off x="502920" y="1691640"/>
          <a:ext cx="11183112" cy="4251960"/>
        </p:xfrm>
        <a:graphic>
          <a:graphicData uri="http://schemas.openxmlformats.org/drawingml/2006/table">
            <a:tbl>
              <a:tblPr firstRow="1" bandRow="1">
                <a:tableStyleId>{5C22544A-7EE6-4342-B048-85BDC9FD1C3A}</a:tableStyleId>
              </a:tblPr>
              <a:tblGrid>
                <a:gridCol w="2395728"/>
                <a:gridCol w="1828800"/>
                <a:gridCol w="1737360"/>
                <a:gridCol w="3410712"/>
                <a:gridCol w="1810512"/>
              </a:tblGrid>
              <a:tr h="303711">
                <a:tc>
                  <a:txBody>
                    <a:bodyPr/>
                    <a:lstStyle/>
                    <a:p>
                      <a:pPr>
                        <a:spcAft>
                          <a:spcPts val="0"/>
                        </a:spcAft>
                        <a:defRPr sz="1200" b="1">
                          <a:solidFill>
                            <a:srgbClr val="FFFFFF"/>
                          </a:solidFill>
                          <a:latin typeface="Arial"/>
                        </a:defRPr>
                      </a:pPr>
                      <a:r>
                        <a:t>Работа</a:t>
                      </a:r>
                    </a:p>
                  </a:txBody>
                  <a:tcPr marL="91440" marR="91440" marT="45720" marB="45720">
                    <a:solidFill>
                      <a:srgbClr val="164C38"/>
                    </a:solidFill>
                  </a:tcPr>
                </a:tc>
                <a:tc>
                  <a:txBody>
                    <a:bodyPr/>
                    <a:lstStyle/>
                    <a:p>
                      <a:pPr>
                        <a:spcAft>
                          <a:spcPts val="0"/>
                        </a:spcAft>
                        <a:defRPr sz="1200" b="1">
                          <a:solidFill>
                            <a:srgbClr val="FFFFFF"/>
                          </a:solidFill>
                          <a:latin typeface="Arial"/>
                        </a:defRPr>
                      </a:pPr>
                      <a:r>
                        <a:t>R</a:t>
                      </a:r>
                    </a:p>
                  </a:txBody>
                  <a:tcPr marL="91440" marR="91440" marT="45720" marB="45720">
                    <a:solidFill>
                      <a:srgbClr val="164C38"/>
                    </a:solidFill>
                  </a:tcPr>
                </a:tc>
                <a:tc>
                  <a:txBody>
                    <a:bodyPr/>
                    <a:lstStyle/>
                    <a:p>
                      <a:pPr>
                        <a:spcAft>
                          <a:spcPts val="0"/>
                        </a:spcAft>
                        <a:defRPr sz="1200" b="1">
                          <a:solidFill>
                            <a:srgbClr val="FFFFFF"/>
                          </a:solidFill>
                          <a:latin typeface="Arial"/>
                        </a:defRPr>
                      </a:pPr>
                      <a:r>
                        <a:t>A</a:t>
                      </a:r>
                    </a:p>
                  </a:txBody>
                  <a:tcPr marL="91440" marR="91440" marT="45720" marB="45720">
                    <a:solidFill>
                      <a:srgbClr val="164C38"/>
                    </a:solidFill>
                  </a:tcPr>
                </a:tc>
                <a:tc>
                  <a:txBody>
                    <a:bodyPr/>
                    <a:lstStyle/>
                    <a:p>
                      <a:pPr>
                        <a:spcAft>
                          <a:spcPts val="0"/>
                        </a:spcAft>
                        <a:defRPr sz="1200" b="1">
                          <a:solidFill>
                            <a:srgbClr val="FFFFFF"/>
                          </a:solidFill>
                          <a:latin typeface="Arial"/>
                        </a:defRPr>
                      </a:pPr>
                      <a:r>
                        <a:t>C</a:t>
                      </a:r>
                    </a:p>
                  </a:txBody>
                  <a:tcPr marL="91440" marR="91440" marT="45720" marB="45720">
                    <a:solidFill>
                      <a:srgbClr val="164C38"/>
                    </a:solidFill>
                  </a:tcPr>
                </a:tc>
                <a:tc>
                  <a:txBody>
                    <a:bodyPr/>
                    <a:lstStyle/>
                    <a:p>
                      <a:pPr>
                        <a:spcAft>
                          <a:spcPts val="0"/>
                        </a:spcAft>
                        <a:defRPr sz="1200" b="1">
                          <a:solidFill>
                            <a:srgbClr val="FFFFFF"/>
                          </a:solidFill>
                          <a:latin typeface="Arial"/>
                        </a:defRPr>
                      </a:pPr>
                      <a:r>
                        <a:t>I</a:t>
                      </a:r>
                    </a:p>
                  </a:txBody>
                  <a:tcPr marL="91440" marR="91440" marT="45720" marB="45720">
                    <a:solidFill>
                      <a:srgbClr val="164C38"/>
                    </a:solidFill>
                  </a:tcPr>
                </a:tc>
              </a:tr>
              <a:tr h="303711">
                <a:tc>
                  <a:txBody>
                    <a:bodyPr/>
                    <a:lstStyle/>
                    <a:p>
                      <a:pPr>
                        <a:spcAft>
                          <a:spcPts val="0"/>
                        </a:spcAft>
                        <a:defRPr sz="1200" b="0">
                          <a:solidFill>
                            <a:srgbClr val="092A20"/>
                          </a:solidFill>
                          <a:latin typeface="Arial"/>
                        </a:defRPr>
                      </a:pPr>
                      <a:r>
                        <a:t>A Правовой gate</a:t>
                      </a:r>
                    </a:p>
                  </a:txBody>
                  <a:tcPr marL="91440" marR="91440" marT="45720" marB="45720">
                    <a:solidFill>
                      <a:srgbClr val="FFFFFF"/>
                    </a:solidFill>
                  </a:tcPr>
                </a:tc>
                <a:tc>
                  <a:txBody>
                    <a:bodyPr/>
                    <a:lstStyle/>
                    <a:p>
                      <a:pPr>
                        <a:spcAft>
                          <a:spcPts val="0"/>
                        </a:spcAft>
                        <a:defRPr sz="1200" b="0">
                          <a:solidFill>
                            <a:srgbClr val="092A20"/>
                          </a:solidFill>
                          <a:latin typeface="Arial"/>
                        </a:defRPr>
                      </a:pPr>
                      <a:r>
                        <a:t>Юрист</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Агроном, Опер. рук.</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Инвестор</a:t>
                      </a:r>
                    </a:p>
                  </a:txBody>
                  <a:tcPr marL="91440" marR="91440" marT="45720" marB="45720">
                    <a:solidFill>
                      <a:srgbClr val="FFFFFF"/>
                    </a:solidFill>
                  </a:tcPr>
                </a:tc>
              </a:tr>
              <a:tr h="303711">
                <a:tc>
                  <a:txBody>
                    <a:bodyPr/>
                    <a:lstStyle/>
                    <a:p>
                      <a:pPr>
                        <a:spcAft>
                          <a:spcPts val="0"/>
                        </a:spcAft>
                        <a:defRPr sz="1200" b="0">
                          <a:solidFill>
                            <a:srgbClr val="092A20"/>
                          </a:solidFill>
                          <a:latin typeface="Arial"/>
                        </a:defRPr>
                      </a:pPr>
                      <a:r>
                        <a:t>B Спрос / заявки</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Продажи</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Агроном</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Инвестор</a:t>
                      </a:r>
                    </a:p>
                  </a:txBody>
                  <a:tcPr marL="91440" marR="91440" marT="45720" marB="45720">
                    <a:solidFill>
                      <a:srgbClr val="EFF4EF"/>
                    </a:solidFill>
                  </a:tcPr>
                </a:tc>
              </a:tr>
              <a:tr h="303711">
                <a:tc>
                  <a:txBody>
                    <a:bodyPr/>
                    <a:lstStyle/>
                    <a:p>
                      <a:pPr>
                        <a:spcAft>
                          <a:spcPts val="0"/>
                        </a:spcAft>
                        <a:defRPr sz="1200" b="0">
                          <a:solidFill>
                            <a:srgbClr val="092A20"/>
                          </a:solidFill>
                          <a:latin typeface="Arial"/>
                        </a:defRPr>
                      </a:pPr>
                      <a:r>
                        <a:t>C ООО и договоры</a:t>
                      </a:r>
                    </a:p>
                  </a:txBody>
                  <a:tcPr marL="91440" marR="91440" marT="45720" marB="45720">
                    <a:solidFill>
                      <a:srgbClr val="FFFFFF"/>
                    </a:solidFill>
                  </a:tcPr>
                </a:tc>
                <a:tc>
                  <a:txBody>
                    <a:bodyPr/>
                    <a:lstStyle/>
                    <a:p>
                      <a:pPr>
                        <a:spcAft>
                          <a:spcPts val="0"/>
                        </a:spcAft>
                        <a:defRPr sz="1200" b="0">
                          <a:solidFill>
                            <a:srgbClr val="092A20"/>
                          </a:solidFill>
                          <a:latin typeface="Arial"/>
                        </a:defRPr>
                      </a:pPr>
                      <a:r>
                        <a:t>Юрист</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Бухгалтер</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Инвестор</a:t>
                      </a:r>
                    </a:p>
                  </a:txBody>
                  <a:tcPr marL="91440" marR="91440" marT="45720" marB="45720">
                    <a:solidFill>
                      <a:srgbClr val="FFFFFF"/>
                    </a:solidFill>
                  </a:tcPr>
                </a:tc>
              </a:tr>
              <a:tr h="303711">
                <a:tc>
                  <a:txBody>
                    <a:bodyPr/>
                    <a:lstStyle/>
                    <a:p>
                      <a:pPr>
                        <a:spcAft>
                          <a:spcPts val="0"/>
                        </a:spcAft>
                        <a:defRPr sz="1200" b="0">
                          <a:solidFill>
                            <a:srgbClr val="092A20"/>
                          </a:solidFill>
                          <a:latin typeface="Arial"/>
                        </a:defRPr>
                      </a:pPr>
                      <a:r>
                        <a:t>D Финансирование</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Инвестор</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Бухгалтер, Юрист</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Команда</a:t>
                      </a:r>
                    </a:p>
                  </a:txBody>
                  <a:tcPr marL="91440" marR="91440" marT="45720" marB="45720">
                    <a:solidFill>
                      <a:srgbClr val="EFF4EF"/>
                    </a:solidFill>
                  </a:tcPr>
                </a:tc>
              </a:tr>
              <a:tr h="303711">
                <a:tc>
                  <a:txBody>
                    <a:bodyPr/>
                    <a:lstStyle/>
                    <a:p>
                      <a:pPr>
                        <a:spcAft>
                          <a:spcPts val="0"/>
                        </a:spcAft>
                        <a:defRPr sz="1200" b="0">
                          <a:solidFill>
                            <a:srgbClr val="092A20"/>
                          </a:solidFill>
                          <a:latin typeface="Arial"/>
                        </a:defRPr>
                      </a:pPr>
                      <a:r>
                        <a:t>E Закупка</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Опер. рук.</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Агроном</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Бухгалтер</a:t>
                      </a:r>
                    </a:p>
                  </a:txBody>
                  <a:tcPr marL="91440" marR="91440" marT="45720" marB="45720">
                    <a:solidFill>
                      <a:srgbClr val="FFFFFF"/>
                    </a:solidFill>
                  </a:tcPr>
                </a:tc>
              </a:tr>
              <a:tr h="303711">
                <a:tc>
                  <a:txBody>
                    <a:bodyPr/>
                    <a:lstStyle/>
                    <a:p>
                      <a:pPr>
                        <a:spcAft>
                          <a:spcPts val="0"/>
                        </a:spcAft>
                        <a:defRPr sz="1200" b="0">
                          <a:solidFill>
                            <a:srgbClr val="092A20"/>
                          </a:solidFill>
                          <a:latin typeface="Arial"/>
                        </a:defRPr>
                      </a:pPr>
                      <a:r>
                        <a:t>F Обучение</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Опер. рук.</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EFF4EF"/>
                    </a:solidFill>
                  </a:tcPr>
                </a:tc>
                <a:tc>
                  <a:txBody>
                    <a:bodyPr/>
                    <a:lstStyle/>
                    <a:p>
                      <a:pPr>
                        <a:spcAft>
                          <a:spcPts val="0"/>
                        </a:spcAft>
                        <a:defRPr sz="1200" b="0">
                          <a:solidFill>
                            <a:srgbClr val="092A20"/>
                          </a:solidFill>
                          <a:latin typeface="Arial"/>
                        </a:defRPr>
                      </a:pPr>
                      <a:r>
                        <a:t>Учеб. партнер, Агроном</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Инвестор</a:t>
                      </a:r>
                    </a:p>
                  </a:txBody>
                  <a:tcPr marL="91440" marR="91440" marT="45720" marB="45720">
                    <a:solidFill>
                      <a:srgbClr val="EFF4EF"/>
                    </a:solidFill>
                  </a:tcPr>
                </a:tc>
              </a:tr>
              <a:tr h="303711">
                <a:tc>
                  <a:txBody>
                    <a:bodyPr/>
                    <a:lstStyle/>
                    <a:p>
                      <a:pPr>
                        <a:spcAft>
                          <a:spcPts val="0"/>
                        </a:spcAft>
                        <a:defRPr sz="1200" b="0">
                          <a:solidFill>
                            <a:srgbClr val="092A20"/>
                          </a:solidFill>
                          <a:latin typeface="Arial"/>
                        </a:defRPr>
                      </a:pPr>
                      <a:r>
                        <a:t>G Готовность БВС</a:t>
                      </a:r>
                    </a:p>
                  </a:txBody>
                  <a:tcPr marL="91440" marR="91440" marT="45720" marB="45720">
                    <a:solidFill>
                      <a:srgbClr val="FFFFFF"/>
                    </a:solidFill>
                  </a:tcPr>
                </a:tc>
                <a:tc>
                  <a:txBody>
                    <a:bodyPr/>
                    <a:lstStyle/>
                    <a:p>
                      <a:pPr>
                        <a:spcAft>
                          <a:spcPts val="0"/>
                        </a:spcAft>
                        <a:defRPr sz="1200" b="0">
                          <a:solidFill>
                            <a:srgbClr val="092A20"/>
                          </a:solidFill>
                          <a:latin typeface="Arial"/>
                        </a:defRPr>
                      </a:pPr>
                      <a:r>
                        <a:t>Юрист</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Опер. рук.</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Клиенты</a:t>
                      </a:r>
                    </a:p>
                  </a:txBody>
                  <a:tcPr marL="91440" marR="91440" marT="45720" marB="45720">
                    <a:solidFill>
                      <a:srgbClr val="FFFFFF"/>
                    </a:solidFill>
                  </a:tcPr>
                </a:tc>
              </a:tr>
              <a:tr h="303711">
                <a:tc>
                  <a:txBody>
                    <a:bodyPr/>
                    <a:lstStyle/>
                    <a:p>
                      <a:pPr>
                        <a:spcAft>
                          <a:spcPts val="0"/>
                        </a:spcAft>
                        <a:defRPr sz="1200" b="0">
                          <a:solidFill>
                            <a:srgbClr val="092A20"/>
                          </a:solidFill>
                          <a:latin typeface="Arial"/>
                        </a:defRPr>
                      </a:pPr>
                      <a:r>
                        <a:t>H SOP / CRM</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Агроном</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Опер. рук.</a:t>
                      </a:r>
                    </a:p>
                  </a:txBody>
                  <a:tcPr marL="91440" marR="91440" marT="45720" marB="45720">
                    <a:solidFill>
                      <a:srgbClr val="EFF4EF"/>
                    </a:solidFill>
                  </a:tcPr>
                </a:tc>
                <a:tc>
                  <a:txBody>
                    <a:bodyPr/>
                    <a:lstStyle/>
                    <a:p>
                      <a:pPr>
                        <a:spcAft>
                          <a:spcPts val="0"/>
                        </a:spcAft>
                        <a:defRPr sz="1200" b="0">
                          <a:solidFill>
                            <a:srgbClr val="092A20"/>
                          </a:solidFill>
                          <a:latin typeface="Arial"/>
                        </a:defRPr>
                      </a:pPr>
                      <a:r>
                        <a:t>Юрист</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Продажи</a:t>
                      </a:r>
                    </a:p>
                  </a:txBody>
                  <a:tcPr marL="91440" marR="91440" marT="45720" marB="45720">
                    <a:solidFill>
                      <a:srgbClr val="EFF4EF"/>
                    </a:solidFill>
                  </a:tcPr>
                </a:tc>
              </a:tr>
              <a:tr h="303711">
                <a:tc>
                  <a:txBody>
                    <a:bodyPr/>
                    <a:lstStyle/>
                    <a:p>
                      <a:pPr>
                        <a:spcAft>
                          <a:spcPts val="0"/>
                        </a:spcAft>
                        <a:defRPr sz="1200" b="0">
                          <a:solidFill>
                            <a:srgbClr val="092A20"/>
                          </a:solidFill>
                          <a:latin typeface="Arial"/>
                        </a:defRPr>
                      </a:pPr>
                      <a:r>
                        <a:t>I Испытания</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Оператор</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Опер. рук.</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Агроном, Клиент</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FFFFFF"/>
                    </a:solidFill>
                  </a:tcPr>
                </a:tc>
              </a:tr>
              <a:tr h="303711">
                <a:tc>
                  <a:txBody>
                    <a:bodyPr/>
                    <a:lstStyle/>
                    <a:p>
                      <a:pPr>
                        <a:spcAft>
                          <a:spcPts val="0"/>
                        </a:spcAft>
                        <a:defRPr sz="1200" b="0">
                          <a:solidFill>
                            <a:srgbClr val="092A20"/>
                          </a:solidFill>
                          <a:latin typeface="Arial"/>
                        </a:defRPr>
                      </a:pPr>
                      <a:r>
                        <a:t>J Договоры сезона</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Продажи</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Агроном, Клиент</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Бухгалтер</a:t>
                      </a:r>
                    </a:p>
                  </a:txBody>
                  <a:tcPr marL="91440" marR="91440" marT="45720" marB="45720">
                    <a:solidFill>
                      <a:srgbClr val="EFF4EF"/>
                    </a:solidFill>
                  </a:tcPr>
                </a:tc>
              </a:tr>
              <a:tr h="303711">
                <a:tc>
                  <a:txBody>
                    <a:bodyPr/>
                    <a:lstStyle/>
                    <a:p>
                      <a:pPr>
                        <a:spcAft>
                          <a:spcPts val="0"/>
                        </a:spcAft>
                        <a:defRPr sz="1200" b="0">
                          <a:solidFill>
                            <a:srgbClr val="092A20"/>
                          </a:solidFill>
                          <a:latin typeface="Arial"/>
                        </a:defRPr>
                      </a:pPr>
                      <a:r>
                        <a:t>M Ожидание окна</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Опер. рук.</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Агроном, Клиент</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Инвестор</a:t>
                      </a:r>
                    </a:p>
                  </a:txBody>
                  <a:tcPr marL="91440" marR="91440" marT="45720" marB="45720">
                    <a:solidFill>
                      <a:srgbClr val="FFFFFF"/>
                    </a:solidFill>
                  </a:tcPr>
                </a:tc>
              </a:tr>
              <a:tr h="303711">
                <a:tc>
                  <a:txBody>
                    <a:bodyPr/>
                    <a:lstStyle/>
                    <a:p>
                      <a:pPr>
                        <a:spcAft>
                          <a:spcPts val="0"/>
                        </a:spcAft>
                        <a:defRPr sz="1200" b="0">
                          <a:solidFill>
                            <a:srgbClr val="092A20"/>
                          </a:solidFill>
                          <a:latin typeface="Arial"/>
                        </a:defRPr>
                      </a:pPr>
                      <a:r>
                        <a:t>K Сезон</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Оператор</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Опер. рук.</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Агроном, Клиент</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EFF4EF"/>
                    </a:solidFill>
                  </a:tcPr>
                </a:tc>
              </a:tr>
              <a:tr h="303717">
                <a:tc>
                  <a:txBody>
                    <a:bodyPr/>
                    <a:lstStyle/>
                    <a:p>
                      <a:pPr>
                        <a:spcAft>
                          <a:spcPts val="0"/>
                        </a:spcAft>
                        <a:defRPr sz="1200" b="0">
                          <a:solidFill>
                            <a:srgbClr val="092A20"/>
                          </a:solidFill>
                          <a:latin typeface="Arial"/>
                        </a:defRPr>
                      </a:pPr>
                      <a:r>
                        <a:t>L Аудит</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Бухгалтер</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Агроном, Опер. рук.</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Инвестор</a:t>
                      </a:r>
                    </a:p>
                  </a:txBody>
                  <a:tcPr marL="91440" marR="91440" marT="45720" marB="45720">
                    <a:solidFill>
                      <a:srgbClr val="FFFFFF"/>
                    </a:solidFill>
                  </a:tcPr>
                </a:tc>
              </a:tr>
            </a:tbl>
          </a:graphicData>
        </a:graphic>
      </p:graphicFrame>
      <p:sp>
        <p:nvSpPr>
          <p:cNvPr id="8" name="TextBox 7"/>
          <p:cNvSpPr txBox="1"/>
          <p:nvPr/>
        </p:nvSpPr>
        <p:spPr>
          <a:xfrm>
            <a:off x="594360" y="6062472"/>
            <a:ext cx="10972800" cy="384048"/>
          </a:xfrm>
          <a:prstGeom prst="rect">
            <a:avLst/>
          </a:prstGeom>
          <a:noFill/>
        </p:spPr>
        <p:txBody>
          <a:bodyPr wrap="square" lIns="13716" rIns="13716" tIns="0" bIns="0">
            <a:spAutoFit/>
          </a:bodyPr>
          <a:lstStyle/>
          <a:p>
            <a:pPr>
              <a:spcBef>
                <a:spcPts val="0"/>
              </a:spcBef>
              <a:spcAft>
                <a:spcPts val="500"/>
              </a:spcAft>
              <a:defRPr sz="1500" b="0">
                <a:solidFill>
                  <a:srgbClr val="AFC5B8"/>
                </a:solidFill>
                <a:latin typeface="Arial"/>
              </a:defRPr>
            </a:pPr>
            <a:r>
              <a:t>Все 13 задач; один A в каждой строке. Продажи = директор; опер. рук. = один из двух операторов.</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Финансовая модель</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[РАСЧЕТ] Базовый сценарий; млн ₽, выручка без НДС. Входные данные — допущения</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17 / 22</a:t>
            </a:r>
          </a:p>
        </p:txBody>
      </p:sp>
      <p:sp>
        <p:nvSpPr>
          <p:cNvPr id="7" name="Rounded Rectangle 6"/>
          <p:cNvSpPr/>
          <p:nvPr/>
        </p:nvSpPr>
        <p:spPr>
          <a:xfrm>
            <a:off x="502920" y="1700784"/>
            <a:ext cx="6537960" cy="37581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Chart 7"/>
          <p:cNvGraphicFramePr>
            <a:graphicFrameLocks noGrp="1"/>
          </p:cNvGraphicFramePr>
          <p:nvPr/>
        </p:nvGraphicFramePr>
        <p:xfrm>
          <a:off x="640080" y="1810512"/>
          <a:ext cx="6263640" cy="3538728"/>
        </p:xfrm>
        <a:graphic>
          <a:graphicData uri="http://schemas.openxmlformats.org/drawingml/2006/chart">
            <c:chart xmlns:c="http://schemas.openxmlformats.org/drawingml/2006/chart" r:id="rId2"/>
          </a:graphicData>
        </a:graphic>
      </p:graphicFrame>
      <p:graphicFrame>
        <p:nvGraphicFramePr>
          <p:cNvPr id="9" name="Table 8"/>
          <p:cNvGraphicFramePr>
            <a:graphicFrameLocks noGrp="1"/>
          </p:cNvGraphicFramePr>
          <p:nvPr/>
        </p:nvGraphicFramePr>
        <p:xfrm>
          <a:off x="7251192" y="1700784"/>
          <a:ext cx="4434840" cy="2798064"/>
        </p:xfrm>
        <a:graphic>
          <a:graphicData uri="http://schemas.openxmlformats.org/drawingml/2006/table">
            <a:tbl>
              <a:tblPr firstRow="1" bandRow="1">
                <a:tableStyleId>{5C22544A-7EE6-4342-B048-85BDC9FD1C3A}</a:tableStyleId>
              </a:tblPr>
              <a:tblGrid>
                <a:gridCol w="868680"/>
                <a:gridCol w="1188720"/>
                <a:gridCol w="1188720"/>
                <a:gridCol w="1188720"/>
              </a:tblGrid>
              <a:tr h="466344">
                <a:tc>
                  <a:txBody>
                    <a:bodyPr/>
                    <a:lstStyle/>
                    <a:p>
                      <a:pPr>
                        <a:spcAft>
                          <a:spcPts val="0"/>
                        </a:spcAft>
                        <a:defRPr sz="1500" b="1">
                          <a:solidFill>
                            <a:srgbClr val="FFFFFF"/>
                          </a:solidFill>
                          <a:latin typeface="Arial"/>
                        </a:defRPr>
                      </a:pPr>
                      <a:r>
                        <a:t>Год</a:t>
                      </a:r>
                    </a:p>
                  </a:txBody>
                  <a:tcPr marL="91440" marR="91440" marT="45720" marB="45720">
                    <a:solidFill>
                      <a:srgbClr val="164C38"/>
                    </a:solidFill>
                  </a:tcPr>
                </a:tc>
                <a:tc>
                  <a:txBody>
                    <a:bodyPr/>
                    <a:lstStyle/>
                    <a:p>
                      <a:pPr>
                        <a:spcAft>
                          <a:spcPts val="0"/>
                        </a:spcAft>
                        <a:defRPr sz="1500" b="1">
                          <a:solidFill>
                            <a:srgbClr val="FFFFFF"/>
                          </a:solidFill>
                          <a:latin typeface="Arial"/>
                        </a:defRPr>
                      </a:pPr>
                      <a:r>
                        <a:t>Выручка</a:t>
                      </a:r>
                    </a:p>
                  </a:txBody>
                  <a:tcPr marL="91440" marR="91440" marT="45720" marB="45720">
                    <a:solidFill>
                      <a:srgbClr val="164C38"/>
                    </a:solidFill>
                  </a:tcPr>
                </a:tc>
                <a:tc>
                  <a:txBody>
                    <a:bodyPr/>
                    <a:lstStyle/>
                    <a:p>
                      <a:pPr>
                        <a:spcAft>
                          <a:spcPts val="0"/>
                        </a:spcAft>
                        <a:defRPr sz="1500" b="1">
                          <a:solidFill>
                            <a:srgbClr val="FFFFFF"/>
                          </a:solidFill>
                          <a:latin typeface="Arial"/>
                        </a:defRPr>
                      </a:pPr>
                      <a:r>
                        <a:t>EBITDA</a:t>
                      </a:r>
                    </a:p>
                  </a:txBody>
                  <a:tcPr marL="91440" marR="91440" marT="45720" marB="45720">
                    <a:solidFill>
                      <a:srgbClr val="164C38"/>
                    </a:solidFill>
                  </a:tcPr>
                </a:tc>
                <a:tc>
                  <a:txBody>
                    <a:bodyPr/>
                    <a:lstStyle/>
                    <a:p>
                      <a:pPr>
                        <a:spcAft>
                          <a:spcPts val="0"/>
                        </a:spcAft>
                        <a:defRPr sz="1500" b="1">
                          <a:solidFill>
                            <a:srgbClr val="FFFFFF"/>
                          </a:solidFill>
                          <a:latin typeface="Arial"/>
                        </a:defRPr>
                      </a:pPr>
                      <a:r>
                        <a:t>CF</a:t>
                      </a:r>
                    </a:p>
                  </a:txBody>
                  <a:tcPr marL="91440" marR="91440" marT="45720" marB="45720">
                    <a:solidFill>
                      <a:srgbClr val="164C38"/>
                    </a:solidFill>
                  </a:tcPr>
                </a:tc>
              </a:tr>
              <a:tr h="466344">
                <a:tc>
                  <a:txBody>
                    <a:bodyPr/>
                    <a:lstStyle/>
                    <a:p>
                      <a:pPr>
                        <a:spcAft>
                          <a:spcPts val="0"/>
                        </a:spcAft>
                        <a:defRPr sz="1500" b="0">
                          <a:solidFill>
                            <a:srgbClr val="092A20"/>
                          </a:solidFill>
                          <a:latin typeface="Arial"/>
                        </a:defRPr>
                      </a:pPr>
                      <a:r>
                        <a:t>2027</a:t>
                      </a:r>
                    </a:p>
                  </a:txBody>
                  <a:tcPr marL="91440" marR="91440" marT="45720" marB="45720">
                    <a:solidFill>
                      <a:srgbClr val="FFFFFF"/>
                    </a:solidFill>
                  </a:tcPr>
                </a:tc>
                <a:tc>
                  <a:txBody>
                    <a:bodyPr/>
                    <a:lstStyle/>
                    <a:p>
                      <a:pPr>
                        <a:spcAft>
                          <a:spcPts val="0"/>
                        </a:spcAft>
                        <a:defRPr sz="1500" b="0">
                          <a:solidFill>
                            <a:srgbClr val="092A20"/>
                          </a:solidFill>
                          <a:latin typeface="Arial"/>
                        </a:defRPr>
                      </a:pPr>
                      <a:r>
                        <a:t>8,80</a:t>
                      </a:r>
                    </a:p>
                  </a:txBody>
                  <a:tcPr marL="91440" marR="91440" marT="45720" marB="45720">
                    <a:solidFill>
                      <a:srgbClr val="FFFFFF"/>
                    </a:solidFill>
                  </a:tcPr>
                </a:tc>
                <a:tc>
                  <a:txBody>
                    <a:bodyPr/>
                    <a:lstStyle/>
                    <a:p>
                      <a:pPr>
                        <a:spcAft>
                          <a:spcPts val="0"/>
                        </a:spcAft>
                        <a:defRPr sz="1500" b="0">
                          <a:solidFill>
                            <a:srgbClr val="092A20"/>
                          </a:solidFill>
                          <a:latin typeface="Arial"/>
                        </a:defRPr>
                      </a:pPr>
                      <a:r>
                        <a:t>1,96</a:t>
                      </a:r>
                    </a:p>
                  </a:txBody>
                  <a:tcPr marL="91440" marR="91440" marT="45720" marB="45720">
                    <a:solidFill>
                      <a:srgbClr val="FFFFFF"/>
                    </a:solidFill>
                  </a:tcPr>
                </a:tc>
                <a:tc>
                  <a:txBody>
                    <a:bodyPr/>
                    <a:lstStyle/>
                    <a:p>
                      <a:pPr>
                        <a:spcAft>
                          <a:spcPts val="0"/>
                        </a:spcAft>
                        <a:defRPr sz="1500" b="0">
                          <a:solidFill>
                            <a:srgbClr val="092A20"/>
                          </a:solidFill>
                          <a:latin typeface="Arial"/>
                        </a:defRPr>
                      </a:pPr>
                      <a:r>
                        <a:t>1,43</a:t>
                      </a:r>
                    </a:p>
                  </a:txBody>
                  <a:tcPr marL="91440" marR="91440" marT="45720" marB="45720">
                    <a:solidFill>
                      <a:srgbClr val="FFFFFF"/>
                    </a:solidFill>
                  </a:tcPr>
                </a:tc>
              </a:tr>
              <a:tr h="466344">
                <a:tc>
                  <a:txBody>
                    <a:bodyPr/>
                    <a:lstStyle/>
                    <a:p>
                      <a:pPr>
                        <a:spcAft>
                          <a:spcPts val="0"/>
                        </a:spcAft>
                        <a:defRPr sz="1500" b="0">
                          <a:solidFill>
                            <a:srgbClr val="092A20"/>
                          </a:solidFill>
                          <a:latin typeface="Arial"/>
                        </a:defRPr>
                      </a:pPr>
                      <a:r>
                        <a:t>2028</a:t>
                      </a:r>
                    </a:p>
                  </a:txBody>
                  <a:tcPr marL="91440" marR="91440" marT="45720" marB="45720">
                    <a:solidFill>
                      <a:srgbClr val="EFF4EF"/>
                    </a:solidFill>
                  </a:tcPr>
                </a:tc>
                <a:tc>
                  <a:txBody>
                    <a:bodyPr/>
                    <a:lstStyle/>
                    <a:p>
                      <a:pPr>
                        <a:spcAft>
                          <a:spcPts val="0"/>
                        </a:spcAft>
                        <a:defRPr sz="1500" b="0">
                          <a:solidFill>
                            <a:srgbClr val="092A20"/>
                          </a:solidFill>
                          <a:latin typeface="Arial"/>
                        </a:defRPr>
                      </a:pPr>
                      <a:r>
                        <a:t>13,73</a:t>
                      </a:r>
                    </a:p>
                  </a:txBody>
                  <a:tcPr marL="91440" marR="91440" marT="45720" marB="45720">
                    <a:solidFill>
                      <a:srgbClr val="EFF4EF"/>
                    </a:solidFill>
                  </a:tcPr>
                </a:tc>
                <a:tc>
                  <a:txBody>
                    <a:bodyPr/>
                    <a:lstStyle/>
                    <a:p>
                      <a:pPr>
                        <a:spcAft>
                          <a:spcPts val="0"/>
                        </a:spcAft>
                        <a:defRPr sz="1500" b="0">
                          <a:solidFill>
                            <a:srgbClr val="092A20"/>
                          </a:solidFill>
                          <a:latin typeface="Arial"/>
                        </a:defRPr>
                      </a:pPr>
                      <a:r>
                        <a:t>5,16</a:t>
                      </a:r>
                    </a:p>
                  </a:txBody>
                  <a:tcPr marL="91440" marR="91440" marT="45720" marB="45720">
                    <a:solidFill>
                      <a:srgbClr val="EFF4EF"/>
                    </a:solidFill>
                  </a:tcPr>
                </a:tc>
                <a:tc>
                  <a:txBody>
                    <a:bodyPr/>
                    <a:lstStyle/>
                    <a:p>
                      <a:pPr>
                        <a:spcAft>
                          <a:spcPts val="0"/>
                        </a:spcAft>
                        <a:defRPr sz="1500" b="0">
                          <a:solidFill>
                            <a:srgbClr val="092A20"/>
                          </a:solidFill>
                          <a:latin typeface="Arial"/>
                        </a:defRPr>
                      </a:pPr>
                      <a:r>
                        <a:t>4,04</a:t>
                      </a:r>
                    </a:p>
                  </a:txBody>
                  <a:tcPr marL="91440" marR="91440" marT="45720" marB="45720">
                    <a:solidFill>
                      <a:srgbClr val="EFF4EF"/>
                    </a:solidFill>
                  </a:tcPr>
                </a:tc>
              </a:tr>
              <a:tr h="466344">
                <a:tc>
                  <a:txBody>
                    <a:bodyPr/>
                    <a:lstStyle/>
                    <a:p>
                      <a:pPr>
                        <a:spcAft>
                          <a:spcPts val="0"/>
                        </a:spcAft>
                        <a:defRPr sz="1500" b="0">
                          <a:solidFill>
                            <a:srgbClr val="092A20"/>
                          </a:solidFill>
                          <a:latin typeface="Arial"/>
                        </a:defRPr>
                      </a:pPr>
                      <a:r>
                        <a:t>2029</a:t>
                      </a:r>
                    </a:p>
                  </a:txBody>
                  <a:tcPr marL="91440" marR="91440" marT="45720" marB="45720">
                    <a:solidFill>
                      <a:srgbClr val="FFFFFF"/>
                    </a:solidFill>
                  </a:tcPr>
                </a:tc>
                <a:tc>
                  <a:txBody>
                    <a:bodyPr/>
                    <a:lstStyle/>
                    <a:p>
                      <a:pPr>
                        <a:spcAft>
                          <a:spcPts val="0"/>
                        </a:spcAft>
                        <a:defRPr sz="1500" b="0">
                          <a:solidFill>
                            <a:srgbClr val="092A20"/>
                          </a:solidFill>
                          <a:latin typeface="Arial"/>
                        </a:defRPr>
                      </a:pPr>
                      <a:r>
                        <a:t>17,63</a:t>
                      </a:r>
                    </a:p>
                  </a:txBody>
                  <a:tcPr marL="91440" marR="91440" marT="45720" marB="45720">
                    <a:solidFill>
                      <a:srgbClr val="FFFFFF"/>
                    </a:solidFill>
                  </a:tcPr>
                </a:tc>
                <a:tc>
                  <a:txBody>
                    <a:bodyPr/>
                    <a:lstStyle/>
                    <a:p>
                      <a:pPr>
                        <a:spcAft>
                          <a:spcPts val="0"/>
                        </a:spcAft>
                        <a:defRPr sz="1500" b="0">
                          <a:solidFill>
                            <a:srgbClr val="092A20"/>
                          </a:solidFill>
                          <a:latin typeface="Arial"/>
                        </a:defRPr>
                      </a:pPr>
                      <a:r>
                        <a:t>7,62</a:t>
                      </a:r>
                    </a:p>
                  </a:txBody>
                  <a:tcPr marL="91440" marR="91440" marT="45720" marB="45720">
                    <a:solidFill>
                      <a:srgbClr val="FFFFFF"/>
                    </a:solidFill>
                  </a:tcPr>
                </a:tc>
                <a:tc>
                  <a:txBody>
                    <a:bodyPr/>
                    <a:lstStyle/>
                    <a:p>
                      <a:pPr>
                        <a:spcAft>
                          <a:spcPts val="0"/>
                        </a:spcAft>
                        <a:defRPr sz="1500" b="0">
                          <a:solidFill>
                            <a:srgbClr val="092A20"/>
                          </a:solidFill>
                          <a:latin typeface="Arial"/>
                        </a:defRPr>
                      </a:pPr>
                      <a:r>
                        <a:t>5,96</a:t>
                      </a:r>
                    </a:p>
                  </a:txBody>
                  <a:tcPr marL="91440" marR="91440" marT="45720" marB="45720">
                    <a:solidFill>
                      <a:srgbClr val="FFFFFF"/>
                    </a:solidFill>
                  </a:tcPr>
                </a:tc>
              </a:tr>
              <a:tr h="466344">
                <a:tc>
                  <a:txBody>
                    <a:bodyPr/>
                    <a:lstStyle/>
                    <a:p>
                      <a:pPr>
                        <a:spcAft>
                          <a:spcPts val="0"/>
                        </a:spcAft>
                        <a:defRPr sz="1500" b="0">
                          <a:solidFill>
                            <a:srgbClr val="092A20"/>
                          </a:solidFill>
                          <a:latin typeface="Arial"/>
                        </a:defRPr>
                      </a:pPr>
                      <a:r>
                        <a:t>2030</a:t>
                      </a:r>
                    </a:p>
                  </a:txBody>
                  <a:tcPr marL="91440" marR="91440" marT="45720" marB="45720">
                    <a:solidFill>
                      <a:srgbClr val="EFF4EF"/>
                    </a:solidFill>
                  </a:tcPr>
                </a:tc>
                <a:tc>
                  <a:txBody>
                    <a:bodyPr/>
                    <a:lstStyle/>
                    <a:p>
                      <a:pPr>
                        <a:spcAft>
                          <a:spcPts val="0"/>
                        </a:spcAft>
                        <a:defRPr sz="1500" b="0">
                          <a:solidFill>
                            <a:srgbClr val="092A20"/>
                          </a:solidFill>
                          <a:latin typeface="Arial"/>
                        </a:defRPr>
                      </a:pPr>
                      <a:r>
                        <a:t>20,08</a:t>
                      </a:r>
                    </a:p>
                  </a:txBody>
                  <a:tcPr marL="91440" marR="91440" marT="45720" marB="45720">
                    <a:solidFill>
                      <a:srgbClr val="EFF4EF"/>
                    </a:solidFill>
                  </a:tcPr>
                </a:tc>
                <a:tc>
                  <a:txBody>
                    <a:bodyPr/>
                    <a:lstStyle/>
                    <a:p>
                      <a:pPr>
                        <a:spcAft>
                          <a:spcPts val="0"/>
                        </a:spcAft>
                        <a:defRPr sz="1500" b="0">
                          <a:solidFill>
                            <a:srgbClr val="092A20"/>
                          </a:solidFill>
                          <a:latin typeface="Arial"/>
                        </a:defRPr>
                      </a:pPr>
                      <a:r>
                        <a:t>9,04</a:t>
                      </a:r>
                    </a:p>
                  </a:txBody>
                  <a:tcPr marL="91440" marR="91440" marT="45720" marB="45720">
                    <a:solidFill>
                      <a:srgbClr val="EFF4EF"/>
                    </a:solidFill>
                  </a:tcPr>
                </a:tc>
                <a:tc>
                  <a:txBody>
                    <a:bodyPr/>
                    <a:lstStyle/>
                    <a:p>
                      <a:pPr>
                        <a:spcAft>
                          <a:spcPts val="0"/>
                        </a:spcAft>
                        <a:defRPr sz="1500" b="0">
                          <a:solidFill>
                            <a:srgbClr val="092A20"/>
                          </a:solidFill>
                          <a:latin typeface="Arial"/>
                        </a:defRPr>
                      </a:pPr>
                      <a:r>
                        <a:t>6,93</a:t>
                      </a:r>
                    </a:p>
                  </a:txBody>
                  <a:tcPr marL="91440" marR="91440" marT="45720" marB="45720">
                    <a:solidFill>
                      <a:srgbClr val="EFF4EF"/>
                    </a:solidFill>
                  </a:tcPr>
                </a:tc>
              </a:tr>
              <a:tr h="466344">
                <a:tc>
                  <a:txBody>
                    <a:bodyPr/>
                    <a:lstStyle/>
                    <a:p>
                      <a:pPr>
                        <a:spcAft>
                          <a:spcPts val="0"/>
                        </a:spcAft>
                        <a:defRPr sz="1500" b="0">
                          <a:solidFill>
                            <a:srgbClr val="092A20"/>
                          </a:solidFill>
                          <a:latin typeface="Arial"/>
                        </a:defRPr>
                      </a:pPr>
                      <a:r>
                        <a:t>2031</a:t>
                      </a:r>
                    </a:p>
                  </a:txBody>
                  <a:tcPr marL="91440" marR="91440" marT="45720" marB="45720">
                    <a:solidFill>
                      <a:srgbClr val="FFFFFF"/>
                    </a:solidFill>
                  </a:tcPr>
                </a:tc>
                <a:tc>
                  <a:txBody>
                    <a:bodyPr/>
                    <a:lstStyle/>
                    <a:p>
                      <a:pPr>
                        <a:spcAft>
                          <a:spcPts val="0"/>
                        </a:spcAft>
                        <a:defRPr sz="1500" b="0">
                          <a:solidFill>
                            <a:srgbClr val="092A20"/>
                          </a:solidFill>
                          <a:latin typeface="Arial"/>
                        </a:defRPr>
                      </a:pPr>
                      <a:r>
                        <a:t>22,70</a:t>
                      </a:r>
                    </a:p>
                  </a:txBody>
                  <a:tcPr marL="91440" marR="91440" marT="45720" marB="45720">
                    <a:solidFill>
                      <a:srgbClr val="FFFFFF"/>
                    </a:solidFill>
                  </a:tcPr>
                </a:tc>
                <a:tc>
                  <a:txBody>
                    <a:bodyPr/>
                    <a:lstStyle/>
                    <a:p>
                      <a:pPr>
                        <a:spcAft>
                          <a:spcPts val="0"/>
                        </a:spcAft>
                        <a:defRPr sz="1500" b="0">
                          <a:solidFill>
                            <a:srgbClr val="092A20"/>
                          </a:solidFill>
                          <a:latin typeface="Arial"/>
                        </a:defRPr>
                      </a:pPr>
                      <a:r>
                        <a:t>10,54</a:t>
                      </a:r>
                    </a:p>
                  </a:txBody>
                  <a:tcPr marL="91440" marR="91440" marT="45720" marB="45720">
                    <a:solidFill>
                      <a:srgbClr val="FFFFFF"/>
                    </a:solidFill>
                  </a:tcPr>
                </a:tc>
                <a:tc>
                  <a:txBody>
                    <a:bodyPr/>
                    <a:lstStyle/>
                    <a:p>
                      <a:pPr>
                        <a:spcAft>
                          <a:spcPts val="0"/>
                        </a:spcAft>
                        <a:defRPr sz="1500" b="0">
                          <a:solidFill>
                            <a:srgbClr val="092A20"/>
                          </a:solidFill>
                          <a:latin typeface="Arial"/>
                        </a:defRPr>
                      </a:pPr>
                      <a:r>
                        <a:t>10,58</a:t>
                      </a:r>
                    </a:p>
                  </a:txBody>
                  <a:tcPr marL="91440" marR="91440" marT="45720" marB="45720">
                    <a:solidFill>
                      <a:srgbClr val="FFFFFF"/>
                    </a:solidFill>
                  </a:tcPr>
                </a:tc>
              </a:tr>
            </a:tbl>
          </a:graphicData>
        </a:graphic>
      </p:graphicFrame>
      <p:sp>
        <p:nvSpPr>
          <p:cNvPr id="10" name="TextBox 9"/>
          <p:cNvSpPr txBox="1"/>
          <p:nvPr/>
        </p:nvSpPr>
        <p:spPr>
          <a:xfrm>
            <a:off x="7342631" y="4663440"/>
            <a:ext cx="4160520" cy="850392"/>
          </a:xfrm>
          <a:prstGeom prst="rect">
            <a:avLst/>
          </a:prstGeom>
          <a:noFill/>
        </p:spPr>
        <p:txBody>
          <a:bodyPr wrap="square" lIns="13716" rIns="13716" tIns="0" bIns="0">
            <a:spAutoFit/>
          </a:bodyPr>
          <a:lstStyle/>
          <a:p>
            <a:pPr>
              <a:spcBef>
                <a:spcPts val="0"/>
              </a:spcBef>
              <a:spcAft>
                <a:spcPts val="500"/>
              </a:spcAft>
              <a:defRPr sz="1700" b="0">
                <a:solidFill>
                  <a:srgbClr val="FFFFFF"/>
                </a:solidFill>
                <a:latin typeface="Arial"/>
              </a:defRPr>
            </a:pPr>
            <a:r>
              <a:t>CF₀ = −9,50 млн ₽</a:t>
            </a:r>
          </a:p>
          <a:p>
            <a:pPr>
              <a:spcBef>
                <a:spcPts val="0"/>
              </a:spcBef>
              <a:spcAft>
                <a:spcPts val="500"/>
              </a:spcAft>
              <a:defRPr sz="1700" b="0">
                <a:solidFill>
                  <a:srgbClr val="FFFFFF"/>
                </a:solidFill>
                <a:latin typeface="Arial"/>
              </a:defRPr>
            </a:pPr>
            <a:r>
              <a:t>CF 2031 включает возврат</a:t>
            </a:r>
          </a:p>
          <a:p>
            <a:pPr>
              <a:spcBef>
                <a:spcPts val="0"/>
              </a:spcBef>
              <a:spcAft>
                <a:spcPts val="500"/>
              </a:spcAft>
              <a:defRPr sz="1700" b="0">
                <a:solidFill>
                  <a:srgbClr val="FFFFFF"/>
                </a:solidFill>
                <a:latin typeface="Arial"/>
              </a:defRPr>
            </a:pPr>
            <a:r>
              <a:t>резерва 2,00 млн ₽.</a:t>
            </a:r>
          </a:p>
        </p:txBody>
      </p:sp>
      <p:sp>
        <p:nvSpPr>
          <p:cNvPr id="11" name="Rounded Rectangle 10"/>
          <p:cNvSpPr/>
          <p:nvPr/>
        </p:nvSpPr>
        <p:spPr>
          <a:xfrm>
            <a:off x="502920" y="5733288"/>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5815583"/>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Продажа оборудования в терминале = 0. Балансовая стоимость не превращена в денежный поток</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NPV и окупаемость</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[РАСЧЕТ] NPV на 5 лет; ставка дисконтирования 24%; млн ₽</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18 / 22</a:t>
            </a:r>
          </a:p>
        </p:txBody>
      </p:sp>
      <p:sp>
        <p:nvSpPr>
          <p:cNvPr id="7" name="Rounded Rectangle 6"/>
          <p:cNvSpPr/>
          <p:nvPr/>
        </p:nvSpPr>
        <p:spPr>
          <a:xfrm>
            <a:off x="502920" y="1709928"/>
            <a:ext cx="6428232"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Chart 7"/>
          <p:cNvGraphicFramePr>
            <a:graphicFrameLocks noGrp="1"/>
          </p:cNvGraphicFramePr>
          <p:nvPr/>
        </p:nvGraphicFramePr>
        <p:xfrm>
          <a:off x="640080" y="1819656"/>
          <a:ext cx="6153912" cy="3557015"/>
        </p:xfrm>
        <a:graphic>
          <a:graphicData uri="http://schemas.openxmlformats.org/drawingml/2006/chart">
            <c:chart xmlns:c="http://schemas.openxmlformats.org/drawingml/2006/chart" r:id="rId2"/>
          </a:graphicData>
        </a:graphic>
      </p:graphicFrame>
      <p:graphicFrame>
        <p:nvGraphicFramePr>
          <p:cNvPr id="9" name="Table 8"/>
          <p:cNvGraphicFramePr>
            <a:graphicFrameLocks noGrp="1"/>
          </p:cNvGraphicFramePr>
          <p:nvPr/>
        </p:nvGraphicFramePr>
        <p:xfrm>
          <a:off x="7141464" y="1709928"/>
          <a:ext cx="4544568" cy="2670048"/>
        </p:xfrm>
        <a:graphic>
          <a:graphicData uri="http://schemas.openxmlformats.org/drawingml/2006/table">
            <a:tbl>
              <a:tblPr firstRow="1" bandRow="1">
                <a:tableStyleId>{5C22544A-7EE6-4342-B048-85BDC9FD1C3A}</a:tableStyleId>
              </a:tblPr>
              <a:tblGrid>
                <a:gridCol w="3127248"/>
                <a:gridCol w="1417320"/>
              </a:tblGrid>
              <a:tr h="381435">
                <a:tc>
                  <a:txBody>
                    <a:bodyPr/>
                    <a:lstStyle/>
                    <a:p>
                      <a:pPr>
                        <a:spcAft>
                          <a:spcPts val="0"/>
                        </a:spcAft>
                        <a:defRPr sz="1600" b="1">
                          <a:solidFill>
                            <a:srgbClr val="FFFFFF"/>
                          </a:solidFill>
                          <a:latin typeface="Arial"/>
                        </a:defRPr>
                      </a:pPr>
                      <a:r>
                        <a:t>Сценарий</a:t>
                      </a:r>
                    </a:p>
                  </a:txBody>
                  <a:tcPr marL="91440" marR="91440" marT="45720" marB="45720">
                    <a:solidFill>
                      <a:srgbClr val="164C38"/>
                    </a:solidFill>
                  </a:tcPr>
                </a:tc>
                <a:tc>
                  <a:txBody>
                    <a:bodyPr/>
                    <a:lstStyle/>
                    <a:p>
                      <a:pPr>
                        <a:spcAft>
                          <a:spcPts val="0"/>
                        </a:spcAft>
                        <a:defRPr sz="1600" b="1">
                          <a:solidFill>
                            <a:srgbClr val="FFFFFF"/>
                          </a:solidFill>
                          <a:latin typeface="Arial"/>
                        </a:defRPr>
                      </a:pPr>
                      <a:r>
                        <a:t>NPV, млн ₽</a:t>
                      </a:r>
                    </a:p>
                  </a:txBody>
                  <a:tcPr marL="91440" marR="91440" marT="45720" marB="45720">
                    <a:solidFill>
                      <a:srgbClr val="164C38"/>
                    </a:solidFill>
                  </a:tcPr>
                </a:tc>
              </a:tr>
              <a:tr h="381435">
                <a:tc>
                  <a:txBody>
                    <a:bodyPr/>
                    <a:lstStyle/>
                    <a:p>
                      <a:pPr>
                        <a:spcAft>
                          <a:spcPts val="0"/>
                        </a:spcAft>
                        <a:defRPr sz="1600" b="0">
                          <a:solidFill>
                            <a:srgbClr val="092A20"/>
                          </a:solidFill>
                          <a:latin typeface="Arial"/>
                        </a:defRPr>
                      </a:pPr>
                      <a:r>
                        <a:t>База</a:t>
                      </a:r>
                    </a:p>
                  </a:txBody>
                  <a:tcPr marL="91440" marR="91440" marT="45720" marB="45720">
                    <a:solidFill>
                      <a:srgbClr val="FFFFFF"/>
                    </a:solidFill>
                  </a:tcPr>
                </a:tc>
                <a:tc>
                  <a:txBody>
                    <a:bodyPr/>
                    <a:lstStyle/>
                    <a:p>
                      <a:pPr>
                        <a:spcAft>
                          <a:spcPts val="0"/>
                        </a:spcAft>
                        <a:defRPr sz="1600" b="0">
                          <a:solidFill>
                            <a:srgbClr val="092A20"/>
                          </a:solidFill>
                          <a:latin typeface="Arial"/>
                        </a:defRPr>
                      </a:pPr>
                      <a:r>
                        <a:t>3,946</a:t>
                      </a:r>
                    </a:p>
                  </a:txBody>
                  <a:tcPr marL="91440" marR="91440" marT="45720" marB="45720">
                    <a:solidFill>
                      <a:srgbClr val="FFFFFF"/>
                    </a:solidFill>
                  </a:tcPr>
                </a:tc>
              </a:tr>
              <a:tr h="381435">
                <a:tc>
                  <a:txBody>
                    <a:bodyPr/>
                    <a:lstStyle/>
                    <a:p>
                      <a:pPr>
                        <a:spcAft>
                          <a:spcPts val="0"/>
                        </a:spcAft>
                        <a:defRPr sz="1600" b="0">
                          <a:solidFill>
                            <a:srgbClr val="092A20"/>
                          </a:solidFill>
                          <a:latin typeface="Arial"/>
                        </a:defRPr>
                      </a:pPr>
                      <a:r>
                        <a:t>Цена −10%</a:t>
                      </a:r>
                    </a:p>
                  </a:txBody>
                  <a:tcPr marL="91440" marR="91440" marT="45720" marB="45720">
                    <a:solidFill>
                      <a:srgbClr val="EFF4EF"/>
                    </a:solidFill>
                  </a:tcPr>
                </a:tc>
                <a:tc>
                  <a:txBody>
                    <a:bodyPr/>
                    <a:lstStyle/>
                    <a:p>
                      <a:pPr>
                        <a:spcAft>
                          <a:spcPts val="0"/>
                        </a:spcAft>
                        <a:defRPr sz="1600" b="0">
                          <a:solidFill>
                            <a:srgbClr val="092A20"/>
                          </a:solidFill>
                          <a:latin typeface="Arial"/>
                        </a:defRPr>
                      </a:pPr>
                      <a:r>
                        <a:t>0,045</a:t>
                      </a:r>
                    </a:p>
                  </a:txBody>
                  <a:tcPr marL="91440" marR="91440" marT="45720" marB="45720">
                    <a:solidFill>
                      <a:srgbClr val="EFF4EF"/>
                    </a:solidFill>
                  </a:tcPr>
                </a:tc>
              </a:tr>
              <a:tr h="381435">
                <a:tc>
                  <a:txBody>
                    <a:bodyPr/>
                    <a:lstStyle/>
                    <a:p>
                      <a:pPr>
                        <a:spcAft>
                          <a:spcPts val="0"/>
                        </a:spcAft>
                        <a:defRPr sz="1600" b="0">
                          <a:solidFill>
                            <a:srgbClr val="092A20"/>
                          </a:solidFill>
                          <a:latin typeface="Arial"/>
                        </a:defRPr>
                      </a:pPr>
                      <a:r>
                        <a:t>Объем −25%</a:t>
                      </a:r>
                    </a:p>
                  </a:txBody>
                  <a:tcPr marL="91440" marR="91440" marT="45720" marB="45720">
                    <a:solidFill>
                      <a:srgbClr val="FFFFFF"/>
                    </a:solidFill>
                  </a:tcPr>
                </a:tc>
                <a:tc>
                  <a:txBody>
                    <a:bodyPr/>
                    <a:lstStyle/>
                    <a:p>
                      <a:pPr>
                        <a:spcAft>
                          <a:spcPts val="0"/>
                        </a:spcAft>
                        <a:defRPr sz="1600" b="0">
                          <a:solidFill>
                            <a:srgbClr val="092A20"/>
                          </a:solidFill>
                          <a:latin typeface="Arial"/>
                        </a:defRPr>
                      </a:pPr>
                      <a:r>
                        <a:t>-2,639</a:t>
                      </a:r>
                    </a:p>
                  </a:txBody>
                  <a:tcPr marL="91440" marR="91440" marT="45720" marB="45720">
                    <a:solidFill>
                      <a:srgbClr val="FFFFFF"/>
                    </a:solidFill>
                  </a:tcPr>
                </a:tc>
              </a:tr>
              <a:tr h="381435">
                <a:tc>
                  <a:txBody>
                    <a:bodyPr/>
                    <a:lstStyle/>
                    <a:p>
                      <a:pPr>
                        <a:spcAft>
                          <a:spcPts val="0"/>
                        </a:spcAft>
                        <a:defRPr sz="1600" b="0">
                          <a:solidFill>
                            <a:srgbClr val="092A20"/>
                          </a:solidFill>
                          <a:latin typeface="Arial"/>
                        </a:defRPr>
                      </a:pPr>
                      <a:r>
                        <a:t>Переменные +20%</a:t>
                      </a:r>
                    </a:p>
                  </a:txBody>
                  <a:tcPr marL="91440" marR="91440" marT="45720" marB="45720">
                    <a:solidFill>
                      <a:srgbClr val="EFF4EF"/>
                    </a:solidFill>
                  </a:tcPr>
                </a:tc>
                <a:tc>
                  <a:txBody>
                    <a:bodyPr/>
                    <a:lstStyle/>
                    <a:p>
                      <a:pPr>
                        <a:spcAft>
                          <a:spcPts val="0"/>
                        </a:spcAft>
                        <a:defRPr sz="1600" b="0">
                          <a:solidFill>
                            <a:srgbClr val="092A20"/>
                          </a:solidFill>
                          <a:latin typeface="Arial"/>
                        </a:defRPr>
                      </a:pPr>
                      <a:r>
                        <a:t>1,412</a:t>
                      </a:r>
                    </a:p>
                  </a:txBody>
                  <a:tcPr marL="91440" marR="91440" marT="45720" marB="45720">
                    <a:solidFill>
                      <a:srgbClr val="EFF4EF"/>
                    </a:solidFill>
                  </a:tcPr>
                </a:tc>
              </a:tr>
              <a:tr h="381435">
                <a:tc>
                  <a:txBody>
                    <a:bodyPr/>
                    <a:lstStyle/>
                    <a:p>
                      <a:pPr>
                        <a:spcAft>
                          <a:spcPts val="0"/>
                        </a:spcAft>
                        <a:defRPr sz="1600" b="0">
                          <a:solidFill>
                            <a:srgbClr val="092A20"/>
                          </a:solidFill>
                          <a:latin typeface="Arial"/>
                        </a:defRPr>
                      </a:pPr>
                      <a:r>
                        <a:t>Задержка на год</a:t>
                      </a:r>
                    </a:p>
                  </a:txBody>
                  <a:tcPr marL="91440" marR="91440" marT="45720" marB="45720">
                    <a:solidFill>
                      <a:srgbClr val="FFFFFF"/>
                    </a:solidFill>
                  </a:tcPr>
                </a:tc>
                <a:tc>
                  <a:txBody>
                    <a:bodyPr/>
                    <a:lstStyle/>
                    <a:p>
                      <a:pPr>
                        <a:spcAft>
                          <a:spcPts val="0"/>
                        </a:spcAft>
                        <a:defRPr sz="1600" b="0">
                          <a:solidFill>
                            <a:srgbClr val="092A20"/>
                          </a:solidFill>
                          <a:latin typeface="Arial"/>
                        </a:defRPr>
                      </a:pPr>
                      <a:r>
                        <a:t>-1,433</a:t>
                      </a:r>
                    </a:p>
                  </a:txBody>
                  <a:tcPr marL="91440" marR="91440" marT="45720" marB="45720">
                    <a:solidFill>
                      <a:srgbClr val="FFFFFF"/>
                    </a:solidFill>
                  </a:tcPr>
                </a:tc>
              </a:tr>
              <a:tr h="381438">
                <a:tc>
                  <a:txBody>
                    <a:bodyPr/>
                    <a:lstStyle/>
                    <a:p>
                      <a:pPr>
                        <a:spcAft>
                          <a:spcPts val="0"/>
                        </a:spcAft>
                        <a:defRPr sz="1600" b="0">
                          <a:solidFill>
                            <a:srgbClr val="092A20"/>
                          </a:solidFill>
                          <a:latin typeface="Arial"/>
                        </a:defRPr>
                      </a:pPr>
                      <a:r>
                        <a:t>Внесение 900 ₽/га</a:t>
                      </a:r>
                    </a:p>
                  </a:txBody>
                  <a:tcPr marL="91440" marR="91440" marT="45720" marB="45720">
                    <a:solidFill>
                      <a:srgbClr val="EFF4EF"/>
                    </a:solidFill>
                  </a:tcPr>
                </a:tc>
                <a:tc>
                  <a:txBody>
                    <a:bodyPr/>
                    <a:lstStyle/>
                    <a:p>
                      <a:pPr>
                        <a:spcAft>
                          <a:spcPts val="0"/>
                        </a:spcAft>
                        <a:defRPr sz="1600" b="0">
                          <a:solidFill>
                            <a:srgbClr val="092A20"/>
                          </a:solidFill>
                          <a:latin typeface="Arial"/>
                        </a:defRPr>
                      </a:pPr>
                      <a:r>
                        <a:t>-6,605</a:t>
                      </a:r>
                    </a:p>
                  </a:txBody>
                  <a:tcPr marL="91440" marR="91440" marT="45720" marB="45720">
                    <a:solidFill>
                      <a:srgbClr val="EFF4EF"/>
                    </a:solidFill>
                  </a:tcPr>
                </a:tc>
              </a:tr>
            </a:tbl>
          </a:graphicData>
        </a:graphic>
      </p:graphicFrame>
      <p:sp>
        <p:nvSpPr>
          <p:cNvPr id="10" name="TextBox 9"/>
          <p:cNvSpPr txBox="1"/>
          <p:nvPr/>
        </p:nvSpPr>
        <p:spPr>
          <a:xfrm>
            <a:off x="7251192" y="4617720"/>
            <a:ext cx="4224528" cy="868680"/>
          </a:xfrm>
          <a:prstGeom prst="rect">
            <a:avLst/>
          </a:prstGeom>
          <a:noFill/>
        </p:spPr>
        <p:txBody>
          <a:bodyPr wrap="square" lIns="13716" rIns="13716" tIns="0" bIns="0">
            <a:spAutoFit/>
          </a:bodyPr>
          <a:lstStyle/>
          <a:p>
            <a:pPr>
              <a:spcBef>
                <a:spcPts val="0"/>
              </a:spcBef>
              <a:spcAft>
                <a:spcPts val="500"/>
              </a:spcAft>
              <a:defRPr sz="1800" b="0">
                <a:solidFill>
                  <a:srgbClr val="FFFFFF"/>
                </a:solidFill>
                <a:latin typeface="Arial"/>
              </a:defRPr>
            </a:pPr>
            <a:r>
              <a:t>Окупаемость базы: 2,68 года</a:t>
            </a:r>
          </a:p>
          <a:p>
            <a:pPr>
              <a:spcBef>
                <a:spcPts val="0"/>
              </a:spcBef>
              <a:spcAft>
                <a:spcPts val="500"/>
              </a:spcAft>
              <a:defRPr sz="1800" b="0">
                <a:solidFill>
                  <a:srgbClr val="FFFFFF"/>
                </a:solidFill>
                <a:latin typeface="Arial"/>
              </a:defRPr>
            </a:pPr>
            <a:r>
              <a:t>Дисконтированная: 3,88 года</a:t>
            </a:r>
          </a:p>
        </p:txBody>
      </p:sp>
      <p:sp>
        <p:nvSpPr>
          <p:cNvPr id="11" name="Rounded Rectangle 10"/>
          <p:cNvSpPr/>
          <p:nvPr/>
        </p:nvSpPr>
        <p:spPr>
          <a:xfrm>
            <a:off x="502920" y="5733288"/>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5815583"/>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Снижение объема и задержка запуска дают отрицательный NPV. Цена −10% почти обнуляет запас</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Потребность в инвестициях</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 Бюджет до коммерческих предложений  •  [РАСЧЕТ] Сумма потребности</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19 / 22</a:t>
            </a:r>
          </a:p>
        </p:txBody>
      </p:sp>
      <p:graphicFrame>
        <p:nvGraphicFramePr>
          <p:cNvPr id="7" name="Table 6"/>
          <p:cNvGraphicFramePr>
            <a:graphicFrameLocks noGrp="1"/>
          </p:cNvGraphicFramePr>
          <p:nvPr/>
        </p:nvGraphicFramePr>
        <p:xfrm>
          <a:off x="502920" y="1737360"/>
          <a:ext cx="6583680" cy="3584448"/>
        </p:xfrm>
        <a:graphic>
          <a:graphicData uri="http://schemas.openxmlformats.org/drawingml/2006/table">
            <a:tbl>
              <a:tblPr firstRow="1" bandRow="1">
                <a:tableStyleId>{5C22544A-7EE6-4342-B048-85BDC9FD1C3A}</a:tableStyleId>
              </a:tblPr>
              <a:tblGrid>
                <a:gridCol w="5029200"/>
                <a:gridCol w="1554480"/>
              </a:tblGrid>
              <a:tr h="512064">
                <a:tc>
                  <a:txBody>
                    <a:bodyPr/>
                    <a:lstStyle/>
                    <a:p>
                      <a:pPr>
                        <a:spcAft>
                          <a:spcPts val="0"/>
                        </a:spcAft>
                        <a:defRPr sz="1700" b="1">
                          <a:solidFill>
                            <a:srgbClr val="FFFFFF"/>
                          </a:solidFill>
                          <a:latin typeface="Arial"/>
                        </a:defRPr>
                      </a:pPr>
                      <a:r>
                        <a:t>CAPEX</a:t>
                      </a:r>
                    </a:p>
                  </a:txBody>
                  <a:tcPr marL="91440" marR="91440" marT="45720" marB="45720">
                    <a:solidFill>
                      <a:srgbClr val="164C38"/>
                    </a:solidFill>
                  </a:tcPr>
                </a:tc>
                <a:tc>
                  <a:txBody>
                    <a:bodyPr/>
                    <a:lstStyle/>
                    <a:p>
                      <a:pPr>
                        <a:spcAft>
                          <a:spcPts val="0"/>
                        </a:spcAft>
                        <a:defRPr sz="1700" b="1">
                          <a:solidFill>
                            <a:srgbClr val="FFFFFF"/>
                          </a:solidFill>
                          <a:latin typeface="Arial"/>
                        </a:defRPr>
                      </a:pPr>
                      <a:r>
                        <a:t>млн ₽</a:t>
                      </a:r>
                    </a:p>
                  </a:txBody>
                  <a:tcPr marL="91440" marR="91440" marT="45720" marB="45720">
                    <a:solidFill>
                      <a:srgbClr val="164C38"/>
                    </a:solidFill>
                  </a:tcPr>
                </a:tc>
              </a:tr>
              <a:tr h="512064">
                <a:tc>
                  <a:txBody>
                    <a:bodyPr/>
                    <a:lstStyle/>
                    <a:p>
                      <a:pPr>
                        <a:spcAft>
                          <a:spcPts val="0"/>
                        </a:spcAft>
                        <a:defRPr sz="1700" b="0">
                          <a:solidFill>
                            <a:srgbClr val="092A20"/>
                          </a:solidFill>
                          <a:latin typeface="Arial"/>
                        </a:defRPr>
                      </a:pPr>
                      <a:r>
                        <a:t>2 агродрона с АКБ / зарядкой</a:t>
                      </a:r>
                    </a:p>
                  </a:txBody>
                  <a:tcPr marL="91440" marR="91440" marT="45720" marB="45720">
                    <a:solidFill>
                      <a:srgbClr val="FFFFFF"/>
                    </a:solidFill>
                  </a:tcPr>
                </a:tc>
                <a:tc>
                  <a:txBody>
                    <a:bodyPr/>
                    <a:lstStyle/>
                    <a:p>
                      <a:pPr>
                        <a:spcAft>
                          <a:spcPts val="0"/>
                        </a:spcAft>
                        <a:defRPr sz="1700" b="0">
                          <a:solidFill>
                            <a:srgbClr val="092A20"/>
                          </a:solidFill>
                          <a:latin typeface="Arial"/>
                        </a:defRPr>
                      </a:pPr>
                      <a:r>
                        <a:t>4,0</a:t>
                      </a:r>
                    </a:p>
                  </a:txBody>
                  <a:tcPr marL="91440" marR="91440" marT="45720" marB="45720">
                    <a:solidFill>
                      <a:srgbClr val="FFFFFF"/>
                    </a:solidFill>
                  </a:tcPr>
                </a:tc>
              </a:tr>
              <a:tr h="512064">
                <a:tc>
                  <a:txBody>
                    <a:bodyPr/>
                    <a:lstStyle/>
                    <a:p>
                      <a:pPr>
                        <a:spcAft>
                          <a:spcPts val="0"/>
                        </a:spcAft>
                        <a:defRPr sz="1700" b="0">
                          <a:solidFill>
                            <a:srgbClr val="092A20"/>
                          </a:solidFill>
                          <a:latin typeface="Arial"/>
                        </a:defRPr>
                      </a:pPr>
                      <a:r>
                        <a:t>Транспорт / прицеп</a:t>
                      </a:r>
                    </a:p>
                  </a:txBody>
                  <a:tcPr marL="91440" marR="91440" marT="45720" marB="45720">
                    <a:solidFill>
                      <a:srgbClr val="EFF4EF"/>
                    </a:solidFill>
                  </a:tcPr>
                </a:tc>
                <a:tc>
                  <a:txBody>
                    <a:bodyPr/>
                    <a:lstStyle/>
                    <a:p>
                      <a:pPr>
                        <a:spcAft>
                          <a:spcPts val="0"/>
                        </a:spcAft>
                        <a:defRPr sz="1700" b="0">
                          <a:solidFill>
                            <a:srgbClr val="092A20"/>
                          </a:solidFill>
                          <a:latin typeface="Arial"/>
                        </a:defRPr>
                      </a:pPr>
                      <a:r>
                        <a:t>1,4</a:t>
                      </a:r>
                    </a:p>
                  </a:txBody>
                  <a:tcPr marL="91440" marR="91440" marT="45720" marB="45720">
                    <a:solidFill>
                      <a:srgbClr val="EFF4EF"/>
                    </a:solidFill>
                  </a:tcPr>
                </a:tc>
              </a:tr>
              <a:tr h="512064">
                <a:tc>
                  <a:txBody>
                    <a:bodyPr/>
                    <a:lstStyle/>
                    <a:p>
                      <a:pPr>
                        <a:spcAft>
                          <a:spcPts val="0"/>
                        </a:spcAft>
                        <a:defRPr sz="1700" b="0">
                          <a:solidFill>
                            <a:srgbClr val="092A20"/>
                          </a:solidFill>
                          <a:latin typeface="Arial"/>
                        </a:defRPr>
                      </a:pPr>
                      <a:r>
                        <a:t>Мониторинговый БВС</a:t>
                      </a:r>
                    </a:p>
                  </a:txBody>
                  <a:tcPr marL="91440" marR="91440" marT="45720" marB="45720">
                    <a:solidFill>
                      <a:srgbClr val="FFFFFF"/>
                    </a:solidFill>
                  </a:tcPr>
                </a:tc>
                <a:tc>
                  <a:txBody>
                    <a:bodyPr/>
                    <a:lstStyle/>
                    <a:p>
                      <a:pPr>
                        <a:spcAft>
                          <a:spcPts val="0"/>
                        </a:spcAft>
                        <a:defRPr sz="1700" b="0">
                          <a:solidFill>
                            <a:srgbClr val="092A20"/>
                          </a:solidFill>
                          <a:latin typeface="Arial"/>
                        </a:defRPr>
                      </a:pPr>
                      <a:r>
                        <a:t>0,6</a:t>
                      </a:r>
                    </a:p>
                  </a:txBody>
                  <a:tcPr marL="91440" marR="91440" marT="45720" marB="45720">
                    <a:solidFill>
                      <a:srgbClr val="FFFFFF"/>
                    </a:solidFill>
                  </a:tcPr>
                </a:tc>
              </a:tr>
              <a:tr h="512064">
                <a:tc>
                  <a:txBody>
                    <a:bodyPr/>
                    <a:lstStyle/>
                    <a:p>
                      <a:pPr>
                        <a:spcAft>
                          <a:spcPts val="0"/>
                        </a:spcAft>
                        <a:defRPr sz="1700" b="0">
                          <a:solidFill>
                            <a:srgbClr val="092A20"/>
                          </a:solidFill>
                          <a:latin typeface="Arial"/>
                        </a:defRPr>
                      </a:pPr>
                      <a:r>
                        <a:t>Подготовка состава / безопасность</a:t>
                      </a:r>
                    </a:p>
                  </a:txBody>
                  <a:tcPr marL="91440" marR="91440" marT="45720" marB="45720">
                    <a:solidFill>
                      <a:srgbClr val="EFF4EF"/>
                    </a:solidFill>
                  </a:tcPr>
                </a:tc>
                <a:tc>
                  <a:txBody>
                    <a:bodyPr/>
                    <a:lstStyle/>
                    <a:p>
                      <a:pPr>
                        <a:spcAft>
                          <a:spcPts val="0"/>
                        </a:spcAft>
                        <a:defRPr sz="1700" b="0">
                          <a:solidFill>
                            <a:srgbClr val="092A20"/>
                          </a:solidFill>
                          <a:latin typeface="Arial"/>
                        </a:defRPr>
                      </a:pPr>
                      <a:r>
                        <a:t>0,4</a:t>
                      </a:r>
                    </a:p>
                  </a:txBody>
                  <a:tcPr marL="91440" marR="91440" marT="45720" marB="45720">
                    <a:solidFill>
                      <a:srgbClr val="EFF4EF"/>
                    </a:solidFill>
                  </a:tcPr>
                </a:tc>
              </a:tr>
              <a:tr h="512064">
                <a:tc>
                  <a:txBody>
                    <a:bodyPr/>
                    <a:lstStyle/>
                    <a:p>
                      <a:pPr>
                        <a:spcAft>
                          <a:spcPts val="0"/>
                        </a:spcAft>
                        <a:defRPr sz="1700" b="0">
                          <a:solidFill>
                            <a:srgbClr val="092A20"/>
                          </a:solidFill>
                          <a:latin typeface="Arial"/>
                        </a:defRPr>
                      </a:pPr>
                      <a:r>
                        <a:t>ИТ</a:t>
                      </a:r>
                    </a:p>
                  </a:txBody>
                  <a:tcPr marL="91440" marR="91440" marT="45720" marB="45720">
                    <a:solidFill>
                      <a:srgbClr val="FFFFFF"/>
                    </a:solidFill>
                  </a:tcPr>
                </a:tc>
                <a:tc>
                  <a:txBody>
                    <a:bodyPr/>
                    <a:lstStyle/>
                    <a:p>
                      <a:pPr>
                        <a:spcAft>
                          <a:spcPts val="0"/>
                        </a:spcAft>
                        <a:defRPr sz="1700" b="0">
                          <a:solidFill>
                            <a:srgbClr val="092A20"/>
                          </a:solidFill>
                          <a:latin typeface="Arial"/>
                        </a:defRPr>
                      </a:pPr>
                      <a:r>
                        <a:t>0,2</a:t>
                      </a:r>
                    </a:p>
                  </a:txBody>
                  <a:tcPr marL="91440" marR="91440" marT="45720" marB="45720">
                    <a:solidFill>
                      <a:srgbClr val="FFFFFF"/>
                    </a:solidFill>
                  </a:tcPr>
                </a:tc>
              </a:tr>
              <a:tr h="512064">
                <a:tc>
                  <a:txBody>
                    <a:bodyPr/>
                    <a:lstStyle/>
                    <a:p>
                      <a:pPr>
                        <a:spcAft>
                          <a:spcPts val="0"/>
                        </a:spcAft>
                        <a:defRPr sz="1700" b="0">
                          <a:solidFill>
                            <a:srgbClr val="092A20"/>
                          </a:solidFill>
                          <a:latin typeface="Arial"/>
                        </a:defRPr>
                      </a:pPr>
                      <a:r>
                        <a:t>Капитальные запчасти</a:t>
                      </a:r>
                    </a:p>
                  </a:txBody>
                  <a:tcPr marL="91440" marR="91440" marT="45720" marB="45720">
                    <a:solidFill>
                      <a:srgbClr val="EFF4EF"/>
                    </a:solidFill>
                  </a:tcPr>
                </a:tc>
                <a:tc>
                  <a:txBody>
                    <a:bodyPr/>
                    <a:lstStyle/>
                    <a:p>
                      <a:pPr>
                        <a:spcAft>
                          <a:spcPts val="0"/>
                        </a:spcAft>
                        <a:defRPr sz="1700" b="0">
                          <a:solidFill>
                            <a:srgbClr val="092A20"/>
                          </a:solidFill>
                          <a:latin typeface="Arial"/>
                        </a:defRPr>
                      </a:pPr>
                      <a:r>
                        <a:t>0,4</a:t>
                      </a:r>
                    </a:p>
                  </a:txBody>
                  <a:tcPr marL="91440" marR="91440" marT="45720" marB="45720">
                    <a:solidFill>
                      <a:srgbClr val="EFF4EF"/>
                    </a:solidFill>
                  </a:tcPr>
                </a:tc>
              </a:tr>
            </a:tbl>
          </a:graphicData>
        </a:graphic>
      </p:graphicFrame>
      <p:sp>
        <p:nvSpPr>
          <p:cNvPr id="8" name="Rounded Rectangle 7"/>
          <p:cNvSpPr/>
          <p:nvPr/>
        </p:nvSpPr>
        <p:spPr>
          <a:xfrm>
            <a:off x="7315200" y="1737360"/>
            <a:ext cx="4370832" cy="103327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79" y="1929384"/>
            <a:ext cx="1143000" cy="585216"/>
          </a:xfrm>
          <a:prstGeom prst="rect">
            <a:avLst/>
          </a:prstGeom>
          <a:noFill/>
        </p:spPr>
        <p:txBody>
          <a:bodyPr wrap="square" lIns="13716" rIns="13716" tIns="0" bIns="0">
            <a:spAutoFit/>
          </a:bodyPr>
          <a:lstStyle/>
          <a:p>
            <a:pPr>
              <a:spcBef>
                <a:spcPts val="0"/>
              </a:spcBef>
              <a:spcAft>
                <a:spcPts val="500"/>
              </a:spcAft>
              <a:defRPr sz="3200" b="1">
                <a:solidFill>
                  <a:srgbClr val="164C38"/>
                </a:solidFill>
                <a:latin typeface="Arial"/>
              </a:defRPr>
            </a:pPr>
            <a:r>
              <a:t>7,0</a:t>
            </a:r>
          </a:p>
        </p:txBody>
      </p:sp>
      <p:sp>
        <p:nvSpPr>
          <p:cNvPr id="10" name="TextBox 9"/>
          <p:cNvSpPr txBox="1"/>
          <p:nvPr/>
        </p:nvSpPr>
        <p:spPr>
          <a:xfrm>
            <a:off x="8796528" y="2002536"/>
            <a:ext cx="2697480" cy="585216"/>
          </a:xfrm>
          <a:prstGeom prst="rect">
            <a:avLst/>
          </a:prstGeom>
          <a:noFill/>
        </p:spPr>
        <p:txBody>
          <a:bodyPr wrap="square" lIns="13716" rIns="13716" tIns="0" bIns="0">
            <a:spAutoFit/>
          </a:bodyPr>
          <a:lstStyle/>
          <a:p>
            <a:pPr>
              <a:spcBef>
                <a:spcPts val="0"/>
              </a:spcBef>
              <a:spcAft>
                <a:spcPts val="500"/>
              </a:spcAft>
              <a:defRPr sz="1900" b="0">
                <a:solidFill>
                  <a:srgbClr val="164C38"/>
                </a:solidFill>
                <a:latin typeface="Arial"/>
              </a:defRPr>
            </a:pPr>
            <a:r>
              <a:t>CAPEX</a:t>
            </a:r>
          </a:p>
        </p:txBody>
      </p:sp>
      <p:sp>
        <p:nvSpPr>
          <p:cNvPr id="11" name="Rounded Rectangle 10"/>
          <p:cNvSpPr/>
          <p:nvPr/>
        </p:nvSpPr>
        <p:spPr>
          <a:xfrm>
            <a:off x="7315200" y="2953512"/>
            <a:ext cx="4370832" cy="103327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3145536"/>
            <a:ext cx="1143000" cy="585216"/>
          </a:xfrm>
          <a:prstGeom prst="rect">
            <a:avLst/>
          </a:prstGeom>
          <a:noFill/>
        </p:spPr>
        <p:txBody>
          <a:bodyPr wrap="square" lIns="13716" rIns="13716" tIns="0" bIns="0">
            <a:spAutoFit/>
          </a:bodyPr>
          <a:lstStyle/>
          <a:p>
            <a:pPr>
              <a:spcBef>
                <a:spcPts val="0"/>
              </a:spcBef>
              <a:spcAft>
                <a:spcPts val="500"/>
              </a:spcAft>
              <a:defRPr sz="3200" b="1">
                <a:solidFill>
                  <a:srgbClr val="164C38"/>
                </a:solidFill>
                <a:latin typeface="Arial"/>
              </a:defRPr>
            </a:pPr>
            <a:r>
              <a:t>0,5</a:t>
            </a:r>
          </a:p>
        </p:txBody>
      </p:sp>
      <p:sp>
        <p:nvSpPr>
          <p:cNvPr id="13" name="TextBox 12"/>
          <p:cNvSpPr txBox="1"/>
          <p:nvPr/>
        </p:nvSpPr>
        <p:spPr>
          <a:xfrm>
            <a:off x="8796528" y="3218688"/>
            <a:ext cx="2697480" cy="585216"/>
          </a:xfrm>
          <a:prstGeom prst="rect">
            <a:avLst/>
          </a:prstGeom>
          <a:noFill/>
        </p:spPr>
        <p:txBody>
          <a:bodyPr wrap="square" lIns="13716" rIns="13716" tIns="0" bIns="0">
            <a:spAutoFit/>
          </a:bodyPr>
          <a:lstStyle/>
          <a:p>
            <a:pPr>
              <a:spcBef>
                <a:spcPts val="0"/>
              </a:spcBef>
              <a:spcAft>
                <a:spcPts val="500"/>
              </a:spcAft>
              <a:defRPr sz="1900" b="0">
                <a:solidFill>
                  <a:srgbClr val="164C38"/>
                </a:solidFill>
                <a:latin typeface="Arial"/>
              </a:defRPr>
            </a:pPr>
            <a:r>
              <a:t>Стартовые расходы</a:t>
            </a:r>
          </a:p>
        </p:txBody>
      </p:sp>
      <p:sp>
        <p:nvSpPr>
          <p:cNvPr id="14" name="Rounded Rectangle 13"/>
          <p:cNvSpPr/>
          <p:nvPr/>
        </p:nvSpPr>
        <p:spPr>
          <a:xfrm>
            <a:off x="7315200" y="4169664"/>
            <a:ext cx="4370832" cy="103327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79" y="4361688"/>
            <a:ext cx="1143000" cy="585216"/>
          </a:xfrm>
          <a:prstGeom prst="rect">
            <a:avLst/>
          </a:prstGeom>
          <a:noFill/>
        </p:spPr>
        <p:txBody>
          <a:bodyPr wrap="square" lIns="13716" rIns="13716" tIns="0" bIns="0">
            <a:spAutoFit/>
          </a:bodyPr>
          <a:lstStyle/>
          <a:p>
            <a:pPr>
              <a:spcBef>
                <a:spcPts val="0"/>
              </a:spcBef>
              <a:spcAft>
                <a:spcPts val="500"/>
              </a:spcAft>
              <a:defRPr sz="3200" b="1">
                <a:solidFill>
                  <a:srgbClr val="164C38"/>
                </a:solidFill>
                <a:latin typeface="Arial"/>
              </a:defRPr>
            </a:pPr>
            <a:r>
              <a:t>2,0</a:t>
            </a:r>
          </a:p>
        </p:txBody>
      </p:sp>
      <p:sp>
        <p:nvSpPr>
          <p:cNvPr id="16" name="TextBox 15"/>
          <p:cNvSpPr txBox="1"/>
          <p:nvPr/>
        </p:nvSpPr>
        <p:spPr>
          <a:xfrm>
            <a:off x="8796528" y="4434840"/>
            <a:ext cx="2697480" cy="585216"/>
          </a:xfrm>
          <a:prstGeom prst="rect">
            <a:avLst/>
          </a:prstGeom>
          <a:noFill/>
        </p:spPr>
        <p:txBody>
          <a:bodyPr wrap="square" lIns="13716" rIns="13716" tIns="0" bIns="0">
            <a:spAutoFit/>
          </a:bodyPr>
          <a:lstStyle/>
          <a:p>
            <a:pPr>
              <a:spcBef>
                <a:spcPts val="0"/>
              </a:spcBef>
              <a:spcAft>
                <a:spcPts val="500"/>
              </a:spcAft>
              <a:defRPr sz="1900" b="0">
                <a:solidFill>
                  <a:srgbClr val="164C38"/>
                </a:solidFill>
                <a:latin typeface="Arial"/>
              </a:defRPr>
            </a:pPr>
            <a:r>
              <a:t>Оборотный резерв</a:t>
            </a:r>
          </a:p>
        </p:txBody>
      </p:sp>
      <p:sp>
        <p:nvSpPr>
          <p:cNvPr id="17" name="Rounded Rectangle 16"/>
          <p:cNvSpPr/>
          <p:nvPr/>
        </p:nvSpPr>
        <p:spPr>
          <a:xfrm>
            <a:off x="502920" y="5733288"/>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5815583"/>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Итого 9,5 млн ₽. Резерв — ликвидность, не повторный расход и не бюджет расширения</a:t>
            </a:r>
          </a:p>
        </p:txBody>
      </p:sp>
      <p:sp>
        <p:nvSpPr>
          <p:cNvPr id="19" name="TextBox 18"/>
          <p:cNvSpPr txBox="1"/>
          <p:nvPr/>
        </p:nvSpPr>
        <p:spPr>
          <a:xfrm>
            <a:off x="594360" y="5349240"/>
            <a:ext cx="10972800" cy="347472"/>
          </a:xfrm>
          <a:prstGeom prst="rect">
            <a:avLst/>
          </a:prstGeom>
          <a:noFill/>
        </p:spPr>
        <p:txBody>
          <a:bodyPr wrap="square" lIns="13716" rIns="13716" tIns="0" bIns="0">
            <a:spAutoFit/>
          </a:bodyPr>
          <a:lstStyle/>
          <a:p>
            <a:pPr>
              <a:spcBef>
                <a:spcPts val="0"/>
              </a:spcBef>
              <a:spcAft>
                <a:spcPts val="500"/>
              </a:spcAft>
              <a:defRPr sz="1500" b="0">
                <a:solidFill>
                  <a:srgbClr val="FFFFFF"/>
                </a:solidFill>
                <a:latin typeface="Arial"/>
              </a:defRPr>
            </a:pPr>
            <a:r>
              <a:t>Пара XAG P100 Pro: ориентир 5,98 млн ₽ вместо лимита 4,0; финансирование 11,48 млн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Структура источников инвестиций</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20 / 22</a:t>
            </a:r>
          </a:p>
        </p:txBody>
      </p:sp>
      <p:sp>
        <p:nvSpPr>
          <p:cNvPr id="7" name="Rounded Rectangle 6"/>
          <p:cNvSpPr/>
          <p:nvPr/>
        </p:nvSpPr>
        <p:spPr>
          <a:xfrm>
            <a:off x="502920" y="1737360"/>
            <a:ext cx="5477256" cy="32644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85800" y="1920240"/>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2093976"/>
            <a:ext cx="5074920"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2,5</a:t>
            </a:r>
          </a:p>
        </p:txBody>
      </p:sp>
      <p:sp>
        <p:nvSpPr>
          <p:cNvPr id="10" name="TextBox 9"/>
          <p:cNvSpPr txBox="1"/>
          <p:nvPr/>
        </p:nvSpPr>
        <p:spPr>
          <a:xfrm>
            <a:off x="704088" y="2825496"/>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млн ₽ / учредитель</a:t>
            </a:r>
          </a:p>
        </p:txBody>
      </p:sp>
      <p:sp>
        <p:nvSpPr>
          <p:cNvPr id="11" name="TextBox 10"/>
          <p:cNvSpPr txBox="1"/>
          <p:nvPr/>
        </p:nvSpPr>
        <p:spPr>
          <a:xfrm>
            <a:off x="704088" y="3429000"/>
            <a:ext cx="5074920" cy="1499616"/>
          </a:xfrm>
          <a:prstGeom prst="rect">
            <a:avLst/>
          </a:prstGeom>
          <a:noFill/>
        </p:spPr>
        <p:txBody>
          <a:bodyPr wrap="square" lIns="13716" rIns="13716" tIns="0" bIns="0">
            <a:spAutoFit/>
          </a:bodyPr>
          <a:lstStyle/>
          <a:p>
            <a:pPr>
              <a:spcBef>
                <a:spcPts val="0"/>
              </a:spcBef>
              <a:spcAft>
                <a:spcPts val="500"/>
              </a:spcAft>
              <a:defRPr sz="2000" b="0">
                <a:solidFill>
                  <a:srgbClr val="092A20"/>
                </a:solidFill>
                <a:latin typeface="Arial"/>
              </a:defRPr>
            </a:pPr>
            <a:r>
              <a:t>Подтвердить наличие денег</a:t>
            </a:r>
          </a:p>
          <a:p>
            <a:pPr>
              <a:spcBef>
                <a:spcPts val="0"/>
              </a:spcBef>
              <a:spcAft>
                <a:spcPts val="500"/>
              </a:spcAft>
              <a:defRPr sz="2000" b="0">
                <a:solidFill>
                  <a:srgbClr val="092A20"/>
                </a:solidFill>
                <a:latin typeface="Arial"/>
              </a:defRPr>
            </a:pPr>
            <a:r>
              <a:t>и оформить вклад</a:t>
            </a:r>
          </a:p>
        </p:txBody>
      </p:sp>
      <p:sp>
        <p:nvSpPr>
          <p:cNvPr id="12" name="Rounded Rectangle 11"/>
          <p:cNvSpPr/>
          <p:nvPr/>
        </p:nvSpPr>
        <p:spPr>
          <a:xfrm>
            <a:off x="6208776" y="1737360"/>
            <a:ext cx="5477256" cy="32644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91656" y="1920240"/>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9944" y="2093976"/>
            <a:ext cx="5074920"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7,0</a:t>
            </a:r>
          </a:p>
        </p:txBody>
      </p:sp>
      <p:sp>
        <p:nvSpPr>
          <p:cNvPr id="15" name="TextBox 14"/>
          <p:cNvSpPr txBox="1"/>
          <p:nvPr/>
        </p:nvSpPr>
        <p:spPr>
          <a:xfrm>
            <a:off x="6409944" y="2825496"/>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млн ₽ / внешний инвестор</a:t>
            </a:r>
          </a:p>
        </p:txBody>
      </p:sp>
      <p:sp>
        <p:nvSpPr>
          <p:cNvPr id="16" name="TextBox 15"/>
          <p:cNvSpPr txBox="1"/>
          <p:nvPr/>
        </p:nvSpPr>
        <p:spPr>
          <a:xfrm>
            <a:off x="6409944" y="3429000"/>
            <a:ext cx="5074920" cy="1499616"/>
          </a:xfrm>
          <a:prstGeom prst="rect">
            <a:avLst/>
          </a:prstGeom>
          <a:noFill/>
        </p:spPr>
        <p:txBody>
          <a:bodyPr wrap="square" lIns="13716" rIns="13716" tIns="0" bIns="0">
            <a:spAutoFit/>
          </a:bodyPr>
          <a:lstStyle/>
          <a:p>
            <a:pPr>
              <a:spcBef>
                <a:spcPts val="0"/>
              </a:spcBef>
              <a:spcAft>
                <a:spcPts val="500"/>
              </a:spcAft>
              <a:defRPr sz="2000" b="0">
                <a:solidFill>
                  <a:srgbClr val="092A20"/>
                </a:solidFill>
                <a:latin typeface="Arial"/>
              </a:defRPr>
            </a:pPr>
            <a:r>
              <a:t>Долевое финансирование</a:t>
            </a:r>
          </a:p>
          <a:p>
            <a:pPr>
              <a:spcBef>
                <a:spcPts val="0"/>
              </a:spcBef>
              <a:spcAft>
                <a:spcPts val="500"/>
              </a:spcAft>
              <a:defRPr sz="2000" b="0">
                <a:solidFill>
                  <a:srgbClr val="092A20"/>
                </a:solidFill>
                <a:latin typeface="Arial"/>
              </a:defRPr>
            </a:pPr>
            <a:r>
              <a:t>после проверки условий</a:t>
            </a:r>
          </a:p>
        </p:txBody>
      </p:sp>
      <p:sp>
        <p:nvSpPr>
          <p:cNvPr id="17" name="TextBox 16"/>
          <p:cNvSpPr txBox="1"/>
          <p:nvPr/>
        </p:nvSpPr>
        <p:spPr>
          <a:xfrm>
            <a:off x="594360" y="5175504"/>
            <a:ext cx="10972800" cy="758952"/>
          </a:xfrm>
          <a:prstGeom prst="rect">
            <a:avLst/>
          </a:prstGeom>
          <a:noFill/>
        </p:spPr>
        <p:txBody>
          <a:bodyPr wrap="square" lIns="13716" rIns="13716" tIns="0" bIns="0">
            <a:spAutoFit/>
          </a:bodyPr>
          <a:lstStyle/>
          <a:p>
            <a:pPr>
              <a:spcBef>
                <a:spcPts val="0"/>
              </a:spcBef>
              <a:spcAft>
                <a:spcPts val="500"/>
              </a:spcAft>
              <a:defRPr sz="1800" b="0">
                <a:solidFill>
                  <a:srgbClr val="FFFFFF"/>
                </a:solidFill>
                <a:latin typeface="Arial"/>
              </a:defRPr>
            </a:pPr>
            <a:r>
              <a:t>Долг и гранты не включены. Деньги пока не подтверждены.</a:t>
            </a:r>
          </a:p>
          <a:p>
            <a:pPr>
              <a:spcBef>
                <a:spcPts val="0"/>
              </a:spcBef>
              <a:spcAft>
                <a:spcPts val="500"/>
              </a:spcAft>
              <a:defRPr sz="1800" b="0">
                <a:solidFill>
                  <a:srgbClr val="FFFFFF"/>
                </a:solidFill>
                <a:latin typeface="Arial"/>
              </a:defRPr>
            </a:pPr>
            <a:r>
              <a:t>Оценка бизнеса, корпоративные права, выход и доля инвестора — предмет соглашения.</a:t>
            </a:r>
          </a:p>
        </p:txBody>
      </p:sp>
      <p:sp>
        <p:nvSpPr>
          <p:cNvPr id="18" name="Rounded Rectangle 17"/>
          <p:cNvSpPr/>
          <p:nvPr/>
        </p:nvSpPr>
        <p:spPr>
          <a:xfrm>
            <a:off x="502920" y="6044184"/>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6126480"/>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Это суммы источников, НЕ доли в капитале. Крупные закупки — только после инвестиционного gate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Основные технико-экономические показатели</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[РАСЧЕТ] Финансовые KPI базы  •  [ДОПУЩЕНИЕ] Плановые операционные пороги</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21 / 22</a:t>
            </a:r>
          </a:p>
        </p:txBody>
      </p:sp>
      <p:sp>
        <p:nvSpPr>
          <p:cNvPr id="7" name="Rounded Rectangle 6"/>
          <p:cNvSpPr/>
          <p:nvPr/>
        </p:nvSpPr>
        <p:spPr>
          <a:xfrm>
            <a:off x="502920" y="1719072"/>
            <a:ext cx="3593592"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883664"/>
            <a:ext cx="3227832" cy="530352"/>
          </a:xfrm>
          <a:prstGeom prst="rect">
            <a:avLst/>
          </a:prstGeom>
          <a:noFill/>
        </p:spPr>
        <p:txBody>
          <a:bodyPr wrap="square" lIns="13716" rIns="13716" tIns="0" bIns="0">
            <a:spAutoFit/>
          </a:bodyPr>
          <a:lstStyle/>
          <a:p>
            <a:pPr>
              <a:spcBef>
                <a:spcPts val="0"/>
              </a:spcBef>
              <a:spcAft>
                <a:spcPts val="500"/>
              </a:spcAft>
              <a:defRPr sz="2900" b="1">
                <a:solidFill>
                  <a:srgbClr val="164C38"/>
                </a:solidFill>
                <a:latin typeface="Arial"/>
              </a:defRPr>
            </a:pPr>
            <a:r>
              <a:t>8,8 млн ₽</a:t>
            </a:r>
          </a:p>
        </p:txBody>
      </p:sp>
      <p:sp>
        <p:nvSpPr>
          <p:cNvPr id="9" name="TextBox 8"/>
          <p:cNvSpPr txBox="1"/>
          <p:nvPr/>
        </p:nvSpPr>
        <p:spPr>
          <a:xfrm>
            <a:off x="685800" y="2478024"/>
            <a:ext cx="3227832" cy="393192"/>
          </a:xfrm>
          <a:prstGeom prst="rect">
            <a:avLst/>
          </a:prstGeom>
          <a:noFill/>
        </p:spPr>
        <p:txBody>
          <a:bodyPr wrap="square" lIns="13716" rIns="13716" tIns="0" bIns="0">
            <a:spAutoFit/>
          </a:bodyPr>
          <a:lstStyle/>
          <a:p>
            <a:pPr>
              <a:spcBef>
                <a:spcPts val="0"/>
              </a:spcBef>
              <a:spcAft>
                <a:spcPts val="500"/>
              </a:spcAft>
              <a:defRPr sz="1800" b="1">
                <a:solidFill>
                  <a:srgbClr val="164C38"/>
                </a:solidFill>
                <a:latin typeface="Arial"/>
              </a:defRPr>
            </a:pPr>
            <a:r>
              <a:t>Выручка 2027</a:t>
            </a:r>
          </a:p>
        </p:txBody>
      </p:sp>
      <p:sp>
        <p:nvSpPr>
          <p:cNvPr id="10" name="TextBox 9"/>
          <p:cNvSpPr txBox="1"/>
          <p:nvPr/>
        </p:nvSpPr>
        <p:spPr>
          <a:xfrm>
            <a:off x="685800" y="2962656"/>
            <a:ext cx="3227832" cy="557784"/>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6000 га-проходов + 4000 обследований</a:t>
            </a:r>
          </a:p>
        </p:txBody>
      </p:sp>
      <p:sp>
        <p:nvSpPr>
          <p:cNvPr id="11" name="Rounded Rectangle 10"/>
          <p:cNvSpPr/>
          <p:nvPr/>
        </p:nvSpPr>
        <p:spPr>
          <a:xfrm>
            <a:off x="4297680" y="1719072"/>
            <a:ext cx="3593592"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80560" y="1883664"/>
            <a:ext cx="3227832" cy="530352"/>
          </a:xfrm>
          <a:prstGeom prst="rect">
            <a:avLst/>
          </a:prstGeom>
          <a:noFill/>
        </p:spPr>
        <p:txBody>
          <a:bodyPr wrap="square" lIns="13716" rIns="13716" tIns="0" bIns="0">
            <a:spAutoFit/>
          </a:bodyPr>
          <a:lstStyle/>
          <a:p>
            <a:pPr>
              <a:spcBef>
                <a:spcPts val="0"/>
              </a:spcBef>
              <a:spcAft>
                <a:spcPts val="500"/>
              </a:spcAft>
              <a:defRPr sz="2900" b="1">
                <a:solidFill>
                  <a:srgbClr val="164C38"/>
                </a:solidFill>
                <a:latin typeface="Arial"/>
              </a:defRPr>
            </a:pPr>
            <a:r>
              <a:t>22,3%</a:t>
            </a:r>
          </a:p>
        </p:txBody>
      </p:sp>
      <p:sp>
        <p:nvSpPr>
          <p:cNvPr id="13" name="TextBox 12"/>
          <p:cNvSpPr txBox="1"/>
          <p:nvPr/>
        </p:nvSpPr>
        <p:spPr>
          <a:xfrm>
            <a:off x="4480560" y="2478024"/>
            <a:ext cx="3227832" cy="393192"/>
          </a:xfrm>
          <a:prstGeom prst="rect">
            <a:avLst/>
          </a:prstGeom>
          <a:noFill/>
        </p:spPr>
        <p:txBody>
          <a:bodyPr wrap="square" lIns="13716" rIns="13716" tIns="0" bIns="0">
            <a:spAutoFit/>
          </a:bodyPr>
          <a:lstStyle/>
          <a:p>
            <a:pPr>
              <a:spcBef>
                <a:spcPts val="0"/>
              </a:spcBef>
              <a:spcAft>
                <a:spcPts val="500"/>
              </a:spcAft>
              <a:defRPr sz="1800" b="1">
                <a:solidFill>
                  <a:srgbClr val="164C38"/>
                </a:solidFill>
                <a:latin typeface="Arial"/>
              </a:defRPr>
            </a:pPr>
            <a:r>
              <a:t>Маржа EBITDA 2027</a:t>
            </a:r>
          </a:p>
        </p:txBody>
      </p:sp>
      <p:sp>
        <p:nvSpPr>
          <p:cNvPr id="14" name="TextBox 13"/>
          <p:cNvSpPr txBox="1"/>
          <p:nvPr/>
        </p:nvSpPr>
        <p:spPr>
          <a:xfrm>
            <a:off x="4480560" y="2962656"/>
            <a:ext cx="3227832" cy="557784"/>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До амортизации и налога УСН</a:t>
            </a:r>
          </a:p>
        </p:txBody>
      </p:sp>
      <p:sp>
        <p:nvSpPr>
          <p:cNvPr id="15" name="Rounded Rectangle 14"/>
          <p:cNvSpPr/>
          <p:nvPr/>
        </p:nvSpPr>
        <p:spPr>
          <a:xfrm>
            <a:off x="8092440" y="1719072"/>
            <a:ext cx="3593592"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320" y="1883664"/>
            <a:ext cx="3227832" cy="530352"/>
          </a:xfrm>
          <a:prstGeom prst="rect">
            <a:avLst/>
          </a:prstGeom>
          <a:noFill/>
        </p:spPr>
        <p:txBody>
          <a:bodyPr wrap="square" lIns="13716" rIns="13716" tIns="0" bIns="0">
            <a:spAutoFit/>
          </a:bodyPr>
          <a:lstStyle/>
          <a:p>
            <a:pPr>
              <a:spcBef>
                <a:spcPts val="0"/>
              </a:spcBef>
              <a:spcAft>
                <a:spcPts val="500"/>
              </a:spcAft>
              <a:defRPr sz="2900" b="1">
                <a:solidFill>
                  <a:srgbClr val="164C38"/>
                </a:solidFill>
                <a:latin typeface="Arial"/>
              </a:defRPr>
            </a:pPr>
            <a:r>
              <a:t>1,432 млн ₽</a:t>
            </a:r>
          </a:p>
        </p:txBody>
      </p:sp>
      <p:sp>
        <p:nvSpPr>
          <p:cNvPr id="17" name="TextBox 16"/>
          <p:cNvSpPr txBox="1"/>
          <p:nvPr/>
        </p:nvSpPr>
        <p:spPr>
          <a:xfrm>
            <a:off x="8275320" y="2478024"/>
            <a:ext cx="3227832" cy="393192"/>
          </a:xfrm>
          <a:prstGeom prst="rect">
            <a:avLst/>
          </a:prstGeom>
          <a:noFill/>
        </p:spPr>
        <p:txBody>
          <a:bodyPr wrap="square" lIns="13716" rIns="13716" tIns="0" bIns="0">
            <a:spAutoFit/>
          </a:bodyPr>
          <a:lstStyle/>
          <a:p>
            <a:pPr>
              <a:spcBef>
                <a:spcPts val="0"/>
              </a:spcBef>
              <a:spcAft>
                <a:spcPts val="500"/>
              </a:spcAft>
              <a:defRPr sz="1800" b="1">
                <a:solidFill>
                  <a:srgbClr val="164C38"/>
                </a:solidFill>
                <a:latin typeface="Arial"/>
              </a:defRPr>
            </a:pPr>
            <a:r>
              <a:t>Свободный CF 2027</a:t>
            </a:r>
          </a:p>
        </p:txBody>
      </p:sp>
      <p:sp>
        <p:nvSpPr>
          <p:cNvPr id="18" name="TextBox 17"/>
          <p:cNvSpPr txBox="1"/>
          <p:nvPr/>
        </p:nvSpPr>
        <p:spPr>
          <a:xfrm>
            <a:off x="8275320" y="2962656"/>
            <a:ext cx="3227832" cy="557784"/>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После налога; до выплат инвесторам</a:t>
            </a:r>
          </a:p>
        </p:txBody>
      </p:sp>
      <p:sp>
        <p:nvSpPr>
          <p:cNvPr id="19" name="Rounded Rectangle 18"/>
          <p:cNvSpPr/>
          <p:nvPr/>
        </p:nvSpPr>
        <p:spPr>
          <a:xfrm>
            <a:off x="502920" y="3776472"/>
            <a:ext cx="3593592"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941063"/>
            <a:ext cx="3227832" cy="530352"/>
          </a:xfrm>
          <a:prstGeom prst="rect">
            <a:avLst/>
          </a:prstGeom>
          <a:noFill/>
        </p:spPr>
        <p:txBody>
          <a:bodyPr wrap="square" lIns="13716" rIns="13716" tIns="0" bIns="0">
            <a:spAutoFit/>
          </a:bodyPr>
          <a:lstStyle/>
          <a:p>
            <a:pPr>
              <a:spcBef>
                <a:spcPts val="0"/>
              </a:spcBef>
              <a:spcAft>
                <a:spcPts val="500"/>
              </a:spcAft>
              <a:defRPr sz="2900" b="1">
                <a:solidFill>
                  <a:srgbClr val="164C38"/>
                </a:solidFill>
                <a:latin typeface="Arial"/>
              </a:defRPr>
            </a:pPr>
            <a:r>
              <a:t>13 000</a:t>
            </a:r>
          </a:p>
        </p:txBody>
      </p:sp>
      <p:sp>
        <p:nvSpPr>
          <p:cNvPr id="21" name="TextBox 20"/>
          <p:cNvSpPr txBox="1"/>
          <p:nvPr/>
        </p:nvSpPr>
        <p:spPr>
          <a:xfrm>
            <a:off x="685800" y="4535424"/>
            <a:ext cx="3227832" cy="393192"/>
          </a:xfrm>
          <a:prstGeom prst="rect">
            <a:avLst/>
          </a:prstGeom>
          <a:noFill/>
        </p:spPr>
        <p:txBody>
          <a:bodyPr wrap="square" lIns="13716" rIns="13716" tIns="0" bIns="0">
            <a:spAutoFit/>
          </a:bodyPr>
          <a:lstStyle/>
          <a:p>
            <a:pPr>
              <a:spcBef>
                <a:spcPts val="0"/>
              </a:spcBef>
              <a:spcAft>
                <a:spcPts val="500"/>
              </a:spcAft>
              <a:defRPr sz="1800" b="1">
                <a:solidFill>
                  <a:srgbClr val="164C38"/>
                </a:solidFill>
                <a:latin typeface="Arial"/>
              </a:defRPr>
            </a:pPr>
            <a:r>
              <a:t>Потолок га-проходов</a:t>
            </a:r>
          </a:p>
        </p:txBody>
      </p:sp>
      <p:sp>
        <p:nvSpPr>
          <p:cNvPr id="22" name="TextBox 21"/>
          <p:cNvSpPr txBox="1"/>
          <p:nvPr/>
        </p:nvSpPr>
        <p:spPr>
          <a:xfrm>
            <a:off x="685800" y="5020056"/>
            <a:ext cx="3227832" cy="557784"/>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100 дней × 130 га; подтвердить пилотом</a:t>
            </a:r>
          </a:p>
        </p:txBody>
      </p:sp>
      <p:sp>
        <p:nvSpPr>
          <p:cNvPr id="23" name="Rounded Rectangle 22"/>
          <p:cNvSpPr/>
          <p:nvPr/>
        </p:nvSpPr>
        <p:spPr>
          <a:xfrm>
            <a:off x="4297680" y="3776472"/>
            <a:ext cx="3593592"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80560" y="3941063"/>
            <a:ext cx="3227832" cy="530352"/>
          </a:xfrm>
          <a:prstGeom prst="rect">
            <a:avLst/>
          </a:prstGeom>
          <a:noFill/>
        </p:spPr>
        <p:txBody>
          <a:bodyPr wrap="square" lIns="13716" rIns="13716" tIns="0" bIns="0">
            <a:spAutoFit/>
          </a:bodyPr>
          <a:lstStyle/>
          <a:p>
            <a:pPr>
              <a:spcBef>
                <a:spcPts val="0"/>
              </a:spcBef>
              <a:spcAft>
                <a:spcPts val="500"/>
              </a:spcAft>
              <a:defRPr sz="2900" b="1">
                <a:solidFill>
                  <a:srgbClr val="164C38"/>
                </a:solidFill>
                <a:latin typeface="Arial"/>
              </a:defRPr>
            </a:pPr>
            <a:r>
              <a:t>10 клиентов</a:t>
            </a:r>
          </a:p>
        </p:txBody>
      </p:sp>
      <p:sp>
        <p:nvSpPr>
          <p:cNvPr id="25" name="TextBox 24"/>
          <p:cNvSpPr txBox="1"/>
          <p:nvPr/>
        </p:nvSpPr>
        <p:spPr>
          <a:xfrm>
            <a:off x="4480560" y="4535424"/>
            <a:ext cx="3227832" cy="393192"/>
          </a:xfrm>
          <a:prstGeom prst="rect">
            <a:avLst/>
          </a:prstGeom>
          <a:noFill/>
        </p:spPr>
        <p:txBody>
          <a:bodyPr wrap="square" lIns="13716" rIns="13716" tIns="0" bIns="0">
            <a:spAutoFit/>
          </a:bodyPr>
          <a:lstStyle/>
          <a:p>
            <a:pPr>
              <a:spcBef>
                <a:spcPts val="0"/>
              </a:spcBef>
              <a:spcAft>
                <a:spcPts val="500"/>
              </a:spcAft>
              <a:defRPr sz="1800" b="1">
                <a:solidFill>
                  <a:srgbClr val="164C38"/>
                </a:solidFill>
                <a:latin typeface="Arial"/>
              </a:defRPr>
            </a:pPr>
            <a:r>
              <a:t>Портфель первого сезона</a:t>
            </a:r>
          </a:p>
        </p:txBody>
      </p:sp>
      <p:sp>
        <p:nvSpPr>
          <p:cNvPr id="26" name="TextBox 25"/>
          <p:cNvSpPr txBox="1"/>
          <p:nvPr/>
        </p:nvSpPr>
        <p:spPr>
          <a:xfrm>
            <a:off x="4480560" y="5020056"/>
            <a:ext cx="3227832" cy="557784"/>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Договоры; календарь; актирование</a:t>
            </a:r>
          </a:p>
        </p:txBody>
      </p:sp>
      <p:sp>
        <p:nvSpPr>
          <p:cNvPr id="27" name="Rounded Rectangle 26"/>
          <p:cNvSpPr/>
          <p:nvPr/>
        </p:nvSpPr>
        <p:spPr>
          <a:xfrm>
            <a:off x="8092440" y="3776472"/>
            <a:ext cx="3593592"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75320" y="3941063"/>
            <a:ext cx="3227832" cy="530352"/>
          </a:xfrm>
          <a:prstGeom prst="rect">
            <a:avLst/>
          </a:prstGeom>
          <a:noFill/>
        </p:spPr>
        <p:txBody>
          <a:bodyPr wrap="square" lIns="13716" rIns="13716" tIns="0" bIns="0">
            <a:spAutoFit/>
          </a:bodyPr>
          <a:lstStyle/>
          <a:p>
            <a:pPr>
              <a:spcBef>
                <a:spcPts val="0"/>
              </a:spcBef>
              <a:spcAft>
                <a:spcPts val="500"/>
              </a:spcAft>
              <a:defRPr sz="2900" b="1">
                <a:solidFill>
                  <a:srgbClr val="164C38"/>
                </a:solidFill>
                <a:latin typeface="Arial"/>
              </a:defRPr>
            </a:pPr>
            <a:r>
              <a:t>0 работ</a:t>
            </a:r>
          </a:p>
        </p:txBody>
      </p:sp>
      <p:sp>
        <p:nvSpPr>
          <p:cNvPr id="29" name="TextBox 28"/>
          <p:cNvSpPr txBox="1"/>
          <p:nvPr/>
        </p:nvSpPr>
        <p:spPr>
          <a:xfrm>
            <a:off x="8275320" y="4535424"/>
            <a:ext cx="3227832" cy="393192"/>
          </a:xfrm>
          <a:prstGeom prst="rect">
            <a:avLst/>
          </a:prstGeom>
          <a:noFill/>
        </p:spPr>
        <p:txBody>
          <a:bodyPr wrap="square" lIns="13716" rIns="13716" tIns="0" bIns="0">
            <a:spAutoFit/>
          </a:bodyPr>
          <a:lstStyle/>
          <a:p>
            <a:pPr>
              <a:spcBef>
                <a:spcPts val="0"/>
              </a:spcBef>
              <a:spcAft>
                <a:spcPts val="500"/>
              </a:spcAft>
              <a:defRPr sz="1800" b="1">
                <a:solidFill>
                  <a:srgbClr val="164C38"/>
                </a:solidFill>
                <a:latin typeface="Arial"/>
              </a:defRPr>
            </a:pPr>
            <a:r>
              <a:t>Без требуемой готовности</a:t>
            </a:r>
          </a:p>
        </p:txBody>
      </p:sp>
      <p:sp>
        <p:nvSpPr>
          <p:cNvPr id="30" name="TextBox 29"/>
          <p:cNvSpPr txBox="1"/>
          <p:nvPr/>
        </p:nvSpPr>
        <p:spPr>
          <a:xfrm>
            <a:off x="8275320" y="5020056"/>
            <a:ext cx="3227832" cy="557784"/>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Учитывать также предотвращенные события</a:t>
            </a:r>
          </a:p>
        </p:txBody>
      </p:sp>
      <p:sp>
        <p:nvSpPr>
          <p:cNvPr id="31" name="TextBox 30"/>
          <p:cNvSpPr txBox="1"/>
          <p:nvPr/>
        </p:nvSpPr>
        <p:spPr>
          <a:xfrm>
            <a:off x="594360" y="6044184"/>
            <a:ext cx="10972800" cy="393192"/>
          </a:xfrm>
          <a:prstGeom prst="rect">
            <a:avLst/>
          </a:prstGeom>
          <a:noFill/>
        </p:spPr>
        <p:txBody>
          <a:bodyPr wrap="square" lIns="13716" rIns="13716" tIns="0" bIns="0">
            <a:spAutoFit/>
          </a:bodyPr>
          <a:lstStyle/>
          <a:p>
            <a:pPr>
              <a:spcBef>
                <a:spcPts val="0"/>
              </a:spcBef>
              <a:spcAft>
                <a:spcPts val="500"/>
              </a:spcAft>
              <a:defRPr sz="1600" b="0">
                <a:solidFill>
                  <a:srgbClr val="AFC5B8"/>
                </a:solidFill>
                <a:latin typeface="Arial"/>
              </a:defRPr>
            </a:pPr>
            <a:r>
              <a:t>KPI подтверждаются актами, журналами, банковской выпиской и план-фактом — не презентацией.</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Анализ рисков</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 Риск-рейтинг экспертный; инвестиционное решение условное</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22 / 22</a:t>
            </a:r>
          </a:p>
        </p:txBody>
      </p:sp>
      <p:graphicFrame>
        <p:nvGraphicFramePr>
          <p:cNvPr id="7" name="Table 6"/>
          <p:cNvGraphicFramePr>
            <a:graphicFrameLocks noGrp="1"/>
          </p:cNvGraphicFramePr>
          <p:nvPr/>
        </p:nvGraphicFramePr>
        <p:xfrm>
          <a:off x="502920" y="1728216"/>
          <a:ext cx="6665976" cy="3493008"/>
        </p:xfrm>
        <a:graphic>
          <a:graphicData uri="http://schemas.openxmlformats.org/drawingml/2006/table">
            <a:tbl>
              <a:tblPr firstRow="1" bandRow="1">
                <a:tableStyleId>{5C22544A-7EE6-4342-B048-85BDC9FD1C3A}</a:tableStyleId>
              </a:tblPr>
              <a:tblGrid>
                <a:gridCol w="3337560"/>
                <a:gridCol w="3328416"/>
              </a:tblGrid>
              <a:tr h="582168">
                <a:tc>
                  <a:txBody>
                    <a:bodyPr/>
                    <a:lstStyle/>
                    <a:p>
                      <a:pPr>
                        <a:spcAft>
                          <a:spcPts val="0"/>
                        </a:spcAft>
                        <a:defRPr sz="1700" b="1">
                          <a:solidFill>
                            <a:srgbClr val="FFFFFF"/>
                          </a:solidFill>
                          <a:latin typeface="Arial"/>
                        </a:defRPr>
                      </a:pPr>
                      <a:r>
                        <a:t>Риск / триггер</a:t>
                      </a:r>
                    </a:p>
                  </a:txBody>
                  <a:tcPr marL="91440" marR="91440" marT="45720" marB="45720">
                    <a:solidFill>
                      <a:srgbClr val="164C38"/>
                    </a:solidFill>
                  </a:tcPr>
                </a:tc>
                <a:tc>
                  <a:txBody>
                    <a:bodyPr/>
                    <a:lstStyle/>
                    <a:p>
                      <a:pPr>
                        <a:spcAft>
                          <a:spcPts val="0"/>
                        </a:spcAft>
                        <a:defRPr sz="1700" b="1">
                          <a:solidFill>
                            <a:srgbClr val="FFFFFF"/>
                          </a:solidFill>
                          <a:latin typeface="Arial"/>
                        </a:defRPr>
                      </a:pPr>
                      <a:r>
                        <a:t>Ответ / владелец</a:t>
                      </a:r>
                    </a:p>
                  </a:txBody>
                  <a:tcPr marL="91440" marR="91440" marT="45720" marB="45720">
                    <a:solidFill>
                      <a:srgbClr val="164C38"/>
                    </a:solidFill>
                  </a:tcPr>
                </a:tc>
              </a:tr>
              <a:tr h="582168">
                <a:tc>
                  <a:txBody>
                    <a:bodyPr/>
                    <a:lstStyle/>
                    <a:p>
                      <a:pPr>
                        <a:spcAft>
                          <a:spcPts val="0"/>
                        </a:spcAft>
                        <a:defRPr sz="1700" b="0">
                          <a:solidFill>
                            <a:srgbClr val="092A20"/>
                          </a:solidFill>
                          <a:latin typeface="Arial"/>
                        </a:defRPr>
                      </a:pPr>
                      <a:r>
                        <a:t>Нет правового основания</a:t>
                      </a:r>
                    </a:p>
                  </a:txBody>
                  <a:tcPr marL="91440" marR="91440" marT="45720" marB="45720">
                    <a:solidFill>
                      <a:srgbClr val="FFFFFF"/>
                    </a:solidFill>
                  </a:tcPr>
                </a:tc>
                <a:tc>
                  <a:txBody>
                    <a:bodyPr/>
                    <a:lstStyle/>
                    <a:p>
                      <a:pPr>
                        <a:spcAft>
                          <a:spcPts val="0"/>
                        </a:spcAft>
                        <a:defRPr sz="1700" b="0">
                          <a:solidFill>
                            <a:srgbClr val="092A20"/>
                          </a:solidFill>
                          <a:latin typeface="Arial"/>
                        </a:defRPr>
                      </a:pPr>
                      <a:r>
                        <a:t>NO-GO; директор + юрист</a:t>
                      </a:r>
                    </a:p>
                  </a:txBody>
                  <a:tcPr marL="91440" marR="91440" marT="45720" marB="45720">
                    <a:solidFill>
                      <a:srgbClr val="FFFFFF"/>
                    </a:solidFill>
                  </a:tcPr>
                </a:tc>
              </a:tr>
              <a:tr h="582168">
                <a:tc>
                  <a:txBody>
                    <a:bodyPr/>
                    <a:lstStyle/>
                    <a:p>
                      <a:pPr>
                        <a:spcAft>
                          <a:spcPts val="0"/>
                        </a:spcAft>
                        <a:defRPr sz="1700" b="0">
                          <a:solidFill>
                            <a:srgbClr val="092A20"/>
                          </a:solidFill>
                          <a:latin typeface="Arial"/>
                        </a:defRPr>
                      </a:pPr>
                      <a:r>
                        <a:t>Погода / конфликт окон</a:t>
                      </a:r>
                    </a:p>
                  </a:txBody>
                  <a:tcPr marL="91440" marR="91440" marT="45720" marB="45720">
                    <a:solidFill>
                      <a:srgbClr val="EFF4EF"/>
                    </a:solidFill>
                  </a:tcPr>
                </a:tc>
                <a:tc>
                  <a:txBody>
                    <a:bodyPr/>
                    <a:lstStyle/>
                    <a:p>
                      <a:pPr>
                        <a:spcAft>
                          <a:spcPts val="0"/>
                        </a:spcAft>
                        <a:defRPr sz="1700" b="0">
                          <a:solidFill>
                            <a:srgbClr val="092A20"/>
                          </a:solidFill>
                          <a:latin typeface="Arial"/>
                        </a:defRPr>
                      </a:pPr>
                      <a:r>
                        <a:t>Перепланирование; опер. руководитель</a:t>
                      </a:r>
                    </a:p>
                  </a:txBody>
                  <a:tcPr marL="91440" marR="91440" marT="45720" marB="45720">
                    <a:solidFill>
                      <a:srgbClr val="EFF4EF"/>
                    </a:solidFill>
                  </a:tcPr>
                </a:tc>
              </a:tr>
              <a:tr h="582168">
                <a:tc>
                  <a:txBody>
                    <a:bodyPr/>
                    <a:lstStyle/>
                    <a:p>
                      <a:pPr>
                        <a:spcAft>
                          <a:spcPts val="0"/>
                        </a:spcAft>
                        <a:defRPr sz="1700" b="0">
                          <a:solidFill>
                            <a:srgbClr val="092A20"/>
                          </a:solidFill>
                          <a:latin typeface="Arial"/>
                        </a:defRPr>
                      </a:pPr>
                      <a:r>
                        <a:t>Заказы ниже плана / цена падает</a:t>
                      </a:r>
                    </a:p>
                  </a:txBody>
                  <a:tcPr marL="91440" marR="91440" marT="45720" marB="45720">
                    <a:solidFill>
                      <a:srgbClr val="FFFFFF"/>
                    </a:solidFill>
                  </a:tcPr>
                </a:tc>
                <a:tc>
                  <a:txBody>
                    <a:bodyPr/>
                    <a:lstStyle/>
                    <a:p>
                      <a:pPr>
                        <a:spcAft>
                          <a:spcPts val="0"/>
                        </a:spcAft>
                        <a:defRPr sz="1700" b="0">
                          <a:solidFill>
                            <a:srgbClr val="092A20"/>
                          </a:solidFill>
                          <a:latin typeface="Arial"/>
                        </a:defRPr>
                      </a:pPr>
                      <a:r>
                        <a:t>Пересчет NPV; директор</a:t>
                      </a:r>
                    </a:p>
                  </a:txBody>
                  <a:tcPr marL="91440" marR="91440" marT="45720" marB="45720">
                    <a:solidFill>
                      <a:srgbClr val="FFFFFF"/>
                    </a:solidFill>
                  </a:tcPr>
                </a:tc>
              </a:tr>
              <a:tr h="582168">
                <a:tc>
                  <a:txBody>
                    <a:bodyPr/>
                    <a:lstStyle/>
                    <a:p>
                      <a:pPr>
                        <a:spcAft>
                          <a:spcPts val="0"/>
                        </a:spcAft>
                        <a:defRPr sz="1700" b="0">
                          <a:solidFill>
                            <a:srgbClr val="092A20"/>
                          </a:solidFill>
                          <a:latin typeface="Arial"/>
                        </a:defRPr>
                      </a:pPr>
                      <a:r>
                        <a:t>Поломка / ошибка внесения</a:t>
                      </a:r>
                    </a:p>
                  </a:txBody>
                  <a:tcPr marL="91440" marR="91440" marT="45720" marB="45720">
                    <a:solidFill>
                      <a:srgbClr val="EFF4EF"/>
                    </a:solidFill>
                  </a:tcPr>
                </a:tc>
                <a:tc>
                  <a:txBody>
                    <a:bodyPr/>
                    <a:lstStyle/>
                    <a:p>
                      <a:pPr>
                        <a:spcAft>
                          <a:spcPts val="0"/>
                        </a:spcAft>
                        <a:defRPr sz="1700" b="0">
                          <a:solidFill>
                            <a:srgbClr val="092A20"/>
                          </a:solidFill>
                          <a:latin typeface="Arial"/>
                        </a:defRPr>
                      </a:pPr>
                      <a:r>
                        <a:t>Резерв, SOP, остановка; опер. руководитель</a:t>
                      </a:r>
                    </a:p>
                  </a:txBody>
                  <a:tcPr marL="91440" marR="91440" marT="45720" marB="45720">
                    <a:solidFill>
                      <a:srgbClr val="EFF4EF"/>
                    </a:solidFill>
                  </a:tcPr>
                </a:tc>
              </a:tr>
              <a:tr h="582168">
                <a:tc>
                  <a:txBody>
                    <a:bodyPr/>
                    <a:lstStyle/>
                    <a:p>
                      <a:pPr>
                        <a:spcAft>
                          <a:spcPts val="0"/>
                        </a:spcAft>
                        <a:defRPr sz="1700" b="0">
                          <a:solidFill>
                            <a:srgbClr val="092A20"/>
                          </a:solidFill>
                          <a:latin typeface="Arial"/>
                        </a:defRPr>
                      </a:pPr>
                      <a:r>
                        <a:t>Перегрузка / дефицит ликвидности</a:t>
                      </a:r>
                    </a:p>
                  </a:txBody>
                  <a:tcPr marL="91440" marR="91440" marT="45720" marB="45720">
                    <a:solidFill>
                      <a:srgbClr val="FFFFFF"/>
                    </a:solidFill>
                  </a:tcPr>
                </a:tc>
                <a:tc>
                  <a:txBody>
                    <a:bodyPr/>
                    <a:lstStyle/>
                    <a:p>
                      <a:pPr>
                        <a:spcAft>
                          <a:spcPts val="0"/>
                        </a:spcAft>
                        <a:defRPr sz="1700" b="0">
                          <a:solidFill>
                            <a:srgbClr val="092A20"/>
                          </a:solidFill>
                          <a:latin typeface="Arial"/>
                        </a:defRPr>
                      </a:pPr>
                      <a:r>
                        <a:t>Лимит заказов, кассовый план; директор</a:t>
                      </a:r>
                    </a:p>
                  </a:txBody>
                  <a:tcPr marL="91440" marR="91440" marT="45720" marB="45720">
                    <a:solidFill>
                      <a:srgbClr val="FFFFFF"/>
                    </a:solidFill>
                  </a:tcPr>
                </a:tc>
              </a:tr>
            </a:tbl>
          </a:graphicData>
        </a:graphic>
      </p:graphicFrame>
      <p:sp>
        <p:nvSpPr>
          <p:cNvPr id="8" name="Rounded Rectangle 7"/>
          <p:cNvSpPr/>
          <p:nvPr/>
        </p:nvSpPr>
        <p:spPr>
          <a:xfrm>
            <a:off x="7388352" y="1728216"/>
            <a:ext cx="429768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571231" y="1911095"/>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0" y="2112264"/>
            <a:ext cx="3895344"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INVESTMENT GATE</a:t>
            </a:r>
          </a:p>
        </p:txBody>
      </p:sp>
      <p:sp>
        <p:nvSpPr>
          <p:cNvPr id="11" name="TextBox 10"/>
          <p:cNvSpPr txBox="1"/>
          <p:nvPr/>
        </p:nvSpPr>
        <p:spPr>
          <a:xfrm>
            <a:off x="7589520" y="2715768"/>
            <a:ext cx="3895344" cy="2432304"/>
          </a:xfrm>
          <a:prstGeom prst="rect">
            <a:avLst/>
          </a:prstGeom>
          <a:noFill/>
        </p:spPr>
        <p:txBody>
          <a:bodyPr wrap="square" lIns="13716" rIns="13716" tIns="0" bIns="0">
            <a:spAutoFit/>
          </a:bodyPr>
          <a:lstStyle/>
          <a:p>
            <a:pPr>
              <a:spcBef>
                <a:spcPts val="0"/>
              </a:spcBef>
              <a:spcAft>
                <a:spcPts val="500"/>
              </a:spcAft>
              <a:defRPr sz="1800" b="0">
                <a:solidFill>
                  <a:srgbClr val="092A20"/>
                </a:solidFill>
                <a:latin typeface="Arial"/>
              </a:defRPr>
            </a:pPr>
            <a:r>
              <a:t>1  Письменная правовая карта</a:t>
            </a:r>
          </a:p>
          <a:p>
            <a:pPr>
              <a:spcBef>
                <a:spcPts val="0"/>
              </a:spcBef>
              <a:spcAft>
                <a:spcPts val="500"/>
              </a:spcAft>
              <a:defRPr sz="1800" b="0">
                <a:solidFill>
                  <a:srgbClr val="092A20"/>
                </a:solidFill>
                <a:latin typeface="Arial"/>
              </a:defRPr>
            </a:pPr>
            <a:r>
              <a:t>2  Заявки на доступные 6 000 га</a:t>
            </a:r>
          </a:p>
          <a:p>
            <a:pPr>
              <a:spcBef>
                <a:spcPts val="0"/>
              </a:spcBef>
              <a:spcAft>
                <a:spcPts val="500"/>
              </a:spcAft>
              <a:defRPr sz="1800" b="0">
                <a:solidFill>
                  <a:srgbClr val="092A20"/>
                </a:solidFill>
                <a:latin typeface="Arial"/>
              </a:defRPr>
            </a:pPr>
            <a:r>
              <a:t>3  Подтвержденные КП и кадры</a:t>
            </a:r>
          </a:p>
          <a:p>
            <a:pPr>
              <a:spcBef>
                <a:spcPts val="0"/>
              </a:spcBef>
              <a:spcAft>
                <a:spcPts val="500"/>
              </a:spcAft>
              <a:defRPr sz="1800" b="0">
                <a:solidFill>
                  <a:srgbClr val="092A20"/>
                </a:solidFill>
                <a:latin typeface="Arial"/>
              </a:defRPr>
            </a:pPr>
            <a:r>
              <a:t>4  Кассовый план и резерв</a:t>
            </a:r>
          </a:p>
          <a:p>
            <a:pPr>
              <a:spcBef>
                <a:spcPts val="0"/>
              </a:spcBef>
              <a:spcAft>
                <a:spcPts val="500"/>
              </a:spcAft>
              <a:defRPr sz="1800" b="0">
                <a:solidFill>
                  <a:srgbClr val="092A20"/>
                </a:solidFill>
                <a:latin typeface="Arial"/>
              </a:defRPr>
            </a:pPr>
            <a:r>
              <a:t>5  Приемка + апрельский пилот</a:t>
            </a:r>
          </a:p>
        </p:txBody>
      </p:sp>
      <p:sp>
        <p:nvSpPr>
          <p:cNvPr id="12" name="Rounded Rectangle 11"/>
          <p:cNvSpPr/>
          <p:nvPr/>
        </p:nvSpPr>
        <p:spPr>
          <a:xfrm>
            <a:off x="502920" y="5532120"/>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5614416"/>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Нет готовности → отложить капиталоемкий запуск. Мониторинг-only не доказан как прибыльная замена</a:t>
            </a:r>
          </a:p>
        </p:txBody>
      </p:sp>
      <p:sp>
        <p:nvSpPr>
          <p:cNvPr id="14" name="TextBox 13"/>
          <p:cNvSpPr txBox="1"/>
          <p:nvPr/>
        </p:nvSpPr>
        <p:spPr>
          <a:xfrm>
            <a:off x="594360" y="6117336"/>
            <a:ext cx="10972800" cy="329184"/>
          </a:xfrm>
          <a:prstGeom prst="rect">
            <a:avLst/>
          </a:prstGeom>
          <a:noFill/>
        </p:spPr>
        <p:txBody>
          <a:bodyPr wrap="square" lIns="13716" rIns="13716" tIns="0" bIns="0">
            <a:spAutoFit/>
          </a:bodyPr>
          <a:lstStyle/>
          <a:p>
            <a:pPr>
              <a:spcBef>
                <a:spcPts val="0"/>
              </a:spcBef>
              <a:spcAft>
                <a:spcPts val="500"/>
              </a:spcAft>
              <a:defRPr sz="1500" b="0">
                <a:solidFill>
                  <a:srgbClr val="AFC5B8"/>
                </a:solidFill>
                <a:latin typeface="Arial"/>
              </a:defRPr>
            </a:pPr>
            <a:r>
              <a:t>Масштабирование — после фактического сезона, проверки претензий, загрузки и продлений.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