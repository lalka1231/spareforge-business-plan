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АгроВектор</c:v>
                </c:pt>
              </c:strCache>
            </c:strRef>
          </c:tx>
          <c:spPr>
            <a:solidFill>
              <a:srgbClr val="164C38"/>
            </a:solidFill>
            <a:ln w="25400">
              <a:solidFill>
                <a:srgbClr val="164C38"/>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Sheet1!$B$2:$B$8</c:f>
              <c:numCache>
                <c:formatCode>General</c:formatCode>
                <c:ptCount val="7"/>
                <c:pt idx="0">
                  <c:v>5</c:v>
                </c:pt>
                <c:pt idx="1">
                  <c:v>5</c:v>
                </c:pt>
                <c:pt idx="2">
                  <c:v>5</c:v>
                </c:pt>
                <c:pt idx="3">
                  <c:v>5</c:v>
                </c:pt>
                <c:pt idx="4">
                  <c:v>5</c:v>
                </c:pt>
                <c:pt idx="5">
                  <c:v>3</c:v>
                </c:pt>
                <c:pt idx="6">
                  <c:v>3</c:v>
                </c:pt>
              </c:numCache>
            </c:numRef>
          </c:val>
          <c:smooth val="0"/>
        </c:ser>
        <c:ser>
          <c:idx val="1"/>
          <c:order val="1"/>
          <c:tx>
            <c:strRef>
              <c:f>Sheet1!$C$1</c:f>
              <c:strCache>
                <c:ptCount val="1"/>
                <c:pt idx="0">
                  <c:v>Наземный подрядчик</c:v>
                </c:pt>
              </c:strCache>
            </c:strRef>
          </c:tx>
          <c:spPr>
            <a:solidFill>
              <a:srgbClr val="7EB94A"/>
            </a:solidFill>
            <a:ln w="25400">
              <a:solidFill>
                <a:srgbClr val="7EB94A"/>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Sheet1!$C$2:$C$8</c:f>
              <c:numCache>
                <c:formatCode>General</c:formatCode>
                <c:ptCount val="7"/>
                <c:pt idx="0">
                  <c:v>2</c:v>
                </c:pt>
                <c:pt idx="1">
                  <c:v>2</c:v>
                </c:pt>
                <c:pt idx="2">
                  <c:v>2</c:v>
                </c:pt>
                <c:pt idx="3">
                  <c:v>3</c:v>
                </c:pt>
                <c:pt idx="4">
                  <c:v>5</c:v>
                </c:pt>
                <c:pt idx="5">
                  <c:v>3</c:v>
                </c:pt>
                <c:pt idx="6">
                  <c:v>4</c:v>
                </c:pt>
              </c:numCache>
            </c:numRef>
          </c:val>
          <c:smooth val="0"/>
        </c:ser>
        <c:ser>
          <c:idx val="2"/>
          <c:order val="2"/>
          <c:tx>
            <c:strRef>
              <c:f>Sheet1!$D$1</c:f>
              <c:strCache>
                <c:ptCount val="1"/>
                <c:pt idx="0">
                  <c:v>Своя техника</c:v>
                </c:pt>
              </c:strCache>
            </c:strRef>
          </c:tx>
          <c:spPr>
            <a:solidFill>
              <a:srgbClr val="739DAB"/>
            </a:solidFill>
            <a:ln w="25400">
              <a:solidFill>
                <a:srgbClr val="739DAB"/>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Sheet1!$D$2:$D$8</c:f>
              <c:numCache>
                <c:formatCode>General</c:formatCode>
                <c:ptCount val="7"/>
                <c:pt idx="0">
                  <c:v>3</c:v>
                </c:pt>
                <c:pt idx="1">
                  <c:v>3</c:v>
                </c:pt>
                <c:pt idx="2">
                  <c:v>3</c:v>
                </c:pt>
                <c:pt idx="3">
                  <c:v>3</c:v>
                </c:pt>
                <c:pt idx="4">
                  <c:v>1</c:v>
                </c:pt>
                <c:pt idx="5">
                  <c:v>5</c:v>
                </c:pt>
                <c:pt idx="6">
                  <c:v>4</c:v>
                </c:pt>
              </c:numCache>
            </c:numRef>
          </c:val>
          <c:smooth val="0"/>
        </c:ser>
        <c:ser>
          <c:idx val="3"/>
          <c:order val="3"/>
          <c:tx>
            <c:strRef>
              <c:f>Sheet1!$E$1</c:f>
              <c:strCache>
                <c:ptCount val="1"/>
                <c:pt idx="0">
                  <c:v>Узкий БПЛА-подрядчик</c:v>
                </c:pt>
              </c:strCache>
            </c:strRef>
          </c:tx>
          <c:spPr>
            <a:solidFill>
              <a:srgbClr val="BC9255"/>
            </a:solidFill>
            <a:ln w="25400">
              <a:solidFill>
                <a:srgbClr val="BC9255"/>
              </a:solidFill>
            </a:ln>
          </c:spPr>
          <c:marker>
            <c:symbol val="none"/>
          </c:marker>
          <c:cat>
            <c:strRef>
              <c:f>Sheet1!$A$2:$A$8</c:f>
              <c:strCache>
                <c:ptCount val="7"/>
                <c:pt idx="0">
                  <c:v>Локальный
объем</c:v>
                </c:pt>
                <c:pt idx="1">
                  <c:v>Геометрия</c:v>
                </c:pt>
                <c:pt idx="2">
                  <c:v>Связка
с картой</c:v>
                </c:pt>
                <c:pt idx="3">
                  <c:v>Отчет</c:v>
                </c:pt>
                <c:pt idx="4">
                  <c:v>Без CAPEX
клиента</c:v>
                </c:pt>
                <c:pt idx="5">
                  <c:v>Доступность</c:v>
                </c:pt>
                <c:pt idx="6">
                  <c:v>Широта
технологий</c:v>
                </c:pt>
              </c:strCache>
            </c:strRef>
          </c:cat>
          <c:val>
            <c:numRef>
              <c:f>Sheet1!$E$2:$E$8</c:f>
              <c:numCache>
                <c:formatCode>General</c:formatCode>
                <c:ptCount val="7"/>
                <c:pt idx="0">
                  <c:v>4</c:v>
                </c:pt>
                <c:pt idx="1">
                  <c:v>4</c:v>
                </c:pt>
                <c:pt idx="2">
                  <c:v>3</c:v>
                </c:pt>
                <c:pt idx="3">
                  <c:v>3</c:v>
                </c:pt>
                <c:pt idx="4">
                  <c:v>5</c:v>
                </c:pt>
                <c:pt idx="5">
                  <c:v>3</c:v>
                </c:pt>
                <c:pt idx="6">
                  <c:v>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500"/>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1500"/>
            </a:pPr>
          </a:p>
        </c:txPr>
        <c:crossAx val="2118791784"/>
        <c:crosses val="autoZero"/>
      </c:valAx>
    </c:plotArea>
    <c:legend>
      <c:legendPos val="b"/>
      <c:layout/>
      <c:overlay val="0"/>
      <c:txPr>
        <a:bodyPr/>
        <a:lstStyle/>
        <a:p>
          <a:pPr>
            <a:defRPr sz="1500"/>
          </a:pPr>
        </a:p>
      </c:txPr>
    </c:legend>
    <c:plotVisOnly val="1"/>
    <c:dispBlanksAs val="gap"/>
    <c:showDLblsOverMax val="0"/>
  </c:chart>
  <c:txPr>
    <a:bodyPr/>
    <a:lstStyle/>
    <a:p>
      <a:pPr>
        <a:defRPr sz="15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Выручка</c:v>
                </c:pt>
              </c:strCache>
            </c:strRef>
          </c:tx>
          <c:spPr>
            <a:solidFill>
              <a:srgbClr val="164C38"/>
            </a:solidFill>
            <a:ln w="25400">
              <a:solidFill>
                <a:srgbClr val="164C38"/>
              </a:solidFill>
            </a:ln>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7EB94A"/>
            </a:solidFill>
            <a:ln w="25400">
              <a:solidFill>
                <a:srgbClr val="7EB94A"/>
              </a:solidFill>
            </a:ln>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1.96</c:v>
                </c:pt>
                <c:pt idx="1">
                  <c:v>5.16</c:v>
                </c:pt>
                <c:pt idx="2">
                  <c:v>7.619380000000004</c:v>
                </c:pt>
                <c:pt idx="3">
                  <c:v>9.035079900000003</c:v>
                </c:pt>
                <c:pt idx="4">
                  <c:v>10.540193564000003</c:v>
                </c:pt>
              </c:numCache>
            </c:numRef>
          </c:val>
        </c:ser>
        <c:ser>
          <c:idx val="2"/>
          <c:order val="2"/>
          <c:tx>
            <c:strRef>
              <c:f>Sheet1!$D$1</c:f>
              <c:strCache>
                <c:ptCount val="1"/>
                <c:pt idx="0">
                  <c:v>Свободный CF</c:v>
                </c:pt>
              </c:strCache>
            </c:strRef>
          </c:tx>
          <c:spPr>
            <a:solidFill>
              <a:srgbClr val="739DAB"/>
            </a:solidFill>
            <a:ln w="25400">
              <a:solidFill>
                <a:srgbClr val="739DAB"/>
              </a:solidFill>
            </a:ln>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1.432</c:v>
                </c:pt>
                <c:pt idx="1">
                  <c:v>4.03632</c:v>
                </c:pt>
                <c:pt idx="2">
                  <c:v>5.961575200000003</c:v>
                </c:pt>
                <c:pt idx="3">
                  <c:v>6.930350556000001</c:v>
                </c:pt>
                <c:pt idx="4">
                  <c:v>10.578478200160003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500"/>
            </a:pPr>
          </a:p>
        </c:txPr>
        <c:crossAx val="-2068027336"/>
        <c:crosses val="autoZero"/>
      </c:valAx>
    </c:plotArea>
    <c:legend>
      <c:legendPos val="b"/>
      <c:overlay val="0"/>
      <c:txPr>
        <a:bodyPr/>
        <a:lstStyle/>
        <a:p>
          <a:pPr>
            <a:defRPr sz="1500"/>
          </a:pPr>
        </a:p>
      </c:txPr>
    </c:legend>
    <c:dispBlanksAs val="gap"/>
  </c:chart>
  <c:txPr>
    <a:bodyPr/>
    <a:lstStyle/>
    <a:p>
      <a:pPr>
        <a:defRPr sz="15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NPV</c:v>
                </c:pt>
              </c:strCache>
            </c:strRef>
          </c:tx>
          <c:spPr>
            <a:solidFill>
              <a:srgbClr val="164C38"/>
            </a:solidFill>
            <a:ln w="25400">
              <a:solidFill>
                <a:srgbClr val="164C38"/>
              </a:solidFill>
            </a:ln>
          </c:spPr>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3.946443104442745</c:v>
                </c:pt>
                <c:pt idx="1">
                  <c:v>0.04487293632982997</c:v>
                </c:pt>
                <c:pt idx="2">
                  <c:v>-2.6388362920894077</c:v>
                </c:pt>
                <c:pt idx="3">
                  <c:v>1.4115262854426354</c:v>
                </c:pt>
                <c:pt idx="4">
                  <c:v>-1.4330412442990532</c:v>
                </c:pt>
                <c:pt idx="5">
                  <c:v>-6.605370129557806</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500"/>
            </a:pPr>
          </a:p>
        </c:txPr>
        <c:crossAx val="-2068027336"/>
        <c:crosses val="autoZero"/>
      </c:valAx>
    </c:plotArea>
    <c:dispBlanksAs val="gap"/>
  </c:chart>
  <c:txPr>
    <a:bodyPr/>
    <a:lstStyle/>
    <a:p>
      <a:pPr>
        <a:defRPr sz="15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EBITDA2027 | 8 800 000 / 1 960 000 руб. |</a:t>
            </a:r>
          </a:p>
          <a:p>
            <a:r>
              <a:t>| NPV за 5 лет, ставка 24% | 3 946 443 руб. |</a:t>
            </a:r>
          </a:p>
          <a:p>
            <a:r>
              <a:t>| Простая / дисконтированная окупаемость | 2,68 / 3,88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Положительная NPV не компенсирует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Цель «АгроВектора» — подготовить к весне 2027 года юридически допустимый сервис агромониторинга и точечного внесения, проверить платежеспособный спрос и провести первый сезон без расширения команды сверх подтвержденной загрузки. Татарстан и радиус обслуживания до 150 км рассматриваются условно: окончательная территория определяется после юридической проверки конкретных работ и маршрутов.</a:t>
            </a:r>
          </a:p>
          <a:p/>
          <a:p>
            <a:r>
              <a:t>| SMART-цель | Измеримый результат | Срок и подтверждение |</a:t>
            </a:r>
          </a:p>
          <a:p>
            <a:r>
              <a:t>|---|---|---|</a:t>
            </a:r>
          </a:p>
          <a:p>
            <a:r>
              <a:t>| Проверить применимость модели | Письменная карта разрешений, ограничений и оснований отказа | До go/no-go в 2026 году; заключение юриста |</a:t>
            </a:r>
          </a:p>
          <a:p>
            <a:r>
              <a:t>| Подтвердить спрос | 20 интервью; предварительные заявки на 6000 га-проходов | До финансирования; реестр контактов и заявок |</a:t>
            </a:r>
          </a:p>
          <a:p>
            <a:r>
              <a:t>| Сформировать портфель | 10 клиентов со средним объемом 600 га-проходов | До старта сезона; договоры и согласованные окна |</a:t>
            </a:r>
          </a:p>
          <a:p>
            <a:r>
              <a:t>| Обеспечить готовность | Техника принята, два оператора обучены, регламенты проверены | До 12 апреля 2027 года; акты, проверка компетенций, разрешительная готовность |</a:t>
            </a:r>
          </a:p>
          <a:p>
            <a:r>
              <a:t>| Выполнить первый сезон | 6000 га-проходов внесения и 4000 га-обследований | Сезон 2027 года; подписанные акты и журналы |</a:t>
            </a:r>
          </a:p>
          <a:p>
            <a:r>
              <a:t>| Проверить социальную модель | Открытый добровольный отбор, индивидуальное обучение и наставничество | К началу работ; документированная оценка каждого кандидата |</a:t>
            </a:r>
          </a:p>
          <a:p/>
          <a:p>
            <a:r>
              <a:t>[ДОПУЩЕНИЕ] Показатель безопасности — отсутствие работ без необходимой готовности и обязательная регистрация опасных событий, включая предотвращенные. Для социальной программы не устанавливается квота, способная подменить профессиональный отбор. Успешность оценивается по освоению гражданских компетенций и устойчивости занятости, а не по биографическому статусу. Коммерческие цели не отменяют право остановить небезопасную работу.</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Продукт — договорная услуга: обследование поля, согласование карты задания, точечное внесение удобрений, СЗР, биопрепаратов либо выпуск энтомофагов при подтвержденной применимости оборудования и технологии, затем отчет о выполнении. Особый сценарий — локальные и труднодоступные участки, для которых клиент рассматривает альтернативу своему обычному способу обработки. Орошение и продажа дронов в модель не входят.</a:t>
            </a:r>
          </a:p>
          <a:p/>
          <a:p>
            <a:r>
              <a:t>[ДОПУЩЕНИЕ] Заказчик предоставляет препараты и необходимые сведения о поле; внешний агроном проверяет агрономическую постановку задачи. Исполнитель отвечает за согласованное выполнение, прослеживаемость и документацию, но не обещает универсального роста урожайности. Отчет содержит объем, параметры задания и отклонения.</a:t>
            </a:r>
          </a:p>
          <a:p/>
          <a:p>
            <a:r>
              <a:t>[ДОПУЩЕНИЕ] Стратегическая канва ниже — гипотеза позиционирования, не исследование конкретных конкурентов. Шкала 1–5 означает предполагаемую выраженность полезного клиенту свойства; оценки требуют проверки интервью и коммерческими предложениями. Сравниваются четыре альтернативы решения одной задачи.</a:t>
            </a:r>
          </a:p>
          <a:p/>
          <a:p>
            <a:r>
              <a:t>| Критерий | АгроВектор | Наземный подрядчик | Собственная техника хозяйства | Узкий подрядчик БПЛА |</a:t>
            </a:r>
          </a:p>
          <a:p>
            <a:r>
              <a:t>|---|---:|---:|---:|---:|</a:t>
            </a:r>
          </a:p>
          <a:p>
            <a:r>
              <a:t>| Удобство заказа небольшого локального объема | 5 | 2 | 3 | 4 |</a:t>
            </a:r>
          </a:p>
          <a:p>
            <a:r>
              <a:t>| Работа со сложной геометрией участка | 5 | 2 | 3 | 4 |</a:t>
            </a:r>
          </a:p>
          <a:p>
            <a:r>
              <a:t>| Связка обследования и задания | 5 | 2 | 3 | 3 |</a:t>
            </a:r>
          </a:p>
          <a:p>
            <a:r>
              <a:t>| Прослеживаемый отчет | 5 | 3 | 3 | 3 |</a:t>
            </a:r>
          </a:p>
          <a:p>
            <a:r>
              <a:t>| Отсутствие капитальных вложений клиента | 5 | 5 | 1 | 5 |</a:t>
            </a:r>
          </a:p>
          <a:p>
            <a:r>
              <a:t>| Управляемость сезонной доступности | 3 | 3 | 5 | 3 |</a:t>
            </a:r>
          </a:p>
          <a:p>
            <a:r>
              <a:t>| Широта применимых технологий | 3 | 4 | 4 | 3 |</a:t>
            </a:r>
          </a:p>
          <a:p/>
          <a:p>
            <a:r>
              <a:t>[ДОПУЩЕНИЕ] Канва не подтверждает абсолютного превосходства: у проектного сервиса ограничены сезонная доступность и технологическая универсальность. Поэтому обещание клиенту строится вокруг подходящего задания и проверяемого результата, а не вокруг замены всех наземных операций.</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Business Model Canvas фиксирует проверяемые гипотезы раннего проекта. До подтверждения договоров указанные сегменты и партнерства не считаются сформированным рынком сбыта.</a:t>
            </a:r>
          </a:p>
          <a:p/>
          <a:p>
            <a:r>
              <a:t>| Блок | Содержание модели | Проверка гипотезы |</a:t>
            </a:r>
          </a:p>
          <a:p>
            <a:r>
              <a:t>|---|---|---|</a:t>
            </a:r>
          </a:p>
          <a:p>
            <a:r>
              <a:t>| 1. Потребительские сегменты | Хозяйства в разрешенной зоне Татарстана; агрономические службы с локальными задачами, сложными участками и дефицитом подходящих окон | Интервью по конкретным полям, культурам и календарям |</a:t>
            </a:r>
          </a:p>
          <a:p>
            <a:r>
              <a:t>| 2. Ценностное предложение | Мониторинг, карта задания, подходящее точечное внесение и отчет в одном договорном контуре | Платный пилот, согласованные критерии приемки |</a:t>
            </a:r>
          </a:p>
          <a:p>
            <a:r>
              <a:t>| 3. Каналы | Прямые продажи директора, рекомендации агрономов, демонстрации на согласованных площадках | Стоимость привлечения и переход заявки в договор |</a:t>
            </a:r>
          </a:p>
          <a:p>
            <a:r>
              <a:t>| 4. Отношения с клиентами | Персональное планирование сезона, единый контакт, уведомления о переносах, разбор отклонений | Продление договора и реестр претензий |</a:t>
            </a:r>
          </a:p>
          <a:p>
            <a:r>
              <a:t>| 5. Потоки доходов | Оплата внесения за га-проход; отдельная оплата согласованного мониторинга за га-обследование | Акты, отсутствие повторного выставления одного объема |</a:t>
            </a:r>
          </a:p>
          <a:p>
            <a:r>
              <a:t>| 6. Ключевые ресурсы | Одна бригада, основной и резервный аппараты внесения, мониторинговый аппарат, транспорт, документы и оборотный резерв | Приемка, ресурсный календарь и кассовый план |</a:t>
            </a:r>
          </a:p>
          <a:p>
            <a:r>
              <a:t>| 7. Ключевые действия | Продажи, правовая проверка, планирование, подготовка задания, безопасное исполнение, обслуживание и отчетность | Регламенты, журналы и контроль качества |</a:t>
            </a:r>
          </a:p>
          <a:p>
            <a:r>
              <a:t>| 8. Ключевые партнеры | Внешний агроном, учебный партнер, сервис техники, юрист, бухгалтер; поставщики препаратов взаимодействуют с клиентом | Договоры, квалификация, сроки реакции |</a:t>
            </a:r>
          </a:p>
          <a:p>
            <a:r>
              <a:t>| 9. Структура затрат | Техника, труд, транспорт, обслуживание, страхование, обучение, внешние специалисты и резерв ликвидности | Сметы, предложения поставщиков, ежемесячный план-факт |</a:t>
            </a:r>
          </a:p>
          <a:p/>
          <a:p>
            <a:r>
              <a:t>[ДОПУЩЕНИЕ] Выпуск энтомофагов относится к согласованной операции внесения, а не формирует третью строку выручки. Повторный проход учитывается только при отдельном задании и фактическом выполнении. Площадь мониторинга может совпадать с обработанными полями; это разные услуги, но не дополнительные уникальные гектары территории.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Приоритет — КФХ и малые/средние сельхозпредприятия с фрагментированными полями, культурами высокой ценности, переувлажненными участками и недостаточной собственной техникой. Покупатель — руководитель хозяйства; технический заказчик и приемщик — агроном. Агрохолдинги — вторичный сегмент для пиков нагрузки и сложных участков, а не якорь первого сезона.</a:t>
            </a:r>
          </a:p>
          <a:p/>
          <a:p>
            <a:r>
              <a:t>### Размер рынка: сценарный расчет снизу вверх</a:t>
            </a:r>
          </a:p>
          <a:p/>
          <a:p>
            <a:r>
              <a:t>[ДОПУЩЕНИЕ] Открытого реестра оплаченных гектаров услуг агродронов и проверенной базы потенциальных клиентов в выбранном радиусе нет. Поэтому приведен проверяемый сценарий адресуемого спроса, **не установленный размер российского рынка и не прогноз отраслевого агентства**. Перед инвестиционным решением каждое хозяйство SAM должно быть подтверждено в CRM.</a:t>
            </a:r>
          </a:p>
          <a:p/>
          <a:p>
            <a:r>
              <a:t>[ДОПУЩЕНИЕ] TAM — расчетная корзина из 2000 хозяйств РФ по 2000 га; лишь 15% площади допускается к рассматриваемым услугам с учетом агрономии, полетной доступности и готовности отдавать работу подрядчику. На пригодный гектар — 1,5 оплаченного прохода внесения и 0,5 обследования в год. SAM — подмножество 200 хозяйств по 2000 га в доступном кластере Татарстана и радиусе до 150 км при тех же фильтрах. Это гипотезы, не подсчитанные хозяйства; юридически недоступные участки исключаются. Цены постоянные, 2027 года, без НДС.</a:t>
            </a:r>
          </a:p>
          <a:p/>
          <a:p>
            <a:r>
              <a:t>[РАСЧЕТ]</a:t>
            </a:r>
          </a:p>
          <a:p/>
          <a:p>
            <a:r>
              <a:t>| Уровень | Пригодная площадь, га | Га-проходы внесения | Га-обследования | Рубли в год |</a:t>
            </a:r>
          </a:p>
          <a:p>
            <a:r>
              <a:t>|---|---:|---:|---:|---:|</a:t>
            </a:r>
          </a:p>
          <a:p>
            <a:r>
              <a:t>| TAM сценарный | 600000 | 900000 | 300000 | 1245000000 |</a:t>
            </a:r>
          </a:p>
          <a:p>
            <a:r>
              <a:t>| SAM сценарный | 60000 | 90000 | 30000 | 124500000 |</a:t>
            </a:r>
          </a:p>
          <a:p>
            <a:r>
              <a:t>| SOM первого сезона | Не суммируется между услугами | 6000 | 4000 | 8800000 |</a:t>
            </a:r>
          </a:p>
          <a:p/>
          <a:p>
            <a:r>
              <a:t>[РАСЧЕТ] Формула TAM: 2000 × 2000 × 15% × (1,5 × 1300 + 0,5 × 250). SAM — та же формула для 200 хозяйств. SOM — 10 клиентов × 600 га-проходов × 1300 + 4000 га-обследований × 250. План занимает 6,67% сценарных га-проходов SAM и 7,07% его денежного объема. Это целевые доли будущей выручки, не текущая доля компании. Повторные проходы не считаются уникальными гектарами; мониторинг тех же полей — другая оплаченная операция, а не прирост земли.</a:t>
            </a:r>
          </a:p>
          <a:p/>
          <a:p>
            <a:r>
              <a:t>### Выход на рынок</a:t>
            </a:r>
          </a:p>
          <a:p/>
          <a:p>
            <a:r>
              <a:t>[ДОПУЩЕНИЕ] Каналы: прямые продажи через агрономов, партнеры по биопрепаратам и удобрениям, фермерские объединения, демонстрации на поле и рекомендации. Плановая воронка: 100 адресных контактов → 40 квалифицированных разговоров → 20 обследований/предложений → 10 сезонных клиентов. Ни одно соглашение пока не подписано. Предварительное интервью не считается продажей.</a:t>
            </a:r>
          </a:p>
          <a:p/>
          <a:p>
            <a:r>
              <a:t>[ДОПУЩЕНИЕ] Годовой маркетинговый бюджет 240000 руб. входит в постоянный OPEX. Денежный CAC при 10 новых клиентах — 24000 руб. без распределения зарплаты директора; это не fully-loaded CAC. Средняя выручка на клиента в первом сезоне — 880000 руб. при условном распределении всех услуг между десятью клиентами. Агрономические консультации, дорога в согласованном радиусе и отчет включены; дальний выезд и малый участок требуют отдельной сметы и не заложены как дополнительная выручка.</a:t>
            </a:r>
          </a:p>
          <a:p/>
          <a:p>
            <a:r>
              <a:t>[ДОПУЩЕНИЕ] Коммерческие условия: минимальный планируемый маршрут 100 га-проходов, 30% аванс, остаток после акта; модель ликвидности консервативно не опирается на аванс. Ценность проверяется на сопоставимых контрольных участках: сроки, площадь, качество покрытия, повреждение колеи, расход состава. Процент экономии СЗР и прирост урожая до испытаний не обещаются.</a:t>
            </a:r>
          </a:p>
          <a:p/>
          <a:p>
            <a:r>
              <a:t>[ДОПУЩЕНИЕ] Контроль спроса: если к решению о закупке нет подтвержденного доступного портфеля на 6000 га-проходов, капиталоемкий запуск переносится; допускается отдельный малый пилот через законного оператора. Его экономика не подменяет базовую модель собственной бригады.</a:t>
            </a:r>
          </a:p>
          <a:p/>
          <a:p>
            <a:r>
              <a:t>### Наблюдаемая отрасль и динамика</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CAC24000 руб. и выручка 880000 руб. на клиента рассчитаны как 240000/10 и 8800000/10 соответственно.</a:t>
            </a:r>
          </a:p>
          <a:p/>
          <a:p>
            <a:r>
              <a:t>Комментарий к слайду:</a:t>
            </a:r>
          </a:p>
          <a:p>
            <a:r>
              <a:t>TAM/SAM — собственная гипотеза снизу вверх. Вести: около 600 тыс. га обработано в 2025, со слов министра; РСХБ: 781 тыс. га в 2025 и прогноз 1058 тыс. га в 2026. Различия определений не разрешены; ряды не смешиваются. Все числа рынка на слайде сценарные. Бюджет маркетинга 240 тыс. рублей; денежный CAC 24 тыс. рублей без зарплаты директора. URL — контекст отрасли, не источник TAM/SAM.</a:t>
            </a:r>
          </a:p>
          <a:p/>
          <a:p>
            <a:r>
              <a:t>Внешние URL:</a:t>
            </a:r>
          </a:p>
          <a:p>
            <a:r>
              <a:t>https://www.vesti.ru/article/4893778</a:t>
            </a:r>
          </a:p>
          <a:p>
            <a:r>
              <a:t>https://www.rshb.ru/news/16072026-000004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[ФАКТ] Сопоставлены публичные предложения пяти сервисов. Дата проверки 05.09.2026; сведения — заявления самих поставщиков, не подтверждение действующих допусков, выручки или качества. Н/д означает отсутствие подтвержденной цифры, а не нулевую цену или долю.</a:t>
            </a:r>
          </a:p>
          <a:p/>
          <a:p>
            <a:r>
              <a:t>| Компания | География и услуга | Цена,руб./га | Доля рынка,% | Источник |</a:t>
            </a:r>
          </a:p>
          <a:p>
            <a:r>
              <a:t>|---|---|---|---|---|</a:t>
            </a:r>
          </a:p>
          <a:p>
            <a:r>
              <a:t>| BeeAir / BeeUAV | Татарстан заявлен на сайте; контактный адрес МО; обработка; мониторинг; аренда | Н/д; по запросу | Н/д | [1][2] |</a:t>
            </a:r>
          </a:p>
          <a:p>
            <a:r>
              <a:t>| ГК Агропрофи / XAG | Поволжье включая Татарстан; обработка; посев; продажа техники | Н/д; по запросу | Н/д | [3][4] |</a:t>
            </a:r>
          </a:p>
          <a:p>
            <a:r>
              <a:t>| Аграс / аграс.рф | Челябинская область и Урал по материалам сайта; аренда пилота/техники; демонстрация | Н/д; по запросу | Н/д | [5] |</a:t>
            </a:r>
          </a:p>
          <a:p>
            <a:r>
              <a:t>| Гермес | Краснодарский край и Адыгея; виноградники; удобрения; мониторинг | Н/д; по запросу | Н/д | [6] |</a:t>
            </a:r>
          </a:p>
          <a:p>
            <a:r>
              <a:t>| Агродроны ЮФО | ЮФО; контакт в Элисте; обработка полей; внесение; посев | 900 | Н/д | [7] |</a:t>
            </a:r>
          </a:p>
          <a:p/>
          <a:p>
            <a:r>
              <a:t>[ФАКТ] «Агродроны ЮФО» называют в среднем 900 руб./га с индивидуальным расчетом по виду обработки и объему. НДС в тарифе не раскрыт; публикация не является коммерческим предложением для поля в Татарстане.[7] BeeAir/BeeUAV заявляет Татарстан, но указывает контактный адрес в Московской области; реальное покрытие региона необходимо уточнить.[1][2]</a:t>
            </a:r>
          </a:p>
          <a:p/>
          <a:p>
            <a:r>
              <a:t>[ДОПУЩЕНИЕ] Наземные подрядчики и собственный опрыскиватель хозяйства — заменители, не участники одного статистически измеренного рынка агродронных услуг. Их сравнивают по полной смете одного задания: доступность поля, календарь, препарат, норма внесения, транспорт, отчет и ответственность. Международные производители дронов не подменяют российских исполнителей услуги.</a:t>
            </a:r>
          </a:p>
          <a:p/>
          <a:p>
            <a:r>
              <a:t>[РАСЧЕТ] Тариф АгроВектора 1300 руб. выше единственного подтвержденного публичного ориентира 900 руб. на 44,44%. Сравнение не выровнено по региону, составу услуги и НДС; премия требует подтверждения оплатой пилота. Стресс 900 руб. приведен в разделе 18 и дает отрицательную NPV. Демпинговое позиционирование в проекте не используется.</a:t>
            </a:r>
          </a:p>
          <a:p/>
          <a:p>
            <a:r>
              <a:t>[ДОПУЩЕНИЕ] Фактические выручки и знаменатель регионального рынка не раскрыты, поэтому именованные доли не присваиваются и круговая диаграмма выдуманных долей не строится. Целевая доля АгроВектора 7,07% относится исключительно к сценарному денежному SAM раздела 5. Для рыночного подтверждения нужны реестр доступных хозяйств, сопоставимые КП минимум трех подрядчиков и фактические гектары оплаченных работ.</a:t>
            </a:r>
          </a:p>
          <a:p/>
          <a:p>
            <a:r>
              <a:t>Комментарий к слайду:</a:t>
            </a:r>
          </a:p>
          <a:p>
            <a:r>
              <a:t>Агродроны ЮФО: «Стоимость зависит от вида обработки и объёма участка. В среднем 900 рублей за гектар. Итоговая цена рассчитывается индивидуально». Состав, НДС, логистика и препараты требуют запроса КП. Доли всех участников неизвестны. BeeUAV рекламирует Татарстан; адрес на сайте — Московская область, локальное присутствие требует проверки. Канва слайда 3 не является оценкой перечисленных компаний.</a:t>
            </a:r>
          </a:p>
          <a:p/>
          <a:p>
            <a:r>
              <a:t>Внешние URL:</a:t>
            </a:r>
          </a:p>
          <a:p>
            <a:r>
              <a:t>https://agrdron.ru/</a:t>
            </a:r>
          </a:p>
          <a:p>
            <a:r>
              <a:t>https://beeuav.ru/</a:t>
            </a:r>
          </a:p>
          <a:p>
            <a:r>
              <a:t>https://xag-ap.ru/spraying.php</a:t>
            </a:r>
          </a:p>
          <a:p>
            <a:r>
              <a:t>https://germes-technology.ru/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SWOT отражает внутреннюю конструкцию проекта и сценарии внешней среды, а не доказанные преимущества действующей компании.</a:t>
            </a:r>
          </a:p>
          <a:p/>
          <a:p>
            <a:r>
              <a:t>| Группа | Фактор | Коммерческое последствие | Управленческое действие |</a:t>
            </a:r>
          </a:p>
          <a:p>
            <a:r>
              <a:t>|---|---|---|---|</a:t>
            </a:r>
          </a:p>
          <a:p>
            <a:r>
              <a:t>| S | Связка мониторинга, задания и отчета | Возможность продавать понятный результат | Единый паспорт заказа и критерии приемки |</a:t>
            </a:r>
          </a:p>
          <a:p>
            <a:r>
              <a:t>| S | Резервный аппарат внесения | Снижение зависимости от единичного отказа | Проверять готовность резерва перед выездом |</a:t>
            </a:r>
          </a:p>
          <a:p>
            <a:r>
              <a:t>| S | Компактная команда | Короткая цепочка согласования | Закрепить полномочия остановки работ |</a:t>
            </a:r>
          </a:p>
          <a:p>
            <a:r>
              <a:t>| W | Отсутствие подтвержденного портфеля | Риск недозагрузки после закупки | Условное инвестиционное решение после проверки заявок |</a:t>
            </a:r>
          </a:p>
          <a:p>
            <a:r>
              <a:t>| W | Одна бригада и совмещение ролей | Конфликты сроков и зависимость от людей | Единый календарь, ограничение принимаемых обязательств |</a:t>
            </a:r>
          </a:p>
          <a:p>
            <a:r>
              <a:t>| W | Экономный фонд труда | Риск вакансий, текучести и перегрузки | Проверить предложения кандидатам до закупок |</a:t>
            </a:r>
          </a:p>
          <a:p>
            <a:r>
              <a:t>| O | Неудовлетворенные локальные задачи клиентов | Возможность повторных заказов | Проверять проблему на конкретном поле |</a:t>
            </a:r>
          </a:p>
          <a:p>
            <a:r>
              <a:t>| O | Гражданская переподготовка кандидатов с опытом БПЛА | Потенциальный кадровый канал | Добровольный отбор и обучение на равных условиях |</a:t>
            </a:r>
          </a:p>
          <a:p>
            <a:r>
              <a:t>| T | Ограничения полетов и технологий | Невозможность исполнения части договоров | Юридический стоп-фактор и прозрачные условия переноса |</a:t>
            </a:r>
          </a:p>
          <a:p>
            <a:r>
              <a:t>| T | Несовпадение погоды и агрономических окон | Потеря объемов без технической поломки | Приоритеты заданий, запас времени, отказ от перегруза |</a:t>
            </a:r>
          </a:p>
          <a:p>
            <a:r>
              <a:t>| T | Ценовое давление или задержка оплаты | Снижение маржи и кассовый разрыв | Авансирование, проверка дебиторской задолженности |</a:t>
            </a:r>
          </a:p>
          <a:p/>
          <a:p>
            <a:r>
              <a:t>[ДОПУЩЕНИЕ] SO-стратегия — тестировать комплексное предложение на локальных задачах; WO — закрывать дефицит компетенций наставником и внешним агрономом. ST — использовать отчетность и технический резерв для управляемого исполнения. WT — не расширять парк и географию до подтверждения юридической доступности, кадров и фактической экономики сезона.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Пять сил Портера оцениваются сценарно; уровни не являются результатом измерения регионального рынка.</a:t>
            </a:r>
          </a:p>
          <a:p/>
          <a:p>
            <a:r>
              <a:t>| Сила | Уровень гипотезы | Механизм воздействия | Ответ проекта | Что проверить |</a:t>
            </a:r>
          </a:p>
          <a:p>
            <a:r>
              <a:t>|---|---|---|---|---|</a:t>
            </a:r>
          </a:p>
          <a:p>
            <a:r>
              <a:t>| Конкуренция действующих исполнителей | Высокий | Сравнение тарифов и свободных окон | Продавать определенное задание, сроки и приемку | Сопоставимые предложения по одинаковому полю |</a:t>
            </a:r>
          </a:p>
          <a:p>
            <a:r>
              <a:t>| Угроза новых участников | Средний | Появление дополнительной услуги у действующих подрядчиков | Развивать повторные договоры и дисциплину качества | Реальные сроки запуска и стоимость готовности |</a:t>
            </a:r>
          </a:p>
          <a:p>
            <a:r>
              <a:t>| Угроза заменителей | Высокий | Наземная обработка, собственная техника, отказ от операции | Отбирать задачи, где клиент видит ценность сервиса | Полная стоимость и применимость альтернатив |</a:t>
            </a:r>
          </a:p>
          <a:p>
            <a:r>
              <a:t>| Власть покупателей | Высокий | Сезонный торг и концентрация заказов | Разделять объемы по клиентам, фиксировать условия заранее | Концентрацию портфеля и причины отказов |</a:t>
            </a:r>
          </a:p>
          <a:p>
            <a:r>
              <a:t>| Власть поставщиков | Средний–высокий | Зависимость от техники, аккумуляторов и ремонта | Резервный аппарат, запас критичных деталей, сервисный договор | Совместимость, гарантийные условия, сроки ремонта |</a:t>
            </a:r>
          </a:p>
          <a:p/>
          <a:p>
            <a:r>
              <a:t>[РАСЧЕТ] Гипотеза зависит от повторного спроса и исполнения в сезонном окне. Устойчивое преимущество до полевой проверки не подтверждено.</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Предпочтительная форма — ООО: долевое участие инвестора, отделение имущества компании, договорная ответственность и управляемая отчетность. Окончательные ОКВЭД, объект УСН, корпоративный договор и страховой пакет утверждаются с юристом и бухгалтером. Компания не позиционируется как продавец техники. Вход инвестора не означает гарантированного распределения прибыли.</a:t>
            </a:r>
          </a:p>
          <a:p/>
          <a:p>
            <a:r>
              <a:t>### Обязательные условия законного выполнения работ</a:t>
            </a:r>
          </a:p>
          <a:p/>
          <a:p>
            <a:r>
              <a:t>[ФАКТ] Статья 33 Воздушного кодекса различает государственный учет гражданских БВС с максимальной взлетной массой от 0,15 до 30 кг включительно и государственную регистрацию аппаратов более 30 кг. Масса определяется не пустым аппаратом и не баком.[15]</a:t>
            </a:r>
          </a:p>
          <a:p/>
          <a:p>
            <a:r>
              <a:t>[ФАКТ] С 01.09.2026 действуют ФАП по приказу Минтранса 02.07.2026№303, заменившие приказ 494. Они предусматривают сертификат эксплуатанта, эксплуатационную спецификацию, требования к персоналу, организации работ и страхованию; перечень включает авиационно-химические работы. Аппарат до 30 кг не дает общего освобождения коммерческих АХР от требований к эксплуатанту.[16][17]</a:t>
            </a:r>
          </a:p>
          <a:p/>
          <a:p>
            <a:r>
              <a:t>[ДОПУЩЕНИЕ] Для каждого задания проверяется вся цепочка: законное владение и учет/регистрация конкретного борта → требуемые документы летной годности и персонала → сертификат и соответствующие работы в спецификации → действующие ограничения воздушного пространства и региональные запреты → необходимые разрешения/согласования/план полета → допустимость препарата → безопасность участка. Договор с фермером, малая высота и частная земля не признаются самостоятельными основаниями полета. Проект не имеет подтвержденного участия в ЭПР или индивидуального исключения из запрета. Текущий разрешительный маршрут именно для Татарстана остается незакрытым условием инвестиционного решения.</a:t>
            </a:r>
          </a:p>
          <a:p/>
          <a:p>
            <a:r>
              <a:t>[ФАКТ] Россельхознадзор указывает необходимость использования зарегистрированных препаратов с соблюдением регламентов применения.[24] Статья 16 закона 490-ФЗ предусматривает обычное уведомление пчеловодов не ранее 10 и не позднее 5 календарных дней до применения пестицидов в пределах 7 км, с установленными законом каналами и содержанием; специальный порядок для ЧС не распространяется автоматически на срочный коммерческий заказ.[22][23]</a:t>
            </a:r>
          </a:p>
          <a:p/>
          <a:p>
            <a:r>
              <a:t>[ДОПУЩЕНИЕ] Агроном до принятия заказа проверяет актуальный реестр, культуру, вредный объект, разрешенный способ, дозу, норму рабочего раствора, кратность и сроки ожидания. Ни один препарат пока не утвержден для проекта. Разрешенность обычной авиационной обработки не приравнивается к разрешению произвольно уменьшать объем раствора для БАС. Биопрепараты и энтомофаги также требуют проверки их правового статуса, технологии и экологических ограничений. Препараты принимает ответственный специалист; партия и документы прослеживаются. Хранение, смешивание, СИЗ, предотвращение разлива и передача отходов регулируются отдельными SOP и договорными обязанностями; имущество клиента не снимает ответственности исполнителя.</a:t>
            </a:r>
          </a:p>
          <a:p/>
          <a:p>
            <a:r>
              <a:t>### Переходный санитарный риск 2026</a:t>
            </a:r>
          </a:p>
          <a:p/>
          <a:p>
            <a:r>
              <a:t>[ФАКТ] Февральские поправки 2026 к СанПиН 2.1.3684-21 предусматривают специальные условия для БАС, включая 700 м в конкретных положениях. С 01.09.2026 введены новые СП 2.2.4285-26 и отменены прежние правила условий труда.[18][19][21]</a:t>
            </a:r>
          </a:p>
          <a:p/>
          <a:p>
            <a:r>
              <a:t>[ФАКТ] В прочитанной текстовой копии новых СП пункт 287 связывает авиационную защиту культур с отсутствием возможности наземной техники, а пункт 291 предусматривает остановку при обнаружении людей или животных в установленных пределах 2000 м.[27] Это неофициальная текстовая копия; официальный акт найден, но первичный скан полностью построчно не сверен.[20]</a:t>
            </a:r>
          </a:p>
          <a:p/>
          <a:p>
            <a:r>
              <a:t>[ДОПУЩЕНИЕ] До письменной правовой сверки новых СП и специальных поправок не считать 700 м универсальной зоной безопасности или основанием для любой обработки. Спорные участки исключаются из подтвержденного портфеля. Для каждого поля фиксируются люди, животные, пасеки, водные объекты, соседние культуры, ограничения препарата и погодные пределы оборудования. При любом несоответствии — остановка, безопасное завершение и уведомление ответственных. Уведомление пчеловодов в 7 км не заменяется санитарным расстоянием 700 м.</a:t>
            </a:r>
          </a:p>
          <a:p/>
          <a:p>
            <a:r>
              <a:t>[ФАКТ] Стратегия развития беспилотной авиации утверждена распоряжением Правительства 21.06.2023№1630-р до 2030 года и на перспективу 2035 года.[26]</a:t>
            </a:r>
          </a:p>
          <a:p/>
          <a:p>
            <a:r>
              <a:t>[ДОПУЩЕНИЕ] Стратегия — контекст развития отрасли, не индивидуальное разрешение, гарантированная субсидия или госзаказ. В финансовой модели отсутствуют гранты и льготы, не подтвержденные для компании. Правовой раздел является исследовательским основанием для due diligence, а не заключением о допустимости конкретного вылета.</a:t>
            </a:r>
          </a:p>
          <a:p/>
          <a:p>
            <a:r>
              <a:t>Комментарий к слайду:</a:t>
            </a:r>
          </a:p>
          <a:p>
            <a:r>
              <a:t>До закупки требуется письменная карта применимых норм от юриста, а перед выездом — повторная проверка. Базовые URL Росавиации и портала правовой информации — точки входа для проверки, не подтверждение выданного разрешения. При наличии окончательной секции 9 ее конкретные внешние ссылки автоматически подхватываются. Не смешивать массу пустого БВС, полезную нагрузку и максимальную взлетную массу. Мониторинг-only не доказан как прибыльная замена базовой модели.</a:t>
            </a:r>
          </a:p>
          <a:p/>
          <a:p>
            <a:r>
              <a:t>Внешние URL:</a:t>
            </a:r>
          </a:p>
          <a:p>
            <a:r>
              <a:t>https://base.garant.ru/414829385/</a:t>
            </a:r>
          </a:p>
          <a:p>
            <a:r>
              <a:t>http://publication.pravo.gov.ru/document/0001202608280041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Матрица власти и интереса используется для распределения коммуникаций. Высокая власть означает способность остановить финансирование, разрешение либо исполнение заказа, а не особый статус участника.</a:t>
            </a:r>
          </a:p>
          <a:p/>
          <a:p>
            <a:r>
              <a:t>| Стейкхолдер | Власть / интерес | Ожидание или конфликт | Взаимодействие | Ответственный |</a:t>
            </a:r>
          </a:p>
          <a:p>
            <a:r>
              <a:t>|---|---|---|---|---|</a:t>
            </a:r>
          </a:p>
          <a:p>
            <a:r>
              <a:t>| Учредитель | Высокая / высокий | Сохранение капитала и управляемость | Еженедельный контроль запуска, месячный план-факт | Директор |</a:t>
            </a:r>
          </a:p>
          <a:p>
            <a:r>
              <a:t>| Долевой инвестор | Высокая / высокий | Прозрачность расходов и условий участия | Отчетность, согласование крупных решений | Директор |</a:t>
            </a:r>
          </a:p>
          <a:p>
            <a:r>
              <a:t>| Клиенты и их агрономы | Высокая / высокий | Соблюдение окна, качество, понятная приемка | Паспорт поля, календарь, отчет, разбор претензий | Директор и операционный руководитель |</a:t>
            </a:r>
          </a:p>
          <a:p>
            <a:r>
              <a:t>| Уполномоченные органы | Высокая / переменный | Соблюдение применимых требований | Документы и согласования по конкретной территории | Внешний юрист |</a:t>
            </a:r>
          </a:p>
          <a:p>
            <a:r>
              <a:t>| Операторы | Средняя / высокий | Безопасность, оплата, реалистичная нагрузка | Инструктаж, обратная связь, право остановки | Операционный руководитель |</a:t>
            </a:r>
          </a:p>
          <a:p>
            <a:r>
              <a:t>| Кандидаты после СВО | Низкая / высокий | Добровольный переход в гражданскую профессию | Конфиденциальный отбор, наставник, ясные требования | Директор |</a:t>
            </a:r>
          </a:p>
          <a:p>
            <a:r>
              <a:t>| Учебный партнер и агроном | Средняя / высокий | Корректные задания и границы ответственности | Программа обучения, проверка знаний, согласование карт | Операционный руководитель |</a:t>
            </a:r>
          </a:p>
          <a:p>
            <a:r>
              <a:t>| Сервис оборудования | Средняя / средний | Оплата и планируемое обслуживание | Регламент ремонтов, сроки реакции | Операционный руководитель |</a:t>
            </a:r>
          </a:p>
          <a:p>
            <a:r>
              <a:t>| Соседи полей и местное сообщество | Низкая / переменный | Отсутствие недопустимого воздействия | Канал обращений, предусмотренное уведомление | Директор |</a:t>
            </a:r>
          </a:p>
          <a:p/>
          <a:p>
            <a:r>
              <a:t>[ДОПУЩЕНИЕ] Социальная коммуникация не раскрывает персональную историю сотрудников без согласия и не обещает привилегированного допуска к полетам. Жалобы на безопасность рассматриваются независимо от коммерческой ценности заказа.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объемыY4–Y5 снижаются.</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Полная стоимость штатного труда принята на уровне 3 млн руб. в год. Это экономный и рискованный бюджет, требующий проверки начислений, условий кандидатов и сезонной нагрузки; рост обязательных выплат нельзя скрывать за неоплачиваемыми переработками.</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восемь недель предсезонной готовности и ожидания погодного окна после J. Приемочные испытания I не подменяются зимней коммерческой обработкой; полевой пилот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 WBS | ID | Работа | Результат |</a:t>
            </a:r>
          </a:p>
          <a:p>
            <a:r>
              <a:t>| --- | --- | --- | --- |</a:t>
            </a:r>
          </a:p>
          <a:p>
            <a:r>
              <a:t>| 1.1 | A | Проверка региона, полетов и схемы АХР | Письменная карта разрешений и стоп-факторов |</a:t>
            </a:r>
          </a:p>
          <a:p>
            <a:r>
              <a:t>| 1.2 | B | Интервью и предварительные заявки хозяйств | 20 интервью; заявки на 6000 га-проходов |</a:t>
            </a:r>
          </a:p>
          <a:p>
            <a:r>
              <a:t>| 1.3 | C | ООО, договоры, учет и страховой проект | ООО; договоры; страховые предложения |</a:t>
            </a:r>
          </a:p>
          <a:p>
            <a:r>
              <a:t>| 2.1 | D | Инвестиционное решение и финансирование | 9.5 млн руб.; пройден юридический gate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приемки; полевой пилот 100 га включен в апрельский сезон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восьминедельного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finish-to-start. Начало подготовки 07.09.2026. Даты — план, не выданные разрешения.</a:t>
            </a:r>
          </a:p>
          <a:p/>
          <a:p>
            <a:r>
              <a:t>| ID | Начало | Окончание | Недели | Резерв, нед. |</a:t>
            </a:r>
          </a:p>
          <a:p>
            <a:r>
              <a:t>| --- | --- | --- | --- | --- |</a:t>
            </a:r>
          </a:p>
          <a:p>
            <a:r>
              <a:t>| A | 2026-09-07 | 2026-10-04 | 4 | 0 |</a:t>
            </a:r>
          </a:p>
          <a:p>
            <a:r>
              <a:t>| B | 2026-09-07 | 2026-10-11 | 5 | 2 |</a:t>
            </a:r>
          </a:p>
          <a:p>
            <a:r>
              <a:t>| C | 2026-10-05 | 2026-10-25 | 3 | 0 |</a:t>
            </a:r>
          </a:p>
          <a:p>
            <a:r>
              <a:t>| D | 2026-10-26 | 2026-11-01 | 1 | 0 |</a:t>
            </a:r>
          </a:p>
          <a:p>
            <a:r>
              <a:t>| E | 2026-11-02 | 2026-12-06 | 5 | 0 |</a:t>
            </a:r>
          </a:p>
          <a:p>
            <a:r>
              <a:t>| F | 2026-11-02 | 2026-12-13 | 6 | 2 |</a:t>
            </a:r>
          </a:p>
          <a:p>
            <a:r>
              <a:t>| G | 2026-12-07 | 2027-01-17 | 6 | 0 |</a:t>
            </a:r>
          </a:p>
          <a:p>
            <a:r>
              <a:t>| H | 2026-12-14 | 2027-01-03 | 3 | 2 |</a:t>
            </a:r>
          </a:p>
          <a:p>
            <a:r>
              <a:t>| I | 2027-01-18 | 2027-01-31 | 2 | 0 |</a:t>
            </a:r>
          </a:p>
          <a:p>
            <a:r>
              <a:t>| J | 2027-02-01 | 2027-02-14 | 2 | 0 |</a:t>
            </a:r>
          </a:p>
          <a:p>
            <a:r>
              <a:t>| M | 2027-02-15 | 2027-04-11 | 8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:crit, A, 2026-09-07, 28d</a:t>
            </a:r>
          </a:p>
          <a:p>
            <a:r>
              <a:t>    B Интервью и предварительные заявки хозяйств :B, 2026-09-07, 35d</a:t>
            </a:r>
          </a:p>
          <a:p>
            <a:r>
              <a:t>    C ООО, договоры, учет и страховой проект :crit, C, 2026-10-05, 21d</a:t>
            </a:r>
          </a:p>
          <a:p>
            <a:r>
              <a:t>    D Инвестиционное решение и финансирование :crit, D, 2026-10-26, 7d</a:t>
            </a:r>
          </a:p>
          <a:p>
            <a:r>
              <a:t>    E Закупка и приемка оборудования :crit, E, 2026-11-02, 35d</a:t>
            </a:r>
          </a:p>
          <a:p>
            <a:r>
              <a:t>    F Подбор и гражданская переподготовка :F, 2026-11-02, 42d</a:t>
            </a:r>
          </a:p>
          <a:p>
            <a:r>
              <a:t>    G Разрешительная готовность и учет БВС :crit, G, 2026-12-07, 42d</a:t>
            </a:r>
          </a:p>
          <a:p>
            <a:r>
              <a:t>    H SOP, CRM, карты и контроль качества :H, 2026-12-14, 21d</a:t>
            </a:r>
          </a:p>
          <a:p>
            <a:r>
              <a:t>    I Стендовые и контролируемые приемочные испытания :crit, I, 2027-01-18, 14d</a:t>
            </a:r>
          </a:p>
          <a:p>
            <a:r>
              <a:t>    J Сезонные договоры и маршрутизация :crit, J, 2027-02-01, 14d</a:t>
            </a:r>
          </a:p>
          <a:p>
            <a:r>
              <a:t>    M Предсезонная готовность и ожидание погодного окна :crit, M, 2027-02-15, 56d</a:t>
            </a:r>
          </a:p>
          <a:p>
            <a:r>
              <a:t>    K Первый коммерческий сезон :crit, K, 2027-04-12, 154d</a:t>
            </a:r>
          </a:p>
          <a:p>
            <a:r>
              <a:t>    L Аудит сезона и решение о продолжении :crit, L, 2027-09-13, 14d</a:t>
            </a:r>
          </a:p>
          <a:p>
            <a:r>
              <a:t>```</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**A → C → D → E → G → I → J → M → K → L**. Продолжительность 55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4 | 0 | 4 | 0 |</a:t>
            </a:r>
          </a:p>
          <a:p>
            <a:r>
              <a:t>| B | — | 0 | 5 | 2 | 7 | 2 |</a:t>
            </a:r>
          </a:p>
          <a:p>
            <a:r>
              <a:t>| C | A | 4 | 7 | 4 | 7 | 0 |</a:t>
            </a:r>
          </a:p>
          <a:p>
            <a:r>
              <a:t>| D | B;C | 7 | 8 | 7 | 8 | 0 |</a:t>
            </a:r>
          </a:p>
          <a:p>
            <a:r>
              <a:t>| E | D | 8 | 13 | 8 | 13 | 0 |</a:t>
            </a:r>
          </a:p>
          <a:p>
            <a:r>
              <a:t>| F | D | 8 | 14 | 10 | 16 | 2 |</a:t>
            </a:r>
          </a:p>
          <a:p>
            <a:r>
              <a:t>| G | E | 13 | 19 | 13 | 19 | 0 |</a:t>
            </a:r>
          </a:p>
          <a:p>
            <a:r>
              <a:t>| H | E;F | 14 | 17 | 16 | 19 | 2 |</a:t>
            </a:r>
          </a:p>
          <a:p>
            <a:r>
              <a:t>| I | G;H | 19 | 21 | 19 | 21 | 0 |</a:t>
            </a:r>
          </a:p>
          <a:p>
            <a:r>
              <a:t>| J | I | 21 | 23 | 21 | 23 | 0 |</a:t>
            </a:r>
          </a:p>
          <a:p>
            <a:r>
              <a:t>| M | J | 23 | 31 | 23 | 31 | 0 |</a:t>
            </a:r>
          </a:p>
          <a:p>
            <a:r>
              <a:t>| K | M | 31 | 53 | 31 | 53 | 0 |</a:t>
            </a:r>
          </a:p>
          <a:p>
            <a:r>
              <a:t>| L | K | 53 | 55 | 53 | 55 | 0 |</a:t>
            </a:r>
          </a:p>
          <a:p/>
          <a:p>
            <a:r>
              <a:t>```mermaid</a:t>
            </a:r>
          </a:p>
          <a:p>
            <a:r>
              <a:t>flowchart LR</a:t>
            </a:r>
          </a:p>
          <a:p>
            <a:r>
              <a:t>    A["A: 4 нед."]</a:t>
            </a:r>
          </a:p>
          <a:p>
            <a:r>
              <a:t>    B["B: 5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8 нед."]</a:t>
            </a:r>
          </a:p>
          <a:p>
            <a:r>
              <a:t>    J --&gt; M</a:t>
            </a:r>
          </a:p>
          <a:p>
            <a:r>
              <a:t>    K["K: 22 нед."]</a:t>
            </a:r>
          </a:p>
          <a:p>
            <a:r>
              <a:t>    M --&gt; K</a:t>
            </a:r>
          </a:p>
          <a:p>
            <a:r>
              <a:t>    L["L: 2 нед."]</a:t>
            </a:r>
          </a:p>
          <a:p>
            <a:r>
              <a:t>    K --&gt; L</a:t>
            </a:r>
          </a:p>
          <a:p>
            <a:r>
              <a:t>```</a:t>
            </a:r>
          </a:p>
          <a:p/>
          <a:p>
            <a:r>
              <a:t>Комментарий к слайду:</a:t>
            </a:r>
          </a:p>
          <a:p>
            <a:r>
              <a:t>Связи и длительности полностью извлечены из project_plan.csv.</a:t>
            </a:r>
          </a:p>
          <a:p>
            <a:r>
              <a:t>A Проверка региона, полетов и схемы АХР: предшественники нет, ES 0, EF 4, LS 0, LF 4, резерв 0</a:t>
            </a:r>
          </a:p>
          <a:p>
            <a:r>
              <a:t>B Интервью и предварительные заявки хозяйств: предшественники нет, ES 0, EF 5, LS 2, LF 7, резерв 2</a:t>
            </a:r>
          </a:p>
          <a:p>
            <a:r>
              <a:t>C ООО, договоры, учет и страховой проект: предшественники A, ES 4, EF 7, LS 4, LF 7, резерв 0</a:t>
            </a:r>
          </a:p>
          <a:p>
            <a:r>
              <a:t>D Инвестиционное решение и финансирование: предшественники B;C, ES 7, EF 8, LS 7, LF 8, резерв 0</a:t>
            </a:r>
          </a:p>
          <a:p>
            <a:r>
              <a:t>E Закупка и приемка оборудования: предшественники D, ES 8, EF 13, LS 8, LF 13, резерв 0</a:t>
            </a:r>
          </a:p>
          <a:p>
            <a:r>
              <a:t>F Подбор и гражданская переподготовка: предшественники D, ES 8, EF 14, LS 10, LF 16, резерв 2</a:t>
            </a:r>
          </a:p>
          <a:p>
            <a:r>
              <a:t>G Разрешительная готовность и учет БВС: предшественники E, ES 13, EF 19, LS 13, LF 19, резерв 0</a:t>
            </a:r>
          </a:p>
          <a:p>
            <a:r>
              <a:t>H SOP, CRM, карты и контроль качества: предшественники E;F, ES 14, EF 17, LS 16, LF 19, резерв 2</a:t>
            </a:r>
          </a:p>
          <a:p>
            <a:r>
              <a:t>I Стендовые и контролируемые приемочные испытания: предшественники G;H, ES 19, EF 21, LS 19, LF 21, резерв 0</a:t>
            </a:r>
          </a:p>
          <a:p>
            <a:r>
              <a:t>J Сезонные договоры и маршрутизация: предшественники I, ES 21, EF 23, LS 21, LF 23, резерв 0</a:t>
            </a:r>
          </a:p>
          <a:p>
            <a:r>
              <a:t>M Предсезонная готовность и ожидание погодного окна: предшественники J, ES 23, EF 31, LS 23, LF 31, резерв 0</a:t>
            </a:r>
          </a:p>
          <a:p>
            <a:r>
              <a:t>K Первый коммерческий сезон: предшественники M, ES 31, EF 53, LS 31, LF 53, резерв 0</a:t>
            </a:r>
          </a:p>
          <a:p>
            <a:r>
              <a:t>L Аудит сезона и решение о продолжении: предшественники K, ES 53, EF 55, LS 53, LF 55, резерв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Оператор | Операционный руководитель | Агроном;Клиент | Директор |</a:t>
            </a:r>
          </a:p>
          <a:p>
            <a:r>
              <a:t>| L | Бухгалтер | Директор | Агроном;Операционный руководитель | Инвестор |</a:t>
            </a:r>
          </a:p>
          <a:p/>
          <a:p>
            <a:r>
              <a:t>Комментарий к слайду:</a:t>
            </a:r>
          </a:p>
          <a:p>
            <a:r>
              <a:t>Матрица извлечена из CSV без изменения распределения ответственности. Опер. рук. — операционный руководитель; учеб. партнер — учебный партнер.</a:t>
            </a:r>
          </a:p>
          <a:p>
            <a:r>
              <a:t>A Проверка региона, полетов и схемы АХР: R Юрист; A Директор; C Агроном;Операционный руководитель; I Инвестор</a:t>
            </a:r>
          </a:p>
          <a:p>
            <a:r>
              <a:t>B Интервью и предварительные заявки хозяйств: R Продажи; A Директор; C Агроном; I Инвестор</a:t>
            </a:r>
          </a:p>
          <a:p>
            <a:r>
              <a:t>C ООО, договоры, учет и страховой проект: R Юрист; A Директор; C Бухгалтер; I Инвестор</a:t>
            </a:r>
          </a:p>
          <a:p>
            <a:r>
              <a:t>D Инвестиционное решение и финансирование: R Директор; A Инвестор; C Бухгалтер;Юрист; I Команда</a:t>
            </a:r>
          </a:p>
          <a:p>
            <a:r>
              <a:t>E Закупка и приемка оборудования: R Операционный руководитель; A Директор; C Агроном; I Бухгалтер</a:t>
            </a:r>
          </a:p>
          <a:p>
            <a:r>
              <a:t>F Подбор и гражданская переподготовка: R Операционный руководитель; A Директор; C Учебный партнер;Агроном; I Инвестор</a:t>
            </a:r>
          </a:p>
          <a:p>
            <a:r>
              <a:t>G Разрешительная готовность и учет БВС: R Юрист; A Директор; C Операционный руководитель; I Клиенты</a:t>
            </a:r>
          </a:p>
          <a:p>
            <a:r>
              <a:t>H SOP, CRM, карты и контроль качества: R Агроном; A Операционный руководитель; C Юрист; I Продажи</a:t>
            </a:r>
          </a:p>
          <a:p>
            <a:r>
              <a:t>I Стендовые и контролируемые приемочные испытания: R Оператор; A Операционный руководитель; C Агроном;Клиент; I Директор</a:t>
            </a:r>
          </a:p>
          <a:p>
            <a:r>
              <a:t>J Сезонные договоры и маршрутизация: R Продажи; A Директор; C Агроном;Клиент; I Бухгалтер</a:t>
            </a:r>
          </a:p>
          <a:p>
            <a:r>
              <a:t>M Предсезонная готовность и ожидание погодного окна: R Операционный руководитель; A Директор; C Агроном;Клиент; I Инвестор</a:t>
            </a:r>
          </a:p>
          <a:p>
            <a:r>
              <a:t>K Первый коммерческий сезон: R Оператор; A Операционный руководитель; C Агроном;Клиент; I Директор</a:t>
            </a:r>
          </a:p>
          <a:p>
            <a:r>
              <a:t>L Аудит сезона и решение о продолжении: R Бухгалтер; A Директор; C Агроном;Операционный руководитель; I Инвестор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 номинальные рубли РФ,2027–2031, одна бригада, без долга и субсидий. Цены 2027 без НДС: внесение 1300 руб./га-проход, мониторинг 250 руб./га-обследование. Рост цен 4% в год, переменных и фиксированных затрат 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CAPEX7 млн: два аппарата внесения с АКБ/зарядкой 4 млн; авто и прицеп 1,4 млн; мониторинговый аппарат 0,6 млн; смешивание и безопасность 0,4 млн; IT0,2 млн; капитальный запас заменяемых узлов 0,4 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 400 руб./га-проход: топливо/логистика 150, энергия 50, текущее обслуживание 130, СИЗ/мойка/обращение с отходами 70. Мониторинг 60 руб./га-обследование: логистика 30, энергия/обслуживание 20, переменная обработка данных 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OPEX2027 — 4,2 млнруб.: штат с начислениями 3 млн; аренда 360 тыс.; страхование/комплаенс 300 тыс. (страхование 120, юрист 60, внешний агроном 120); маркетинг 240 тыс.; IT120 тыс.; администрирование 180 тыс. (бухгалтер 120, банк/прочее 60). Бюджеты внешних специалистов и труда экономные; подтверждение их достаточности является инвестиционным gate. Стартовые 500 тыс. распределены на первоначальное обучение 200, подготовку правового/операционного досье 200 и организационные расходы 100; ежегодное сопровождение не дублирует эти разовые работы.</a:t>
            </a:r>
          </a:p>
          <a:p/>
          <a:p>
            <a:r>
              <a:t>[РАСЧЕТ]</a:t>
            </a:r>
          </a:p>
          <a:p/>
          <a:p>
            <a:r>
              <a:t>| Услуга 2027 | Тариф | Переменные | Вклад до УСН | УСН 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 2027:6,16 млнруб., маржинальность 70%. После УСН вклад 5,632 млн. EBITDA-безубыточность при постоянном миксе услуг:6 млнруб. выручки; денежная операционная безубыточность после УСН — 6 562 500 руб., или одновременно 4 474,4 га-проходов и 2 983,0 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[ФАКТ] ФНС указывает базовую ставку УСН «доходы»6%; актуальный график освобождения от НДС на УСН уточнен законом 04.07.2026№228-ФЗ:2027–2029 порог 20 млн,2030 —15 млн,2031 —10 млнруб.[14][12][11]</a:t>
            </a:r>
          </a:p>
          <a:p/>
          <a:p>
            <a:r>
              <a:t>[ДОПУЩЕНИЕ] УСН в модели 6% выручки без снижения на страховые взносы — консервативный бюджет, а не выбор оптимального налогообложения. При утрате освобождения применяется 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 2027–2029 НДС отсутствует, с 2030 начисляется 5% сверх выручки из-за превышения доходом 2029 порога 15 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 7 млн линейно 5 лет; замен —3 года с года покупки. CAPEX замен 2027–2031:0 /300000 /600000 /900000 /600000 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4 200 000,00 | 1 960 000,00 | 1 400 000,00 | 528 000,00 | 32 000,00 | 0,00 | 1 432 000,00 |</a:t>
            </a:r>
          </a:p>
          <a:p>
            <a:r>
              <a:t>| 2028 | 13 728 000,00 | 4 158 000,00 | 4 410 000,00 | 5 160 000,00 | 1 500 000,00 | 823 680,00 | 2 836 320,00 | 300 000,00 | 4 036 320,00 |</a:t>
            </a:r>
          </a:p>
          <a:p>
            <a:r>
              <a:t>| 2029 | 17 630 080,00 | 5 380 200,00 | 4 630 500,00 | 7 619 380,00 | 1 700 000,00 | 1 057 804,80 | 4 861 575,20 | 600 000,00 | 5 961 575,20 |</a:t>
            </a:r>
          </a:p>
          <a:p>
            <a:r>
              <a:t>| 2030 | 20 078 822,40 | 6 181 717,50 | 4 862 025,00 | 9 035 079,90 | 2 000 000,00 | 1 204 729,34 | 5 830 350,56 | 900 000,00 | 6 930 350,56 |</a:t>
            </a:r>
          </a:p>
          <a:p>
            <a:r>
              <a:t>| 2031 | 22 695 256,06 | 7 049 936,25 | 5 105 126,25 | 10 540 193,56 | 2 100 000,00 | 1 361 715,36 | 7 078 478,20 | 600 000,00 | 10 578 478,20 |</a:t>
            </a:r>
          </a:p>
          <a:p/>
          <a:p>
            <a:r>
              <a:t>### Ликвидность и сезонность</a:t>
            </a:r>
          </a:p>
          <a:p/>
          <a:p>
            <a:r>
              <a:t>[ДОПУЩЕНИЕ] Поступления и выполнение распределены апрель–сентябрь 10/20/25/20/15/10%. Услуги оплачиваются в месяц выполнения; плановый договорный аванс 30% не используется для улучшения модели. Фиксированные расходы 350000 руб./месяц. Подготовительные расходы 2026 свернуты в t0; годовая модель оценивается на условную дату 31.12.2026, не заменяет календарь траншей осени 2026.</a:t>
            </a:r>
          </a:p>
          <a:p/>
          <a:p>
            <a:r>
              <a:t>[РАСЧЕТ] После оплаты оборудования и запуска на счете 2 млнруб. Минимум месячного остатка 2027 — 950 000 руб., конец года — 3 432 000 руб. Без поступлений резерв покрывает 5,71 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t0=-9500000 руб. Ликвидационная стоимость оборудования 0; возврат оборотного резерва 2 млн только в концеY5.</a:t>
            </a:r>
          </a:p>
          <a:p/>
          <a:p>
            <a:r>
              <a:t>[РАСЧЕТ] NPV=−9500000+Σ(FCFₜ/1,24ᵗ)=3 946 443,10 руб. Простая окупаемость 2,676 года; дисконтированная 3,885 года. Доля года — условная интерполяция, а не точная дата при сезонном потоке.</a:t>
            </a:r>
          </a:p>
          <a:p/>
          <a:p>
            <a:r>
              <a:t>| Период | FCF, руб. | Коэффициент | PV, руб. | Накопленный PV |</a:t>
            </a:r>
          </a:p>
          <a:p>
            <a:r>
              <a:t>| --- | --- | --- | --- | --- |</a:t>
            </a:r>
          </a:p>
          <a:p>
            <a:r>
              <a:t>| 0 | -9 500 000,00 | 1,000000 | -9 500 000,00 | -9 500 000,00 |</a:t>
            </a:r>
          </a:p>
          <a:p>
            <a:r>
              <a:t>| 1 | 1 432 000,00 | 0,806452 | 1 154 838,71 | -8 345 161,29 |</a:t>
            </a:r>
          </a:p>
          <a:p>
            <a:r>
              <a:t>| 2 | 4 036 320,00 | 0,650364 | 2 625 078,04 | -5 720 083,25 |</a:t>
            </a:r>
          </a:p>
          <a:p>
            <a:r>
              <a:t>| 3 | 5 961 575,20 | 0,524487 | 3 126 770,25 | -2 593 313,00 |</a:t>
            </a:r>
          </a:p>
          <a:p>
            <a:r>
              <a:t>| 4 | 6 930 350,56 | 0,422974 | 2 931 355,31 | 338 042,31 |</a:t>
            </a:r>
          </a:p>
          <a:p>
            <a:r>
              <a:t>| 5 | 10 578 478,20 | 0,341108 | 3 608 400,79 | 3 946 443,10 |</a:t>
            </a:r>
          </a:p>
          <a:p/>
          <a:p>
            <a:r>
              <a:t>[РАСЧЕТ] Если бизнес продолжает работу и резерв не высвобождается, NPV без возврата 2 млн составляет 3 264 227,62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3 946 443,10 | 2,676 | 3,885 |</a:t>
            </a:r>
          </a:p>
          <a:p>
            <a:r>
              <a:t>| Оба тарифа−10% | 44 872,94 | 3,366 | 5,000 |</a:t>
            </a:r>
          </a:p>
          <a:p>
            <a:r>
              <a:t>| Оба объема−25% | -2 638 836,29 | 4,141 | Не достигнута |</a:t>
            </a:r>
          </a:p>
          <a:p>
            <a:r>
              <a:t>| Переменные+20% | 1 411 526,29 | 3,089 | 4,702 |</a:t>
            </a:r>
          </a:p>
          <a:p>
            <a:r>
              <a:t>| Задержка 1 год | -1 433 041,24 | 3,793 | Не достигнута |</a:t>
            </a:r>
          </a:p>
          <a:p>
            <a:r>
              <a:t>| Внесение 900 руб. в 2027; мониторинг без изменения | -6 605 370,13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Снижение тарифа на 10% почти обнуляет NPV; дисконтированная окупаемость этого стресса наступает только в концеY5 с возвратом резерва. При недозагрузке 25% либо годовой задержке дисконтированная окупаемость за 5 лет не достигается. Основное условие вложения капитала — проверка готовности клиентов оплачивать именно плановый тариф.</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/3FTE | 1 /3FTE |</a:t>
            </a:r>
          </a:p>
          <a:p>
            <a:r>
              <a:t>| Выручка,руб. | 8 800 000 | 22 695 256 |</a:t>
            </a:r>
          </a:p>
          <a:p>
            <a:r>
              <a:t>| EBITDA,руб. | 1 960 000 | 10 540 194 |</a:t>
            </a:r>
          </a:p>
          <a:p>
            <a:r>
              <a:t>| Рентабельность EBITDA | 22,3% | 46,4% |</a:t>
            </a:r>
          </a:p>
          <a:p>
            <a:r>
              <a:t>| FCF,руб. | 1 432 000 | 10 578 478 |</a:t>
            </a:r>
          </a:p>
          <a:p>
            <a:r>
              <a:t>| Выручка наFTE,руб.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 Sources</a:t>
            </a:r>
          </a:p>
          <a:p/>
          <a:p>
            <a:r>
              <a:t>[1] https://beeuav.ru — Аренда сельскохозяйственных дронов в Татарстане | Агродроны под ключ</a:t>
            </a:r>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[22] https://legalacts.ru/doc/federalnyi-zakon-ot-30122020-n-490-fz-o-pchelovodstve-v — 490-ФЗ О пчеловодстве в Российской Федерации</a:t>
            </a:r>
          </a:p>
          <a:p>
            <a:r>
              <a:t>[23] https://fsvps.gov.ru/news/rosselhoznadzor-informiruet-o-vvode-v-jekspluataciju-portala-pchelovoda-i-napominaet-o-neobhodimosti-uvedomljat-o-predstojashhih-obrabotkah-selhozugodij-pesticidami-cherez-fgis-saturn — Россельхознадзор информирует о вводе в эксплуатацию «Портала пчеловода» и напоминает о необходимости уведомлять о предстоящих обработках сельхозугодий пестицидами через ФГИС «Сатурн» | Главное | Россельхознадзор</a:t>
            </a:r>
          </a:p>
          <a:p>
            <a:r>
              <a:t>[24] https://fsvps.gov.ru/news/rosselhoznadzor-napominaet-o-pravilah-bezopasnogo-obrashhenija-s-pesticidami-i-agrohimikatami — Россельхознадзор напоминает о правилах безопасного обращения с пестицидами и агрохимикатами | Главное | Россельхознадзор</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Резюме</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Концепция сервиса  •  [РАСЧЕТ] Финансы базового сценария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01 / 22</a:t>
            </a:r>
          </a:p>
        </p:txBody>
      </p:sp>
      <p:sp>
        <p:nvSpPr>
          <p:cNvPr id="7" name="TextBox 6"/>
          <p:cNvSpPr txBox="1"/>
          <p:nvPr/>
        </p:nvSpPr>
        <p:spPr>
          <a:xfrm>
            <a:off x="594360" y="1764792"/>
            <a:ext cx="6400800" cy="914400"/>
          </a:xfrm>
          <a:prstGeom prst="rect">
            <a:avLst/>
          </a:prstGeom>
          <a:noFill/>
        </p:spPr>
        <p:txBody>
          <a:bodyPr wrap="square" lIns="13716" rIns="13716" tIns="0" bIns="0">
            <a:spAutoFit/>
          </a:bodyPr>
          <a:lstStyle/>
          <a:p>
            <a:pPr>
              <a:spcBef>
                <a:spcPts val="0"/>
              </a:spcBef>
              <a:spcAft>
                <a:spcPts val="500"/>
              </a:spcAft>
              <a:defRPr sz="4800" b="1">
                <a:solidFill>
                  <a:srgbClr val="FFFFFF"/>
                </a:solidFill>
                <a:latin typeface="Arial"/>
              </a:defRPr>
            </a:pPr>
            <a:r>
              <a:t>АгроВектор</a:t>
            </a:r>
          </a:p>
        </p:txBody>
      </p:sp>
      <p:sp>
        <p:nvSpPr>
          <p:cNvPr id="8" name="TextBox 7"/>
          <p:cNvSpPr txBox="1"/>
          <p:nvPr/>
        </p:nvSpPr>
        <p:spPr>
          <a:xfrm>
            <a:off x="640080" y="2743200"/>
            <a:ext cx="5943600" cy="1051560"/>
          </a:xfrm>
          <a:prstGeom prst="rect">
            <a:avLst/>
          </a:prstGeom>
          <a:noFill/>
        </p:spPr>
        <p:txBody>
          <a:bodyPr wrap="square" lIns="13716" rIns="13716" tIns="0" bIns="0">
            <a:spAutoFit/>
          </a:bodyPr>
          <a:lstStyle/>
          <a:p>
            <a:pPr>
              <a:spcBef>
                <a:spcPts val="0"/>
              </a:spcBef>
              <a:spcAft>
                <a:spcPts val="500"/>
              </a:spcAft>
              <a:defRPr sz="2500" b="0">
                <a:solidFill>
                  <a:srgbClr val="FFFFFF"/>
                </a:solidFill>
                <a:latin typeface="Arial"/>
              </a:defRPr>
            </a:pPr>
            <a:r>
              <a:t>Мониторинг посевов и точечное внесение</a:t>
            </a:r>
          </a:p>
          <a:p>
            <a:pPr>
              <a:spcBef>
                <a:spcPts val="0"/>
              </a:spcBef>
              <a:spcAft>
                <a:spcPts val="500"/>
              </a:spcAft>
              <a:defRPr sz="2500" b="0">
                <a:solidFill>
                  <a:srgbClr val="FFFFFF"/>
                </a:solidFill>
                <a:latin typeface="Arial"/>
              </a:defRPr>
            </a:pPr>
            <a:r>
              <a:t>с проверяемым заданием и отчетом</a:t>
            </a:r>
          </a:p>
        </p:txBody>
      </p:sp>
      <p:sp>
        <p:nvSpPr>
          <p:cNvPr id="9" name="TextBox 8"/>
          <p:cNvSpPr txBox="1"/>
          <p:nvPr/>
        </p:nvSpPr>
        <p:spPr>
          <a:xfrm>
            <a:off x="640080" y="4142232"/>
            <a:ext cx="5669280" cy="91440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Одна бригада • Татарстан — условная зона</a:t>
            </a:r>
          </a:p>
          <a:p>
            <a:pPr>
              <a:spcBef>
                <a:spcPts val="0"/>
              </a:spcBef>
              <a:spcAft>
                <a:spcPts val="500"/>
              </a:spcAft>
              <a:defRPr sz="1800" b="0">
                <a:solidFill>
                  <a:srgbClr val="AFC5B8"/>
                </a:solidFill>
                <a:latin typeface="Arial"/>
              </a:defRPr>
            </a:pPr>
            <a:r>
              <a:t>Гражданская переподготовка специалистов БПЛА</a:t>
            </a:r>
          </a:p>
        </p:txBody>
      </p:sp>
      <p:sp>
        <p:nvSpPr>
          <p:cNvPr id="10" name="Rounded Rectangle 9"/>
          <p:cNvSpPr/>
          <p:nvPr/>
        </p:nvSpPr>
        <p:spPr>
          <a:xfrm>
            <a:off x="6629400"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9,5</a:t>
            </a:r>
          </a:p>
        </p:txBody>
      </p:sp>
      <p:sp>
        <p:nvSpPr>
          <p:cNvPr id="13" name="TextBox 12"/>
          <p:cNvSpPr txBox="1"/>
          <p:nvPr/>
        </p:nvSpPr>
        <p:spPr>
          <a:xfrm>
            <a:off x="6830568"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a:t>
            </a:r>
          </a:p>
        </p:txBody>
      </p:sp>
      <p:sp>
        <p:nvSpPr>
          <p:cNvPr id="14" name="TextBox 13"/>
          <p:cNvSpPr txBox="1"/>
          <p:nvPr/>
        </p:nvSpPr>
        <p:spPr>
          <a:xfrm>
            <a:off x="6830568"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Стартовая потребность</a:t>
            </a:r>
          </a:p>
        </p:txBody>
      </p:sp>
      <p:sp>
        <p:nvSpPr>
          <p:cNvPr id="15" name="Rounded Rectangle 14"/>
          <p:cNvSpPr/>
          <p:nvPr/>
        </p:nvSpPr>
        <p:spPr>
          <a:xfrm>
            <a:off x="9253728"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7"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4896"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3,95</a:t>
            </a:r>
          </a:p>
        </p:txBody>
      </p:sp>
      <p:sp>
        <p:nvSpPr>
          <p:cNvPr id="18" name="TextBox 17"/>
          <p:cNvSpPr txBox="1"/>
          <p:nvPr/>
        </p:nvSpPr>
        <p:spPr>
          <a:xfrm>
            <a:off x="9454896"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NPV</a:t>
            </a:r>
          </a:p>
        </p:txBody>
      </p:sp>
      <p:sp>
        <p:nvSpPr>
          <p:cNvPr id="19" name="TextBox 18"/>
          <p:cNvSpPr txBox="1"/>
          <p:nvPr/>
        </p:nvSpPr>
        <p:spPr>
          <a:xfrm>
            <a:off x="9454896"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Ставка 24%; горизонт 5 лет</a:t>
            </a:r>
          </a:p>
        </p:txBody>
      </p:sp>
      <p:sp>
        <p:nvSpPr>
          <p:cNvPr id="20" name="Rounded Rectangle 1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Решение: поэтапное финансирование после правовой проверки и подтверждения спроса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SMART-цели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02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4709160"/>
                <a:gridCol w="2560320"/>
                <a:gridCol w="3913632"/>
              </a:tblGrid>
              <a:tr h="586740">
                <a:tc>
                  <a:txBody>
                    <a:bodyPr/>
                    <a:lstStyle/>
                    <a:p>
                      <a:pPr>
                        <a:spcAft>
                          <a:spcPts val="0"/>
                        </a:spcAft>
                        <a:defRPr sz="1700" b="1">
                          <a:solidFill>
                            <a:srgbClr val="FFFFFF"/>
                          </a:solidFill>
                          <a:latin typeface="Arial"/>
                        </a:defRPr>
                      </a:pPr>
                      <a:r>
                        <a:t>SMART-результат</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Срок</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Подтверждение</a:t>
                      </a:r>
                    </a:p>
                  </a:txBody>
                  <a:tcPr marL="91440" marR="91440" marT="45720" marB="45720">
                    <a:solidFill>
                      <a:srgbClr val="164C38"/>
                    </a:solidFill>
                  </a:tcPr>
                </a:tc>
              </a:tr>
              <a:tr h="586740">
                <a:tc>
                  <a:txBody>
                    <a:bodyPr/>
                    <a:lstStyle/>
                    <a:p>
                      <a:pPr>
                        <a:spcAft>
                          <a:spcPts val="0"/>
                        </a:spcAft>
                        <a:defRPr sz="1700" b="0">
                          <a:solidFill>
                            <a:srgbClr val="092A20"/>
                          </a:solidFill>
                          <a:latin typeface="Arial"/>
                        </a:defRPr>
                      </a:pPr>
                      <a:r>
                        <a:t>Правовая применимость</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go/no-go 2026</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Письменная карта ограничений</a:t>
                      </a:r>
                    </a:p>
                  </a:txBody>
                  <a:tcPr marL="91440" marR="91440" marT="45720" marB="45720">
                    <a:solidFill>
                      <a:srgbClr val="FFFFFF"/>
                    </a:solidFill>
                  </a:tcPr>
                </a:tc>
              </a:tr>
              <a:tr h="586740">
                <a:tc>
                  <a:txBody>
                    <a:bodyPr/>
                    <a:lstStyle/>
                    <a:p>
                      <a:pPr>
                        <a:spcAft>
                          <a:spcPts val="0"/>
                        </a:spcAft>
                        <a:defRPr sz="1700" b="0">
                          <a:solidFill>
                            <a:srgbClr val="092A20"/>
                          </a:solidFill>
                          <a:latin typeface="Arial"/>
                        </a:defRPr>
                      </a:pPr>
                      <a:r>
                        <a:t>20 интервью; заявки на 6 000 га-проходов</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 финансирования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Реестр клиентов и полей</a:t>
                      </a:r>
                    </a:p>
                  </a:txBody>
                  <a:tcPr marL="91440" marR="91440" marT="45720" marB="45720">
                    <a:solidFill>
                      <a:srgbClr val="EFF4EF"/>
                    </a:solidFill>
                  </a:tcPr>
                </a:tc>
              </a:tr>
              <a:tr h="586740">
                <a:tc>
                  <a:txBody>
                    <a:bodyPr/>
                    <a:lstStyle/>
                    <a:p>
                      <a:pPr>
                        <a:spcAft>
                          <a:spcPts val="0"/>
                        </a:spcAft>
                        <a:defRPr sz="1700" b="0">
                          <a:solidFill>
                            <a:srgbClr val="092A20"/>
                          </a:solidFill>
                          <a:latin typeface="Arial"/>
                        </a:defRPr>
                      </a:pPr>
                      <a:r>
                        <a:t>10 сезонных клиентов; 2 оператора</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12.04.2027</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Договоры; оценка компетенций</a:t>
                      </a:r>
                    </a:p>
                  </a:txBody>
                  <a:tcPr marL="91440" marR="91440" marT="45720" marB="45720">
                    <a:solidFill>
                      <a:srgbClr val="FFFFFF"/>
                    </a:solidFill>
                  </a:tcPr>
                </a:tc>
              </a:tr>
              <a:tr h="586740">
                <a:tc>
                  <a:txBody>
                    <a:bodyPr/>
                    <a:lstStyle/>
                    <a:p>
                      <a:pPr>
                        <a:spcAft>
                          <a:spcPts val="0"/>
                        </a:spcAft>
                        <a:defRPr sz="1700" b="0">
                          <a:solidFill>
                            <a:srgbClr val="092A20"/>
                          </a:solidFill>
                          <a:latin typeface="Arial"/>
                        </a:defRPr>
                      </a:pPr>
                      <a:r>
                        <a:t>6 000 га-проходов + 4 000 га-обследований</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Сезон 2027</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Акты и журналы; пилот внутри объема</a:t>
                      </a:r>
                    </a:p>
                  </a:txBody>
                  <a:tcPr marL="91440" marR="91440" marT="45720" marB="45720">
                    <a:solidFill>
                      <a:srgbClr val="EFF4EF"/>
                    </a:solidFill>
                  </a:tcPr>
                </a:tc>
              </a:tr>
              <a:tr h="586740">
                <a:tc>
                  <a:txBody>
                    <a:bodyPr/>
                    <a:lstStyle/>
                    <a:p>
                      <a:pPr>
                        <a:spcAft>
                          <a:spcPts val="0"/>
                        </a:spcAft>
                        <a:defRPr sz="1700" b="0">
                          <a:solidFill>
                            <a:srgbClr val="092A20"/>
                          </a:solidFill>
                          <a:latin typeface="Arial"/>
                        </a:defRPr>
                      </a:pPr>
                      <a:r>
                        <a:t>Добровольная гражданская переподготовка</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До самостоятельных работ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Наставник; единые критерии допуска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Коммерческие цели не отменяют право остановить небезопасное задание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Описание продукта и стратегическая канва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Продукт и стратегическая канва: экспертная шкала 1–5, не исследование рынка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03 / 22</a:t>
            </a:r>
          </a:p>
        </p:txBody>
      </p:sp>
      <p:sp>
        <p:nvSpPr>
          <p:cNvPr id="7" name="TextBox 6"/>
          <p:cNvSpPr txBox="1"/>
          <p:nvPr/>
        </p:nvSpPr>
        <p:spPr>
          <a:xfrm>
            <a:off x="594360" y="1664208"/>
            <a:ext cx="10972800" cy="457200"/>
          </a:xfrm>
          <a:prstGeom prst="rect">
            <a:avLst/>
          </a:prstGeom>
          <a:noFill/>
        </p:spPr>
        <p:txBody>
          <a:bodyPr wrap="square" lIns="13716" rIns="13716" tIns="0" bIns="0">
            <a:spAutoFit/>
          </a:bodyPr>
          <a:lstStyle/>
          <a:p>
            <a:pPr>
              <a:spcBef>
                <a:spcPts val="0"/>
              </a:spcBef>
              <a:spcAft>
                <a:spcPts val="500"/>
              </a:spcAft>
              <a:defRPr sz="2300" b="1">
                <a:solidFill>
                  <a:srgbClr val="FFFFFF"/>
                </a:solidFill>
                <a:latin typeface="Arial"/>
              </a:defRPr>
            </a:pPr>
            <a:r>
              <a:t>Обследование → карта → внесение → отчет</a:t>
            </a:r>
          </a:p>
        </p:txBody>
      </p:sp>
      <p:sp>
        <p:nvSpPr>
          <p:cNvPr id="8" name="Rounded Rectangle 7"/>
          <p:cNvSpPr/>
          <p:nvPr/>
        </p:nvSpPr>
        <p:spPr>
          <a:xfrm>
            <a:off x="502920" y="2249424"/>
            <a:ext cx="11183112" cy="31821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Chart 8"/>
          <p:cNvGraphicFramePr>
            <a:graphicFrameLocks noGrp="1"/>
          </p:cNvGraphicFramePr>
          <p:nvPr/>
        </p:nvGraphicFramePr>
        <p:xfrm>
          <a:off x="640080" y="2359152"/>
          <a:ext cx="10908792" cy="2962656"/>
        </p:xfrm>
        <a:graphic>
          <a:graphicData uri="http://schemas.openxmlformats.org/drawingml/2006/chart">
            <c:chart xmlns:c="http://schemas.openxmlformats.org/drawingml/2006/chart" r:id="rId2"/>
          </a:graphicData>
        </a:graphic>
      </p:graphicFrame>
      <p:sp>
        <p:nvSpPr>
          <p:cNvPr id="10" name="Rounded Rectangle 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Препараты клиента; без обещания роста урожая. Орошение и продажа дронов не входят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Business Model Canvas</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04 / 22</a:t>
            </a:r>
          </a:p>
        </p:txBody>
      </p:sp>
      <p:sp>
        <p:nvSpPr>
          <p:cNvPr id="7" name="Rounded Rectangle 6"/>
          <p:cNvSpPr/>
          <p:nvPr/>
        </p:nvSpPr>
        <p:spPr>
          <a:xfrm>
            <a:off x="50292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1 / Сегменты</a:t>
            </a:r>
          </a:p>
        </p:txBody>
      </p:sp>
      <p:sp>
        <p:nvSpPr>
          <p:cNvPr id="9" name="TextBox 8"/>
          <p:cNvSpPr txBox="1"/>
          <p:nvPr/>
        </p:nvSpPr>
        <p:spPr>
          <a:xfrm>
            <a:off x="66751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КФХ и средние хозяйства; локальные сложные участки</a:t>
            </a:r>
          </a:p>
        </p:txBody>
      </p:sp>
      <p:sp>
        <p:nvSpPr>
          <p:cNvPr id="10" name="Rounded Rectangle 9"/>
          <p:cNvSpPr/>
          <p:nvPr/>
        </p:nvSpPr>
        <p:spPr>
          <a:xfrm>
            <a:off x="429768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2 / Ценность</a:t>
            </a:r>
          </a:p>
        </p:txBody>
      </p:sp>
      <p:sp>
        <p:nvSpPr>
          <p:cNvPr id="12" name="TextBox 11"/>
          <p:cNvSpPr txBox="1"/>
          <p:nvPr/>
        </p:nvSpPr>
        <p:spPr>
          <a:xfrm>
            <a:off x="446227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Обследование, карта задания, внесение и отчет</a:t>
            </a:r>
          </a:p>
        </p:txBody>
      </p:sp>
      <p:sp>
        <p:nvSpPr>
          <p:cNvPr id="13" name="Rounded Rectangle 12"/>
          <p:cNvSpPr/>
          <p:nvPr/>
        </p:nvSpPr>
        <p:spPr>
          <a:xfrm>
            <a:off x="809244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3 / Каналы</a:t>
            </a:r>
          </a:p>
        </p:txBody>
      </p:sp>
      <p:sp>
        <p:nvSpPr>
          <p:cNvPr id="15" name="TextBox 14"/>
          <p:cNvSpPr txBox="1"/>
          <p:nvPr/>
        </p:nvSpPr>
        <p:spPr>
          <a:xfrm>
            <a:off x="825703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Директор; агрономы; демонстрации; рекомендации</a:t>
            </a:r>
          </a:p>
        </p:txBody>
      </p:sp>
      <p:sp>
        <p:nvSpPr>
          <p:cNvPr id="16" name="Rounded Rectangle 15"/>
          <p:cNvSpPr/>
          <p:nvPr/>
        </p:nvSpPr>
        <p:spPr>
          <a:xfrm>
            <a:off x="50292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4 / Отношения</a:t>
            </a:r>
          </a:p>
        </p:txBody>
      </p:sp>
      <p:sp>
        <p:nvSpPr>
          <p:cNvPr id="18" name="TextBox 17"/>
          <p:cNvSpPr txBox="1"/>
          <p:nvPr/>
        </p:nvSpPr>
        <p:spPr>
          <a:xfrm>
            <a:off x="66751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Один контакт; календарь сезона; разбор отклонений</a:t>
            </a:r>
          </a:p>
        </p:txBody>
      </p:sp>
      <p:sp>
        <p:nvSpPr>
          <p:cNvPr id="19" name="Rounded Rectangle 18"/>
          <p:cNvSpPr/>
          <p:nvPr/>
        </p:nvSpPr>
        <p:spPr>
          <a:xfrm>
            <a:off x="429768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5 / Доходы</a:t>
            </a:r>
          </a:p>
        </p:txBody>
      </p:sp>
      <p:sp>
        <p:nvSpPr>
          <p:cNvPr id="21" name="TextBox 20"/>
          <p:cNvSpPr txBox="1"/>
          <p:nvPr/>
        </p:nvSpPr>
        <p:spPr>
          <a:xfrm>
            <a:off x="446227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₽/га-проход и ₽/га-обследование; без двойного счета</a:t>
            </a:r>
          </a:p>
        </p:txBody>
      </p:sp>
      <p:sp>
        <p:nvSpPr>
          <p:cNvPr id="22" name="Rounded Rectangle 21"/>
          <p:cNvSpPr/>
          <p:nvPr/>
        </p:nvSpPr>
        <p:spPr>
          <a:xfrm>
            <a:off x="809244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6 / Ресурсы</a:t>
            </a:r>
          </a:p>
        </p:txBody>
      </p:sp>
      <p:sp>
        <p:nvSpPr>
          <p:cNvPr id="24" name="TextBox 23"/>
          <p:cNvSpPr txBox="1"/>
          <p:nvPr/>
        </p:nvSpPr>
        <p:spPr>
          <a:xfrm>
            <a:off x="825703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Бригада; основной и резервный БВС; мониторинг</a:t>
            </a:r>
          </a:p>
        </p:txBody>
      </p:sp>
      <p:sp>
        <p:nvSpPr>
          <p:cNvPr id="25" name="Rounded Rectangle 24"/>
          <p:cNvSpPr/>
          <p:nvPr/>
        </p:nvSpPr>
        <p:spPr>
          <a:xfrm>
            <a:off x="50292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7 / Действия</a:t>
            </a:r>
          </a:p>
        </p:txBody>
      </p:sp>
      <p:sp>
        <p:nvSpPr>
          <p:cNvPr id="27" name="TextBox 26"/>
          <p:cNvSpPr txBox="1"/>
          <p:nvPr/>
        </p:nvSpPr>
        <p:spPr>
          <a:xfrm>
            <a:off x="66751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Правовая проверка; выполнение; контроль; сервис</a:t>
            </a:r>
          </a:p>
        </p:txBody>
      </p:sp>
      <p:sp>
        <p:nvSpPr>
          <p:cNvPr id="28" name="Rounded Rectangle 27"/>
          <p:cNvSpPr/>
          <p:nvPr/>
        </p:nvSpPr>
        <p:spPr>
          <a:xfrm>
            <a:off x="429768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8 / Партнеры</a:t>
            </a:r>
          </a:p>
        </p:txBody>
      </p:sp>
      <p:sp>
        <p:nvSpPr>
          <p:cNvPr id="30" name="TextBox 29"/>
          <p:cNvSpPr txBox="1"/>
          <p:nvPr/>
        </p:nvSpPr>
        <p:spPr>
          <a:xfrm>
            <a:off x="446227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Агроном; обучение; сервис; юрист; бухгалтер</a:t>
            </a:r>
          </a:p>
        </p:txBody>
      </p:sp>
      <p:sp>
        <p:nvSpPr>
          <p:cNvPr id="31" name="Rounded Rectangle 30"/>
          <p:cNvSpPr/>
          <p:nvPr/>
        </p:nvSpPr>
        <p:spPr>
          <a:xfrm>
            <a:off x="809244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9 / Затраты</a:t>
            </a:r>
          </a:p>
        </p:txBody>
      </p:sp>
      <p:sp>
        <p:nvSpPr>
          <p:cNvPr id="33" name="TextBox 32"/>
          <p:cNvSpPr txBox="1"/>
          <p:nvPr/>
        </p:nvSpPr>
        <p:spPr>
          <a:xfrm>
            <a:off x="825703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Техника; труд; эксплуатация; услуги; ликвидность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Маркетинговый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на [ДОПУЩЕНИЕ]: TAM / SAM / SOM — сценарные, не внешняя статистика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05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https://www.vesti.ru/article/4893778 · https://www.rshb.ru/news/16072026-000004</a:t>
            </a:r>
          </a:p>
        </p:txBody>
      </p:sp>
      <p:sp>
        <p:nvSpPr>
          <p:cNvPr id="8" name="Rounded Rectangle 7"/>
          <p:cNvSpPr/>
          <p:nvPr/>
        </p:nvSpPr>
        <p:spPr>
          <a:xfrm>
            <a:off x="50292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млрд</a:t>
            </a:r>
          </a:p>
        </p:txBody>
      </p:sp>
      <p:sp>
        <p:nvSpPr>
          <p:cNvPr id="11" name="TextBox 10"/>
          <p:cNvSpPr txBox="1"/>
          <p:nvPr/>
        </p:nvSpPr>
        <p:spPr>
          <a:xfrm>
            <a:off x="70408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TAM / ₽ в год</a:t>
            </a:r>
          </a:p>
        </p:txBody>
      </p:sp>
      <p:sp>
        <p:nvSpPr>
          <p:cNvPr id="12" name="TextBox 11"/>
          <p:cNvSpPr txBox="1"/>
          <p:nvPr/>
        </p:nvSpPr>
        <p:spPr>
          <a:xfrm>
            <a:off x="70408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2 000 хозяйств × 2 000 га</a:t>
            </a:r>
          </a:p>
          <a:p>
            <a:pPr>
              <a:spcBef>
                <a:spcPts val="0"/>
              </a:spcBef>
              <a:spcAft>
                <a:spcPts val="500"/>
              </a:spcAft>
              <a:defRPr sz="1600" b="0">
                <a:solidFill>
                  <a:srgbClr val="092A20"/>
                </a:solidFill>
                <a:latin typeface="Arial"/>
              </a:defRPr>
            </a:pPr>
            <a:r>
              <a:t>15% пригодной площади</a:t>
            </a:r>
          </a:p>
        </p:txBody>
      </p:sp>
      <p:sp>
        <p:nvSpPr>
          <p:cNvPr id="13" name="Rounded Rectangle 12"/>
          <p:cNvSpPr/>
          <p:nvPr/>
        </p:nvSpPr>
        <p:spPr>
          <a:xfrm>
            <a:off x="429768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млн</a:t>
            </a:r>
          </a:p>
        </p:txBody>
      </p:sp>
      <p:sp>
        <p:nvSpPr>
          <p:cNvPr id="16" name="TextBox 15"/>
          <p:cNvSpPr txBox="1"/>
          <p:nvPr/>
        </p:nvSpPr>
        <p:spPr>
          <a:xfrm>
            <a:off x="449884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SAM / ₽ в год</a:t>
            </a:r>
          </a:p>
        </p:txBody>
      </p:sp>
      <p:sp>
        <p:nvSpPr>
          <p:cNvPr id="17" name="TextBox 16"/>
          <p:cNvSpPr txBox="1"/>
          <p:nvPr/>
        </p:nvSpPr>
        <p:spPr>
          <a:xfrm>
            <a:off x="449884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200 хозяйств × 2 000 га</a:t>
            </a:r>
          </a:p>
          <a:p>
            <a:pPr>
              <a:spcBef>
                <a:spcPts val="0"/>
              </a:spcBef>
              <a:spcAft>
                <a:spcPts val="500"/>
              </a:spcAft>
              <a:defRPr sz="1600" b="0">
                <a:solidFill>
                  <a:srgbClr val="092A20"/>
                </a:solidFill>
                <a:latin typeface="Arial"/>
              </a:defRPr>
            </a:pPr>
            <a:r>
              <a:t>Условный доступный кластер</a:t>
            </a:r>
          </a:p>
        </p:txBody>
      </p:sp>
      <p:sp>
        <p:nvSpPr>
          <p:cNvPr id="18" name="Rounded Rectangle 17"/>
          <p:cNvSpPr/>
          <p:nvPr/>
        </p:nvSpPr>
        <p:spPr>
          <a:xfrm>
            <a:off x="809244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8,8 млн</a:t>
            </a:r>
          </a:p>
        </p:txBody>
      </p:sp>
      <p:sp>
        <p:nvSpPr>
          <p:cNvPr id="21" name="TextBox 20"/>
          <p:cNvSpPr txBox="1"/>
          <p:nvPr/>
        </p:nvSpPr>
        <p:spPr>
          <a:xfrm>
            <a:off x="829360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SOM / первый сезон</a:t>
            </a:r>
          </a:p>
        </p:txBody>
      </p:sp>
      <p:sp>
        <p:nvSpPr>
          <p:cNvPr id="22" name="TextBox 21"/>
          <p:cNvSpPr txBox="1"/>
          <p:nvPr/>
        </p:nvSpPr>
        <p:spPr>
          <a:xfrm>
            <a:off x="829360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1 300 ₽</a:t>
            </a:r>
          </a:p>
          <a:p>
            <a:pPr>
              <a:spcBef>
                <a:spcPts val="0"/>
              </a:spcBef>
              <a:spcAft>
                <a:spcPts val="500"/>
              </a:spcAft>
              <a:defRPr sz="1600" b="0">
                <a:solidFill>
                  <a:srgbClr val="092A20"/>
                </a:solidFill>
                <a:latin typeface="Arial"/>
              </a:defRPr>
            </a:pPr>
            <a:r>
              <a:t>+ 4 000 обследований × 250 ₽</a:t>
            </a:r>
          </a:p>
        </p:txBody>
      </p:sp>
      <p:sp>
        <p:nvSpPr>
          <p:cNvPr id="23" name="TextBox 22"/>
          <p:cNvSpPr txBox="1"/>
          <p:nvPr/>
        </p:nvSpPr>
        <p:spPr>
          <a:xfrm>
            <a:off x="594360" y="4480560"/>
            <a:ext cx="10972800" cy="594360"/>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TAM = 2 000 × 2 000 × 15% × (1,5 × 1 300 + 0,5 × 250); SAM — для 200 хозяйств.</a:t>
            </a:r>
          </a:p>
        </p:txBody>
      </p:sp>
      <p:sp>
        <p:nvSpPr>
          <p:cNvPr id="24" name="TextBox 23"/>
          <p:cNvSpPr txBox="1"/>
          <p:nvPr/>
        </p:nvSpPr>
        <p:spPr>
          <a:xfrm>
            <a:off x="594360" y="5138928"/>
            <a:ext cx="10972800" cy="768096"/>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Воронка: 100 контактов → 40 разговоров → 20 предложений → 10 клиентов.</a:t>
            </a:r>
          </a:p>
          <a:p>
            <a:pPr>
              <a:spcBef>
                <a:spcPts val="0"/>
              </a:spcBef>
              <a:spcAft>
                <a:spcPts val="500"/>
              </a:spcAft>
              <a:defRPr sz="1600" b="0">
                <a:solidFill>
                  <a:srgbClr val="AFC5B8"/>
                </a:solidFill>
                <a:latin typeface="Arial"/>
              </a:defRPr>
            </a:pPr>
            <a:r>
              <a:t>[ФАКТ] Публикации об отрасли имеют разные оценки; не используются как база TAM.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конкурентов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[ФАКТ] Публичные предложения  •  [ДОПУЩЕНИЕ] Тариф АгроВектора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06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https://agrdron.ru/ · https://beeuav.ru/ · https://xag-ap.ru/spraying.php · https://germes-technology.ru/</a:t>
            </a:r>
          </a:p>
        </p:txBody>
      </p:sp>
      <p:graphicFrame>
        <p:nvGraphicFramePr>
          <p:cNvPr id="8" name="Table 7"/>
          <p:cNvGraphicFramePr>
            <a:graphicFrameLocks noGrp="1"/>
          </p:cNvGraphicFramePr>
          <p:nvPr/>
        </p:nvGraphicFramePr>
        <p:xfrm>
          <a:off x="502920" y="1737360"/>
          <a:ext cx="11183112" cy="3749039"/>
        </p:xfrm>
        <a:graphic>
          <a:graphicData uri="http://schemas.openxmlformats.org/drawingml/2006/table">
            <a:tbl>
              <a:tblPr firstRow="1" bandRow="1">
                <a:tableStyleId>{5C22544A-7EE6-4342-B048-85BDC9FD1C3A}</a:tableStyleId>
              </a:tblPr>
              <a:tblGrid>
                <a:gridCol w="2971800"/>
                <a:gridCol w="3703320"/>
                <a:gridCol w="3136392"/>
                <a:gridCol w="1371600"/>
              </a:tblGrid>
              <a:tr h="535577">
                <a:tc>
                  <a:txBody>
                    <a:bodyPr/>
                    <a:lstStyle/>
                    <a:p>
                      <a:pPr>
                        <a:spcAft>
                          <a:spcPts val="0"/>
                        </a:spcAft>
                        <a:defRPr sz="1500" b="1">
                          <a:solidFill>
                            <a:srgbClr val="FFFFFF"/>
                          </a:solidFill>
                          <a:latin typeface="Arial"/>
                        </a:defRPr>
                      </a:pPr>
                      <a:r>
                        <a:t>Исполнитель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Публичное предложение</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Цена, ₽/га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Доля рынка</a:t>
                      </a:r>
                    </a:p>
                  </a:txBody>
                  <a:tcPr marL="91440" marR="91440" marT="45720" marB="45720">
                    <a:solidFill>
                      <a:srgbClr val="164C38"/>
                    </a:solidFill>
                  </a:tcPr>
                </a:tc>
              </a:tr>
              <a:tr h="535577">
                <a:tc>
                  <a:txBody>
                    <a:bodyPr/>
                    <a:lstStyle/>
                    <a:p>
                      <a:pPr>
                        <a:spcAft>
                          <a:spcPts val="0"/>
                        </a:spcAft>
                        <a:defRPr sz="1500" b="0">
                          <a:solidFill>
                            <a:srgbClr val="092A20"/>
                          </a:solidFill>
                          <a:latin typeface="Arial"/>
                        </a:defRPr>
                      </a:pPr>
                      <a:r>
                        <a:t>Агродроны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полей;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 средняя заявленная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BeeUAV</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Аренда и обработка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 по запросу</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Агропрофи / XAG</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и посев; Поволжье</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Гермес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Краснодарский край, Адыгея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Аграс / аграс.рф</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Аренда техники / пилота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АгроВектор [ДОПУЩЕНИЕ]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Карта + выполнение + отчет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bl>
          </a:graphicData>
        </a:graphic>
      </p:graphicFrame>
      <p:sp>
        <p:nvSpPr>
          <p:cNvPr id="9" name="Rounded Rectangle 8"/>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900 ₽ — не нижняя граница и не сопоставимое КП. Нужен единый состав работ для сравнения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Развернутый SWOT</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07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 / Конструкция сервиса</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Мониторинг + задание + отчет</a:t>
            </a:r>
          </a:p>
          <a:p>
            <a:pPr>
              <a:spcBef>
                <a:spcPts val="0"/>
              </a:spcBef>
              <a:spcAft>
                <a:spcPts val="500"/>
              </a:spcAft>
              <a:defRPr sz="1700" b="0">
                <a:solidFill>
                  <a:srgbClr val="092A20"/>
                </a:solidFill>
                <a:latin typeface="Arial"/>
              </a:defRPr>
            </a:pPr>
            <a:r>
              <a:t>Резервный аппарат</a:t>
            </a:r>
          </a:p>
          <a:p>
            <a:pPr>
              <a:spcBef>
                <a:spcPts val="0"/>
              </a:spcBef>
              <a:spcAft>
                <a:spcPts val="500"/>
              </a:spcAft>
              <a:defRPr sz="1700" b="0">
                <a:solidFill>
                  <a:srgbClr val="092A20"/>
                </a:solidFill>
                <a:latin typeface="Arial"/>
              </a:defRPr>
            </a:pPr>
            <a:r>
              <a:t>→ Единая приемка и готовность резерва</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W / Ограничения</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Нет подтвержденного портфеля</a:t>
            </a:r>
          </a:p>
          <a:p>
            <a:pPr>
              <a:spcBef>
                <a:spcPts val="0"/>
              </a:spcBef>
              <a:spcAft>
                <a:spcPts val="500"/>
              </a:spcAft>
              <a:defRPr sz="1700" b="0">
                <a:solidFill>
                  <a:srgbClr val="092A20"/>
                </a:solidFill>
                <a:latin typeface="Arial"/>
              </a:defRPr>
            </a:pPr>
            <a:r>
              <a:t>Одна бригада; экономный ФОТ</a:t>
            </a:r>
          </a:p>
          <a:p>
            <a:pPr>
              <a:spcBef>
                <a:spcPts val="0"/>
              </a:spcBef>
              <a:spcAft>
                <a:spcPts val="500"/>
              </a:spcAft>
              <a:defRPr sz="1700" b="0">
                <a:solidFill>
                  <a:srgbClr val="092A20"/>
                </a:solidFill>
                <a:latin typeface="Arial"/>
              </a:defRPr>
            </a:pPr>
            <a:r>
              <a:t>→ Заявки до закупки, лимит нагрузки</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O / Возможности</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Локальные задачи хозяйств</a:t>
            </a:r>
          </a:p>
          <a:p>
            <a:pPr>
              <a:spcBef>
                <a:spcPts val="0"/>
              </a:spcBef>
              <a:spcAft>
                <a:spcPts val="500"/>
              </a:spcAft>
              <a:defRPr sz="1700" b="0">
                <a:solidFill>
                  <a:srgbClr val="092A20"/>
                </a:solidFill>
                <a:latin typeface="Arial"/>
              </a:defRPr>
            </a:pPr>
            <a:r>
              <a:t>Гражданская переподготовка</a:t>
            </a:r>
          </a:p>
          <a:p>
            <a:pPr>
              <a:spcBef>
                <a:spcPts val="0"/>
              </a:spcBef>
              <a:spcAft>
                <a:spcPts val="500"/>
              </a:spcAft>
              <a:defRPr sz="1700" b="0">
                <a:solidFill>
                  <a:srgbClr val="092A20"/>
                </a:solidFill>
                <a:latin typeface="Arial"/>
              </a:defRPr>
            </a:pPr>
            <a:r>
              <a:t>→ Платный пилот и наставничество</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 / Угрозы</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Запреты; погода; ценовое давление</a:t>
            </a:r>
          </a:p>
          <a:p>
            <a:pPr>
              <a:spcBef>
                <a:spcPts val="0"/>
              </a:spcBef>
              <a:spcAft>
                <a:spcPts val="500"/>
              </a:spcAft>
              <a:defRPr sz="1700" b="0">
                <a:solidFill>
                  <a:srgbClr val="092A20"/>
                </a:solidFill>
                <a:latin typeface="Arial"/>
              </a:defRPr>
            </a:pPr>
            <a:r>
              <a:t>Просрочка платежей</a:t>
            </a:r>
          </a:p>
          <a:p>
            <a:pPr>
              <a:spcBef>
                <a:spcPts val="0"/>
              </a:spcBef>
              <a:spcAft>
                <a:spcPts val="500"/>
              </a:spcAft>
              <a:defRPr sz="1700" b="0">
                <a:solidFill>
                  <a:srgbClr val="092A20"/>
                </a:solidFill>
                <a:latin typeface="Arial"/>
              </a:defRPr>
            </a:pPr>
            <a:r>
              <a:t>→ No-go, резерв времени и аванс</a:t>
            </a:r>
          </a:p>
        </p:txBody>
      </p:sp>
      <p:sp>
        <p:nvSpPr>
          <p:cNvPr id="23" name="Rounded Rectangle 22"/>
          <p:cNvSpPr/>
          <p:nvPr/>
        </p:nvSpPr>
        <p:spPr>
          <a:xfrm>
            <a:off x="502920" y="587959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96188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Стратегия WT: не расширять парк до подтверждения правовой доступности, кадров и экономики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Пять сил Портера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08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3108960"/>
                <a:gridCol w="2331720"/>
                <a:gridCol w="5742432"/>
              </a:tblGrid>
              <a:tr h="586740">
                <a:tc>
                  <a:txBody>
                    <a:bodyPr/>
                    <a:lstStyle/>
                    <a:p>
                      <a:pPr>
                        <a:spcAft>
                          <a:spcPts val="0"/>
                        </a:spcAft>
                        <a:defRPr sz="1800" b="1">
                          <a:solidFill>
                            <a:srgbClr val="FFFFFF"/>
                          </a:solidFill>
                          <a:latin typeface="Arial"/>
                        </a:defRPr>
                      </a:pPr>
                      <a:r>
                        <a:t>Сила</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Уровень гипотезы</a:t>
                      </a:r>
                    </a:p>
                  </a:txBody>
                  <a:tcPr marL="91440" marR="91440" marT="45720" marB="45720">
                    <a:solidFill>
                      <a:srgbClr val="164C38"/>
                    </a:solidFill>
                  </a:tcPr>
                </a:tc>
                <a:tc>
                  <a:txBody>
                    <a:bodyPr/>
                    <a:lstStyle/>
                    <a:p>
                      <a:pPr>
                        <a:spcAft>
                          <a:spcPts val="0"/>
                        </a:spcAft>
                        <a:defRPr sz="1800" b="1">
                          <a:solidFill>
                            <a:srgbClr val="FFFFFF"/>
                          </a:solidFill>
                          <a:latin typeface="Arial"/>
                        </a:defRPr>
                      </a:pPr>
                      <a:r>
                        <a:t>Ответ проекта / что проверить</a:t>
                      </a:r>
                    </a:p>
                  </a:txBody>
                  <a:tcPr marL="91440" marR="91440" marT="45720" marB="45720">
                    <a:solidFill>
                      <a:srgbClr val="164C38"/>
                    </a:solidFill>
                  </a:tcPr>
                </a:tc>
              </a:tr>
              <a:tr h="586740">
                <a:tc>
                  <a:txBody>
                    <a:bodyPr/>
                    <a:lstStyle/>
                    <a:p>
                      <a:pPr>
                        <a:spcAft>
                          <a:spcPts val="0"/>
                        </a:spcAft>
                        <a:defRPr sz="1800" b="0">
                          <a:solidFill>
                            <a:srgbClr val="092A20"/>
                          </a:solidFill>
                          <a:latin typeface="Arial"/>
                        </a:defRPr>
                      </a:pPr>
                      <a:r>
                        <a:t>Соперничество</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Приемка и сроки; сопоставимые КП</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Новые участники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Средний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Повторные договоры; стоимость готовности</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Заменители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Отбор задач; полная стоимость альтернатив</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Покупатели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Лимит концентрации; причины отказов</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Поставщики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Средний–высокий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Запчасти, резерв, сервис; реальные сроки ремонта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Устойчивое конкурентное преимущество до полевой проверки не подтверждено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2600" b="1">
                <a:solidFill>
                  <a:srgbClr val="FFFFFF"/>
                </a:solidFill>
                <a:latin typeface="Arial"/>
              </a:defRPr>
            </a:pPr>
            <a:r>
              <a:t>Организационно-правовая форма и регуляторный контур</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ООО и порядок проверки; не юридическое заключение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09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https://base.garant.ru/414829385/ · http://publication.pravo.gov.ru/document/0001202608280041</a:t>
            </a:r>
          </a:p>
        </p:txBody>
      </p:sp>
      <p:sp>
        <p:nvSpPr>
          <p:cNvPr id="8" name="Rounded Rectangle 7"/>
          <p:cNvSpPr/>
          <p:nvPr/>
        </p:nvSpPr>
        <p:spPr>
          <a:xfrm>
            <a:off x="502920" y="1719072"/>
            <a:ext cx="3566160" cy="35021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103120"/>
            <a:ext cx="3163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ООО</a:t>
            </a:r>
          </a:p>
        </p:txBody>
      </p:sp>
      <p:sp>
        <p:nvSpPr>
          <p:cNvPr id="11" name="TextBox 10"/>
          <p:cNvSpPr txBox="1"/>
          <p:nvPr/>
        </p:nvSpPr>
        <p:spPr>
          <a:xfrm>
            <a:off x="704088" y="2706624"/>
            <a:ext cx="3163824" cy="2441448"/>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Договорный контур и долевое финансирование.</a:t>
            </a:r>
          </a:p>
          <a:p>
            <a:pPr>
              <a:spcBef>
                <a:spcPts val="0"/>
              </a:spcBef>
              <a:spcAft>
                <a:spcPts val="500"/>
              </a:spcAft>
              <a:defRPr sz="1800" b="0">
                <a:solidFill>
                  <a:srgbClr val="092A20"/>
                </a:solidFill>
                <a:latin typeface="Arial"/>
              </a:defRPr>
            </a:pPr>
          </a:p>
          <a:p>
            <a:pPr>
              <a:spcBef>
                <a:spcPts val="0"/>
              </a:spcBef>
              <a:spcAft>
                <a:spcPts val="500"/>
              </a:spcAft>
              <a:defRPr sz="1800" b="0">
                <a:solidFill>
                  <a:srgbClr val="092A20"/>
                </a:solidFill>
                <a:latin typeface="Arial"/>
              </a:defRPr>
            </a:pPr>
            <a:r>
              <a:t>Статус БВС определяется по максимальной взлетной массе, не по массе пустого аппарата.</a:t>
            </a:r>
          </a:p>
        </p:txBody>
      </p:sp>
      <p:graphicFrame>
        <p:nvGraphicFramePr>
          <p:cNvPr id="12" name="Table 11"/>
          <p:cNvGraphicFramePr>
            <a:graphicFrameLocks noGrp="1"/>
          </p:cNvGraphicFramePr>
          <p:nvPr/>
        </p:nvGraphicFramePr>
        <p:xfrm>
          <a:off x="4297680" y="1737360"/>
          <a:ext cx="7388352" cy="3502152"/>
        </p:xfrm>
        <a:graphic>
          <a:graphicData uri="http://schemas.openxmlformats.org/drawingml/2006/table">
            <a:tbl>
              <a:tblPr firstRow="1" bandRow="1">
                <a:tableStyleId>{5C22544A-7EE6-4342-B048-85BDC9FD1C3A}</a:tableStyleId>
              </a:tblPr>
              <a:tblGrid>
                <a:gridCol w="1737360"/>
                <a:gridCol w="5650992"/>
              </a:tblGrid>
              <a:tr h="583692">
                <a:tc>
                  <a:txBody>
                    <a:bodyPr/>
                    <a:lstStyle/>
                    <a:p>
                      <a:pPr>
                        <a:spcAft>
                          <a:spcPts val="0"/>
                        </a:spcAft>
                        <a:defRPr sz="1700" b="1">
                          <a:solidFill>
                            <a:srgbClr val="FFFFFF"/>
                          </a:solidFill>
                          <a:latin typeface="Arial"/>
                        </a:defRPr>
                      </a:pPr>
                      <a:r>
                        <a:t>Отдельный gate</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Что подтвердить до работы</a:t>
                      </a:r>
                    </a:p>
                  </a:txBody>
                  <a:tcPr marL="91440" marR="91440" marT="45720" marB="45720">
                    <a:solidFill>
                      <a:srgbClr val="164C38"/>
                    </a:solidFill>
                  </a:tcPr>
                </a:tc>
              </a:tr>
              <a:tr h="583692">
                <a:tc>
                  <a:txBody>
                    <a:bodyPr/>
                    <a:lstStyle/>
                    <a:p>
                      <a:pPr>
                        <a:spcAft>
                          <a:spcPts val="0"/>
                        </a:spcAft>
                        <a:defRPr sz="1700" b="0">
                          <a:solidFill>
                            <a:srgbClr val="092A20"/>
                          </a:solidFill>
                          <a:latin typeface="Arial"/>
                        </a:defRPr>
                      </a:pPr>
                      <a:r>
                        <a:t>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Учет / регистрация и применимые документы</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Полет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Территория, маршрут и условия использования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АХР</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Правомерность конкретной схемы выполнения</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Препарат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Допустимость технологии и регламент применения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Регион</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Действующий запрет / исключения, если применимы</a:t>
                      </a:r>
                    </a:p>
                  </a:txBody>
                  <a:tcPr marL="91440" marR="91440" marT="45720" marB="45720">
                    <a:solidFill>
                      <a:srgbClr val="FFFFFF"/>
                    </a:solidFill>
                  </a:tcPr>
                </a:tc>
              </a:tr>
            </a:tbl>
          </a:graphicData>
        </a:graphic>
      </p:graphicFrame>
      <p:sp>
        <p:nvSpPr>
          <p:cNvPr id="13" name="Rounded Rectangle 12"/>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[ФАКТ] С 01.09.2026 — ФАП-303. Санитарные условия требуют отдельной сверки; при сомнении NO-GO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Стейкхолдеры: власть и интерес</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10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высокий интерес</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Учредитель, инвестор, клиенты и агрономы</a:t>
            </a:r>
          </a:p>
          <a:p>
            <a:pPr>
              <a:spcBef>
                <a:spcPts val="0"/>
              </a:spcBef>
              <a:spcAft>
                <a:spcPts val="500"/>
              </a:spcAft>
              <a:defRPr sz="1600" b="0">
                <a:solidFill>
                  <a:srgbClr val="092A20"/>
                </a:solidFill>
                <a:latin typeface="Arial"/>
              </a:defRPr>
            </a:pPr>
            <a:r>
              <a:t>→ План-факт; договоры; приемка</a:t>
            </a:r>
          </a:p>
          <a:p>
            <a:pPr>
              <a:spcBef>
                <a:spcPts val="0"/>
              </a:spcBef>
              <a:spcAft>
                <a:spcPts val="500"/>
              </a:spcAft>
              <a:defRPr sz="1600" b="0">
                <a:solidFill>
                  <a:srgbClr val="092A20"/>
                </a:solidFill>
                <a:latin typeface="Arial"/>
              </a:defRPr>
            </a:pPr>
            <a:r>
              <a:t>Владелец: директор</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переменный интерес</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Уполномоченные органы</a:t>
            </a:r>
          </a:p>
          <a:p>
            <a:pPr>
              <a:spcBef>
                <a:spcPts val="0"/>
              </a:spcBef>
              <a:spcAft>
                <a:spcPts val="500"/>
              </a:spcAft>
              <a:defRPr sz="1600" b="0">
                <a:solidFill>
                  <a:srgbClr val="092A20"/>
                </a:solidFill>
                <a:latin typeface="Arial"/>
              </a:defRPr>
            </a:pPr>
            <a:r>
              <a:t>→ Документы по конкретной территории</a:t>
            </a:r>
          </a:p>
          <a:p>
            <a:pPr>
              <a:spcBef>
                <a:spcPts val="0"/>
              </a:spcBef>
              <a:spcAft>
                <a:spcPts val="500"/>
              </a:spcAft>
              <a:defRPr sz="1600" b="0">
                <a:solidFill>
                  <a:srgbClr val="092A20"/>
                </a:solidFill>
                <a:latin typeface="Arial"/>
              </a:defRPr>
            </a:pPr>
            <a:r>
              <a:t>Владелец: внешний юрист</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Средняя власть / высокий интерес</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Операторы, учебный партнер, агроном</a:t>
            </a:r>
          </a:p>
          <a:p>
            <a:pPr>
              <a:spcBef>
                <a:spcPts val="0"/>
              </a:spcBef>
              <a:spcAft>
                <a:spcPts val="500"/>
              </a:spcAft>
              <a:defRPr sz="1600" b="0">
                <a:solidFill>
                  <a:srgbClr val="092A20"/>
                </a:solidFill>
                <a:latin typeface="Arial"/>
              </a:defRPr>
            </a:pPr>
            <a:r>
              <a:t>→ Инструктаж, нагрузка, компетенции</a:t>
            </a:r>
          </a:p>
          <a:p>
            <a:pPr>
              <a:spcBef>
                <a:spcPts val="0"/>
              </a:spcBef>
              <a:spcAft>
                <a:spcPts val="500"/>
              </a:spcAft>
              <a:defRPr sz="1600" b="0">
                <a:solidFill>
                  <a:srgbClr val="092A20"/>
                </a:solidFill>
                <a:latin typeface="Arial"/>
              </a:defRPr>
            </a:pPr>
            <a:r>
              <a:t>Владелец: операционный руководитель</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Низкая власть / высокий или переменный</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Кандидаты после СВО, соседи полей</a:t>
            </a:r>
          </a:p>
          <a:p>
            <a:pPr>
              <a:spcBef>
                <a:spcPts val="0"/>
              </a:spcBef>
              <a:spcAft>
                <a:spcPts val="500"/>
              </a:spcAft>
              <a:defRPr sz="1600" b="0">
                <a:solidFill>
                  <a:srgbClr val="092A20"/>
                </a:solidFill>
                <a:latin typeface="Arial"/>
              </a:defRPr>
            </a:pPr>
            <a:r>
              <a:t>→ Добровольность; канал обращений</a:t>
            </a:r>
          </a:p>
          <a:p>
            <a:pPr>
              <a:spcBef>
                <a:spcPts val="0"/>
              </a:spcBef>
              <a:spcAft>
                <a:spcPts val="500"/>
              </a:spcAft>
              <a:defRPr sz="1600" b="0">
                <a:solidFill>
                  <a:srgbClr val="092A20"/>
                </a:solidFill>
                <a:latin typeface="Arial"/>
              </a:defRPr>
            </a:pPr>
            <a:r>
              <a:t>Владелец: директор</a:t>
            </a:r>
          </a:p>
        </p:txBody>
      </p:sp>
      <p:sp>
        <p:nvSpPr>
          <p:cNvPr id="23" name="TextBox 22"/>
          <p:cNvSpPr txBox="1"/>
          <p:nvPr/>
        </p:nvSpPr>
        <p:spPr>
          <a:xfrm>
            <a:off x="594360" y="5897880"/>
            <a:ext cx="10972800" cy="502920"/>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Сервис техники: средняя власть / средний интерес; регламент реакции — операционный руководитель.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Производственный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Производительность  •  [РАСЧЕТ] Календарная емкость бригады</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11 / 22</a:t>
            </a:r>
          </a:p>
        </p:txBody>
      </p:sp>
      <p:sp>
        <p:nvSpPr>
          <p:cNvPr id="7" name="Rounded Rectangle 6"/>
          <p:cNvSpPr/>
          <p:nvPr/>
        </p:nvSpPr>
        <p:spPr>
          <a:xfrm>
            <a:off x="50292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13 000</a:t>
            </a:r>
          </a:p>
        </p:txBody>
      </p:sp>
      <p:sp>
        <p:nvSpPr>
          <p:cNvPr id="10" name="TextBox 9"/>
          <p:cNvSpPr txBox="1"/>
          <p:nvPr/>
        </p:nvSpPr>
        <p:spPr>
          <a:xfrm>
            <a:off x="70408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га-проходов / потолок</a:t>
            </a:r>
          </a:p>
        </p:txBody>
      </p:sp>
      <p:sp>
        <p:nvSpPr>
          <p:cNvPr id="11" name="TextBox 10"/>
          <p:cNvSpPr txBox="1"/>
          <p:nvPr/>
        </p:nvSpPr>
        <p:spPr>
          <a:xfrm>
            <a:off x="70408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100 эффективных дней × 130 га</a:t>
            </a:r>
          </a:p>
          <a:p>
            <a:pPr>
              <a:spcBef>
                <a:spcPts val="0"/>
              </a:spcBef>
              <a:spcAft>
                <a:spcPts val="500"/>
              </a:spcAft>
              <a:defRPr sz="1700" b="0">
                <a:solidFill>
                  <a:srgbClr val="092A20"/>
                </a:solidFill>
                <a:latin typeface="Arial"/>
              </a:defRPr>
            </a:pPr>
            <a:r>
              <a:t>Основной + резервный аппарат</a:t>
            </a:r>
          </a:p>
          <a:p>
            <a:pPr>
              <a:spcBef>
                <a:spcPts val="0"/>
              </a:spcBef>
              <a:spcAft>
                <a:spcPts val="500"/>
              </a:spcAft>
              <a:defRPr sz="1700" b="0">
                <a:solidFill>
                  <a:srgbClr val="092A20"/>
                </a:solidFill>
                <a:latin typeface="Arial"/>
              </a:defRPr>
            </a:pPr>
            <a:r>
              <a:t>Резерв не удваивает мощность</a:t>
            </a:r>
          </a:p>
        </p:txBody>
      </p:sp>
      <p:sp>
        <p:nvSpPr>
          <p:cNvPr id="12" name="Rounded Rectangle 11"/>
          <p:cNvSpPr/>
          <p:nvPr/>
        </p:nvSpPr>
        <p:spPr>
          <a:xfrm>
            <a:off x="429768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10 000</a:t>
            </a:r>
          </a:p>
        </p:txBody>
      </p:sp>
      <p:sp>
        <p:nvSpPr>
          <p:cNvPr id="15" name="TextBox 14"/>
          <p:cNvSpPr txBox="1"/>
          <p:nvPr/>
        </p:nvSpPr>
        <p:spPr>
          <a:xfrm>
            <a:off x="449884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га-обследований</a:t>
            </a:r>
          </a:p>
        </p:txBody>
      </p:sp>
      <p:sp>
        <p:nvSpPr>
          <p:cNvPr id="16" name="TextBox 15"/>
          <p:cNvSpPr txBox="1"/>
          <p:nvPr/>
        </p:nvSpPr>
        <p:spPr>
          <a:xfrm>
            <a:off x="449884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20 отдельных дней × 500 га</a:t>
            </a:r>
          </a:p>
          <a:p>
            <a:pPr>
              <a:spcBef>
                <a:spcPts val="0"/>
              </a:spcBef>
              <a:spcAft>
                <a:spcPts val="500"/>
              </a:spcAft>
              <a:defRPr sz="1700" b="0">
                <a:solidFill>
                  <a:srgbClr val="092A20"/>
                </a:solidFill>
                <a:latin typeface="Arial"/>
              </a:defRPr>
            </a:pPr>
            <a:r>
              <a:t>Без одновременных полетов</a:t>
            </a:r>
          </a:p>
          <a:p>
            <a:pPr>
              <a:spcBef>
                <a:spcPts val="0"/>
              </a:spcBef>
              <a:spcAft>
                <a:spcPts val="500"/>
              </a:spcAft>
              <a:defRPr sz="1700" b="0">
                <a:solidFill>
                  <a:srgbClr val="092A20"/>
                </a:solidFill>
                <a:latin typeface="Arial"/>
              </a:defRPr>
            </a:pPr>
            <a:r>
              <a:t>Одной бригадой — по очереди</a:t>
            </a:r>
          </a:p>
        </p:txBody>
      </p:sp>
      <p:sp>
        <p:nvSpPr>
          <p:cNvPr id="17" name="Rounded Rectangle 16"/>
          <p:cNvSpPr/>
          <p:nvPr/>
        </p:nvSpPr>
        <p:spPr>
          <a:xfrm>
            <a:off x="809244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75319"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34</a:t>
            </a:r>
          </a:p>
        </p:txBody>
      </p:sp>
      <p:sp>
        <p:nvSpPr>
          <p:cNvPr id="20" name="TextBox 19"/>
          <p:cNvSpPr txBox="1"/>
          <p:nvPr/>
        </p:nvSpPr>
        <p:spPr>
          <a:xfrm>
            <a:off x="829360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дня резерва</a:t>
            </a:r>
          </a:p>
        </p:txBody>
      </p:sp>
      <p:sp>
        <p:nvSpPr>
          <p:cNvPr id="21" name="TextBox 20"/>
          <p:cNvSpPr txBox="1"/>
          <p:nvPr/>
        </p:nvSpPr>
        <p:spPr>
          <a:xfrm>
            <a:off x="829360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154 календарных дня сезона</a:t>
            </a:r>
          </a:p>
          <a:p>
            <a:pPr>
              <a:spcBef>
                <a:spcPts val="0"/>
              </a:spcBef>
              <a:spcAft>
                <a:spcPts val="500"/>
              </a:spcAft>
              <a:defRPr sz="1700" b="0">
                <a:solidFill>
                  <a:srgbClr val="092A20"/>
                </a:solidFill>
                <a:latin typeface="Arial"/>
              </a:defRPr>
            </a:pPr>
            <a:r>
              <a:t>− 100 дней внесения</a:t>
            </a:r>
          </a:p>
          <a:p>
            <a:pPr>
              <a:spcBef>
                <a:spcPts val="0"/>
              </a:spcBef>
              <a:spcAft>
                <a:spcPts val="500"/>
              </a:spcAft>
              <a:defRPr sz="1700" b="0">
                <a:solidFill>
                  <a:srgbClr val="092A20"/>
                </a:solidFill>
                <a:latin typeface="Arial"/>
              </a:defRPr>
            </a:pPr>
            <a:r>
              <a:t>− 20 дней мониторинга</a:t>
            </a:r>
          </a:p>
        </p:txBody>
      </p:sp>
      <p:sp>
        <p:nvSpPr>
          <p:cNvPr id="22" name="TextBox 21"/>
          <p:cNvSpPr txBox="1"/>
          <p:nvPr/>
        </p:nvSpPr>
        <p:spPr>
          <a:xfrm>
            <a:off x="594360" y="5175504"/>
            <a:ext cx="10972800" cy="457200"/>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Проверка → обследование → подготовка → выполнение → контроль и акт</a:t>
            </a:r>
          </a:p>
        </p:txBody>
      </p:sp>
      <p:sp>
        <p:nvSpPr>
          <p:cNvPr id="23" name="Rounded Rectangle 22"/>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напряженный сценарный потолок. Хронометраж и достаточность резерва не подтверждены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Организационный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12 / 22</a:t>
            </a:r>
          </a:p>
        </p:txBody>
      </p:sp>
      <p:sp>
        <p:nvSpPr>
          <p:cNvPr id="7" name="TextBox 6"/>
          <p:cNvSpPr txBox="1"/>
          <p:nvPr/>
        </p:nvSpPr>
        <p:spPr>
          <a:xfrm>
            <a:off x="594360" y="1755648"/>
            <a:ext cx="3657600" cy="914400"/>
          </a:xfrm>
          <a:prstGeom prst="rect">
            <a:avLst/>
          </a:prstGeom>
          <a:noFill/>
        </p:spPr>
        <p:txBody>
          <a:bodyPr wrap="square" lIns="13716" rIns="13716" tIns="0" bIns="0">
            <a:spAutoFit/>
          </a:bodyPr>
          <a:lstStyle/>
          <a:p>
            <a:pPr>
              <a:spcBef>
                <a:spcPts val="0"/>
              </a:spcBef>
              <a:spcAft>
                <a:spcPts val="500"/>
              </a:spcAft>
              <a:defRPr sz="4400" b="1">
                <a:solidFill>
                  <a:srgbClr val="C8F26B"/>
                </a:solidFill>
                <a:latin typeface="Arial"/>
              </a:defRPr>
            </a:pPr>
            <a:r>
              <a:t>3 FTE</a:t>
            </a:r>
          </a:p>
        </p:txBody>
      </p:sp>
      <p:sp>
        <p:nvSpPr>
          <p:cNvPr id="8" name="TextBox 7"/>
          <p:cNvSpPr txBox="1"/>
          <p:nvPr/>
        </p:nvSpPr>
        <p:spPr>
          <a:xfrm>
            <a:off x="3200400" y="1847088"/>
            <a:ext cx="8321040" cy="786384"/>
          </a:xfrm>
          <a:prstGeom prst="rect">
            <a:avLst/>
          </a:prstGeom>
          <a:noFill/>
        </p:spPr>
        <p:txBody>
          <a:bodyPr wrap="square" lIns="13716" rIns="13716" tIns="0" bIns="0">
            <a:spAutoFit/>
          </a:bodyPr>
          <a:lstStyle/>
          <a:p>
            <a:pPr>
              <a:spcBef>
                <a:spcPts val="0"/>
              </a:spcBef>
              <a:spcAft>
                <a:spcPts val="500"/>
              </a:spcAft>
              <a:defRPr sz="2000" b="0">
                <a:solidFill>
                  <a:srgbClr val="FFFFFF"/>
                </a:solidFill>
                <a:latin typeface="Arial"/>
              </a:defRPr>
            </a:pPr>
            <a:r>
              <a:t>3,0 млн ₽ / год — бюджет штатного труда; требует проверки рынка и начислений</a:t>
            </a:r>
          </a:p>
        </p:txBody>
      </p:sp>
      <p:graphicFrame>
        <p:nvGraphicFramePr>
          <p:cNvPr id="9" name="Table 8"/>
          <p:cNvGraphicFramePr>
            <a:graphicFrameLocks noGrp="1"/>
          </p:cNvGraphicFramePr>
          <p:nvPr/>
        </p:nvGraphicFramePr>
        <p:xfrm>
          <a:off x="502920" y="2761488"/>
          <a:ext cx="11183112" cy="1746504"/>
        </p:xfrm>
        <a:graphic>
          <a:graphicData uri="http://schemas.openxmlformats.org/drawingml/2006/table">
            <a:tbl>
              <a:tblPr firstRow="1" bandRow="1">
                <a:tableStyleId>{5C22544A-7EE6-4342-B048-85BDC9FD1C3A}</a:tableStyleId>
              </a:tblPr>
              <a:tblGrid>
                <a:gridCol w="3931920"/>
                <a:gridCol w="7251192"/>
              </a:tblGrid>
              <a:tr h="436626">
                <a:tc>
                  <a:txBody>
                    <a:bodyPr/>
                    <a:lstStyle/>
                    <a:p>
                      <a:pPr>
                        <a:spcAft>
                          <a:spcPts val="0"/>
                        </a:spcAft>
                        <a:defRPr sz="1800" b="1">
                          <a:solidFill>
                            <a:srgbClr val="FFFFFF"/>
                          </a:solidFill>
                          <a:latin typeface="Arial"/>
                        </a:defRPr>
                      </a:pPr>
                      <a:r>
                        <a:t>Штатная роль</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Функции</a:t>
                      </a:r>
                    </a:p>
                  </a:txBody>
                  <a:tcPr marL="91440" marR="91440" marT="45720" marB="45720">
                    <a:solidFill>
                      <a:srgbClr val="164C38"/>
                    </a:solidFill>
                  </a:tcPr>
                </a:tc>
              </a:tr>
              <a:tr h="436626">
                <a:tc>
                  <a:txBody>
                    <a:bodyPr/>
                    <a:lstStyle/>
                    <a:p>
                      <a:pPr>
                        <a:spcAft>
                          <a:spcPts val="0"/>
                        </a:spcAft>
                        <a:defRPr sz="18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Продажи, договоры, деньги и партнеры</a:t>
                      </a:r>
                    </a:p>
                  </a:txBody>
                  <a:tcPr marL="91440" marR="91440" marT="45720" marB="45720">
                    <a:solidFill>
                      <a:srgbClr val="FFFFFF"/>
                    </a:solidFill>
                  </a:tcPr>
                </a:tc>
              </a:tr>
              <a:tr h="436626">
                <a:tc>
                  <a:txBody>
                    <a:bodyPr/>
                    <a:lstStyle/>
                    <a:p>
                      <a:pPr>
                        <a:spcAft>
                          <a:spcPts val="0"/>
                        </a:spcAft>
                        <a:defRPr sz="1800" b="0">
                          <a:solidFill>
                            <a:srgbClr val="092A20"/>
                          </a:solidFill>
                          <a:latin typeface="Arial"/>
                        </a:defRPr>
                      </a:pPr>
                      <a:r>
                        <a:t>Оператор / операционный руководитель</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Календарь, техника, безопасность и наставник</a:t>
                      </a:r>
                    </a:p>
                  </a:txBody>
                  <a:tcPr marL="91440" marR="91440" marT="45720" marB="45720">
                    <a:solidFill>
                      <a:srgbClr val="EFF4EF"/>
                    </a:solidFill>
                  </a:tcPr>
                </a:tc>
              </a:tr>
              <a:tr h="436626">
                <a:tc>
                  <a:txBody>
                    <a:bodyPr/>
                    <a:lstStyle/>
                    <a:p>
                      <a:pPr>
                        <a:spcAft>
                          <a:spcPts val="0"/>
                        </a:spcAft>
                        <a:defRPr sz="1800" b="0">
                          <a:solidFill>
                            <a:srgbClr val="092A20"/>
                          </a:solidFill>
                          <a:latin typeface="Arial"/>
                        </a:defRPr>
                      </a:pPr>
                      <a:r>
                        <a:t>Второй оператор / помощник</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Подготовка; мониторинг в отдельных окнах</a:t>
                      </a:r>
                    </a:p>
                  </a:txBody>
                  <a:tcPr marL="91440" marR="91440" marT="45720" marB="45720">
                    <a:solidFill>
                      <a:srgbClr val="FFFFFF"/>
                    </a:solidFill>
                  </a:tcPr>
                </a:tc>
              </a:tr>
            </a:tbl>
          </a:graphicData>
        </a:graphic>
      </p:graphicFrame>
      <p:sp>
        <p:nvSpPr>
          <p:cNvPr id="10" name="TextBox 9"/>
          <p:cNvSpPr txBox="1"/>
          <p:nvPr/>
        </p:nvSpPr>
        <p:spPr>
          <a:xfrm>
            <a:off x="594360" y="4709160"/>
            <a:ext cx="10972800" cy="54864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Вне штата: агроном, юрист, бухгалтер и учебный партнер — оплачиваемые услуги.</a:t>
            </a:r>
          </a:p>
        </p:txBody>
      </p:sp>
      <p:sp>
        <p:nvSpPr>
          <p:cNvPr id="11" name="Rounded Rectangle 10"/>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После СВО: добровольный отбор → гражданское обучение → наставник → проверка компетенций</a:t>
            </a:r>
          </a:p>
        </p:txBody>
      </p:sp>
      <p:sp>
        <p:nvSpPr>
          <p:cNvPr id="13" name="TextBox 12"/>
          <p:cNvSpPr txBox="1"/>
          <p:nvPr/>
        </p:nvSpPr>
        <p:spPr>
          <a:xfrm>
            <a:off x="594360" y="6080760"/>
            <a:ext cx="10972800" cy="356616"/>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Одинаковые требования для всех; опыт не дает автоматического допуска. Личные данные — конфиденциально.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WBS / иерархическая структура работ</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WBS из data/project_plan.csv; каждый пакет имеет результат</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13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1 / Проверка модели</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1.1 A — правовая карта</a:t>
            </a:r>
          </a:p>
          <a:p>
            <a:pPr>
              <a:spcBef>
                <a:spcPts val="0"/>
              </a:spcBef>
              <a:spcAft>
                <a:spcPts val="500"/>
              </a:spcAft>
              <a:defRPr sz="1700" b="0">
                <a:solidFill>
                  <a:srgbClr val="092A20"/>
                </a:solidFill>
                <a:latin typeface="Arial"/>
              </a:defRPr>
            </a:pPr>
            <a:r>
              <a:t>1.2 B — интервью и заявки</a:t>
            </a:r>
          </a:p>
          <a:p>
            <a:pPr>
              <a:spcBef>
                <a:spcPts val="0"/>
              </a:spcBef>
              <a:spcAft>
                <a:spcPts val="500"/>
              </a:spcAft>
              <a:defRPr sz="1700" b="0">
                <a:solidFill>
                  <a:srgbClr val="092A20"/>
                </a:solidFill>
                <a:latin typeface="Arial"/>
              </a:defRPr>
            </a:pPr>
            <a:r>
              <a:t>1.3 C — ООО и договоры</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2 / Ресурсы</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2.1 D — инвестиционное решение</a:t>
            </a:r>
          </a:p>
          <a:p>
            <a:pPr>
              <a:spcBef>
                <a:spcPts val="0"/>
              </a:spcBef>
              <a:spcAft>
                <a:spcPts val="500"/>
              </a:spcAft>
              <a:defRPr sz="1700" b="0">
                <a:solidFill>
                  <a:srgbClr val="092A20"/>
                </a:solidFill>
                <a:latin typeface="Arial"/>
              </a:defRPr>
            </a:pPr>
            <a:r>
              <a:t>2.2 E — приемка техники</a:t>
            </a:r>
          </a:p>
          <a:p>
            <a:pPr>
              <a:spcBef>
                <a:spcPts val="0"/>
              </a:spcBef>
              <a:spcAft>
                <a:spcPts val="500"/>
              </a:spcAft>
              <a:defRPr sz="1700" b="0">
                <a:solidFill>
                  <a:srgbClr val="092A20"/>
                </a:solidFill>
                <a:latin typeface="Arial"/>
              </a:defRPr>
            </a:pPr>
            <a:r>
              <a:t>2.3 F — обучение</a:t>
            </a:r>
          </a:p>
          <a:p>
            <a:pPr>
              <a:spcBef>
                <a:spcPts val="0"/>
              </a:spcBef>
              <a:spcAft>
                <a:spcPts val="500"/>
              </a:spcAft>
              <a:defRPr sz="1700" b="0">
                <a:solidFill>
                  <a:srgbClr val="092A20"/>
                </a:solidFill>
                <a:latin typeface="Arial"/>
              </a:defRPr>
            </a:pPr>
            <a:r>
              <a:t>2.4 G — готовность БВС</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3 / Предсезонная готовность</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3.1 H — SOP, CRM, карты</a:t>
            </a:r>
          </a:p>
          <a:p>
            <a:pPr>
              <a:spcBef>
                <a:spcPts val="0"/>
              </a:spcBef>
              <a:spcAft>
                <a:spcPts val="500"/>
              </a:spcAft>
              <a:defRPr sz="1700" b="0">
                <a:solidFill>
                  <a:srgbClr val="092A20"/>
                </a:solidFill>
                <a:latin typeface="Arial"/>
              </a:defRPr>
            </a:pPr>
            <a:r>
              <a:t>3.2 I — приемочные испытания</a:t>
            </a:r>
          </a:p>
          <a:p>
            <a:pPr>
              <a:spcBef>
                <a:spcPts val="0"/>
              </a:spcBef>
              <a:spcAft>
                <a:spcPts val="500"/>
              </a:spcAft>
              <a:defRPr sz="1700" b="0">
                <a:solidFill>
                  <a:srgbClr val="092A20"/>
                </a:solidFill>
                <a:latin typeface="Arial"/>
              </a:defRPr>
            </a:pPr>
            <a:r>
              <a:t>3.3 J — договоры сезона</a:t>
            </a:r>
          </a:p>
          <a:p>
            <a:pPr>
              <a:spcBef>
                <a:spcPts val="0"/>
              </a:spcBef>
              <a:spcAft>
                <a:spcPts val="500"/>
              </a:spcAft>
              <a:defRPr sz="1700" b="0">
                <a:solidFill>
                  <a:srgbClr val="092A20"/>
                </a:solidFill>
                <a:latin typeface="Arial"/>
              </a:defRPr>
            </a:pPr>
            <a:r>
              <a:t>3.4 M — ожидание окна</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4 / Исполнение и контроль</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4.1 K — коммерческий сезон</a:t>
            </a:r>
          </a:p>
          <a:p>
            <a:pPr>
              <a:spcBef>
                <a:spcPts val="0"/>
              </a:spcBef>
              <a:spcAft>
                <a:spcPts val="500"/>
              </a:spcAft>
              <a:defRPr sz="1700" b="0">
                <a:solidFill>
                  <a:srgbClr val="092A20"/>
                </a:solidFill>
                <a:latin typeface="Arial"/>
              </a:defRPr>
            </a:pPr>
            <a:r>
              <a:t>4.2 L — аудит и решение</a:t>
            </a:r>
          </a:p>
        </p:txBody>
      </p:sp>
      <p:sp>
        <p:nvSpPr>
          <p:cNvPr id="23" name="TextBox 22"/>
          <p:cNvSpPr txBox="1"/>
          <p:nvPr/>
        </p:nvSpPr>
        <p:spPr>
          <a:xfrm>
            <a:off x="594360" y="5925312"/>
            <a:ext cx="10972800" cy="47548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Закупка ≠ разрешение на работы. Полевой пилот 100 га включен в апрельский сезон, не прибавлен сверху.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Диаграмма Ганта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Гант из CSV  •  [ДОПУЩЕНИЕ] Даты и длительности — план, не выданные разрешения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14 / 22</a:t>
            </a:r>
          </a:p>
        </p:txBody>
      </p:sp>
      <p:sp>
        <p:nvSpPr>
          <p:cNvPr id="7" name="Rounded Rectangle 6"/>
          <p:cNvSpPr/>
          <p:nvPr/>
        </p:nvSpPr>
        <p:spPr>
          <a:xfrm>
            <a:off x="502920" y="1700784"/>
            <a:ext cx="11183112" cy="4160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7647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0</a:t>
            </a:r>
          </a:p>
        </p:txBody>
      </p:sp>
      <p:sp>
        <p:nvSpPr>
          <p:cNvPr id="10" name="Rectangle 9"/>
          <p:cNvSpPr/>
          <p:nvPr/>
        </p:nvSpPr>
        <p:spPr>
          <a:xfrm>
            <a:off x="4453959"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16799"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a:t>
            </a:r>
          </a:p>
        </p:txBody>
      </p:sp>
      <p:sp>
        <p:nvSpPr>
          <p:cNvPr id="12" name="Rectangle 11"/>
          <p:cNvSpPr/>
          <p:nvPr/>
        </p:nvSpPr>
        <p:spPr>
          <a:xfrm>
            <a:off x="513144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9428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10</a:t>
            </a:r>
          </a:p>
        </p:txBody>
      </p:sp>
      <p:sp>
        <p:nvSpPr>
          <p:cNvPr id="14" name="Rectangle 13"/>
          <p:cNvSpPr/>
          <p:nvPr/>
        </p:nvSpPr>
        <p:spPr>
          <a:xfrm>
            <a:off x="5808933"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71773"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15</a:t>
            </a:r>
          </a:p>
        </p:txBody>
      </p:sp>
      <p:sp>
        <p:nvSpPr>
          <p:cNvPr id="16" name="Rectangle 15"/>
          <p:cNvSpPr/>
          <p:nvPr/>
        </p:nvSpPr>
        <p:spPr>
          <a:xfrm>
            <a:off x="648642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26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20</a:t>
            </a:r>
          </a:p>
        </p:txBody>
      </p:sp>
      <p:sp>
        <p:nvSpPr>
          <p:cNvPr id="18" name="Rectangle 17"/>
          <p:cNvSpPr/>
          <p:nvPr/>
        </p:nvSpPr>
        <p:spPr>
          <a:xfrm>
            <a:off x="7163908"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6748"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25</a:t>
            </a:r>
          </a:p>
        </p:txBody>
      </p:sp>
      <p:sp>
        <p:nvSpPr>
          <p:cNvPr id="20" name="Rectangle 19"/>
          <p:cNvSpPr/>
          <p:nvPr/>
        </p:nvSpPr>
        <p:spPr>
          <a:xfrm>
            <a:off x="7841395"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04235"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30</a:t>
            </a:r>
          </a:p>
        </p:txBody>
      </p:sp>
      <p:sp>
        <p:nvSpPr>
          <p:cNvPr id="22" name="Rectangle 21"/>
          <p:cNvSpPr/>
          <p:nvPr/>
        </p:nvSpPr>
        <p:spPr>
          <a:xfrm>
            <a:off x="851888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172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35</a:t>
            </a:r>
          </a:p>
        </p:txBody>
      </p:sp>
      <p:sp>
        <p:nvSpPr>
          <p:cNvPr id="24" name="Rectangle 23"/>
          <p:cNvSpPr/>
          <p:nvPr/>
        </p:nvSpPr>
        <p:spPr>
          <a:xfrm>
            <a:off x="9196370"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9210"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40</a:t>
            </a:r>
          </a:p>
        </p:txBody>
      </p:sp>
      <p:sp>
        <p:nvSpPr>
          <p:cNvPr id="26" name="Rectangle 25"/>
          <p:cNvSpPr/>
          <p:nvPr/>
        </p:nvSpPr>
        <p:spPr>
          <a:xfrm>
            <a:off x="9873857"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36697"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45</a:t>
            </a:r>
          </a:p>
        </p:txBody>
      </p:sp>
      <p:sp>
        <p:nvSpPr>
          <p:cNvPr id="28" name="Rectangle 27"/>
          <p:cNvSpPr/>
          <p:nvPr/>
        </p:nvSpPr>
        <p:spPr>
          <a:xfrm>
            <a:off x="10551344"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4184"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50</a:t>
            </a:r>
          </a:p>
        </p:txBody>
      </p:sp>
      <p:sp>
        <p:nvSpPr>
          <p:cNvPr id="30" name="Rectangle 29"/>
          <p:cNvSpPr/>
          <p:nvPr/>
        </p:nvSpPr>
        <p:spPr>
          <a:xfrm>
            <a:off x="1122883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09167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55</a:t>
            </a:r>
          </a:p>
        </p:txBody>
      </p:sp>
      <p:sp>
        <p:nvSpPr>
          <p:cNvPr id="32" name="TextBox 31"/>
          <p:cNvSpPr txBox="1"/>
          <p:nvPr/>
        </p:nvSpPr>
        <p:spPr>
          <a:xfrm>
            <a:off x="640080" y="196596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A  Правовой gate</a:t>
            </a:r>
          </a:p>
        </p:txBody>
      </p:sp>
      <p:sp>
        <p:nvSpPr>
          <p:cNvPr id="33" name="Rounded Rectangle 32"/>
          <p:cNvSpPr/>
          <p:nvPr/>
        </p:nvSpPr>
        <p:spPr>
          <a:xfrm>
            <a:off x="3776472" y="2007107"/>
            <a:ext cx="54198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23113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B  Спрос / заявки</a:t>
            </a:r>
          </a:p>
        </p:txBody>
      </p:sp>
      <p:sp>
        <p:nvSpPr>
          <p:cNvPr id="35" name="Rounded Rectangle 34"/>
          <p:cNvSpPr/>
          <p:nvPr/>
        </p:nvSpPr>
        <p:spPr>
          <a:xfrm>
            <a:off x="3776472" y="2272284"/>
            <a:ext cx="677487"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2496312"/>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C  ООО и договоры</a:t>
            </a:r>
          </a:p>
        </p:txBody>
      </p:sp>
      <p:sp>
        <p:nvSpPr>
          <p:cNvPr id="37" name="Rounded Rectangle 36"/>
          <p:cNvSpPr/>
          <p:nvPr/>
        </p:nvSpPr>
        <p:spPr>
          <a:xfrm>
            <a:off x="4318461" y="2537460"/>
            <a:ext cx="406492"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2761487"/>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D  Финансирование</a:t>
            </a:r>
          </a:p>
        </p:txBody>
      </p:sp>
      <p:sp>
        <p:nvSpPr>
          <p:cNvPr id="39" name="Rounded Rectangle 38"/>
          <p:cNvSpPr/>
          <p:nvPr/>
        </p:nvSpPr>
        <p:spPr>
          <a:xfrm>
            <a:off x="4724954" y="2802635"/>
            <a:ext cx="13549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026663"/>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E  Закупка</a:t>
            </a:r>
          </a:p>
        </p:txBody>
      </p:sp>
      <p:sp>
        <p:nvSpPr>
          <p:cNvPr id="41" name="Rounded Rectangle 40"/>
          <p:cNvSpPr/>
          <p:nvPr/>
        </p:nvSpPr>
        <p:spPr>
          <a:xfrm>
            <a:off x="4860451" y="3067811"/>
            <a:ext cx="67748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291839"/>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F  Обучение</a:t>
            </a:r>
          </a:p>
        </p:txBody>
      </p:sp>
      <p:sp>
        <p:nvSpPr>
          <p:cNvPr id="43" name="Rounded Rectangle 42"/>
          <p:cNvSpPr/>
          <p:nvPr/>
        </p:nvSpPr>
        <p:spPr>
          <a:xfrm>
            <a:off x="4860451" y="3332987"/>
            <a:ext cx="812984"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3557015"/>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G  Готовность БВС</a:t>
            </a:r>
          </a:p>
        </p:txBody>
      </p:sp>
      <p:sp>
        <p:nvSpPr>
          <p:cNvPr id="45" name="Rounded Rectangle 44"/>
          <p:cNvSpPr/>
          <p:nvPr/>
        </p:nvSpPr>
        <p:spPr>
          <a:xfrm>
            <a:off x="5537938" y="3598163"/>
            <a:ext cx="81298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382219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H  SOP / CRM</a:t>
            </a:r>
          </a:p>
        </p:txBody>
      </p:sp>
      <p:sp>
        <p:nvSpPr>
          <p:cNvPr id="47" name="Rounded Rectangle 46"/>
          <p:cNvSpPr/>
          <p:nvPr/>
        </p:nvSpPr>
        <p:spPr>
          <a:xfrm>
            <a:off x="5673436" y="3863339"/>
            <a:ext cx="406492"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087368"/>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I  Испытания</a:t>
            </a:r>
          </a:p>
        </p:txBody>
      </p:sp>
      <p:sp>
        <p:nvSpPr>
          <p:cNvPr id="49" name="Rounded Rectangle 48"/>
          <p:cNvSpPr/>
          <p:nvPr/>
        </p:nvSpPr>
        <p:spPr>
          <a:xfrm>
            <a:off x="6350923" y="4128515"/>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352544"/>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J  Договоры сезона</a:t>
            </a:r>
          </a:p>
        </p:txBody>
      </p:sp>
      <p:sp>
        <p:nvSpPr>
          <p:cNvPr id="51" name="Rounded Rectangle 50"/>
          <p:cNvSpPr/>
          <p:nvPr/>
        </p:nvSpPr>
        <p:spPr>
          <a:xfrm>
            <a:off x="6621918" y="4393692"/>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61772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M  Ожидание окна</a:t>
            </a:r>
          </a:p>
        </p:txBody>
      </p:sp>
      <p:sp>
        <p:nvSpPr>
          <p:cNvPr id="53" name="Rounded Rectangle 52"/>
          <p:cNvSpPr/>
          <p:nvPr/>
        </p:nvSpPr>
        <p:spPr>
          <a:xfrm>
            <a:off x="6892913" y="4658868"/>
            <a:ext cx="1083979"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488289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K  Сезон</a:t>
            </a:r>
          </a:p>
        </p:txBody>
      </p:sp>
      <p:sp>
        <p:nvSpPr>
          <p:cNvPr id="55" name="Rounded Rectangle 54"/>
          <p:cNvSpPr/>
          <p:nvPr/>
        </p:nvSpPr>
        <p:spPr>
          <a:xfrm>
            <a:off x="7976893" y="4924044"/>
            <a:ext cx="298094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514807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L  Аудит</a:t>
            </a:r>
          </a:p>
        </p:txBody>
      </p:sp>
      <p:sp>
        <p:nvSpPr>
          <p:cNvPr id="57" name="Rounded Rectangle 56"/>
          <p:cNvSpPr/>
          <p:nvPr/>
        </p:nvSpPr>
        <p:spPr>
          <a:xfrm>
            <a:off x="10957837" y="5189219"/>
            <a:ext cx="27099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080" y="5522976"/>
            <a:ext cx="10698480" cy="301752"/>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Недели от 2026-09-07  •  Конец 2027-09-26  •  Темный = критический путь</a:t>
            </a:r>
          </a:p>
        </p:txBody>
      </p:sp>
      <p:sp>
        <p:nvSpPr>
          <p:cNvPr id="59" name="TextBox 58"/>
          <p:cNvSpPr txBox="1"/>
          <p:nvPr/>
        </p:nvSpPr>
        <p:spPr>
          <a:xfrm>
            <a:off x="594360" y="6025896"/>
            <a:ext cx="10972800" cy="411480"/>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Сезон K: 2027-04-12 — 2027-09-12; пакет M: 8 недель ожидания окна.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Сетевой график</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Сеть finish-to-start из CSV; длительности — календарные недели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15 / 22</a:t>
            </a:r>
          </a:p>
        </p:txBody>
      </p:sp>
      <p:cxnSp>
        <p:nvCxnSpPr>
          <p:cNvPr id="7" name="Connector 6"/>
          <p:cNvCxnSpPr/>
          <p:nvPr/>
        </p:nvCxnSpPr>
        <p:spPr>
          <a:xfrm>
            <a:off x="1472184" y="2770632"/>
            <a:ext cx="210311"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72184" y="2770632"/>
            <a:ext cx="1298448"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6032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4845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48456"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3659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36592"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36592" y="437083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24728"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24728"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12864"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0100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8913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17727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A</a:t>
            </a:r>
          </a:p>
        </p:txBody>
      </p:sp>
      <p:sp>
        <p:nvSpPr>
          <p:cNvPr id="23" name="TextBox 22"/>
          <p:cNvSpPr txBox="1"/>
          <p:nvPr/>
        </p:nvSpPr>
        <p:spPr>
          <a:xfrm>
            <a:off x="65836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4 нед.</a:t>
            </a:r>
          </a:p>
        </p:txBody>
      </p:sp>
      <p:sp>
        <p:nvSpPr>
          <p:cNvPr id="24" name="Rounded Rectangle 23"/>
          <p:cNvSpPr/>
          <p:nvPr/>
        </p:nvSpPr>
        <p:spPr>
          <a:xfrm>
            <a:off x="594360"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B</a:t>
            </a:r>
          </a:p>
        </p:txBody>
      </p:sp>
      <p:sp>
        <p:nvSpPr>
          <p:cNvPr id="26" name="TextBox 25"/>
          <p:cNvSpPr txBox="1"/>
          <p:nvPr/>
        </p:nvSpPr>
        <p:spPr>
          <a:xfrm>
            <a:off x="658368"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27" name="Rounded Rectangle 26"/>
          <p:cNvSpPr/>
          <p:nvPr/>
        </p:nvSpPr>
        <p:spPr>
          <a:xfrm>
            <a:off x="1682495"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479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C</a:t>
            </a:r>
          </a:p>
        </p:txBody>
      </p:sp>
      <p:sp>
        <p:nvSpPr>
          <p:cNvPr id="29" name="TextBox 28"/>
          <p:cNvSpPr txBox="1"/>
          <p:nvPr/>
        </p:nvSpPr>
        <p:spPr>
          <a:xfrm>
            <a:off x="174650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30" name="Rounded Rectangle 29"/>
          <p:cNvSpPr/>
          <p:nvPr/>
        </p:nvSpPr>
        <p:spPr>
          <a:xfrm>
            <a:off x="277063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7"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D</a:t>
            </a:r>
          </a:p>
        </p:txBody>
      </p:sp>
      <p:sp>
        <p:nvSpPr>
          <p:cNvPr id="32" name="TextBox 31"/>
          <p:cNvSpPr txBox="1"/>
          <p:nvPr/>
        </p:nvSpPr>
        <p:spPr>
          <a:xfrm>
            <a:off x="2834639"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1 нед.</a:t>
            </a:r>
          </a:p>
        </p:txBody>
      </p:sp>
      <p:sp>
        <p:nvSpPr>
          <p:cNvPr id="33" name="Rounded Rectangle 32"/>
          <p:cNvSpPr/>
          <p:nvPr/>
        </p:nvSpPr>
        <p:spPr>
          <a:xfrm>
            <a:off x="385876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E</a:t>
            </a:r>
          </a:p>
        </p:txBody>
      </p:sp>
      <p:sp>
        <p:nvSpPr>
          <p:cNvPr id="35" name="TextBox 34"/>
          <p:cNvSpPr txBox="1"/>
          <p:nvPr/>
        </p:nvSpPr>
        <p:spPr>
          <a:xfrm>
            <a:off x="392277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36" name="Rounded Rectangle 35"/>
          <p:cNvSpPr/>
          <p:nvPr/>
        </p:nvSpPr>
        <p:spPr>
          <a:xfrm>
            <a:off x="3858768"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41063"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F</a:t>
            </a:r>
          </a:p>
        </p:txBody>
      </p:sp>
      <p:sp>
        <p:nvSpPr>
          <p:cNvPr id="38" name="TextBox 37"/>
          <p:cNvSpPr txBox="1"/>
          <p:nvPr/>
        </p:nvSpPr>
        <p:spPr>
          <a:xfrm>
            <a:off x="3922776"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39" name="Rounded Rectangle 38"/>
          <p:cNvSpPr/>
          <p:nvPr/>
        </p:nvSpPr>
        <p:spPr>
          <a:xfrm>
            <a:off x="494690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G</a:t>
            </a:r>
          </a:p>
        </p:txBody>
      </p:sp>
      <p:sp>
        <p:nvSpPr>
          <p:cNvPr id="41" name="TextBox 40"/>
          <p:cNvSpPr txBox="1"/>
          <p:nvPr/>
        </p:nvSpPr>
        <p:spPr>
          <a:xfrm>
            <a:off x="501091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42" name="Rounded Rectangle 41"/>
          <p:cNvSpPr/>
          <p:nvPr/>
        </p:nvSpPr>
        <p:spPr>
          <a:xfrm>
            <a:off x="4946904"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H</a:t>
            </a:r>
          </a:p>
        </p:txBody>
      </p:sp>
      <p:sp>
        <p:nvSpPr>
          <p:cNvPr id="44" name="TextBox 43"/>
          <p:cNvSpPr txBox="1"/>
          <p:nvPr/>
        </p:nvSpPr>
        <p:spPr>
          <a:xfrm>
            <a:off x="5010912"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45" name="Rounded Rectangle 44"/>
          <p:cNvSpPr/>
          <p:nvPr/>
        </p:nvSpPr>
        <p:spPr>
          <a:xfrm>
            <a:off x="603504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733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I</a:t>
            </a:r>
          </a:p>
        </p:txBody>
      </p:sp>
      <p:sp>
        <p:nvSpPr>
          <p:cNvPr id="47" name="TextBox 46"/>
          <p:cNvSpPr txBox="1"/>
          <p:nvPr/>
        </p:nvSpPr>
        <p:spPr>
          <a:xfrm>
            <a:off x="609904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48" name="Rounded Rectangle 47"/>
          <p:cNvSpPr/>
          <p:nvPr/>
        </p:nvSpPr>
        <p:spPr>
          <a:xfrm>
            <a:off x="7123176"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0547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J</a:t>
            </a:r>
          </a:p>
        </p:txBody>
      </p:sp>
      <p:sp>
        <p:nvSpPr>
          <p:cNvPr id="50" name="TextBox 49"/>
          <p:cNvSpPr txBox="1"/>
          <p:nvPr/>
        </p:nvSpPr>
        <p:spPr>
          <a:xfrm>
            <a:off x="718718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51" name="Rounded Rectangle 50"/>
          <p:cNvSpPr/>
          <p:nvPr/>
        </p:nvSpPr>
        <p:spPr>
          <a:xfrm>
            <a:off x="821131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93608"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M</a:t>
            </a:r>
          </a:p>
        </p:txBody>
      </p:sp>
      <p:sp>
        <p:nvSpPr>
          <p:cNvPr id="53" name="TextBox 52"/>
          <p:cNvSpPr txBox="1"/>
          <p:nvPr/>
        </p:nvSpPr>
        <p:spPr>
          <a:xfrm>
            <a:off x="8275320"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8 нед.</a:t>
            </a:r>
          </a:p>
        </p:txBody>
      </p:sp>
      <p:sp>
        <p:nvSpPr>
          <p:cNvPr id="54" name="Rounded Rectangle 53"/>
          <p:cNvSpPr/>
          <p:nvPr/>
        </p:nvSpPr>
        <p:spPr>
          <a:xfrm>
            <a:off x="929944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81744"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K</a:t>
            </a:r>
          </a:p>
        </p:txBody>
      </p:sp>
      <p:sp>
        <p:nvSpPr>
          <p:cNvPr id="56" name="TextBox 55"/>
          <p:cNvSpPr txBox="1"/>
          <p:nvPr/>
        </p:nvSpPr>
        <p:spPr>
          <a:xfrm>
            <a:off x="936345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22 нед.</a:t>
            </a:r>
          </a:p>
        </p:txBody>
      </p:sp>
      <p:sp>
        <p:nvSpPr>
          <p:cNvPr id="57" name="Rounded Rectangle 56"/>
          <p:cNvSpPr/>
          <p:nvPr/>
        </p:nvSpPr>
        <p:spPr>
          <a:xfrm>
            <a:off x="1038758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L</a:t>
            </a:r>
          </a:p>
        </p:txBody>
      </p:sp>
      <p:sp>
        <p:nvSpPr>
          <p:cNvPr id="59" name="TextBox 58"/>
          <p:cNvSpPr txBox="1"/>
          <p:nvPr/>
        </p:nvSpPr>
        <p:spPr>
          <a:xfrm>
            <a:off x="1045159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60" name="TextBox 59"/>
          <p:cNvSpPr txBox="1"/>
          <p:nvPr/>
        </p:nvSpPr>
        <p:spPr>
          <a:xfrm>
            <a:off x="594360" y="5138928"/>
            <a:ext cx="10972800" cy="402336"/>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Критический путь: A → C → D → E → G → I → J → M → K → L</a:t>
            </a:r>
          </a:p>
        </p:txBody>
      </p:sp>
      <p:sp>
        <p:nvSpPr>
          <p:cNvPr id="61" name="Rounded Rectangle 6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55 недель от проверки до аудита; M — явная работа ожидания, не свободный резерв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Матрица ответственности RACI</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R — выполняет; A — принимает; C — консультирует; I — информируется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2395728"/>
                <a:gridCol w="1828800"/>
                <a:gridCol w="1737360"/>
                <a:gridCol w="3410712"/>
                <a:gridCol w="1810512"/>
              </a:tblGrid>
              <a:tr h="303711">
                <a:tc>
                  <a:txBody>
                    <a:bodyPr/>
                    <a:lstStyle/>
                    <a:p>
                      <a:pPr>
                        <a:spcAft>
                          <a:spcPts val="0"/>
                        </a:spcAft>
                        <a:defRPr sz="1200" b="1">
                          <a:solidFill>
                            <a:srgbClr val="FFFFFF"/>
                          </a:solidFill>
                          <a:latin typeface="Arial"/>
                        </a:defRPr>
                      </a:pPr>
                      <a:r>
                        <a:t>Работа</a:t>
                      </a:r>
                    </a:p>
                  </a:txBody>
                  <a:tcPr marL="91440" marR="91440" marT="45720" marB="45720">
                    <a:solidFill>
                      <a:srgbClr val="164C38"/>
                    </a:solidFill>
                  </a:tcPr>
                </a:tc>
                <a:tc>
                  <a:txBody>
                    <a:bodyPr/>
                    <a:lstStyle/>
                    <a:p>
                      <a:pPr>
                        <a:spcAft>
                          <a:spcPts val="0"/>
                        </a:spcAft>
                        <a:defRPr sz="1200" b="1">
                          <a:solidFill>
                            <a:srgbClr val="FFFFFF"/>
                          </a:solidFill>
                          <a:latin typeface="Arial"/>
                        </a:defRPr>
                      </a:pPr>
                      <a:r>
                        <a:t>R</a:t>
                      </a:r>
                    </a:p>
                  </a:txBody>
                  <a:tcPr marL="91440" marR="91440" marT="45720" marB="45720">
                    <a:solidFill>
                      <a:srgbClr val="164C38"/>
                    </a:solidFill>
                  </a:tcPr>
                </a:tc>
                <a:tc>
                  <a:txBody>
                    <a:bodyPr/>
                    <a:lstStyle/>
                    <a:p>
                      <a:pPr>
                        <a:spcAft>
                          <a:spcPts val="0"/>
                        </a:spcAft>
                        <a:defRPr sz="1200" b="1">
                          <a:solidFill>
                            <a:srgbClr val="FFFFFF"/>
                          </a:solidFill>
                          <a:latin typeface="Arial"/>
                        </a:defRPr>
                      </a:pPr>
                      <a:r>
                        <a:t>A</a:t>
                      </a:r>
                    </a:p>
                  </a:txBody>
                  <a:tcPr marL="91440" marR="91440" marT="45720" marB="45720">
                    <a:solidFill>
                      <a:srgbClr val="164C38"/>
                    </a:solidFill>
                  </a:tcPr>
                </a:tc>
                <a:tc>
                  <a:txBody>
                    <a:bodyPr/>
                    <a:lstStyle/>
                    <a:p>
                      <a:pPr>
                        <a:spcAft>
                          <a:spcPts val="0"/>
                        </a:spcAft>
                        <a:defRPr sz="1200" b="1">
                          <a:solidFill>
                            <a:srgbClr val="FFFFFF"/>
                          </a:solidFill>
                          <a:latin typeface="Arial"/>
                        </a:defRPr>
                      </a:pPr>
                      <a:r>
                        <a:t>C</a:t>
                      </a:r>
                    </a:p>
                  </a:txBody>
                  <a:tcPr marL="91440" marR="91440" marT="45720" marB="45720">
                    <a:solidFill>
                      <a:srgbClr val="164C38"/>
                    </a:solidFill>
                  </a:tcPr>
                </a:tc>
                <a:tc>
                  <a:txBody>
                    <a:bodyPr/>
                    <a:lstStyle/>
                    <a:p>
                      <a:pPr>
                        <a:spcAft>
                          <a:spcPts val="0"/>
                        </a:spcAft>
                        <a:defRPr sz="1200" b="1">
                          <a:solidFill>
                            <a:srgbClr val="FFFFFF"/>
                          </a:solidFill>
                          <a:latin typeface="Arial"/>
                        </a:defRPr>
                      </a:pPr>
                      <a:r>
                        <a:t>I</a:t>
                      </a:r>
                    </a:p>
                  </a:txBody>
                  <a:tcPr marL="91440" marR="91440" marT="45720" marB="45720">
                    <a:solidFill>
                      <a:srgbClr val="164C38"/>
                    </a:solidFill>
                  </a:tcPr>
                </a:tc>
              </a:tr>
              <a:tr h="303711">
                <a:tc>
                  <a:txBody>
                    <a:bodyPr/>
                    <a:lstStyle/>
                    <a:p>
                      <a:pPr>
                        <a:spcAft>
                          <a:spcPts val="0"/>
                        </a:spcAft>
                        <a:defRPr sz="1200" b="0">
                          <a:solidFill>
                            <a:srgbClr val="092A20"/>
                          </a:solidFill>
                          <a:latin typeface="Arial"/>
                        </a:defRPr>
                      </a:pPr>
                      <a:r>
                        <a:t>A Правовой gate</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B Спрос / заявки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C ООО и договоры</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D Финансирование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 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Команда</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E Закупка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F Обучение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Учеб. партнер, 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G Готовность БВС</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Клиенты</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H SOP / CRM</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I Испытания</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J Договоры сезона</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M Ожидание окна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K Сезон</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r>
              <a:tr h="303717">
                <a:tc>
                  <a:txBody>
                    <a:bodyPr/>
                    <a:lstStyle/>
                    <a:p>
                      <a:pPr>
                        <a:spcAft>
                          <a:spcPts val="0"/>
                        </a:spcAft>
                        <a:defRPr sz="1200" b="0">
                          <a:solidFill>
                            <a:srgbClr val="092A20"/>
                          </a:solidFill>
                          <a:latin typeface="Arial"/>
                        </a:defRPr>
                      </a:pPr>
                      <a:r>
                        <a:t>L Аудит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bl>
          </a:graphicData>
        </a:graphic>
      </p:graphicFrame>
      <p:sp>
        <p:nvSpPr>
          <p:cNvPr id="8" name="TextBox 7"/>
          <p:cNvSpPr txBox="1"/>
          <p:nvPr/>
        </p:nvSpPr>
        <p:spPr>
          <a:xfrm>
            <a:off x="594360" y="6062472"/>
            <a:ext cx="10972800" cy="38404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Все 13 задач; один A в каждой строке. Продажи = директор; опер. рук. = один из двух операторов.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Финансовая модель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Базовый сценарий; млн ₽, выручка без НДС. Входные данные — допущения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17 / 22</a:t>
            </a:r>
          </a:p>
        </p:txBody>
      </p:sp>
      <p:sp>
        <p:nvSpPr>
          <p:cNvPr id="7" name="Rounded Rectangle 6"/>
          <p:cNvSpPr/>
          <p:nvPr/>
        </p:nvSpPr>
        <p:spPr>
          <a:xfrm>
            <a:off x="502920" y="1700784"/>
            <a:ext cx="6537960" cy="3758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0512"/>
          <a:ext cx="6263640" cy="3538728"/>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251192" y="1700784"/>
          <a:ext cx="4434840" cy="2798064"/>
        </p:xfrm>
        <a:graphic>
          <a:graphicData uri="http://schemas.openxmlformats.org/drawingml/2006/table">
            <a:tbl>
              <a:tblPr firstRow="1" bandRow="1">
                <a:tableStyleId>{5C22544A-7EE6-4342-B048-85BDC9FD1C3A}</a:tableStyleId>
              </a:tblPr>
              <a:tblGrid>
                <a:gridCol w="868680"/>
                <a:gridCol w="1188720"/>
                <a:gridCol w="1188720"/>
                <a:gridCol w="1188720"/>
              </a:tblGrid>
              <a:tr h="466344">
                <a:tc>
                  <a:txBody>
                    <a:bodyPr/>
                    <a:lstStyle/>
                    <a:p>
                      <a:pPr>
                        <a:spcAft>
                          <a:spcPts val="0"/>
                        </a:spcAft>
                        <a:defRPr sz="1500" b="1">
                          <a:solidFill>
                            <a:srgbClr val="FFFFFF"/>
                          </a:solidFill>
                          <a:latin typeface="Arial"/>
                        </a:defRPr>
                      </a:pPr>
                      <a:r>
                        <a:t>Год</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Выручка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EBITDA</a:t>
                      </a:r>
                    </a:p>
                  </a:txBody>
                  <a:tcPr marL="91440" marR="91440" marT="45720" marB="45720">
                    <a:solidFill>
                      <a:srgbClr val="164C38"/>
                    </a:solidFill>
                  </a:tcPr>
                </a:tc>
                <a:tc>
                  <a:txBody>
                    <a:bodyPr/>
                    <a:lstStyle/>
                    <a:p>
                      <a:pPr>
                        <a:spcAft>
                          <a:spcPts val="0"/>
                        </a:spcAft>
                        <a:defRPr sz="1500" b="1">
                          <a:solidFill>
                            <a:srgbClr val="FFFFFF"/>
                          </a:solidFill>
                          <a:latin typeface="Arial"/>
                        </a:defRPr>
                      </a:pPr>
                      <a:r>
                        <a:t>CF</a:t>
                      </a:r>
                    </a:p>
                  </a:txBody>
                  <a:tcPr marL="91440" marR="91440" marT="45720" marB="45720">
                    <a:solidFill>
                      <a:srgbClr val="164C38"/>
                    </a:solidFill>
                  </a:tcPr>
                </a:tc>
              </a:tr>
              <a:tr h="466344">
                <a:tc>
                  <a:txBody>
                    <a:bodyPr/>
                    <a:lstStyle/>
                    <a:p>
                      <a:pPr>
                        <a:spcAft>
                          <a:spcPts val="0"/>
                        </a:spcAft>
                        <a:defRPr sz="1500" b="0">
                          <a:solidFill>
                            <a:srgbClr val="092A20"/>
                          </a:solidFill>
                          <a:latin typeface="Arial"/>
                        </a:defRPr>
                      </a:pPr>
                      <a:r>
                        <a:t>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8,80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1,96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1,43</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2028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13,73</a:t>
                      </a:r>
                    </a:p>
                  </a:txBody>
                  <a:tcPr marL="91440" marR="91440" marT="45720" marB="45720">
                    <a:solidFill>
                      <a:srgbClr val="EFF4EF"/>
                    </a:solidFill>
                  </a:tcPr>
                </a:tc>
                <a:tc>
                  <a:txBody>
                    <a:bodyPr/>
                    <a:lstStyle/>
                    <a:p>
                      <a:pPr>
                        <a:spcAft>
                          <a:spcPts val="0"/>
                        </a:spcAft>
                        <a:defRPr sz="1500" b="0">
                          <a:solidFill>
                            <a:srgbClr val="092A20"/>
                          </a:solidFill>
                          <a:latin typeface="Arial"/>
                        </a:defRPr>
                      </a:pPr>
                      <a:r>
                        <a:t>5,16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4,04</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2029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17,63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7,62</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5,96</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2030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20,08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9,04</a:t>
                      </a:r>
                    </a:p>
                  </a:txBody>
                  <a:tcPr marL="91440" marR="91440" marT="45720" marB="45720">
                    <a:solidFill>
                      <a:srgbClr val="EFF4EF"/>
                    </a:solidFill>
                  </a:tcPr>
                </a:tc>
                <a:tc>
                  <a:txBody>
                    <a:bodyPr/>
                    <a:lstStyle/>
                    <a:p>
                      <a:pPr>
                        <a:spcAft>
                          <a:spcPts val="0"/>
                        </a:spcAft>
                        <a:defRPr sz="1500" b="0">
                          <a:solidFill>
                            <a:srgbClr val="092A20"/>
                          </a:solidFill>
                          <a:latin typeface="Arial"/>
                        </a:defRPr>
                      </a:pPr>
                      <a:r>
                        <a:t>6,93</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2031</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22,70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10,54</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10,58</a:t>
                      </a:r>
                    </a:p>
                  </a:txBody>
                  <a:tcPr marL="91440" marR="91440" marT="45720" marB="45720">
                    <a:solidFill>
                      <a:srgbClr val="FFFFFF"/>
                    </a:solidFill>
                  </a:tcPr>
                </a:tc>
              </a:tr>
            </a:tbl>
          </a:graphicData>
        </a:graphic>
      </p:graphicFrame>
      <p:sp>
        <p:nvSpPr>
          <p:cNvPr id="10" name="TextBox 9"/>
          <p:cNvSpPr txBox="1"/>
          <p:nvPr/>
        </p:nvSpPr>
        <p:spPr>
          <a:xfrm>
            <a:off x="7342631" y="4663440"/>
            <a:ext cx="4160520" cy="850392"/>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CF₀ = −9,50 млн ₽</a:t>
            </a:r>
          </a:p>
          <a:p>
            <a:pPr>
              <a:spcBef>
                <a:spcPts val="0"/>
              </a:spcBef>
              <a:spcAft>
                <a:spcPts val="500"/>
              </a:spcAft>
              <a:defRPr sz="1700" b="0">
                <a:solidFill>
                  <a:srgbClr val="FFFFFF"/>
                </a:solidFill>
                <a:latin typeface="Arial"/>
              </a:defRPr>
            </a:pPr>
            <a:r>
              <a:t>CF 2031 включает возврат</a:t>
            </a:r>
          </a:p>
          <a:p>
            <a:pPr>
              <a:spcBef>
                <a:spcPts val="0"/>
              </a:spcBef>
              <a:spcAft>
                <a:spcPts val="500"/>
              </a:spcAft>
              <a:defRPr sz="1700" b="0">
                <a:solidFill>
                  <a:srgbClr val="FFFFFF"/>
                </a:solidFill>
                <a:latin typeface="Arial"/>
              </a:defRPr>
            </a:pPr>
            <a:r>
              <a:t>резерва 2,00 млн ₽.</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Продажа оборудования в терминале = 0. Балансовая стоимость не превращена в денежный поток</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NPV и окупаемость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NPV на 5 лет; ставка дисконтирования 24%; млн ₽</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18 / 22</a:t>
            </a:r>
          </a:p>
        </p:txBody>
      </p:sp>
      <p:sp>
        <p:nvSpPr>
          <p:cNvPr id="7" name="Rounded Rectangle 6"/>
          <p:cNvSpPr/>
          <p:nvPr/>
        </p:nvSpPr>
        <p:spPr>
          <a:xfrm>
            <a:off x="502920" y="1709928"/>
            <a:ext cx="6428232"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9656"/>
          <a:ext cx="6153912" cy="3557015"/>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141464" y="1709928"/>
          <a:ext cx="4544568" cy="2670048"/>
        </p:xfrm>
        <a:graphic>
          <a:graphicData uri="http://schemas.openxmlformats.org/drawingml/2006/table">
            <a:tbl>
              <a:tblPr firstRow="1" bandRow="1">
                <a:tableStyleId>{5C22544A-7EE6-4342-B048-85BDC9FD1C3A}</a:tableStyleId>
              </a:tblPr>
              <a:tblGrid>
                <a:gridCol w="3127248"/>
                <a:gridCol w="1417320"/>
              </a:tblGrid>
              <a:tr h="381435">
                <a:tc>
                  <a:txBody>
                    <a:bodyPr/>
                    <a:lstStyle/>
                    <a:p>
                      <a:pPr>
                        <a:spcAft>
                          <a:spcPts val="0"/>
                        </a:spcAft>
                        <a:defRPr sz="1600" b="1">
                          <a:solidFill>
                            <a:srgbClr val="FFFFFF"/>
                          </a:solidFill>
                          <a:latin typeface="Arial"/>
                        </a:defRPr>
                      </a:pPr>
                      <a:r>
                        <a:t>Сценарий</a:t>
                      </a:r>
                    </a:p>
                  </a:txBody>
                  <a:tcPr marL="91440" marR="91440" marT="45720" marB="45720">
                    <a:solidFill>
                      <a:srgbClr val="164C38"/>
                    </a:solidFill>
                  </a:tcPr>
                </a:tc>
                <a:tc>
                  <a:txBody>
                    <a:bodyPr/>
                    <a:lstStyle/>
                    <a:p>
                      <a:pPr>
                        <a:spcAft>
                          <a:spcPts val="0"/>
                        </a:spcAft>
                        <a:defRPr sz="1600" b="1">
                          <a:solidFill>
                            <a:srgbClr val="FFFFFF"/>
                          </a:solidFill>
                          <a:latin typeface="Arial"/>
                        </a:defRPr>
                      </a:pPr>
                      <a:r>
                        <a:t>NPV, млн ₽</a:t>
                      </a:r>
                    </a:p>
                  </a:txBody>
                  <a:tcPr marL="91440" marR="91440" marT="45720" marB="45720">
                    <a:solidFill>
                      <a:srgbClr val="164C38"/>
                    </a:solidFill>
                  </a:tcPr>
                </a:tc>
              </a:tr>
              <a:tr h="381435">
                <a:tc>
                  <a:txBody>
                    <a:bodyPr/>
                    <a:lstStyle/>
                    <a:p>
                      <a:pPr>
                        <a:spcAft>
                          <a:spcPts val="0"/>
                        </a:spcAft>
                        <a:defRPr sz="1600" b="0">
                          <a:solidFill>
                            <a:srgbClr val="092A20"/>
                          </a:solidFill>
                          <a:latin typeface="Arial"/>
                        </a:defRPr>
                      </a:pPr>
                      <a:r>
                        <a:t>База</a:t>
                      </a:r>
                    </a:p>
                  </a:txBody>
                  <a:tcPr marL="91440" marR="91440" marT="45720" marB="45720">
                    <a:solidFill>
                      <a:srgbClr val="FFFFFF"/>
                    </a:solidFill>
                  </a:tcPr>
                </a:tc>
                <a:tc>
                  <a:txBody>
                    <a:bodyPr/>
                    <a:lstStyle/>
                    <a:p>
                      <a:pPr>
                        <a:spcAft>
                          <a:spcPts val="0"/>
                        </a:spcAft>
                        <a:defRPr sz="1600" b="0">
                          <a:solidFill>
                            <a:srgbClr val="092A20"/>
                          </a:solidFill>
                          <a:latin typeface="Arial"/>
                        </a:defRPr>
                      </a:pPr>
                      <a:r>
                        <a:t>3,946</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Цена −10%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0,045</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Объем −25%</a:t>
                      </a:r>
                    </a:p>
                  </a:txBody>
                  <a:tcPr marL="91440" marR="91440" marT="45720" marB="45720">
                    <a:solidFill>
                      <a:srgbClr val="FFFFFF"/>
                    </a:solidFill>
                  </a:tcPr>
                </a:tc>
                <a:tc>
                  <a:txBody>
                    <a:bodyPr/>
                    <a:lstStyle/>
                    <a:p>
                      <a:pPr>
                        <a:spcAft>
                          <a:spcPts val="0"/>
                        </a:spcAft>
                        <a:defRPr sz="1600" b="0">
                          <a:solidFill>
                            <a:srgbClr val="092A20"/>
                          </a:solidFill>
                          <a:latin typeface="Arial"/>
                        </a:defRPr>
                      </a:pPr>
                      <a:r>
                        <a:t>-2,639</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Переменные +20%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1,412</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Задержка на год</a:t>
                      </a:r>
                    </a:p>
                  </a:txBody>
                  <a:tcPr marL="91440" marR="91440" marT="45720" marB="45720">
                    <a:solidFill>
                      <a:srgbClr val="FFFFFF"/>
                    </a:solidFill>
                  </a:tcPr>
                </a:tc>
                <a:tc>
                  <a:txBody>
                    <a:bodyPr/>
                    <a:lstStyle/>
                    <a:p>
                      <a:pPr>
                        <a:spcAft>
                          <a:spcPts val="0"/>
                        </a:spcAft>
                        <a:defRPr sz="1600" b="0">
                          <a:solidFill>
                            <a:srgbClr val="092A20"/>
                          </a:solidFill>
                          <a:latin typeface="Arial"/>
                        </a:defRPr>
                      </a:pPr>
                      <a:r>
                        <a:t>-1,433</a:t>
                      </a:r>
                    </a:p>
                  </a:txBody>
                  <a:tcPr marL="91440" marR="91440" marT="45720" marB="45720">
                    <a:solidFill>
                      <a:srgbClr val="FFFFFF"/>
                    </a:solidFill>
                  </a:tcPr>
                </a:tc>
              </a:tr>
              <a:tr h="381438">
                <a:tc>
                  <a:txBody>
                    <a:bodyPr/>
                    <a:lstStyle/>
                    <a:p>
                      <a:pPr>
                        <a:spcAft>
                          <a:spcPts val="0"/>
                        </a:spcAft>
                        <a:defRPr sz="1600" b="0">
                          <a:solidFill>
                            <a:srgbClr val="092A20"/>
                          </a:solidFill>
                          <a:latin typeface="Arial"/>
                        </a:defRPr>
                      </a:pPr>
                      <a:r>
                        <a:t>Внесение 900 ₽/га</a:t>
                      </a:r>
                    </a:p>
                  </a:txBody>
                  <a:tcPr marL="91440" marR="91440" marT="45720" marB="45720">
                    <a:solidFill>
                      <a:srgbClr val="EFF4EF"/>
                    </a:solidFill>
                  </a:tcPr>
                </a:tc>
                <a:tc>
                  <a:txBody>
                    <a:bodyPr/>
                    <a:lstStyle/>
                    <a:p>
                      <a:pPr>
                        <a:spcAft>
                          <a:spcPts val="0"/>
                        </a:spcAft>
                        <a:defRPr sz="1600" b="0">
                          <a:solidFill>
                            <a:srgbClr val="092A20"/>
                          </a:solidFill>
                          <a:latin typeface="Arial"/>
                        </a:defRPr>
                      </a:pPr>
                      <a:r>
                        <a:t>-6,605</a:t>
                      </a:r>
                    </a:p>
                  </a:txBody>
                  <a:tcPr marL="91440" marR="91440" marT="45720" marB="45720">
                    <a:solidFill>
                      <a:srgbClr val="EFF4EF"/>
                    </a:solidFill>
                  </a:tcPr>
                </a:tc>
              </a:tr>
            </a:tbl>
          </a:graphicData>
        </a:graphic>
      </p:graphicFrame>
      <p:sp>
        <p:nvSpPr>
          <p:cNvPr id="10" name="TextBox 9"/>
          <p:cNvSpPr txBox="1"/>
          <p:nvPr/>
        </p:nvSpPr>
        <p:spPr>
          <a:xfrm>
            <a:off x="7251192" y="4617720"/>
            <a:ext cx="4224528" cy="868680"/>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Окупаемость базы: 2,68 года</a:t>
            </a:r>
          </a:p>
          <a:p>
            <a:pPr>
              <a:spcBef>
                <a:spcPts val="0"/>
              </a:spcBef>
              <a:spcAft>
                <a:spcPts val="500"/>
              </a:spcAft>
              <a:defRPr sz="1800" b="0">
                <a:solidFill>
                  <a:srgbClr val="FFFFFF"/>
                </a:solidFill>
                <a:latin typeface="Arial"/>
              </a:defRPr>
            </a:pPr>
            <a:r>
              <a:t>Дисконтированная: 3,88 года</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Снижение объема и задержка запуска дают отрицательный NPV. Цена −10% почти обнуляет запас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Потребность в инвестициях</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Бюджет до коммерческих предложений  •  [РАСЧЕТ] Сумма потребности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19 / 22</a:t>
            </a:r>
          </a:p>
        </p:txBody>
      </p:sp>
      <p:graphicFrame>
        <p:nvGraphicFramePr>
          <p:cNvPr id="7" name="Table 6"/>
          <p:cNvGraphicFramePr>
            <a:graphicFrameLocks noGrp="1"/>
          </p:cNvGraphicFramePr>
          <p:nvPr/>
        </p:nvGraphicFramePr>
        <p:xfrm>
          <a:off x="502920" y="1737360"/>
          <a:ext cx="6583680" cy="3584448"/>
        </p:xfrm>
        <a:graphic>
          <a:graphicData uri="http://schemas.openxmlformats.org/drawingml/2006/table">
            <a:tbl>
              <a:tblPr firstRow="1" bandRow="1">
                <a:tableStyleId>{5C22544A-7EE6-4342-B048-85BDC9FD1C3A}</a:tableStyleId>
              </a:tblPr>
              <a:tblGrid>
                <a:gridCol w="5029200"/>
                <a:gridCol w="1554480"/>
              </a:tblGrid>
              <a:tr h="512064">
                <a:tc>
                  <a:txBody>
                    <a:bodyPr/>
                    <a:lstStyle/>
                    <a:p>
                      <a:pPr>
                        <a:spcAft>
                          <a:spcPts val="0"/>
                        </a:spcAft>
                        <a:defRPr sz="1700" b="1">
                          <a:solidFill>
                            <a:srgbClr val="FFFFFF"/>
                          </a:solidFill>
                          <a:latin typeface="Arial"/>
                        </a:defRPr>
                      </a:pPr>
                      <a:r>
                        <a:t>CAPEX</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млн ₽</a:t>
                      </a:r>
                    </a:p>
                  </a:txBody>
                  <a:tcPr marL="91440" marR="91440" marT="45720" marB="45720">
                    <a:solidFill>
                      <a:srgbClr val="164C38"/>
                    </a:solidFill>
                  </a:tcPr>
                </a:tc>
              </a:tr>
              <a:tr h="512064">
                <a:tc>
                  <a:txBody>
                    <a:bodyPr/>
                    <a:lstStyle/>
                    <a:p>
                      <a:pPr>
                        <a:spcAft>
                          <a:spcPts val="0"/>
                        </a:spcAft>
                        <a:defRPr sz="1700" b="0">
                          <a:solidFill>
                            <a:srgbClr val="092A20"/>
                          </a:solidFill>
                          <a:latin typeface="Arial"/>
                        </a:defRPr>
                      </a:pPr>
                      <a:r>
                        <a:t>2 агродрона с АКБ / зарядкой</a:t>
                      </a:r>
                    </a:p>
                  </a:txBody>
                  <a:tcPr marL="91440" marR="91440" marT="45720" marB="45720">
                    <a:solidFill>
                      <a:srgbClr val="FFFFFF"/>
                    </a:solidFill>
                  </a:tcPr>
                </a:tc>
                <a:tc>
                  <a:txBody>
                    <a:bodyPr/>
                    <a:lstStyle/>
                    <a:p>
                      <a:pPr>
                        <a:spcAft>
                          <a:spcPts val="0"/>
                        </a:spcAft>
                        <a:defRPr sz="1700" b="0">
                          <a:solidFill>
                            <a:srgbClr val="092A20"/>
                          </a:solidFill>
                          <a:latin typeface="Arial"/>
                        </a:defRPr>
                      </a:pPr>
                      <a:r>
                        <a:t>4,0</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Транспорт / прицеп</a:t>
                      </a:r>
                    </a:p>
                  </a:txBody>
                  <a:tcPr marL="91440" marR="91440" marT="45720" marB="45720">
                    <a:solidFill>
                      <a:srgbClr val="EFF4EF"/>
                    </a:solidFill>
                  </a:tcPr>
                </a:tc>
                <a:tc>
                  <a:txBody>
                    <a:bodyPr/>
                    <a:lstStyle/>
                    <a:p>
                      <a:pPr>
                        <a:spcAft>
                          <a:spcPts val="0"/>
                        </a:spcAft>
                        <a:defRPr sz="1700" b="0">
                          <a:solidFill>
                            <a:srgbClr val="092A20"/>
                          </a:solidFill>
                          <a:latin typeface="Arial"/>
                        </a:defRPr>
                      </a:pPr>
                      <a:r>
                        <a:t>1,4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Мониторинговый 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0,6</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Подготовка состава / безопасность</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ИТ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0,2</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Капитальные запчасти</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bl>
          </a:graphicData>
        </a:graphic>
      </p:graphicFrame>
      <p:sp>
        <p:nvSpPr>
          <p:cNvPr id="8" name="Rounded Rectangle 7"/>
          <p:cNvSpPr/>
          <p:nvPr/>
        </p:nvSpPr>
        <p:spPr>
          <a:xfrm>
            <a:off x="7315200" y="1737360"/>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929384"/>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7,0</a:t>
            </a:r>
          </a:p>
        </p:txBody>
      </p:sp>
      <p:sp>
        <p:nvSpPr>
          <p:cNvPr id="10" name="TextBox 9"/>
          <p:cNvSpPr txBox="1"/>
          <p:nvPr/>
        </p:nvSpPr>
        <p:spPr>
          <a:xfrm>
            <a:off x="8796528" y="2002536"/>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CAPEX</a:t>
            </a:r>
          </a:p>
        </p:txBody>
      </p:sp>
      <p:sp>
        <p:nvSpPr>
          <p:cNvPr id="11" name="Rounded Rectangle 10"/>
          <p:cNvSpPr/>
          <p:nvPr/>
        </p:nvSpPr>
        <p:spPr>
          <a:xfrm>
            <a:off x="7315200" y="2953512"/>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45536"/>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0,5</a:t>
            </a:r>
          </a:p>
        </p:txBody>
      </p:sp>
      <p:sp>
        <p:nvSpPr>
          <p:cNvPr id="13" name="TextBox 12"/>
          <p:cNvSpPr txBox="1"/>
          <p:nvPr/>
        </p:nvSpPr>
        <p:spPr>
          <a:xfrm>
            <a:off x="8796528" y="3218688"/>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Стартовые расходы</a:t>
            </a:r>
          </a:p>
        </p:txBody>
      </p:sp>
      <p:sp>
        <p:nvSpPr>
          <p:cNvPr id="14" name="Rounded Rectangle 13"/>
          <p:cNvSpPr/>
          <p:nvPr/>
        </p:nvSpPr>
        <p:spPr>
          <a:xfrm>
            <a:off x="7315200" y="4169664"/>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61688"/>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2,0</a:t>
            </a:r>
          </a:p>
        </p:txBody>
      </p:sp>
      <p:sp>
        <p:nvSpPr>
          <p:cNvPr id="16" name="TextBox 15"/>
          <p:cNvSpPr txBox="1"/>
          <p:nvPr/>
        </p:nvSpPr>
        <p:spPr>
          <a:xfrm>
            <a:off x="8796528" y="4434840"/>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Оборотный резерв</a:t>
            </a:r>
          </a:p>
        </p:txBody>
      </p:sp>
      <p:sp>
        <p:nvSpPr>
          <p:cNvPr id="17" name="Rounded Rectangle 16"/>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Итого 9,5 млн ₽. Резерв — ликвидность, не повторный расход и не бюджет расширения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Структура источников инвестиций</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20 / 22</a:t>
            </a:r>
          </a:p>
        </p:txBody>
      </p:sp>
      <p:sp>
        <p:nvSpPr>
          <p:cNvPr id="7" name="Rounded Rectangle 6"/>
          <p:cNvSpPr/>
          <p:nvPr/>
        </p:nvSpPr>
        <p:spPr>
          <a:xfrm>
            <a:off x="502920"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2,5</a:t>
            </a:r>
          </a:p>
        </p:txBody>
      </p:sp>
      <p:sp>
        <p:nvSpPr>
          <p:cNvPr id="10" name="TextBox 9"/>
          <p:cNvSpPr txBox="1"/>
          <p:nvPr/>
        </p:nvSpPr>
        <p:spPr>
          <a:xfrm>
            <a:off x="704088"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учредитель</a:t>
            </a:r>
          </a:p>
        </p:txBody>
      </p:sp>
      <p:sp>
        <p:nvSpPr>
          <p:cNvPr id="11" name="TextBox 10"/>
          <p:cNvSpPr txBox="1"/>
          <p:nvPr/>
        </p:nvSpPr>
        <p:spPr>
          <a:xfrm>
            <a:off x="704088"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Подтвердить наличие денег</a:t>
            </a:r>
          </a:p>
          <a:p>
            <a:pPr>
              <a:spcBef>
                <a:spcPts val="0"/>
              </a:spcBef>
              <a:spcAft>
                <a:spcPts val="500"/>
              </a:spcAft>
              <a:defRPr sz="2000" b="0">
                <a:solidFill>
                  <a:srgbClr val="092A20"/>
                </a:solidFill>
                <a:latin typeface="Arial"/>
              </a:defRPr>
            </a:pPr>
            <a:r>
              <a:t>и оформить вклад</a:t>
            </a:r>
          </a:p>
        </p:txBody>
      </p:sp>
      <p:sp>
        <p:nvSpPr>
          <p:cNvPr id="12" name="Rounded Rectangle 11"/>
          <p:cNvSpPr/>
          <p:nvPr/>
        </p:nvSpPr>
        <p:spPr>
          <a:xfrm>
            <a:off x="6208776"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91656"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7,0</a:t>
            </a:r>
          </a:p>
        </p:txBody>
      </p:sp>
      <p:sp>
        <p:nvSpPr>
          <p:cNvPr id="15" name="TextBox 14"/>
          <p:cNvSpPr txBox="1"/>
          <p:nvPr/>
        </p:nvSpPr>
        <p:spPr>
          <a:xfrm>
            <a:off x="6409944"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внешний инвестор</a:t>
            </a:r>
          </a:p>
        </p:txBody>
      </p:sp>
      <p:sp>
        <p:nvSpPr>
          <p:cNvPr id="16" name="TextBox 15"/>
          <p:cNvSpPr txBox="1"/>
          <p:nvPr/>
        </p:nvSpPr>
        <p:spPr>
          <a:xfrm>
            <a:off x="6409944"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Долевое финансирование</a:t>
            </a:r>
          </a:p>
          <a:p>
            <a:pPr>
              <a:spcBef>
                <a:spcPts val="0"/>
              </a:spcBef>
              <a:spcAft>
                <a:spcPts val="500"/>
              </a:spcAft>
              <a:defRPr sz="2000" b="0">
                <a:solidFill>
                  <a:srgbClr val="092A20"/>
                </a:solidFill>
                <a:latin typeface="Arial"/>
              </a:defRPr>
            </a:pPr>
            <a:r>
              <a:t>после проверки условий</a:t>
            </a:r>
          </a:p>
        </p:txBody>
      </p:sp>
      <p:sp>
        <p:nvSpPr>
          <p:cNvPr id="17" name="TextBox 16"/>
          <p:cNvSpPr txBox="1"/>
          <p:nvPr/>
        </p:nvSpPr>
        <p:spPr>
          <a:xfrm>
            <a:off x="594360" y="5175504"/>
            <a:ext cx="10972800" cy="758952"/>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Долг и гранты не включены. Деньги пока не подтверждены.</a:t>
            </a:r>
          </a:p>
          <a:p>
            <a:pPr>
              <a:spcBef>
                <a:spcPts val="0"/>
              </a:spcBef>
              <a:spcAft>
                <a:spcPts val="500"/>
              </a:spcAft>
              <a:defRPr sz="1800" b="0">
                <a:solidFill>
                  <a:srgbClr val="FFFFFF"/>
                </a:solidFill>
                <a:latin typeface="Arial"/>
              </a:defRPr>
            </a:pPr>
            <a:r>
              <a:t>Оценка бизнеса, корпоративные права, выход и доля инвестора — предмет соглашения.</a:t>
            </a:r>
          </a:p>
        </p:txBody>
      </p:sp>
      <p:sp>
        <p:nvSpPr>
          <p:cNvPr id="18" name="Rounded Rectangle 17"/>
          <p:cNvSpPr/>
          <p:nvPr/>
        </p:nvSpPr>
        <p:spPr>
          <a:xfrm>
            <a:off x="502920" y="6044184"/>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126480"/>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суммы источников, НЕ доли в капитале. Крупные закупки — только после инвестиционного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Основные технико-экономические показатели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Финансовые KPI базы  •  [ДОПУЩЕНИЕ] Плановые операционные пороги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21 / 22</a:t>
            </a:r>
          </a:p>
        </p:txBody>
      </p:sp>
      <p:sp>
        <p:nvSpPr>
          <p:cNvPr id="7" name="Rounded Rectangle 6"/>
          <p:cNvSpPr/>
          <p:nvPr/>
        </p:nvSpPr>
        <p:spPr>
          <a:xfrm>
            <a:off x="50292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8,8 млн ₽</a:t>
            </a:r>
          </a:p>
        </p:txBody>
      </p:sp>
      <p:sp>
        <p:nvSpPr>
          <p:cNvPr id="9" name="TextBox 8"/>
          <p:cNvSpPr txBox="1"/>
          <p:nvPr/>
        </p:nvSpPr>
        <p:spPr>
          <a:xfrm>
            <a:off x="68580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Выручка 2027</a:t>
            </a:r>
          </a:p>
        </p:txBody>
      </p:sp>
      <p:sp>
        <p:nvSpPr>
          <p:cNvPr id="10" name="TextBox 9"/>
          <p:cNvSpPr txBox="1"/>
          <p:nvPr/>
        </p:nvSpPr>
        <p:spPr>
          <a:xfrm>
            <a:off x="68580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6000 га-проходов + 4000 обследований</a:t>
            </a:r>
          </a:p>
        </p:txBody>
      </p:sp>
      <p:sp>
        <p:nvSpPr>
          <p:cNvPr id="11" name="Rounded Rectangle 10"/>
          <p:cNvSpPr/>
          <p:nvPr/>
        </p:nvSpPr>
        <p:spPr>
          <a:xfrm>
            <a:off x="429768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22,3%</a:t>
            </a:r>
          </a:p>
        </p:txBody>
      </p:sp>
      <p:sp>
        <p:nvSpPr>
          <p:cNvPr id="13" name="TextBox 12"/>
          <p:cNvSpPr txBox="1"/>
          <p:nvPr/>
        </p:nvSpPr>
        <p:spPr>
          <a:xfrm>
            <a:off x="448056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Маржа EBITDA 2027</a:t>
            </a:r>
          </a:p>
        </p:txBody>
      </p:sp>
      <p:sp>
        <p:nvSpPr>
          <p:cNvPr id="14" name="TextBox 13"/>
          <p:cNvSpPr txBox="1"/>
          <p:nvPr/>
        </p:nvSpPr>
        <p:spPr>
          <a:xfrm>
            <a:off x="448056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 амортизации и налога УСН</a:t>
            </a:r>
          </a:p>
        </p:txBody>
      </p:sp>
      <p:sp>
        <p:nvSpPr>
          <p:cNvPr id="15" name="Rounded Rectangle 14"/>
          <p:cNvSpPr/>
          <p:nvPr/>
        </p:nvSpPr>
        <p:spPr>
          <a:xfrm>
            <a:off x="809244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1,432 млн ₽</a:t>
            </a:r>
          </a:p>
        </p:txBody>
      </p:sp>
      <p:sp>
        <p:nvSpPr>
          <p:cNvPr id="17" name="TextBox 16"/>
          <p:cNvSpPr txBox="1"/>
          <p:nvPr/>
        </p:nvSpPr>
        <p:spPr>
          <a:xfrm>
            <a:off x="827532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Свободный CF 2027</a:t>
            </a:r>
          </a:p>
        </p:txBody>
      </p:sp>
      <p:sp>
        <p:nvSpPr>
          <p:cNvPr id="18" name="TextBox 17"/>
          <p:cNvSpPr txBox="1"/>
          <p:nvPr/>
        </p:nvSpPr>
        <p:spPr>
          <a:xfrm>
            <a:off x="827532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После налога; до выплат инвесторам</a:t>
            </a:r>
          </a:p>
        </p:txBody>
      </p:sp>
      <p:sp>
        <p:nvSpPr>
          <p:cNvPr id="19" name="Rounded Rectangle 18"/>
          <p:cNvSpPr/>
          <p:nvPr/>
        </p:nvSpPr>
        <p:spPr>
          <a:xfrm>
            <a:off x="50292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13 000</a:t>
            </a:r>
          </a:p>
        </p:txBody>
      </p:sp>
      <p:sp>
        <p:nvSpPr>
          <p:cNvPr id="21" name="TextBox 20"/>
          <p:cNvSpPr txBox="1"/>
          <p:nvPr/>
        </p:nvSpPr>
        <p:spPr>
          <a:xfrm>
            <a:off x="68580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Потолок га-проходов</a:t>
            </a:r>
          </a:p>
        </p:txBody>
      </p:sp>
      <p:sp>
        <p:nvSpPr>
          <p:cNvPr id="22" name="TextBox 21"/>
          <p:cNvSpPr txBox="1"/>
          <p:nvPr/>
        </p:nvSpPr>
        <p:spPr>
          <a:xfrm>
            <a:off x="68580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100 дней × 130 га; подтвердить пилотом</a:t>
            </a:r>
          </a:p>
        </p:txBody>
      </p:sp>
      <p:sp>
        <p:nvSpPr>
          <p:cNvPr id="23" name="Rounded Rectangle 22"/>
          <p:cNvSpPr/>
          <p:nvPr/>
        </p:nvSpPr>
        <p:spPr>
          <a:xfrm>
            <a:off x="429768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10 клиентов</a:t>
            </a:r>
          </a:p>
        </p:txBody>
      </p:sp>
      <p:sp>
        <p:nvSpPr>
          <p:cNvPr id="25" name="TextBox 24"/>
          <p:cNvSpPr txBox="1"/>
          <p:nvPr/>
        </p:nvSpPr>
        <p:spPr>
          <a:xfrm>
            <a:off x="448056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Портфель первого сезона</a:t>
            </a:r>
          </a:p>
        </p:txBody>
      </p:sp>
      <p:sp>
        <p:nvSpPr>
          <p:cNvPr id="26" name="TextBox 25"/>
          <p:cNvSpPr txBox="1"/>
          <p:nvPr/>
        </p:nvSpPr>
        <p:spPr>
          <a:xfrm>
            <a:off x="448056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Договоры; календарь; актирование</a:t>
            </a:r>
          </a:p>
        </p:txBody>
      </p:sp>
      <p:sp>
        <p:nvSpPr>
          <p:cNvPr id="27" name="Rounded Rectangle 26"/>
          <p:cNvSpPr/>
          <p:nvPr/>
        </p:nvSpPr>
        <p:spPr>
          <a:xfrm>
            <a:off x="809244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 работ</a:t>
            </a:r>
          </a:p>
        </p:txBody>
      </p:sp>
      <p:sp>
        <p:nvSpPr>
          <p:cNvPr id="29" name="TextBox 28"/>
          <p:cNvSpPr txBox="1"/>
          <p:nvPr/>
        </p:nvSpPr>
        <p:spPr>
          <a:xfrm>
            <a:off x="827532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Без требуемой готовности</a:t>
            </a:r>
          </a:p>
        </p:txBody>
      </p:sp>
      <p:sp>
        <p:nvSpPr>
          <p:cNvPr id="30" name="TextBox 29"/>
          <p:cNvSpPr txBox="1"/>
          <p:nvPr/>
        </p:nvSpPr>
        <p:spPr>
          <a:xfrm>
            <a:off x="827532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Учитывать также предотвращенные события</a:t>
            </a:r>
          </a:p>
        </p:txBody>
      </p:sp>
      <p:sp>
        <p:nvSpPr>
          <p:cNvPr id="31" name="TextBox 30"/>
          <p:cNvSpPr txBox="1"/>
          <p:nvPr/>
        </p:nvSpPr>
        <p:spPr>
          <a:xfrm>
            <a:off x="594360" y="6044184"/>
            <a:ext cx="10972800" cy="393192"/>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KPI подтверждаются актами, журналами, банковской выпиской и план-фактом — не презентацией.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рисков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Риск-рейтинг экспертный; инвестиционное решение условное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22 / 22</a:t>
            </a:r>
          </a:p>
        </p:txBody>
      </p:sp>
      <p:graphicFrame>
        <p:nvGraphicFramePr>
          <p:cNvPr id="7" name="Table 6"/>
          <p:cNvGraphicFramePr>
            <a:graphicFrameLocks noGrp="1"/>
          </p:cNvGraphicFramePr>
          <p:nvPr/>
        </p:nvGraphicFramePr>
        <p:xfrm>
          <a:off x="502920" y="1728216"/>
          <a:ext cx="6665976" cy="3493008"/>
        </p:xfrm>
        <a:graphic>
          <a:graphicData uri="http://schemas.openxmlformats.org/drawingml/2006/table">
            <a:tbl>
              <a:tblPr firstRow="1" bandRow="1">
                <a:tableStyleId>{5C22544A-7EE6-4342-B048-85BDC9FD1C3A}</a:tableStyleId>
              </a:tblPr>
              <a:tblGrid>
                <a:gridCol w="3337560"/>
                <a:gridCol w="3328416"/>
              </a:tblGrid>
              <a:tr h="582168">
                <a:tc>
                  <a:txBody>
                    <a:bodyPr/>
                    <a:lstStyle/>
                    <a:p>
                      <a:pPr>
                        <a:spcAft>
                          <a:spcPts val="0"/>
                        </a:spcAft>
                        <a:defRPr sz="1700" b="1">
                          <a:solidFill>
                            <a:srgbClr val="FFFFFF"/>
                          </a:solidFill>
                          <a:latin typeface="Arial"/>
                        </a:defRPr>
                      </a:pPr>
                      <a:r>
                        <a:t>Риск / триггер</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Ответ / владелец</a:t>
                      </a:r>
                    </a:p>
                  </a:txBody>
                  <a:tcPr marL="91440" marR="91440" marT="45720" marB="45720">
                    <a:solidFill>
                      <a:srgbClr val="164C38"/>
                    </a:solidFill>
                  </a:tcPr>
                </a:tc>
              </a:tr>
              <a:tr h="582168">
                <a:tc>
                  <a:txBody>
                    <a:bodyPr/>
                    <a:lstStyle/>
                    <a:p>
                      <a:pPr>
                        <a:spcAft>
                          <a:spcPts val="0"/>
                        </a:spcAft>
                        <a:defRPr sz="1700" b="0">
                          <a:solidFill>
                            <a:srgbClr val="092A20"/>
                          </a:solidFill>
                          <a:latin typeface="Arial"/>
                        </a:defRPr>
                      </a:pPr>
                      <a:r>
                        <a:t>Нет правового основания</a:t>
                      </a:r>
                    </a:p>
                  </a:txBody>
                  <a:tcPr marL="91440" marR="91440" marT="45720" marB="45720">
                    <a:solidFill>
                      <a:srgbClr val="FFFFFF"/>
                    </a:solidFill>
                  </a:tcPr>
                </a:tc>
                <a:tc>
                  <a:txBody>
                    <a:bodyPr/>
                    <a:lstStyle/>
                    <a:p>
                      <a:pPr>
                        <a:spcAft>
                          <a:spcPts val="0"/>
                        </a:spcAft>
                        <a:defRPr sz="1700" b="0">
                          <a:solidFill>
                            <a:srgbClr val="092A20"/>
                          </a:solidFill>
                          <a:latin typeface="Arial"/>
                        </a:defRPr>
                      </a:pPr>
                      <a:r>
                        <a:t>NO-GO; директор + юрист</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Погода / конфликт окон</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Перепланирование;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Заказы ниже плана / цена падает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Пересчет NPV; директор</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Поломка / ошибка внесения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Резерв, SOP, остановка;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Перегрузка / дефицит ликвидности</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Лимит заказов, кассовый план; директор</a:t>
                      </a:r>
                    </a:p>
                  </a:txBody>
                  <a:tcPr marL="91440" marR="91440" marT="45720" marB="45720">
                    <a:solidFill>
                      <a:srgbClr val="FFFFFF"/>
                    </a:solidFill>
                  </a:tcPr>
                </a:tc>
              </a:tr>
            </a:tbl>
          </a:graphicData>
        </a:graphic>
      </p:graphicFrame>
      <p:sp>
        <p:nvSpPr>
          <p:cNvPr id="8" name="Rounded Rectangle 7"/>
          <p:cNvSpPr/>
          <p:nvPr/>
        </p:nvSpPr>
        <p:spPr>
          <a:xfrm>
            <a:off x="7388352" y="1728216"/>
            <a:ext cx="42976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71231" y="1911095"/>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2112264"/>
            <a:ext cx="389534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INVESTMENT GATE</a:t>
            </a:r>
          </a:p>
        </p:txBody>
      </p:sp>
      <p:sp>
        <p:nvSpPr>
          <p:cNvPr id="11" name="TextBox 10"/>
          <p:cNvSpPr txBox="1"/>
          <p:nvPr/>
        </p:nvSpPr>
        <p:spPr>
          <a:xfrm>
            <a:off x="7589520" y="2715768"/>
            <a:ext cx="3895344" cy="2432304"/>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1  Письменная правовая карта</a:t>
            </a:r>
          </a:p>
          <a:p>
            <a:pPr>
              <a:spcBef>
                <a:spcPts val="0"/>
              </a:spcBef>
              <a:spcAft>
                <a:spcPts val="500"/>
              </a:spcAft>
              <a:defRPr sz="1800" b="0">
                <a:solidFill>
                  <a:srgbClr val="092A20"/>
                </a:solidFill>
                <a:latin typeface="Arial"/>
              </a:defRPr>
            </a:pPr>
            <a:r>
              <a:t>2  Заявки на доступные 6 000 га</a:t>
            </a:r>
          </a:p>
          <a:p>
            <a:pPr>
              <a:spcBef>
                <a:spcPts val="0"/>
              </a:spcBef>
              <a:spcAft>
                <a:spcPts val="500"/>
              </a:spcAft>
              <a:defRPr sz="1800" b="0">
                <a:solidFill>
                  <a:srgbClr val="092A20"/>
                </a:solidFill>
                <a:latin typeface="Arial"/>
              </a:defRPr>
            </a:pPr>
            <a:r>
              <a:t>3  Подтвержденные КП и кадры</a:t>
            </a:r>
          </a:p>
          <a:p>
            <a:pPr>
              <a:spcBef>
                <a:spcPts val="0"/>
              </a:spcBef>
              <a:spcAft>
                <a:spcPts val="500"/>
              </a:spcAft>
              <a:defRPr sz="1800" b="0">
                <a:solidFill>
                  <a:srgbClr val="092A20"/>
                </a:solidFill>
                <a:latin typeface="Arial"/>
              </a:defRPr>
            </a:pPr>
            <a:r>
              <a:t>4  Кассовый план и резерв</a:t>
            </a:r>
          </a:p>
          <a:p>
            <a:pPr>
              <a:spcBef>
                <a:spcPts val="0"/>
              </a:spcBef>
              <a:spcAft>
                <a:spcPts val="500"/>
              </a:spcAft>
              <a:defRPr sz="1800" b="0">
                <a:solidFill>
                  <a:srgbClr val="092A20"/>
                </a:solidFill>
                <a:latin typeface="Arial"/>
              </a:defRPr>
            </a:pPr>
            <a:r>
              <a:t>5  Приемка + апрельский пилот</a:t>
            </a:r>
          </a:p>
        </p:txBody>
      </p:sp>
      <p:sp>
        <p:nvSpPr>
          <p:cNvPr id="12" name="Rounded Rectangle 11"/>
          <p:cNvSpPr/>
          <p:nvPr/>
        </p:nvSpPr>
        <p:spPr>
          <a:xfrm>
            <a:off x="502920" y="553212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61441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Нет готовности → отложить капиталоемкий запуск. Мониторинг-only не доказан как прибыльная замена</a:t>
            </a:r>
          </a:p>
        </p:txBody>
      </p:sp>
      <p:sp>
        <p:nvSpPr>
          <p:cNvPr id="14" name="TextBox 13"/>
          <p:cNvSpPr txBox="1"/>
          <p:nvPr/>
        </p:nvSpPr>
        <p:spPr>
          <a:xfrm>
            <a:off x="594360" y="6117336"/>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Масштабирование — после фактического сезона, проверки претензий, загрузки и продлений.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