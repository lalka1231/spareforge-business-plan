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charts/chart2.xml" ContentType="application/vnd.openxmlformats-officedocument.drawingml.chart+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Lst>
  <p:sldSz cx="12191999"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notesMaster" Target="notesMasters/notesMaster1.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Sheet2.xlsx"/></Relationships>
</file>

<file path=ppt/charts/chart1.xml><?xml version="1.0" encoding="utf-8"?>
<c:chartSpace xmlns:c="http://schemas.openxmlformats.org/drawingml/2006/chart" xmlns:a="http://schemas.openxmlformats.org/drawingml/2006/main" xmlns:r="http://schemas.openxmlformats.org/officeDocument/2006/relationships">
  <c:date1904 val="0"/>
  <c:style val="10"/>
  <c:chart>
    <c:autoTitleDeleted val="0"/>
    <c:plotArea>
      <c:barChart>
        <c:barDir val="col"/>
        <c:grouping val="clustered"/>
        <c:ser>
          <c:idx val="0"/>
          <c:order val="0"/>
          <c:tx>
            <c:strRef>
              <c:f>Sheet1!$B$1</c:f>
              <c:strCache>
                <c:ptCount val="1"/>
                <c:pt idx="0">
                  <c:v>Выручка</c:v>
                </c:pt>
              </c:strCache>
            </c:strRef>
          </c:tx>
          <c:spPr>
            <a:solidFill>
              <a:srgbClr val="164C38"/>
            </a:solidFill>
            <a:ln w="25400">
              <a:solidFill>
                <a:srgbClr val="164C38"/>
              </a:solidFill>
            </a:ln>
          </c:spPr>
          <c:cat>
            <c:strRef>
              <c:f>Sheet1!$A$2:$A$6</c:f>
              <c:strCache>
                <c:ptCount val="5"/>
                <c:pt idx="0">
                  <c:v>2027</c:v>
                </c:pt>
                <c:pt idx="1">
                  <c:v>2028</c:v>
                </c:pt>
                <c:pt idx="2">
                  <c:v>2029</c:v>
                </c:pt>
                <c:pt idx="3">
                  <c:v>2030</c:v>
                </c:pt>
                <c:pt idx="4">
                  <c:v>2031</c:v>
                </c:pt>
              </c:strCache>
            </c:strRef>
          </c:cat>
          <c:val>
            <c:numRef>
              <c:f>Sheet1!$B$2:$B$6</c:f>
              <c:numCache>
                <c:formatCode>General</c:formatCode>
                <c:ptCount val="5"/>
                <c:pt idx="0">
                  <c:v>8.8</c:v>
                </c:pt>
                <c:pt idx="1">
                  <c:v>13.728</c:v>
                </c:pt>
                <c:pt idx="2">
                  <c:v>17.630080000000003</c:v>
                </c:pt>
                <c:pt idx="3">
                  <c:v>20.078822400000004</c:v>
                </c:pt>
                <c:pt idx="4">
                  <c:v>22.695256064000002</c:v>
                </c:pt>
              </c:numCache>
            </c:numRef>
          </c:val>
        </c:ser>
        <c:ser>
          <c:idx val="1"/>
          <c:order val="1"/>
          <c:tx>
            <c:strRef>
              <c:f>Sheet1!$C$1</c:f>
              <c:strCache>
                <c:ptCount val="1"/>
                <c:pt idx="0">
                  <c:v>EBITDA</c:v>
                </c:pt>
              </c:strCache>
            </c:strRef>
          </c:tx>
          <c:spPr>
            <a:solidFill>
              <a:srgbClr val="7EB94A"/>
            </a:solidFill>
            <a:ln w="25400">
              <a:solidFill>
                <a:srgbClr val="7EB94A"/>
              </a:solidFill>
            </a:ln>
          </c:spPr>
          <c:cat>
            <c:strRef>
              <c:f>Sheet1!$A$2:$A$6</c:f>
              <c:strCache>
                <c:ptCount val="5"/>
                <c:pt idx="0">
                  <c:v>2027</c:v>
                </c:pt>
                <c:pt idx="1">
                  <c:v>2028</c:v>
                </c:pt>
                <c:pt idx="2">
                  <c:v>2029</c:v>
                </c:pt>
                <c:pt idx="3">
                  <c:v>2030</c:v>
                </c:pt>
                <c:pt idx="4">
                  <c:v>2031</c:v>
                </c:pt>
              </c:strCache>
            </c:strRef>
          </c:cat>
          <c:val>
            <c:numRef>
              <c:f>Sheet1!$C$2:$C$6</c:f>
              <c:numCache>
                <c:formatCode>General</c:formatCode>
                <c:ptCount val="5"/>
                <c:pt idx="0">
                  <c:v>0.2728</c:v>
                </c:pt>
                <c:pt idx="1">
                  <c:v>3.38844</c:v>
                </c:pt>
                <c:pt idx="2">
                  <c:v>5.759242000000004</c:v>
                </c:pt>
                <c:pt idx="3">
                  <c:v>7.081935000000001</c:v>
                </c:pt>
                <c:pt idx="4">
                  <c:v>8.489391419000002</c:v>
                </c:pt>
              </c:numCache>
            </c:numRef>
          </c:val>
        </c:ser>
        <c:ser>
          <c:idx val="2"/>
          <c:order val="2"/>
          <c:tx>
            <c:strRef>
              <c:f>Sheet1!$D$1</c:f>
              <c:strCache>
                <c:ptCount val="1"/>
                <c:pt idx="0">
                  <c:v>Свободный CF</c:v>
                </c:pt>
              </c:strCache>
            </c:strRef>
          </c:tx>
          <c:spPr>
            <a:solidFill>
              <a:srgbClr val="739DAB"/>
            </a:solidFill>
            <a:ln w="25400">
              <a:solidFill>
                <a:srgbClr val="739DAB"/>
              </a:solidFill>
            </a:ln>
          </c:spPr>
          <c:cat>
            <c:strRef>
              <c:f>Sheet1!$A$2:$A$6</c:f>
              <c:strCache>
                <c:ptCount val="5"/>
                <c:pt idx="0">
                  <c:v>2027</c:v>
                </c:pt>
                <c:pt idx="1">
                  <c:v>2028</c:v>
                </c:pt>
                <c:pt idx="2">
                  <c:v>2029</c:v>
                </c:pt>
                <c:pt idx="3">
                  <c:v>2030</c:v>
                </c:pt>
                <c:pt idx="4">
                  <c:v>2031</c:v>
                </c:pt>
              </c:strCache>
            </c:strRef>
          </c:cat>
          <c:val>
            <c:numRef>
              <c:f>Sheet1!$D$2:$D$6</c:f>
              <c:numCache>
                <c:formatCode>General</c:formatCode>
                <c:ptCount val="5"/>
                <c:pt idx="0">
                  <c:v>-0.2552</c:v>
                </c:pt>
                <c:pt idx="1">
                  <c:v>2.26476</c:v>
                </c:pt>
                <c:pt idx="2">
                  <c:v>4.101437200000003</c:v>
                </c:pt>
                <c:pt idx="3">
                  <c:v>4.9772056560000015</c:v>
                </c:pt>
                <c:pt idx="4">
                  <c:v>8.52767605516</c:v>
                </c:pt>
              </c:numCache>
            </c:numRef>
          </c:val>
        </c:ser>
        <c:axId val="-2068027336"/>
        <c:axId val="-2113994440"/>
      </c:barChart>
      <c:catAx>
        <c:axId val="-2068027336"/>
        <c:scaling>
          <c:orientation val="minMax"/>
        </c:scaling>
        <c:delete val="0"/>
        <c:axPos val="b"/>
        <c:majorTickMark val="out"/>
        <c:minorTickMark val="none"/>
        <c:tickLblPos val="nextTo"/>
        <c:txPr>
          <a:bodyPr/>
          <a:lstStyle/>
          <a:p>
            <a:pPr>
              <a:defRPr sz="1500"/>
            </a:pPr>
          </a:p>
        </c:txPr>
        <c:crossAx val="-2113994440"/>
        <c:crosses val="autoZero"/>
        <c:auto val="1"/>
        <c:lblAlgn val="ctr"/>
        <c:lblOffset val="100"/>
        <c:noMultiLvlLbl val="0"/>
      </c:catAx>
      <c:valAx>
        <c:axId val="-2113994440"/>
        <c:scaling/>
        <c:delete val="0"/>
        <c:axPos val="l"/>
        <c:majorGridlines/>
        <c:majorTickMark val="out"/>
        <c:minorTickMark val="none"/>
        <c:tickLblPos val="nextTo"/>
        <c:txPr>
          <a:bodyPr/>
          <a:lstStyle/>
          <a:p>
            <a:pPr>
              <a:defRPr sz="1500"/>
            </a:pPr>
          </a:p>
        </c:txPr>
        <c:crossAx val="-2068027336"/>
        <c:crosses val="autoZero"/>
      </c:valAx>
    </c:plotArea>
    <c:legend>
      <c:legendPos val="b"/>
      <c:overlay val="0"/>
      <c:txPr>
        <a:bodyPr/>
        <a:lstStyle/>
        <a:p>
          <a:pPr>
            <a:defRPr sz="1500"/>
          </a:pPr>
        </a:p>
      </c:txPr>
    </c:legend>
    <c:dispBlanksAs val="gap"/>
  </c:chart>
  <c:txPr>
    <a:bodyPr/>
    <a:lstStyle/>
    <a:p>
      <a:pPr>
        <a:defRPr sz="1500">
          <a:latin typeface="Arial"/>
        </a:defRPr>
      </a:pPr>
      <a:endParaRPr lang="en-US"/>
    </a:p>
  </c:tx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style val="10"/>
  <c:chart>
    <c:autoTitleDeleted val="0"/>
    <c:plotArea>
      <c:barChart>
        <c:barDir val="bar"/>
        <c:grouping val="clustered"/>
        <c:ser>
          <c:idx val="0"/>
          <c:order val="0"/>
          <c:tx>
            <c:strRef>
              <c:f>Sheet1!$B$1</c:f>
              <c:strCache>
                <c:ptCount val="1"/>
                <c:pt idx="0">
                  <c:v>NPV</c:v>
                </c:pt>
              </c:strCache>
            </c:strRef>
          </c:tx>
          <c:spPr>
            <a:solidFill>
              <a:srgbClr val="164C38"/>
            </a:solidFill>
            <a:ln w="25400">
              <a:solidFill>
                <a:srgbClr val="164C38"/>
              </a:solidFill>
            </a:ln>
          </c:spPr>
          <c:cat>
            <c:strRef>
              <c:f>Sheet1!$A$2:$A$7</c:f>
              <c:strCache>
                <c:ptCount val="6"/>
                <c:pt idx="0">
                  <c:v>База</c:v>
                </c:pt>
                <c:pt idx="1">
                  <c:v>Цена −10%</c:v>
                </c:pt>
                <c:pt idx="2">
                  <c:v>Объем −25%</c:v>
                </c:pt>
                <c:pt idx="3">
                  <c:v>Переменные +20%</c:v>
                </c:pt>
                <c:pt idx="4">
                  <c:v>Задержка на год</c:v>
                </c:pt>
                <c:pt idx="5">
                  <c:v>Внесение 900 ₽/га</c:v>
                </c:pt>
              </c:strCache>
            </c:strRef>
          </c:cat>
          <c:val>
            <c:numRef>
              <c:f>Sheet1!$B$2:$B$7</c:f>
              <c:numCache>
                <c:formatCode>General</c:formatCode>
                <c:ptCount val="6"/>
                <c:pt idx="0">
                  <c:v>-1.06765316170057</c:v>
                </c:pt>
                <c:pt idx="1">
                  <c:v>-4.9692233298134845</c:v>
                </c:pt>
                <c:pt idx="2">
                  <c:v>-7.652932558232721</c:v>
                </c:pt>
                <c:pt idx="3">
                  <c:v>-3.6025699807006792</c:v>
                </c:pt>
                <c:pt idx="4">
                  <c:v>-5.086492349152047</c:v>
                </c:pt>
                <c:pt idx="5">
                  <c:v>-11.61946639570112</c:v>
                </c:pt>
              </c:numCache>
            </c:numRef>
          </c:val>
        </c:ser>
        <c:axId val="-2068027336"/>
        <c:axId val="-2113994440"/>
      </c:barChart>
      <c:catAx>
        <c:axId val="-2068027336"/>
        <c:scaling>
          <c:orientation val="minMax"/>
        </c:scaling>
        <c:delete val="0"/>
        <c:axPos val="l"/>
        <c:majorTickMark val="out"/>
        <c:minorTickMark val="none"/>
        <c:tickLblPos val="nextTo"/>
        <c:txPr>
          <a:bodyPr/>
          <a:lstStyle/>
          <a:p>
            <a:pPr>
              <a:defRPr sz="1500"/>
            </a:pPr>
          </a:p>
        </c:txPr>
        <c:crossAx val="-2113994440"/>
        <c:crosses val="autoZero"/>
        <c:auto val="1"/>
        <c:lblAlgn val="ctr"/>
        <c:lblOffset val="100"/>
        <c:noMultiLvlLbl val="0"/>
      </c:catAx>
      <c:valAx>
        <c:axId val="-2113994440"/>
        <c:scaling/>
        <c:delete val="0"/>
        <c:axPos val="b"/>
        <c:majorGridlines/>
        <c:majorTickMark val="out"/>
        <c:minorTickMark val="none"/>
        <c:tickLblPos val="nextTo"/>
        <c:txPr>
          <a:bodyPr/>
          <a:lstStyle/>
          <a:p>
            <a:pPr>
              <a:defRPr sz="1500"/>
            </a:pPr>
          </a:p>
        </c:txPr>
        <c:crossAx val="-2068027336"/>
        <c:crosses val="autoZero"/>
      </c:valAx>
    </c:plotArea>
    <c:dispBlanksAs val="gap"/>
  </c:chart>
  <c:txPr>
    <a:bodyPr/>
    <a:lstStyle/>
    <a:p>
      <a:pPr>
        <a:defRPr sz="1500">
          <a:latin typeface="Arial"/>
        </a:defRPr>
      </a:pPr>
      <a:endParaRPr lang="en-US"/>
    </a:p>
  </c:tx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[ДОПУЩЕНИЕ] АгроВектор — мобильный сервис для малых и средних сельхозпредприятий и фермерских хозяйств. Клиент покупает не дрон, а согласованное обследование, карту проблемных зон, точечное внесение жидких удобрений, СЗР, биопрепаратов или энтомофагов и отчет о работе. Агрохолдинги рассматриваются как вторичный сегмент. Полноценное водное орошение исключено: конструкция сервиса ориентирована на малые объемы технологических составов, а не доставку поливной воды.</a:t>
            </a:r>
          </a:p>
          <a:p/>
          <a:p>
            <a:r>
              <a:t>[ДОПУЩЕНИЕ] Базовый кластер — Татарстан, радиус до 150 км, только после проверки полетной и агрохимической доступности конкретных участков. Одна бригада, основной и резервный агродроны, отдельный мониторинговый аппарат. Первый коммерческий сезон — апрель–сентябрь 2027; подготовка начинается осенью 2026. Контракты, разрешения, поставщики и инвестиции пока не подтверждены.</a:t>
            </a:r>
          </a:p>
          <a:p/>
          <a:p>
            <a:r>
              <a:t>[ДОПУЩЕНИЕ] Социальная составляющая — добровольная гражданская переподготовка людей с опытом управления БПЛА после СВО для работы в АПК. Общие требования к компетенциям, безопасности и допускам одинаковы для всех сотрудников; прежний опыт не заменяет профессиональную подготовку.</a:t>
            </a:r>
          </a:p>
          <a:p/>
          <a:p>
            <a:r>
              <a:t>[РАСЧЕТ] Ключевые показатели условного базового сценария:</a:t>
            </a:r>
          </a:p>
          <a:p/>
          <a:p>
            <a:r>
              <a:t>| Показатель | Значение |</a:t>
            </a:r>
          </a:p>
          <a:p>
            <a:r>
              <a:t>| --- | --- |</a:t>
            </a:r>
          </a:p>
          <a:p>
            <a:r>
              <a:t>| Начальная потребность | 9 500 000 руб. |</a:t>
            </a:r>
          </a:p>
          <a:p>
            <a:r>
              <a:t>| CAPEX / запуск / ликвидность | 7 000 000 / 500 000 / 2 000 000 руб. |</a:t>
            </a:r>
          </a:p>
          <a:p>
            <a:r>
              <a:t>| Выручка 2027 / EBITDA2027 | 8 800 000 / 272 800 руб. |</a:t>
            </a:r>
          </a:p>
          <a:p>
            <a:r>
              <a:t>| NPV за 5 лет, ставка 24% | -1 067 653 руб. |</a:t>
            </a:r>
          </a:p>
          <a:p>
            <a:r>
              <a:t>| Простая / дисконтированная окупаемость | 3,68 / Не достигнута года |</a:t>
            </a:r>
          </a:p>
          <a:p/>
          <a:p>
            <a:r>
              <a:t>[ДОПУЩЕНИЕ] Рекомендация инвестору — условное поэтапное финансирование. Не закупать весь парк без юридического заключения по региону, подтверждения кадрового бюджета и коммерческого портфеля. NPV и окупаемость рассматриваются вместе с риском сценарных предпосылок и не компенсируют отсутствие права на работы. Мониторинг без внесения не объявляется равноценной финансовой заменой: такой вариант требует отдельной малокапитальной модели.</a:t>
            </a:r>
          </a:p>
          <a:p/>
          <a:p>
            <a:r>
              <a:t>Комментарий к слайду:</a:t>
            </a:r>
          </a:p>
          <a:p>
            <a:r>
              <a:t>Редактируемые объекты. Финансовые показатели — расчет модели, входные данные — допущения; проект не является действующим подтвержденным бизнесом.</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[ДОПУЩЕНИЕ] SMART-цели первого сезона. Даты являются контрольным планом, а не подтверждением выполненных работ. При пропуске правовой или закупочной контрольной точки календарь пересматривается до финансирования.</a:t>
            </a:r>
          </a:p>
          <a:p/>
          <a:p>
            <a:r>
              <a:t>| Цель | Измеримый результат | Срок | Ответственный и доказательство |</a:t>
            </a:r>
          </a:p>
          <a:p>
            <a:r>
              <a:t>| --- | --- | --- | --- |</a:t>
            </a:r>
          </a:p>
          <a:p>
            <a:r>
              <a:t>| Правовая применимость | Осуществимость разрешительного маршрута по полям; не выданное разрешение | 01.11.2026 | Директор; письменное заключение юриста |</a:t>
            </a:r>
          </a:p>
          <a:p>
            <a:r>
              <a:t>| Подтверждение спроса | 20 интервью; заявки на 6 000 га-проходов и 4 000 га-обследований | 29.11.2026 | Директор; реестр полей и заявок, без объявления их продажами |</a:t>
            </a:r>
          </a:p>
          <a:p>
            <a:r>
              <a:t>| Коммерческий портфель | 10 клиентов; суммарно 6 000 га-проходов и 4 000 га-обследований | 21.03.2027 | Директор; подписанные договоры и календарь |</a:t>
            </a:r>
          </a:p>
          <a:p>
            <a:r>
              <a:t>| Техническая готовность | Приняты 3 аппарата; 2 оператора прошли оценку; пилот 100 га внутри сезонного объема | 30.04.2027 | Операционный руководитель; до 11.04 — приемка и допуски, в апреле — акт пилота |</a:t>
            </a:r>
          </a:p>
          <a:p>
            <a:r>
              <a:t>| Первый сезон | 6 000 га-проходов, 4 000 га-обследований; выручка 8,8 млн руб. без НДС | 12.09.2027 | Директор; акты, журнал операций, бухгалтерский учет |</a:t>
            </a:r>
          </a:p>
          <a:p>
            <a:r>
              <a:t>| Гражданская подготовка | 2 оператора: индивидуальный план, наставник и оценка; контроль занятости через 3 месяца | 11.04.2027; контроль 12.07.2027 | Операционный руководитель; протоколы обучения и кадровый учет |</a:t>
            </a:r>
          </a:p>
          <a:p/>
          <a:p>
            <a:r>
              <a:t>Обучение добровольное; квоты по биографическому статусу нет. Самостоятельные работы допускаются только после оценки компетенций. Безопасность: 100% заданий проходят проверку готовности; все опасные события регистрируются. Цель — ноль работ без необходимых допусков, а не обещание отсутствия любого инцидента.</a:t>
            </a:r>
          </a:p>
          <a:p/>
          <a:p>
            <a:r>
              <a:t>Комментарий к слайду:</a:t>
            </a:r>
          </a:p>
          <a:p>
            <a:r>
              <a:t>Объемы на слайде: внесение / мониторинг. Полные цели и критерии — в разделе 2. Готовность до 11.04; пилот в апреле входит в сезонный объем.</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[ДОПУЩЕНИЕ] Продукт — договорная услуга мониторинга посевов, картирования проблемных зон и точечного внесения на согласованных участках. Клиент покупает выполненное задание и отчет, не дрон. Препараты предоставляет клиент; культуру, регламент применения и карту задания проверяет внешний агроном. Универсальный рост урожайности и экономия препаратов не обещаются. Выпуск энтомофагов допускается только при подтвержденной технологии и правовом статусе, не как третья строка выручки. Полноценное орошение исключено.</a:t>
            </a:r>
          </a:p>
          <a:p/>
          <a:p>
            <a:r>
              <a:t>### Стратегическая канва предложения</a:t>
            </a:r>
          </a:p>
          <a:p/>
          <a:p>
            <a:r>
              <a:t>[ДОПУЩЕНИЕ] Целевой профиль: локальный маршрут в Татарстане до 150 км, минимум внесения 100 га-проходов, один договор на согласованные операции и отчет не позднее 48 часов после задания. Это гипотеза позиционирования, не достигнутое преимущество. Факторы выбора клиента — цена, состав, доступность поля, минимальный маршрут, срок и проверяемость отчета. Единственная сравнительная матрица этих факторов приведена в разделе 6; повторная таблица здесь не создается.</a:t>
            </a:r>
          </a:p>
          <a:p/>
          <a:p>
            <a:r>
              <a:t>[ДОПУЩЕНИЕ] Подготовка полетного задания, согласование границ и отчет об исполнении входят в тариф внесения. Отдельное обследование с картированием продается за 250 руб./га-обследование по самостоятельной строке заказа; один договор не означает бесплатного мониторинга или повторного счета одних работ. Минимальный отдельный заказ мониторинга пока не установлен: до приема такого выезда проверяются маршрут и его вклад в покрытие затрат. Новые доплаты не включены в расчетную выручку. Паспорт заказа содержит поле, культуру, операции, кратность, окно, цену, приемку и статус допуска.</a:t>
            </a:r>
          </a:p>
          <a:p/>
          <a:p>
            <a:r>
              <a:t>Комментарий к слайду:</a:t>
            </a:r>
          </a:p>
          <a:p>
            <a:r>
              <a:t>Редактируемые объекты. Финансовые показатели — расчет модели, входные данные — допущения; проект не является действующим подтвержденным бизнесом.</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[ДОПУЩЕНИЕ] Lean Canvas по референсу «Практика 08.10.26», слайд 33 и фото 1. Девять блоков описывают проверяемые гипотезы, не действующий бизнес.</a:t>
            </a:r>
          </a:p>
          <a:p/>
          <a:p>
            <a:r>
              <a:t>| Блок Lean Canvas | Гипотеза AgroVector | Проверка / ограничение |</a:t>
            </a:r>
          </a:p>
          <a:p>
            <a:r>
              <a:t>|---|---|---|</a:t>
            </a:r>
          </a:p>
          <a:p>
            <a:r>
              <a:t>| 2. Проблемы | Неуспевание в агроокно; неоднородность посевов; недостаток карт и отчетности. Проверяются интервью, не объявляются доказанным спросом. | Альтернативы: наземная техника, собственный БВС, другой подрядчик, отказ от операции. |</a:t>
            </a:r>
          </a:p>
          <a:p>
            <a:r>
              <a:t>| 4. Решение | Обследование и карта; согласованное точечное внесение; акт и отчет по заданию. | Пилот с контрольным участком и согласованной приемкой. |</a:t>
            </a:r>
          </a:p>
          <a:p>
            <a:r>
              <a:t>| 3. Уникальное ценностное предложение | Одно согласованное задание: от карты проблемных зон до выполненной операции и проверяемого отчета. | Не обещаем универсальной экономии СЗР или прироста урожая. |</a:t>
            </a:r>
          </a:p>
          <a:p>
            <a:r>
              <a:t>| 9. Труднокопируемое преимущество | Пока не подтверждено. Локальные повторные договоры и накопленные карты могут стать преимуществом после сезона. | Ни дрон, ни идея комплексной услуги сами по себе не уникальны. |</a:t>
            </a:r>
          </a:p>
          <a:p>
            <a:r>
              <a:t>| 1. Сегменты клиентов | КФХ и малые/средние хозяйства Татарстана до 150 км при допуске поля. Платит руководитель, принимает агроном. | Ранние последователи: хозяйства с конкретной неудовлетворенной задачей и готовностью оплатить пилот. |</a:t>
            </a:r>
          </a:p>
          <a:p>
            <a:r>
              <a:t>| 8. Ключевые метрики | Доступный подтвержденный портфель; оплаченные га-проходы и га-обследования; вклад после УСН; повторы; время отчета. | Цели: 10 клиентов, 6000/4000 операций, отчет до 48 часов; это не фактические результаты. |</a:t>
            </a:r>
          </a:p>
          <a:p>
            <a:r>
              <a:t>| 5. Каналы | Прямые продажи, рекомендации агрономов, фермерские объединения, демонстрационный платный пилот. | Воронка 100 контактов → 40 разговоров → 20 предложений → 10 клиентов — гипотеза. |</a:t>
            </a:r>
          </a:p>
          <a:p>
            <a:r>
              <a:t>| 7. Структура затрат | Штат и взносы по payroll2027.csv; логистика, ремонт, специалисты и прочий OPEX; CAPEX и запуск отдельно. | Резерв ликвидности не расход; препараты предоставляет клиент. |</a:t>
            </a:r>
          </a:p>
          <a:p>
            <a:r>
              <a:t>| 6. Потоки доходов | Внесение: 6000 × 1300 = 7,8 млн руб.; мониторинг: 4000 × 250 = 1,0 млн руб.; всего 8,8 млн руб. без НДС. | Оплачиваются разные операции; обследование не включается бесплатно во внесение. |</a:t>
            </a:r>
          </a:p>
          <a:p/>
          <a:p>
            <a:r>
              <a:t>Комментарий к слайду:</a:t>
            </a:r>
          </a:p>
          <a:p>
            <a:r>
              <a:t>Редактируемые объекты. Финансовые показатели — расчет модели, входные данные — допущения; проект не является действующим подтвержденным бизнесом.</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[ДОПУЩЕНИЕ] TAM охватывает всю Россию и все категории хозяйств, включая вторичный сегмент агрохолдингов. Это потенциальный выручечный рынок двух услуг — внесения и отдельного мониторинга, не рынок продажи БВС и не наблюдаемая выручка подрядчиков. География SAM — доступный кластер Татарстана до 150 км; SOM — первый сезон одной бригады. SAM вложен в национальный TAM; доступность каждого поля подтверждается отдельно.</a:t>
            </a:r>
          </a:p>
          <a:p/>
          <a:p>
            <a:r>
              <a:t>[ФАКТ] Агроэксперт со ссылкой на весенний учет Росстата сообщает 79 298 млн га посевов в хозяйствах всех категорий РФ за 2025 год.[33] Использован весь общероссийский опубликованный итог, не сумма регионов и не произвольные 2000 хозяйств. Первичная таблица Росстата построчно не извлечена; статистическое основание подтверждено вторичной публикацией.</a:t>
            </a:r>
          </a:p>
          <a:p/>
          <a:p>
            <a:r>
              <a:t>[ДОПУЩЕНИЕ] Потенциальная пригодность 15%, 1,5 платных прохода внесения и 0,5 оплачиваемого обследования в сезон; тарифы 1300 и 250 руб. в ценах 2027 без НДС. Пригодность включает техническую, агрономическую и правовую возможность как сценарный фильтр, но не означает выданного допуска на 15% России. Это не подтвержденный коэффициент принятия услуги клиентами.</a:t>
            </a:r>
          </a:p>
          <a:p/>
          <a:p>
            <a:r>
              <a:t>[РАСЧЕТ] TAM = 79 298 000 × 0,15 × (1,5 × 1300 + 0,5 × 250) = 24 681 502 500 руб./год. Операции: 17 842 050 га-проходов и 5 947 350 га-обследований; не складывать как уникальные гектары.</a:t>
            </a:r>
          </a:p>
          <a:p/>
          <a:p>
            <a:r>
              <a:t>[РАСЧЕТ] SAM = 200 × 2000 × 0,15 × (1,5 × 1300 + 0,5 × 250) = 124 500 000 руб./год. 200 хозяйств и 2000 га на хозяйство — прежние неподтвержденные параметры кластера, не статистика Татарстана. Адресный список внутри 150 км пока отсутствует.</a:t>
            </a:r>
          </a:p>
          <a:p/>
          <a:p>
            <a:r>
              <a:t>[РАСЧЕТ] SOM = 6000 × 1300 + 4000 × 250 = 8 800 000 руб./год; цель 10 клиентов. По внесению SOM/SAM = 6000/90000 = 6,67%; по обследованиям 4000/30000 = 13,33%; по выручке 7,07%. Разный микс объясняет разные проценты. Это сценарные доли цели, не фактическая доля AgroVector. Альтернативный микс SAM: мониторинг 2000, выручка 8,3 млн; не подмена базы 8,8 млн.</a:t>
            </a:r>
          </a:p>
          <a:p/>
          <a:p>
            <a:r>
              <a:t>[РАСЧЕТ] Чувствительность TAM при пригодности 10/15/20%: 16 454 335 000 / 24 681 502 500 / 32 908 670 000 руб. Коэффициенты не доверительные интервалы. Нужны адресные поля, культура, операция, кратность, допуск и готовность платить. Не все посевы станут рынком услуг.</a:t>
            </a:r>
          </a:p>
          <a:p/>
          <a:p>
            <a:r>
              <a:t>[ДОПУЩЕНИЕ] Выход на рынок: 100 адресных контактов → 40 квалифицированных разговоров → 20 предложений → 10 сезонных клиентов. 20 интервью SMART — исследование, а не автоматические предложения или продажи. Маркетинг 240000 руб. в постоянномOPEX, денежныйCAC24000 руб. при 10 клиентах без распределения зарплаты директора. Заказ внесения от 100 га-проходов,30%аванс, остаток после акта; кассовая модель на аванс не опирается. Препараты клиента; приемка по паспорту поля, качество и сроки пилота без обещания роста урожая.</a:t>
            </a:r>
          </a:p>
          <a:p/>
          <a:p>
            <a:r>
              <a:t>[ДОПУЩЕНИЕ] Национальный потенциал не увеличивает мощность нашей бригады и не компенсирует отрицательный NPV новой зарплатной базы. Подтвержденных заказов нет. Файлы расчета: data/market_revision.json и scripts/register_reference_sources.py.</a:t>
            </a:r>
          </a:p>
          <a:p/>
          <a:p>
            <a:r>
              <a:t>### Наблюдаемая отрасль и динамика (снимок проверки 20.10.2026)</a:t>
            </a:r>
          </a:p>
          <a:p/>
          <a:p>
            <a:r>
              <a:t>[ФАКТ] Министр сельского хозяйства сообщила об около 600 тыс.га полей, обработанных агродронами в 2025 году.[8] РСХБ в публикации 16.07.2026 приводит 781 тыс.га за 2025 год и прогноз 1058 тыс.га на 2026 год.[9]</a:t>
            </a:r>
          </a:p>
          <a:p/>
          <a:p>
            <a:r>
              <a:t>[ДОПУЩЕНИЕ] Источники расходятся по 2025 году; охват и правила учета проходов недостаточно раскрыты. Их нельзя объединять в один ряд или выдавать прогноз 2026 за выполненные работы. Сопоставимый первичный национальный итог 2024 не подтвержден. Площади включают не только внешние платные услуги, поэтому умножение отраслевой площади на наш тариф не является доказанным объемом сервисного рынка. Приведенный выше TAM — сценарная будущая корзина, а не текущая платная выручка отрасли.</a:t>
            </a:r>
          </a:p>
          <a:p/>
          <a:p>
            <a:r>
              <a:t>[РАСЧЕТ] Внутри оценки РСХБ прогнозный рост 2026 к 2025 составляет 35,47% (1058/781−1), но этот темп не переносится на финансовую модель АгроВектора: ее выручку определяют собственные гектары, тариф и мощность. Плановый средний CAC24000 руб. и выручка 880000 руб. на клиента рассчитаны как 240000/10 и 8800000/10 соответственно.</a:t>
            </a:r>
          </a:p>
          <a:p/>
          <a:p>
            <a:r>
              <a:t>Комментарий к слайду:</a:t>
            </a:r>
          </a:p>
          <a:p>
            <a:r>
              <a:t>TAM/SAM — собственная гипотеза снизу вверх. Вести: около 600 тыс. га обработано в 2025, со слов министра; РСХБ: 781 тыс. га в 2025 и прогноз 1058 тыс. га в 2026. Различия определений не разрешены; ряды не смешиваются. Все числа рынка на слайде сценарные. Бюджет маркетинга 240 тыс. рублей; денежный CAC 24 тыс. рублей без зарплаты директора. URL — контекст отрасли, не источник TAM/SAM.</a:t>
            </a:r>
          </a:p>
          <a:p/>
          <a:p>
            <a:r>
              <a:t>Внешние URL:</a:t>
            </a:r>
          </a:p>
          <a:p>
            <a:r>
              <a:t>https://www.vesti.ru/article/4893778</a:t>
            </a:r>
          </a:p>
          <a:p>
            <a:r>
              <a:t>https://www.rshb.ru/news/16072026-000004</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[ФАКТ] На 20.10.2026 изучены публичные предложения пяти компаний из единого реестра. Это заявления поставщиков, не независимая проверка качества, разрешений или выполненных работ. Дата публикации страниц не раскрыта, если прямо не указано иное. BeeUAV проверен по странице услуги; главная осталась недоступной, ее прежний адрес и условия не объявляются перепроверенными. У каждой строки ниже указаны источник и дата; ссылки раскрыты в реестре источников.</a:t>
            </a:r>
          </a:p>
          <a:p/>
          <a:p>
            <a:r>
              <a:t>| Исполнитель / статус | Услуги, территория и цена | Комплект, маршрут и отчетность | Опыт, доля и доказательства |</a:t>
            </a:r>
          </a:p>
          <a:p>
            <a:r>
              <a:t>| --- | --- | --- | --- |</a:t>
            </a:r>
          </a:p>
          <a:p>
            <a:r>
              <a:t>| BeeAir / BeeUAV; [ФАКТ] заявление компании; региональный кандидат | Услуги: внесение. Территория: Татарстан упомянут на сервисной странице; наличие местной базы не подтверждено. Цена: числовая цена на прочитанной странице не раскрыта. НДС: не раскрыт. | Комплект: состав единого пакета мониторинга и внесения не раскрыт. Минимум/маршрут: не раскрыт. Отчет: состав и срок отчета не раскрыты. | Опыт/объем: годовые гектары не раскрыты; рекламные 10 и 18 га/ч на одной странице несогласованы. Доля: публично не раскрыта; нет сопоставимого числителя и знаменателя. [2] Проверено: 2026-10-20. Публикация: не указана. сервисная страница прочитана; главная недоступна; прежний адрес МО не подтвержден заново. |</a:t>
            </a:r>
          </a:p>
          <a:p>
            <a:r>
              <a:t>| ГК Агропрофи / XAG; [ФАКТ] заявление компании; региональный кандидат | Услуги: внесение; посев; продажа техники отдельно от услуги. Территория: Поволжье включая Татарстан; контакт Саратов. Цена: публичный тариф услуги не раскрыт. НДС: для услуги не раскрыт. | Комплект: опрыскивание; разбрасывание; посев; агрономическое сопровождение заявлено. Минимум/маршрут: не раскрыт. Отчет: формат и срок клиентского отчета не раскрыты. | Опыт/объем: заявлено 50 000+ га без года и территории; не годовой объем Татарстана. Доля: публично не раскрыта; накопленные гектары не доля рынка. [3][4] Проверено: 2026-10-20. Публикация: не указана. страницы прочитаны напрямую; объемы являются заявлениями поставщика. |</a:t>
            </a:r>
          </a:p>
          <a:p>
            <a:r>
              <a:t>| Аграс / аграс.рф; [ФАКТ] заявление компании; региональный кандидат | Услуги: аренда пилота/техники; демонстрация; продажа и сервис отдельно. Территория: Татарстан и Урал заявлены; локальный офис Татарстана не проверен по адресу. Цена: публичный тариф услуги не раскрыт. НДС: НДС продажи техники не подтверждает НДС услуги. | Комплект: комплект техники и обучения не приравнен к составу подрядной услуги. Минимум/маршрут: не раскрыт. Отчет: отчетность при внедрении не равна спецификации отчета по обработке. | Опыт/объем: по заявлению компании проекты Татарстана 2025: более 40 000 га; исполнитель и оплаченный объем не раскрыты. Доля: публично не раскрыта; нет сопоставимого знаменателя услуг. [5] Проверено: 2026-10-20. Публикация: не указана; акция до октября 2026. главная прочитана; разрешения и внедрения по реестрам не подтверждены. |</a:t>
            </a:r>
          </a:p>
          <a:p>
            <a:r>
              <a:t>| Гермес; [ФАКТ] заявление компании; межрегиональный ориентир | Услуги: внесение; мониторинг виноградников; посев. Территория: Краснодарский край и Адыгея; Татарстан не подтвержден. Цена: публичный тариф услуги не раскрыт. НДС: не раскрыт. | Комплект: направления заявлены; единый договорный пакет не раскрыт. Минимум/маршрут: не раскрыт. Отчет: формат и срок отчета не раскрыты. | Опыт/объем: кейс картофельного поля 500 га без даты и актов; годовой объем не раскрыт. Доля: публично не раскрыта; кейс не годовая доля. [6] Проверено: 2026-10-20. Публикация: не указана. главная прочитана извлекателем; счетчики 0 не интерпретированы как отсутствие работ. |</a:t>
            </a:r>
          </a:p>
          <a:p>
            <a:r>
              <a:t>| Агродроны ЮФО; [ФАКТ] заявление компании; межрегиональный ориентир | Услуги: внесение; обработка полей; посев. Территория: Калмыкия; Дагестан; Ставрополье; Краснодарский край; Ростовская область; контакт Элиста. Цена: 900 руб./га; средняя заявленная руб./га; итог индивидуально; эквивалентность га-проходу и логистика не установлены. НДС: не раскрыт. | Комплект: препараты клиента; помощь в подборе; состав воды и логистики уточняется. Минимум/маршрут: минимум не раскрыт; начало 1–7 дней по загрузке и согласованию. Отчет: акты; сертификаты; закрывающие документы; срок и GIS-отчет не раскрыты. | Опыт/объем: заявлены парк и производительность; годовые оплаченные гектары не раскрыты. Доля: публично не раскрыта; производительность не выполненный объем. [7] Проверено: 2026-10-20. Публикация: не указана. главная прочитана напрямую; география сохранена списком а не названием федерального округа. |</a:t>
            </a:r>
          </a:p>
          <a:p>
            <a:r>
              <a:t>| АгроВектор; [ДОПУЩЕНИЕ]; проект | Услуги: внесение; мониторинг и картирование. Территория: Татарстан до 150 км от базы только при подтвержденном допуске. Цена: план 2027: 1300 руб./га-проход; отдельно 250 руб./га-обследование; препараты клиента. НДС: без НДС; добавляется при обязанности. | Комплект: единый договор; подготовка задания и отчет во внесении; обследование оплачивается отдельно. Минимум/маршрут: план от 100 га-проходов; минимум отдельного мониторинга не установлен. Отчет: план: объем и параметры задания; отклонения; акт; отчет до 48 часов. | Опыт/объем: сезон не проведен; 6000 проходов и 4000 обследований цель а не фактический объем. Доля: фактическая доля не установлена; SOM/SAM только сценарий раздела 5.  Проверено: 2026-10-20. Публикация: план 2027. проектные параметры не рыночная оферта; нет подтвержденных контрактов и разрешений. |</a:t>
            </a:r>
          </a:p>
          <a:p/>
          <a:p/>
          <a:p>
            <a:r>
              <a:t>[ДОПУЩЕНИЕ] Географически релевантные кандидаты для сопоставимых КП — BeeUAV, Агропрофи и Аграс. Последний теперь прямо заявляет Татарстан, поэтому больше не описывается только как уральский ориентир.[2][3][5] Гермес и ЮФО — межрегиональные ориентиры; доступность в Татарстане не подтверждена.[6][7] Производитель XAG не является отдельным исполнителем услуги. Наземный подрядчик и собственный опрыскиватель хозяйства — заменители: их сравнивают по полной смете конкретного задания.</a:t>
            </a:r>
          </a:p>
          <a:p/>
          <a:p>
            <a:r>
              <a:t>[ФАКТ] ЮФО публикует средние 900 руб./га с индивидуальным расчетом, препараты клиента и закрывающие документы; НДС, минимальный заказ и логистика не раскрыты.[7] [РАСЧЕТ] Проектные 1300 руб. выше этого ориентира на 44,44%, но различия региона, единицы и состава не позволяют объявить это измеренной рыночной премией. Стресс 900 руб. дает отрицательную NPV в разделе 18.</a:t>
            </a:r>
          </a:p>
          <a:p/>
          <a:p>
            <a:r>
              <a:t>[ДОПУЩЕНИЕ] Доли конкурентов в сопоставимом рынке платных услуг Татарстана публично не раскрыты. Для процента нужны год, территория, услуги, оплаченный объем или выручка участника и такой же знаменатель рынка. 50 000+ га Агропрофи без года и территории и &gt;40 000 га проектов Аграс за 2025 год не дают долю сервисного рынка.[3][5] Неизвестное не равно нулю. SOM/SAM проекта — сценарное отношение раздела 5, не фактическая доля. До закупки нужны минимум три сопоставимых предложения на услуги для одного поля и отдельно два КП на полный парк техники; не смешивать эти два требования.</a:t>
            </a:r>
          </a:p>
          <a:p/>
          <a:p>
            <a:r>
              <a:t>### Примерные цены аналогичных компаний</a:t>
            </a:r>
          </a:p>
          <a:p/>
          <a:p>
            <a:r>
              <a:t>[ФАКТ] Агродроны ЮФО публикуют цену обработки от 900 руб./га.[36] НДС и полный состав цены не раскрыты. ООО«Купец» в авторской публикации 07.05.2025 приводит диапазон 1200–1500 руб./га сНДС.[37] Это не текущая оферта, не прайсТатарстана и не независимая медиана. У Агропрофи/XAG, Аграс и BeeUAV числовые тарифы услуг в проверенном наборе не раскрыты; цена аппарата не используется вместо цены обработки. ПланAgroVector1300/250 не объявляется доказанным рыночным средним; по мониторингу нужен отдельный запросКП.</a:t>
            </a:r>
          </a:p>
          <a:p/>
          <a:p>
            <a:r>
              <a:t>Комментарий к слайду:</a:t>
            </a:r>
          </a:p>
          <a:p>
            <a:r>
              <a:t>Сокращенная проекция единственной полной матрицы раздела 6. Все критерии, источники и даты сохранены в тексте заметок выше. Полная матрица строится из data/competitors.csv. Цены услуг не сопоставлены по НДС, логистике и составу; данные поставщиков не являются независимым аудитом.</a:t>
            </a:r>
          </a:p>
          <a:p>
            <a:r>
              <a:t>Источники строк (проверка 20.10.2026):</a:t>
            </a:r>
          </a:p>
          <a:p>
            <a:r>
              <a:t>[2] https://beeuav.ru/uslugi/obrabotka-polej/</a:t>
            </a:r>
          </a:p>
          <a:p>
            <a:r>
              <a:t>[3] https://xag-ap.ru/</a:t>
            </a:r>
          </a:p>
          <a:p>
            <a:r>
              <a:t>[4] https://xag-ap.ru/spraying.php</a:t>
            </a:r>
          </a:p>
          <a:p>
            <a:r>
              <a:t>[5] https://xn--80aai6cg.xn--p1ai/</a:t>
            </a:r>
          </a:p>
          <a:p>
            <a:r>
              <a:t>[6] https://germes-technology.ru/</a:t>
            </a:r>
          </a:p>
          <a:p>
            <a:r>
              <a:t>[7] https://agrdron.ru/</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[ДОПУЩЕНИЕ] Полный перекрестный SWOT/TOWS по референсу, слайды 35–38 и фото 2. Сильные стороны — особенности проектной конструкции, не подтвержденные преимущества работающей компании. Возможности — гипотезы спроса, не статистика рынка.</a:t>
            </a:r>
          </a:p>
          <a:p/>
          <a:p>
            <a:r>
              <a:t>| Внутренняя / внешняя среда | Возможности O | Угрозы T |</a:t>
            </a:r>
          </a:p>
          <a:p>
            <a:r>
              <a:t>|---|---|---|</a:t>
            </a:r>
          </a:p>
          <a:p>
            <a:r>
              <a:t>| Факторы | O1: локальные задачи, для которых наземная обработка неудобна; O2: партнерство с агрономами и хозяйствами для платного пилота; O3: добровольная подготовка кандидатов с опытом БПЛА | T1: ограничения полетов и применимости препаратов; T2: погода, узкие окна и общие отказы оборудования; T3: ценовое давление и задержка платежей |</a:t>
            </a:r>
          </a:p>
          <a:p>
            <a:r>
              <a:t>| Сильные стороны S: S1: спроектирован единый контур задания, карты и отчета; S2: предусмотрен резервный аппарат внесения; S3: короткая цепочка решений одной бригады | SO: S1+O1/O2: директор и агроном до закупки согласуют платный пилот и критерии приемки; метрика — подписанный паспорт задания и оплаченный пилот, без обещания урожайности. | ST: S2/S3+T1/T2: операционный руководитель перед каждым выездом проверяет допуски и резерв; no-go при нарушении. Метрика — 100% чек-листов и отсутствие неразрешенных заданий. |</a:t>
            </a:r>
          </a:p>
          <a:p>
            <a:r>
              <a:t>| Слабые стороны W: W1: нет подтвержденных заказов и проведенного сезона; W2: одна бригада, совместные агроокна двух услуг; W3: парк и условия труда еще не подтверждены КП/кандидатами | WO: W1/W3+O2/O3: директор до финансирования получает КП, предложения кандидатам и договорный портфель; наставник оценивает обоих операторов. Метрика — документы и протоколы оценки, не число интервью. | WT: W2+T2/T3: директор ограничивает загрузку месячным календарем, согласует аванс и перенос; при неподтвержденной мощности отклоняет заказ. Метрика — отсутствие двойного бронирования и контроль кассового минимума. |</a:t>
            </a:r>
          </a:p>
          <a:p/>
          <a:p>
            <a:r>
              <a:t>Комментарий к слайду:</a:t>
            </a:r>
          </a:p>
          <a:p>
            <a:r>
              <a:t>Редактируемые объекты. Финансовые показатели — расчет модели, входные данные — допущения; проект не является действующим подтвержденным бизнесом.</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[ДОПУЩЕНИЕ] Сводная таблица пяти сил Портера в формате фото 3 и слайда 46 референса. Уровни качественные и подлежат проверке; не статистические измерения.</a:t>
            </a:r>
          </a:p>
          <a:p/>
          <a:p>
            <a:r>
              <a:t>| Параметр | Значение | Описание | Направление работ |</a:t>
            </a:r>
          </a:p>
          <a:p>
            <a:r>
              <a:t>|---|---|---|---|</a:t>
            </a:r>
          </a:p>
          <a:p>
            <a:r>
              <a:t>| Заменители | Высокий | Наземная техника, свой БВС, отказ от операции | Сравнить полную стоимость и применимость на конкретном поле; не обещать превосходство повсеместно |</a:t>
            </a:r>
          </a:p>
          <a:p>
            <a:r>
              <a:t>| Действующие конкуренты | Высокий | Клиент сравнивает тариф, состав работ и доступное окно | Собирать сопоставимые КП; фиксировать приемку и отчетность |</a:t>
            </a:r>
          </a:p>
          <a:p>
            <a:r>
              <a:t>| Новые участники | Средний | Технику можно купить, но капитал, персонал и допуски ограничивают вход | Удерживать клиентов качеством и повторными договорами; мониторить новых исполнителей |</a:t>
            </a:r>
          </a:p>
          <a:p>
            <a:r>
              <a:t>| Покупатели | Высокий | Сезонный торг, концентрация портфеля, отсрочки | Лимиты концентрации и дебиторки; согласованный аванс и календарь |</a:t>
            </a:r>
          </a:p>
          <a:p>
            <a:r>
              <a:t>| Поставщики | Средний–высокий | АКБ, комплектующие, сервис и совместимость зависят от поставщика | Два КП, запас критичных деталей, сервисный SLA; резерв не устраняет общий отказ |</a:t>
            </a:r>
          </a:p>
          <a:p/>
          <a:p>
            <a:r>
              <a:t>Комментарий к слайду:</a:t>
            </a:r>
          </a:p>
          <a:p>
            <a:r>
              <a:t>Редактируемые объекты. Финансовые показатели — расчет модели, входные данные — допущения; проект не является действующим подтвержденным бизнесом.</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[ДОПУЩЕНИЕ] Предпочтительная форма — ООО для долевого участия инвестора и договорной ответственности. ОКВЭД, УСН, корпоративные условия и страхование утверждаются с профильными специалистами. Этот раздел — исследовательская карта требований, не юридическое заключение и не разрешение на полеты.</a:t>
            </a:r>
          </a:p>
          <a:p/>
          <a:p>
            <a:r>
              <a:t>[ФАКТ] 20.10.2026 прочитана официальная карточка Указа Республики Татарстан от 25.11.2022 № УП-813 «Об использовании беспилотных воздушных судов на территории Республики Татарстан», опубликованного 30.11.2022.[32] Полный действующий текст исключений и основание допуска AgroVector не подтверждены. Радиус 150 км — логистическое допущение, не разрешенная полетная зона.</a:t>
            </a:r>
          </a:p>
          <a:p/>
          <a:p>
            <a:r>
              <a:t>[ФАКТ] При повторном чтении вторичного правового текста ФАП по приказу Минтранса №303 подтверждены вступление с 01.09.2026, сертификат, эксплуатационная спецификация и требования к организации работ.[17] Официальный скан [16] сейчас заново содержательно не прочитан; действует обязательная сверка первоисточника и актуальной редакции до инвестирования. Реквизиты не подменяют проверку применимости.</a:t>
            </a:r>
          </a:p>
          <a:p/>
          <a:p>
            <a:r>
              <a:t>[ДОПУЩЕНИЕ] Для каждой выбранной модели устанавливается максимальная взлетная масса по документам, не пустой вес или объем бака. Прежняя правовая основа учета 0,15–30 кг включительно и регистрации более 30 кг сохранена как датированный снимок статьи 33 ВК РФ.[15] До допуска требуется свежая проверка учета/регистрации, летной годности, эксплуатанта, персонала, спецификации работ, страхования, воздушного пространства и региональных ограничений. Договор с фермером, малая высота и частная земля сами по себе не разрешают полет; участие AgroVector в ЭПР не подтверждено.</a:t>
            </a:r>
          </a:p>
          <a:p/>
          <a:p>
            <a:r>
              <a:t>[ФАКТ] В актуально прочитанном разъяснении территориального Россельхознадзора о правилах с 01.03.2026 обычное уведомление о пестицидах проводится не ранее 10 и не позднее 5 календарных дней, через СМИ и ФГИС «Сатурн»; указан радиус до 7 км и специальный порядок не позднее 24 часов только при установленном уровне реагирования и режиме ЧС.[31] Обычный срочный заказ или перенос из-за ветра не объявляется чрезвычайной ситуацией.</a:t>
            </a:r>
          </a:p>
          <a:p/>
          <a:p>
            <a:r>
              <a:t>[ДОПУЩЕНИЕ] Агроном проверяет актуальный госреестр и регламент каждого препарата: культуру, вредный объект, способ применения, норму раствора, дозу, кратность, ожидание и экологические ограничения. Препараты клиента не снимают ответственности исполнителя. Ни один препарат проекта не утвержден; уменьшение нормы рабочего раствора не разрешается ссылкой на обычную авиационную обработку. В договоре назначаются ответственные за уведомления, «Сатурн», остатки, тару, мойку, отходы и журнал.</a:t>
            </a:r>
          </a:p>
          <a:p/>
          <a:p>
            <a:r>
              <a:t>### Санитарный и региональный контроль допуска</a:t>
            </a:r>
          </a:p>
          <a:p/>
          <a:p>
            <a:r>
              <a:t>[ДОПУЩЕНИЕ] Архив 05.09.2026 содержит выдержки о 700 м в отдельных поправках СанПиН.[18][19] Реквизиты введения СП 2.2.4285-26 с 01.09.2026 сохранены в официальной карточке и вторичном тексте прежнего снимка.[20][21] Пункты 287/291 о наземной альтернативе и остановке при людях/животных в пределах 2000 м прочитаны ранее в неофициальной копии.[27] На 20.10.2026 полный официальный скан построчно не сверен. Эти числа не объявляются универсальными действующими нормами для любого БАС: письменная правовая проверка соотношения специальных положений обязательна. Радиус уведомления пчеловодов 7 км не заменяет санитарные расстояния.</a:t>
            </a:r>
          </a:p>
          <a:p/>
          <a:p>
            <a:r>
              <a:t>[ДОПУЩЕНИЕ] Контроль A устанавливает осуществимость разрешительного маршрута, а не выдает допуск; G проверяет документы конкретного борта, оператора и работ; M и каждый выезд повторно проверяют ограничения. Нет письменного основания, подходящего препарата или безопасного поля — остановка без замены права на работы коммерческой целью. Стратегия развития БАС остается отраслевым контекстом, не гарантией субсидии и не разрешением компании.[26] Гранты в модель не включены. Статус каждого старого источника 16–28 приведен в исследовании C и реестре источников.</a:t>
            </a:r>
          </a:p>
          <a:p/>
          <a:p>
            <a:r>
              <a:t>Комментарий к слайду:</a:t>
            </a:r>
          </a:p>
          <a:p>
            <a:r>
              <a:t>До закупки требуется письменная карта применимых норм от юриста, а перед выездом — повторная проверка. Базовые URL Росавиации и портала правовой информации — точки входа для проверки, не подтверждение выданного разрешения. При наличии окончательной секции 9 ее конкретные внешние ссылки автоматически подхватываются. Не смешивать массу пустого БВС, полезную нагрузку и максимальную взлетную массу. Мониторинг-only не доказан как прибыльная замена базовой модели.</a:t>
            </a:r>
          </a:p>
          <a:p/>
          <a:p>
            <a:r>
              <a:t>Внешние URL:</a:t>
            </a:r>
          </a:p>
          <a:p>
            <a:r>
              <a:t>https://base.garant.ru/414829385/</a:t>
            </a:r>
          </a:p>
          <a:p>
            <a:r>
              <a:t>http://publication.pravo.gov.ru/Document/View/1600202211300002</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[ДОПУЩЕНИЕ] Модель Менделоу: вертикальная ось — власть, горизонтальная — интерес. Классификация плановая; власть означает возможность влиять на капитал, допуск или заказ. При изменении интереса/влияния участник перемещается между квадрантами.</a:t>
            </a:r>
          </a:p>
          <a:p/>
          <a:p>
            <a:r>
              <a:t>| Власть / интерес | Группы | Стратегия | Ответственный и частота |</a:t>
            </a:r>
          </a:p>
          <a:p>
            <a:r>
              <a:t>|---|---|---|---|</a:t>
            </a:r>
          </a:p>
          <a:p>
            <a:r>
              <a:t>| Высокая / высокий | Учредитель, инвестор, ключевые заказчики | Управлять тесно: решения, паспорт поля, контроль траншей | Директор: еженедельно при запуске и перед ключевым решением |</a:t>
            </a:r>
          </a:p>
          <a:p>
            <a:r>
              <a:t>| Высокая / низкий или переменный | Регуляторы, страховщик | Поддерживать удовлетворенность: документы и применимые требования; не обещать разрешений | Юрист/директор: до допуска и при каждом изменении; внепланово при инциденте |</a:t>
            </a:r>
          </a:p>
          <a:p>
            <a:r>
              <a:t>| Низкая / высокий | Операторы, агроном, учебный партнер, кандидаты, пчеловоды и соседи полей | Информировать и привлекать: обучение, обратная связь, уведомления и жалобы | Операционный руководитель: перед каждым выездом; директор: уведомления в законные сроки |</a:t>
            </a:r>
          </a:p>
          <a:p>
            <a:r>
              <a:t>| Низкая / низкий | Пока не вовлеченные хозяйства вне маршрута, широкая аудитория | Наблюдать: без массовых обещаний и раскрытия персональных данных | Директор: ежемесячно; пересмотр при появлении интереса |</a:t>
            </a:r>
          </a:p>
          <a:p/>
          <a:p>
            <a:r>
              <a:t>[ДОПУЩЕНИЕ] Низкая власть не означает низкую значимость безопасности: обоснованная жалоба пчеловода или соседа инициирует остановку и проверку. Средние оценки сервиса/агронома относятся к нижней половине матрицы лишь условно; при критичной зависимости влияние повышается. Источник формы: референс, слайды 50–51.</a:t>
            </a:r>
          </a:p>
          <a:p/>
          <a:p>
            <a:r>
              <a:t>Комментарий к слайду:</a:t>
            </a:r>
          </a:p>
          <a:p>
            <a:r>
              <a:t>Редактируемые объекты. Финансовые показатели — расчет модели, входные данные — допущения; проект не является действующим подтвержденным бизнесом.</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[ДОПУЩЕНИЕ] Производственный контур включает одну бригаду из двух операторов, два аппарата внесения — основной и резервный — и один мониторинговый. Резерв восстанавливает доступность при отказе основного, но не удваивает производительность. Полный цикл заказа: проверка применимости и разрешений → обследование и согласование задания → подготовка техники и материалов клиента → выполнение → контроль и актирование.</a:t>
            </a:r>
          </a:p>
          <a:p/>
          <a:p>
            <a:r>
              <a:t>[ДОПУЩЕНИЕ] Сезон длится 22 недели. Плановая емкость внесения опирается на 100 эффективных рабочих дней с производительностью 130 га-проходов в день. Это интегральная гипотеза с учетом переездов и подготовки, которую необходимо подтвердить хронометражем. Календарные недели не означают ежедневную летную доступность.</a:t>
            </a:r>
          </a:p>
          <a:p/>
          <a:p>
            <a:r>
              <a:t>[РАСЧЕТ] 22 недели = 154 календарных дня. В пятом году внесение требует 100 × 130 = 13 000 га-проходов, мониторинг — 20 × 500 = 10 000 га-обследований. Последовательное выполнение занимает 120 полевых рабочих дней; остаются 34 дня погодного и логистического резерва. [ДОПУЩЕНИЕ] Это напряженный потолок, а не гарантированная мощность: производительность мониторинга 500 га в день и достаточность резерва требуют проверки.</a:t>
            </a:r>
          </a:p>
          <a:p/>
          <a:p>
            <a:r>
              <a:t>| Год | Внесение, га-проходы | Мониторинг, га-обследования |</a:t>
            </a:r>
          </a:p>
          <a:p>
            <a:r>
              <a:t>|---|---:|---:|</a:t>
            </a:r>
          </a:p>
          <a:p>
            <a:r>
              <a:t>| 2027 | 6000 | 4000 |</a:t>
            </a:r>
          </a:p>
          <a:p>
            <a:r>
              <a:t>| 2028 | 9000 | 6000 |</a:t>
            </a:r>
          </a:p>
          <a:p>
            <a:r>
              <a:t>| 2029 | 11000 | 8000 |</a:t>
            </a:r>
          </a:p>
          <a:p>
            <a:r>
              <a:t>| 2030 | 12000 | 9000 |</a:t>
            </a:r>
          </a:p>
          <a:p>
            <a:r>
              <a:t>| 2031 | 13000 | 10000 |</a:t>
            </a:r>
          </a:p>
          <a:p/>
          <a:p>
            <a:r>
              <a:t>[ДОПУЩЕНИЕ] Мониторинг проводится помощником в отдельных согласованных окнах при сохранении необходимых условий безопасности. Одновременные полеты внесения и мониторинга без отдельной команды недопустимы. Обработка данных переносится в нелетное время; совокупный календарь обеих услуг проверяется до подтверждения заказа. Объемы последних лет являются целями, а не доказательством наличия трудового ресурса.</a:t>
            </a:r>
          </a:p>
          <a:p/>
          <a:p>
            <a:r>
              <a:t>[ДОПУЩЕНИЕ] Тарифы 2027 года без НДС: 1300 руб. за га-проход внесения и 250 руб. за га-обследование. Препараты клиента не включены. Полевой пилот 100 га проводится в апреле 2027 года внутри 6000 га-проходов первого сезона и не прибавляется повторно. Перед выездом проверяются документы, погода, состояние техники, пригодность материала и согласованный контур. При отклонении задание приостанавливается; повторная работа оформляется по условиям договора, а не автоматически как новая выручка.</a:t>
            </a:r>
          </a:p>
          <a:p/>
          <a:p>
            <a:r>
              <a:t>[РАСЧЕТ] Проверка совместной мощности:22×7=154 календарных дня; внесение 13000/130=100 дней, мониторинг 10000/500=20 дней, резерв 34 дня. [ДОПУЩЕНИЕ] Производительность мониторинга 500 га/день и 120 полевых дней — напряженный потолок, а не гарантия; работы выполняются последовательно, выходные и нормы отдыха соблюдаются. Полевой пилот 100 га в апреле включен в 6000 га-проходов первого сезона. При невозможности подтвердить такой календарь объемыY4–Y5 снижаются.</a:t>
            </a:r>
          </a:p>
          <a:p/>
          <a:p>
            <a:r>
              <a:t>[ДОПУЩЕНИЕ] Приемочный хронометраж включает полный маршрут, подготовку, смешивание, АКБ/зарядку, мойку и отчет; рекламные га/час не заменяют га за полную смену. Календарь должен включать отдых, погодные паузы, уведомления и обслуживание. Поздний годовой объем пока является ресурсно не подтвержденным верхним сценарием, не обязательством клиентам.</a:t>
            </a:r>
          </a:p>
          <a:p/>
          <a:p>
            <a:r>
              <a:t>[РАСЧЕТ] При одинаковой сезонности обеих услуг июнь 2031 требует 30 полевых дней из 30 календарных. Годовые 120 дней не доказывают выполнимость месяца: отдых, погода и обслуживание не обеспечены. [ДОПУЩЕНИЕ] Поздние объемы сохранены только как непроверенный верхний сценарий. До обязательств клиентам нужен ресурсный календарь; при неподтверждении снижаются объемы или оценивается дополнительный оплачиваемый ресурс с пересчетом всей модели. Машинный ресурсный экран: data/capacity_check.csv; 5 дней из 7 — условная проверка, не юридический режим труда.</a:t>
            </a:r>
          </a:p>
          <a:p/>
          <a:p>
            <a:r>
              <a:t>[ДОПУЩЕНИЕ] Отдельный ресурсный стресс ограничивает одну бригаду 20 эффективными полевыми днями в каждом месяце. Это не наблюденная погода и не подтверждение производительности. Требуемые дни: (га-проходы / 130 + га-обследования / 500) × доля месяца. При превышении 20 оба месячных объема сокращаются одинаковым коэффициентом 20 / требуемые дни; невыполненные работы не переносятся. Постоянные расходы, замены и возврат резерва сохранены.</a:t>
            </a:r>
          </a:p>
          <a:p/>
          <a:p>
            <a:r>
              <a:t>[РАСЧЕТ] NPV ресурсного стресса — -2 704 508,25 руб.; простая / дисконтированная окупаемость — 4,089 / Не достигнута года. Базовая модель не заменена. Помесячные объемы и годовые потоки: data/capacity_scenario_monthly.csv и data/capacity_scenario_annual.csv; формулы — scripts/build_capacity_scenario.py.</a:t>
            </a:r>
          </a:p>
          <a:p/>
          <a:p>
            <a:r>
              <a:t>[ДОПУЩЕНИЕ] Базовые 4 млн руб. на основной и резервный аппараты внесения не подтверждены КП. Ориентир пары XAG P100 Pro — 5,98 млн руб.; закупочный стресс требует 11,48 млн руб. финансирования. Проверка комплектации и производительности обязательна; подробности в разделе 17.</a:t>
            </a:r>
          </a:p>
          <a:p/>
          <a:p>
            <a:r>
              <a:t>Комментарий к слайду:</a:t>
            </a:r>
          </a:p>
          <a:p>
            <a:r>
              <a:t>Редактируемые объекты. Финансовые показатели — расчет модели, входные данные — допущения; проект не является действующим подтвержденным бизнесом.</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[ДОПУЩЕНИЕ] Штат — 3 FTE: директор, совмещающий продажи и управление финансами; оператор — операционный руководитель; второй оператор, выполняющий также функции помощника. Внешние агроном, юрист и бухгалтер привлекаются по договорам и включаются в бюджет отдельно от штатного фонда труда. Наименования «Продажи» и «Операционный руководитель» в проектных таблицах обозначают функции, а не дополнительные вакансии.</a:t>
            </a:r>
          </a:p>
          <a:p/>
          <a:p>
            <a:r>
              <a:t>| Роль | Основные обязанности | Ограничение полномочий |</a:t>
            </a:r>
          </a:p>
          <a:p>
            <a:r>
              <a:t>|---|---|---|</a:t>
            </a:r>
          </a:p>
          <a:p>
            <a:r>
              <a:t>| Директор / продажи | Клиенты, договоры, деньги, партнеры, персонал | Не отменяет профессиональный запрет на выполнение |</a:t>
            </a:r>
          </a:p>
          <a:p>
            <a:r>
              <a:t>| Оператор / операционный руководитель | Календарь, техника, безопасность, наставничество | Не заменяет агронома и юридическую проверку |</a:t>
            </a:r>
          </a:p>
          <a:p>
            <a:r>
              <a:t>| Второй оператор / помощник | Подготовка, контроль, мониторинг в отдельных окнах | Самостоятельные действия только после проверки компетенций |</a:t>
            </a:r>
          </a:p>
          <a:p>
            <a:r>
              <a:t>| Внешний агроном | Задания, технологическая применимость, качество | Не предоставляет автоматического разрешения на полеты |</a:t>
            </a:r>
          </a:p>
          <a:p>
            <a:r>
              <a:t>| Внешние юрист и бухгалтер | Правовая готовность, учет, договорные и налоговые вопросы | Работают в согласованном объеме услуг |</a:t>
            </a:r>
          </a:p>
          <a:p/>
          <a:p>
            <a:r>
              <a:t>[ДОПУЩЕНИЕ] Штатные gross-оклады и страховые взносы раскрываются раздельно в data/payroll2027.csv и финансовом разделе. Региональная средняя зарплата служит ориентиром, а не подтверждением стоимости пилота БПЛА. НДФЛ удерживается из gross, а не прибавляется к стоимости работодателя. Взносы на травматизм до подтверждения класса являются допущением. Неоплачиваемые переработки не финансируют модель.</a:t>
            </a:r>
          </a:p>
          <a:p/>
          <a:p>
            <a:r>
              <a:t>[ДОПУЩЕНИЕ] Людям с опытом БПЛА после СВО предлагается добровольная гражданская переподготовка: оценка исходных навыков, обучение агротехнологии и безопасности, работа с наставником, практическая проверка и документированное решение о готовности. Требования одинаковы для всех кандидатов; прежний опыт не означает автоматического допуска. При необходимости предусматривается индивидуальный темп адаптации и добровольное обращение за поддержкой без раскрытия чувствительных данных клиентам.</a:t>
            </a:r>
          </a:p>
          <a:p/>
          <a:p>
            <a:r>
              <a:t>[ФАКТ] Региональный ориентир января–июня 2026 —98479 руб. начисленной зарплаты в месяц по сообщению СМИ со ссылкой на Татарстанстат.[34] Это вторичный источник, не ставка пилотаБПЛА. [ДОПУЩЕНИЕ] На 2027 принято 100000 руб.grossдля директора и каждого из двух операторов:3,6 млн руб. gross/год. Общий тариф 30%без неподтвержденной льготы плюс 0,2%травматизма до установления класса:1,0872 млн руб. взносов, всего 4,6872 млн руб./год. ПравилаФНС 2026 общего тарифа и базы проверены[35]; их перенос на 2027 и дальнейшая индексация — бюджетное допущение до сверки действующих норм. НДФЛ не начисляется повторно сверхуgross. Файл payroll2027.csv; 0,2%не подтвержденный тариф AgroVector.</a:t>
            </a:r>
          </a:p>
          <a:p/>
          <a:p>
            <a:r>
              <a:t>Комментарий к слайду:</a:t>
            </a:r>
          </a:p>
          <a:p>
            <a:r>
              <a:t>Редактируемые объекты. Финансовые показатели — расчет модели, входные данные — допущения; проект не является действующим подтвержденным бизнесом.</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[ДОПУЩЕНИЕ] WBS формируется из единого набора работ в `scripts/build_plan.py`; табличное представление — `data/project_plan.csv`. Иерархия охватывает проверку модели, финансирование и подготовку ресурсов, предсезонную готовность, коммерческий сезон и итоговый аудит. Каждый пакет имеет проверяемый результат, а не только факт затраченного времени.</a:t>
            </a:r>
          </a:p>
          <a:p/>
          <a:p>
            <a:r>
              <a:t>[ДОПУЩЕНИЕ] Отдельный пакет M предусматривает три недели предсезонной готовности и ожидания погодного окна после J. Приемочные испытания I не подменяются зимней коммерческой обработкой; полевой пилот выполняется в K и включается в апрельский сезон. Закупка не разрешает автоматически начинать работы: необходима готовность по G и контроль перед конкретным выездом.</a:t>
            </a:r>
          </a:p>
          <a:p/>
          <a:p>
            <a:r>
              <a:t>[ДОПУЩЕНИЕ] Графическое дерево: AgroVector → 1. Проверка (A/B/C) → 2. Ресурсы (D/E/F/G) → 3. Готовность (H/I/J/M) → 4. Сезон и аудит (K/L). Ветви — декомпозиция результатов, не последовательность или зависимости; зависимости показаны отдельно сетевым графиком. На слайде каждый пакет привязан к ID единого CSV. Референс: слайды 71, 74–75.</a:t>
            </a:r>
          </a:p>
          <a:p/>
          <a:p>
            <a:r>
              <a:t>| WBS | ID | Работа | Результат |</a:t>
            </a:r>
          </a:p>
          <a:p>
            <a:r>
              <a:t>| --- | --- | --- | --- |</a:t>
            </a:r>
          </a:p>
          <a:p>
            <a:r>
              <a:t>| 1.1 | A | Проверка региона, полетов и схемы АХР | Осуществимость разрешительного маршрута; не выданное разрешение |</a:t>
            </a:r>
          </a:p>
          <a:p>
            <a:r>
              <a:t>| 1.2 | B | Интервью и предварительные заявки хозяйств | 20 интервью; заявки на 6000 га-проходов и 4000 га-обследований |</a:t>
            </a:r>
          </a:p>
          <a:p>
            <a:r>
              <a:t>| 1.3 | C | ООО, договоры, учет и страховой проект | ООО; договоры; страховые предложения |</a:t>
            </a:r>
          </a:p>
          <a:p>
            <a:r>
              <a:t>| 2.1 | D | Инвестиционное решение и финансирование | Условия траншей и лимит необратимых расходов; 9,5 млн только для базы; КП и обязательства клиентов проверяются до закупки |</a:t>
            </a:r>
          </a:p>
          <a:p>
            <a:r>
              <a:t>| 2.2 | E | Закупка и приемка оборудования | Комплектность; серийные номера; акты |</a:t>
            </a:r>
          </a:p>
          <a:p>
            <a:r>
              <a:t>| 2.3 | F | Подбор и гражданская переподготовка | Два оператора; экзамен и допуск |</a:t>
            </a:r>
          </a:p>
          <a:p>
            <a:r>
              <a:t>| 2.4 | G | Разрешительная готовность и учет БВС | Документы на конкретные БВС/работы; либо no-go |</a:t>
            </a:r>
          </a:p>
          <a:p>
            <a:r>
              <a:t>| 3.1 | H | SOP, CRM, карты и контроль качества | Чек-листы; шаблон отчета; аварийный план |</a:t>
            </a:r>
          </a:p>
          <a:p>
            <a:r>
              <a:t>| 3.2 | I | Стендовые и контролируемые приемочные испытания | Акт стендовой приемки; полевой пилот отдельно в K до 30.04.2027 |</a:t>
            </a:r>
          </a:p>
          <a:p>
            <a:r>
              <a:t>| 3.3 | J | Сезонные договоры и маршрутизация | 10 клиентов; согласованный календарь |</a:t>
            </a:r>
          </a:p>
          <a:p>
            <a:r>
              <a:t>| 3.4 | M | Предсезонная готовность и ожидание погодного окна | Повторная проверка разрешений и погодного окна |</a:t>
            </a:r>
          </a:p>
          <a:p>
            <a:r>
              <a:t>| 4.1 | K | Первый коммерческий сезон | 6000 га-проходов; 4000 га-обследований |</a:t>
            </a:r>
          </a:p>
          <a:p>
            <a:r>
              <a:t>| 4.2 | L | Аудит сезона и решение о продолжении | Факт P&amp;L/ДДС; претензии; продления |</a:t>
            </a:r>
          </a:p>
          <a:p/>
          <a:p>
            <a:r>
              <a:t>Комментарий к слайду:</a:t>
            </a:r>
          </a:p>
          <a:p>
            <a:r>
              <a:t>Редактируемые объекты. Финансовые показатели — расчет модели, входные данные — допущения; проект не является действующим подтвержденным бизнесом.</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[ДОПУЩЕНИЕ] Диаграмма Ганта должна строиться из того же набора задач, длительностей и зависимостей, что WBS и сетевой график. Базовый старт коммерческого сезона — 12 апреля 2027 года после трехнедельного пакета M; продолжительность сезона K — 22 недели. Это плановый ориентир, а не гарантия летной доступности.</a:t>
            </a:r>
          </a:p>
          <a:p/>
          <a:p>
            <a:r>
              <a:t>[ДОПУЩЕНИЕ] Параллельность подготовки не означает возможность параллельной загрузки одной бригады в поле. Директор проверяет доступность исполнителей; переносы отражаются в едином календаре и согласуются с клиентами.</a:t>
            </a:r>
          </a:p>
          <a:p/>
          <a:p>
            <a:r>
              <a:t>[РАСЧЕТ] Календарь в календарных неделях; связи окончание–начало. Перепланирование от 2026-10-19; прежние сентябрьские даты не означают выполненные работы. Даты — целевой план, не выданные разрешения. При задержке критического пути коммерческое окно и денежная модель пересматриваются.</a:t>
            </a:r>
          </a:p>
          <a:p/>
          <a:p>
            <a:r>
              <a:t>| ID | Начало | Окончание | Недели | Резерв, нед. |</a:t>
            </a:r>
          </a:p>
          <a:p>
            <a:r>
              <a:t>| --- | --- | --- | --- | --- |</a:t>
            </a:r>
          </a:p>
          <a:p>
            <a:r>
              <a:t>| A | 2026-10-19 | 2026-11-01 | 2 | 1 |</a:t>
            </a:r>
          </a:p>
          <a:p>
            <a:r>
              <a:t>| B | 2026-10-19 | 2026-11-29 | 6 | 0 |</a:t>
            </a:r>
          </a:p>
          <a:p>
            <a:r>
              <a:t>| C | 2026-11-02 | 2026-11-22 | 3 | 1 |</a:t>
            </a:r>
          </a:p>
          <a:p>
            <a:r>
              <a:t>| D | 2026-11-30 | 2026-12-06 | 1 | 0 |</a:t>
            </a:r>
          </a:p>
          <a:p>
            <a:r>
              <a:t>| E | 2026-12-07 | 2027-01-10 | 5 | 0 |</a:t>
            </a:r>
          </a:p>
          <a:p>
            <a:r>
              <a:t>| F | 2026-12-07 | 2027-01-17 | 6 | 2 |</a:t>
            </a:r>
          </a:p>
          <a:p>
            <a:r>
              <a:t>| G | 2027-01-11 | 2027-02-21 | 6 | 0 |</a:t>
            </a:r>
          </a:p>
          <a:p>
            <a:r>
              <a:t>| H | 2027-01-18 | 2027-02-07 | 3 | 2 |</a:t>
            </a:r>
          </a:p>
          <a:p>
            <a:r>
              <a:t>| I | 2027-02-22 | 2027-03-07 | 2 | 0 |</a:t>
            </a:r>
          </a:p>
          <a:p>
            <a:r>
              <a:t>| J | 2027-03-08 | 2027-03-21 | 2 | 0 |</a:t>
            </a:r>
          </a:p>
          <a:p>
            <a:r>
              <a:t>| M | 2027-03-22 | 2027-04-11 | 3 | 0 |</a:t>
            </a:r>
          </a:p>
          <a:p>
            <a:r>
              <a:t>| K | 2027-04-12 | 2027-09-12 | 22 | 0 |</a:t>
            </a:r>
          </a:p>
          <a:p>
            <a:r>
              <a:t>| L | 2027-09-13 | 2027-09-26 | 2 | 0 |</a:t>
            </a:r>
          </a:p>
          <a:p/>
          <a:p>
            <a:r>
              <a:t>```mermaid</a:t>
            </a:r>
          </a:p>
          <a:p>
            <a:r>
              <a:t>gantt</a:t>
            </a:r>
          </a:p>
          <a:p>
            <a:r>
              <a:t>    title АгроВектор — подготовка и первый сезон</a:t>
            </a:r>
          </a:p>
          <a:p>
            <a:r>
              <a:t>    dateFormat YYYY-MM-DD</a:t>
            </a:r>
          </a:p>
          <a:p>
            <a:r>
              <a:t>    A Проверка региона, полетов и схемы АХР :A, 2026-10-19, 14d</a:t>
            </a:r>
          </a:p>
          <a:p>
            <a:r>
              <a:t>    B Интервью и предварительные заявки хозяйств :crit, B, 2026-10-19, 42d</a:t>
            </a:r>
          </a:p>
          <a:p>
            <a:r>
              <a:t>    C ООО, договоры, учет и страховой проект :C, 2026-11-02, 21d</a:t>
            </a:r>
          </a:p>
          <a:p>
            <a:r>
              <a:t>    D Инвестиционное решение и финансирование :crit, D, 2026-11-30, 7d</a:t>
            </a:r>
          </a:p>
          <a:p>
            <a:r>
              <a:t>    E Закупка и приемка оборудования :crit, E, 2026-12-07, 35d</a:t>
            </a:r>
          </a:p>
          <a:p>
            <a:r>
              <a:t>    F Подбор и гражданская переподготовка :F, 2026-12-07, 42d</a:t>
            </a:r>
          </a:p>
          <a:p>
            <a:r>
              <a:t>    G Разрешительная готовность и учет БВС :crit, G, 2027-01-11, 42d</a:t>
            </a:r>
          </a:p>
          <a:p>
            <a:r>
              <a:t>    H SOP, CRM, карты и контроль качества :H, 2027-01-18, 21d</a:t>
            </a:r>
          </a:p>
          <a:p>
            <a:r>
              <a:t>    I Стендовые и контролируемые приемочные испытания :crit, I, 2027-02-22, 14d</a:t>
            </a:r>
          </a:p>
          <a:p>
            <a:r>
              <a:t>    J Сезонные договоры и маршрутизация :crit, J, 2027-03-08, 14d</a:t>
            </a:r>
          </a:p>
          <a:p>
            <a:r>
              <a:t>    M Предсезонная готовность и ожидание погодного окна :crit, M, 2027-03-22, 21d</a:t>
            </a:r>
          </a:p>
          <a:p>
            <a:r>
              <a:t>    K Первый коммерческий сезон :crit, K, 2027-04-12, 154d</a:t>
            </a:r>
          </a:p>
          <a:p>
            <a:r>
              <a:t>    L Аудит сезона и решение о продолжении :crit, L, 2027-09-13, 14d</a:t>
            </a:r>
          </a:p>
          <a:p>
            <a:r>
              <a:t>```</a:t>
            </a:r>
          </a:p>
          <a:p/>
          <a:p>
            <a:r>
              <a:t>[ДОПУЩЕНИЕ] Контрольные точки внутри сезона, без добавления объема или параллельной бригады:</a:t>
            </a:r>
          </a:p>
          <a:p/>
          <a:p>
            <a:r>
              <a:t>| ID | Дата | Работа | Результат | Ответственный |</a:t>
            </a:r>
          </a:p>
          <a:p>
            <a:r>
              <a:t>| --- | --- | --- | --- | --- |</a:t>
            </a:r>
          </a:p>
          <a:p>
            <a:r>
              <a:t>| PILOT | 2027-04-30 | K | Пилот 100 га внутри 6000; акт и хронометраж | Операционный руководитель |</a:t>
            </a:r>
          </a:p>
          <a:p>
            <a:r>
              <a:t>| RETENTION | 2027-07-12 | K | Контроль занятости и адаптации после подготовки | Директор |</a:t>
            </a:r>
          </a:p>
          <a:p/>
          <a:p>
            <a:r>
              <a:t>Комментарий к слайду:</a:t>
            </a:r>
          </a:p>
          <a:p>
            <a:r>
              <a:t>Редактируемые объекты. Финансовые показатели — расчет модели, входные данные — допущения; проект не является действующим подтвержденным бизнесом.</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[ДОПУЩЕНИЕ] Сетевая модель использует зависимости «окончание–начало» и длительности в календарных неделях из `scripts/build_plan.py`. Ранние и поздние сроки, резервы и критический путь рассчитываются по единому набору задач; независимо заданные даты в текст не вводятся.</a:t>
            </a:r>
          </a:p>
          <a:p/>
          <a:p>
            <a:r>
              <a:t>[ДОПУЩЕНИЕ] Связь начала сезона проходит через J → M → K. Пакет M является явной работой ожидания и повторной проверки готовности, а не свободным резервом, который можно автоматически расходовать на задержки. Критический путь не гарантирует разрешений или подходящей погоды.</a:t>
            </a:r>
          </a:p>
          <a:p/>
          <a:p>
            <a:r>
              <a:t>[РАСЧЕТ] Критический путь: **B → D → E → G → I → J → M → K → L**. Продолжительность 49 недель, включая погодный буфер M и первый сезон K. Это плановый CPM, не прогноз срока выдачи документов.</a:t>
            </a:r>
          </a:p>
          <a:p/>
          <a:p>
            <a:r>
              <a:t>| ID | Предшественники | ES | EF | LS | LF | Резерв |</a:t>
            </a:r>
          </a:p>
          <a:p>
            <a:r>
              <a:t>| --- | --- | --- | --- | --- | --- | --- |</a:t>
            </a:r>
          </a:p>
          <a:p>
            <a:r>
              <a:t>| A | — | 0 | 2 | 1 | 3 | 1 |</a:t>
            </a:r>
          </a:p>
          <a:p>
            <a:r>
              <a:t>| B | — | 0 | 6 | 0 | 6 | 0 |</a:t>
            </a:r>
          </a:p>
          <a:p>
            <a:r>
              <a:t>| C | A | 2 | 5 | 3 | 6 | 1 |</a:t>
            </a:r>
          </a:p>
          <a:p>
            <a:r>
              <a:t>| D | B;C | 6 | 7 | 6 | 7 | 0 |</a:t>
            </a:r>
          </a:p>
          <a:p>
            <a:r>
              <a:t>| E | D | 7 | 12 | 7 | 12 | 0 |</a:t>
            </a:r>
          </a:p>
          <a:p>
            <a:r>
              <a:t>| F | D | 7 | 13 | 9 | 15 | 2 |</a:t>
            </a:r>
          </a:p>
          <a:p>
            <a:r>
              <a:t>| G | E | 12 | 18 | 12 | 18 | 0 |</a:t>
            </a:r>
          </a:p>
          <a:p>
            <a:r>
              <a:t>| H | E;F | 13 | 16 | 15 | 18 | 2 |</a:t>
            </a:r>
          </a:p>
          <a:p>
            <a:r>
              <a:t>| I | G;H | 18 | 20 | 18 | 20 | 0 |</a:t>
            </a:r>
          </a:p>
          <a:p>
            <a:r>
              <a:t>| J | I | 20 | 22 | 20 | 22 | 0 |</a:t>
            </a:r>
          </a:p>
          <a:p>
            <a:r>
              <a:t>| M | J | 22 | 25 | 22 | 25 | 0 |</a:t>
            </a:r>
          </a:p>
          <a:p>
            <a:r>
              <a:t>| K | M | 25 | 47 | 25 | 47 | 0 |</a:t>
            </a:r>
          </a:p>
          <a:p>
            <a:r>
              <a:t>| L | K | 47 | 49 | 47 | 49 | 0 |</a:t>
            </a:r>
          </a:p>
          <a:p/>
          <a:p>
            <a:r>
              <a:t>```mermaid</a:t>
            </a:r>
          </a:p>
          <a:p>
            <a:r>
              <a:t>flowchart LR</a:t>
            </a:r>
          </a:p>
          <a:p>
            <a:r>
              <a:t>    A["A: 2 нед."]</a:t>
            </a:r>
          </a:p>
          <a:p>
            <a:r>
              <a:t>    B["B: 6 нед."]</a:t>
            </a:r>
          </a:p>
          <a:p>
            <a:r>
              <a:t>    C["C: 3 нед."]</a:t>
            </a:r>
          </a:p>
          <a:p>
            <a:r>
              <a:t>    A --&gt; C</a:t>
            </a:r>
          </a:p>
          <a:p>
            <a:r>
              <a:t>    D["D: 1 нед."]</a:t>
            </a:r>
          </a:p>
          <a:p>
            <a:r>
              <a:t>    B --&gt; D</a:t>
            </a:r>
          </a:p>
          <a:p>
            <a:r>
              <a:t>    C --&gt; D</a:t>
            </a:r>
          </a:p>
          <a:p>
            <a:r>
              <a:t>    E["E: 5 нед."]</a:t>
            </a:r>
          </a:p>
          <a:p>
            <a:r>
              <a:t>    D --&gt; E</a:t>
            </a:r>
          </a:p>
          <a:p>
            <a:r>
              <a:t>    F["F: 6 нед."]</a:t>
            </a:r>
          </a:p>
          <a:p>
            <a:r>
              <a:t>    D --&gt; F</a:t>
            </a:r>
          </a:p>
          <a:p>
            <a:r>
              <a:t>    G["G: 6 нед."]</a:t>
            </a:r>
          </a:p>
          <a:p>
            <a:r>
              <a:t>    E --&gt; G</a:t>
            </a:r>
          </a:p>
          <a:p>
            <a:r>
              <a:t>    H["H: 3 нед."]</a:t>
            </a:r>
          </a:p>
          <a:p>
            <a:r>
              <a:t>    E --&gt; H</a:t>
            </a:r>
          </a:p>
          <a:p>
            <a:r>
              <a:t>    F --&gt; H</a:t>
            </a:r>
          </a:p>
          <a:p>
            <a:r>
              <a:t>    I["I: 2 нед."]</a:t>
            </a:r>
          </a:p>
          <a:p>
            <a:r>
              <a:t>    G --&gt; I</a:t>
            </a:r>
          </a:p>
          <a:p>
            <a:r>
              <a:t>    H --&gt; I</a:t>
            </a:r>
          </a:p>
          <a:p>
            <a:r>
              <a:t>    J["J: 2 нед."]</a:t>
            </a:r>
          </a:p>
          <a:p>
            <a:r>
              <a:t>    I --&gt; J</a:t>
            </a:r>
          </a:p>
          <a:p>
            <a:r>
              <a:t>    M["M: 3 нед."]</a:t>
            </a:r>
          </a:p>
          <a:p>
            <a:r>
              <a:t>    J --&gt; M</a:t>
            </a:r>
          </a:p>
          <a:p>
            <a:r>
              <a:t>    K["K: 22 нед."]</a:t>
            </a:r>
          </a:p>
          <a:p>
            <a:r>
              <a:t>    M --&gt; K</a:t>
            </a:r>
          </a:p>
          <a:p>
            <a:r>
              <a:t>    L["L: 2 нед."]</a:t>
            </a:r>
          </a:p>
          <a:p>
            <a:r>
              <a:t>    K --&gt; L</a:t>
            </a:r>
          </a:p>
          <a:p>
            <a:r>
              <a:t>```</a:t>
            </a:r>
          </a:p>
          <a:p/>
          <a:p>
            <a:r>
              <a:t>Комментарий к слайду:</a:t>
            </a:r>
          </a:p>
          <a:p>
            <a:r>
              <a:t>Связи и длительности полностью извлечены из project_plan.csv.</a:t>
            </a:r>
          </a:p>
          <a:p>
            <a:r>
              <a:t>A Проверка региона, полетов и схемы АХР: предшественники нет, ES 0, EF 2, LS 1, LF 3, резерв 1</a:t>
            </a:r>
          </a:p>
          <a:p>
            <a:r>
              <a:t>B Интервью и предварительные заявки хозяйств: предшественники нет, ES 0, EF 6, LS 0, LF 6, резерв 0</a:t>
            </a:r>
          </a:p>
          <a:p>
            <a:r>
              <a:t>C ООО, договоры, учет и страховой проект: предшественники A, ES 2, EF 5, LS 3, LF 6, резерв 1</a:t>
            </a:r>
          </a:p>
          <a:p>
            <a:r>
              <a:t>D Инвестиционное решение и финансирование: предшественники B;C, ES 6, EF 7, LS 6, LF 7, резерв 0</a:t>
            </a:r>
          </a:p>
          <a:p>
            <a:r>
              <a:t>E Закупка и приемка оборудования: предшественники D, ES 7, EF 12, LS 7, LF 12, резерв 0</a:t>
            </a:r>
          </a:p>
          <a:p>
            <a:r>
              <a:t>F Подбор и гражданская переподготовка: предшественники D, ES 7, EF 13, LS 9, LF 15, резерв 2</a:t>
            </a:r>
          </a:p>
          <a:p>
            <a:r>
              <a:t>G Разрешительная готовность и учет БВС: предшественники E, ES 12, EF 18, LS 12, LF 18, резерв 0</a:t>
            </a:r>
          </a:p>
          <a:p>
            <a:r>
              <a:t>H SOP, CRM, карты и контроль качества: предшественники E;F, ES 13, EF 16, LS 15, LF 18, резерв 2</a:t>
            </a:r>
          </a:p>
          <a:p>
            <a:r>
              <a:t>I Стендовые и контролируемые приемочные испытания: предшественники G;H, ES 18, EF 20, LS 18, LF 20, резерв 0</a:t>
            </a:r>
          </a:p>
          <a:p>
            <a:r>
              <a:t>J Сезонные договоры и маршрутизация: предшественники I, ES 20, EF 22, LS 20, LF 22, резерв 0</a:t>
            </a:r>
          </a:p>
          <a:p>
            <a:r>
              <a:t>M Предсезонная готовность и ожидание погодного окна: предшественники J, ES 22, EF 25, LS 22, LF 25, резерв 0</a:t>
            </a:r>
          </a:p>
          <a:p>
            <a:r>
              <a:t>K Первый коммерческий сезон: предшественники M, ES 25, EF 47, LS 25, LF 47, резерв 0</a:t>
            </a:r>
          </a:p>
          <a:p>
            <a:r>
              <a:t>L Аудит сезона и решение о продолжении: предшественники K, ES 47, EF 49, LS 47, LF 49, резерв 0</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[ДОПУЩЕНИЕ] RACI переносится из единого проектного набора: R — исполнитель, A — ответственный за результат, C — консультируемый, I — информируемый. Для каждой работы сохраняется один A; делегирование исполнения не снимает ответственности за приемку.</a:t>
            </a:r>
          </a:p>
          <a:p/>
          <a:p>
            <a:r>
              <a:t>[ДОПУЩЕНИЕ] «Продажи» выполняет директор, «Операционный руководитель» — один из двух операторов. Внешний агроном, юрист, бухгалтер и учебный партнер не увеличивают штат до дополнительных FTE, но требуют оплачиваемого времени. Ответственность инвестора за решение о финансировании не означает оперативного руководства полетами. Матрица должна сопровождаться проверкой нагрузки совмещаемых ролей.</a:t>
            </a:r>
          </a:p>
          <a:p/>
          <a:p>
            <a:r>
              <a:t>[ДОПУЩЕНИЕ] Визуальная RACI: строки — все 13 работ A–L и M; столбцы — роли; цветные R/A/C/I и «—» для незадействованных. В каждой строке ровно один A и хотя бы один R. Совмещенные должности нормализованы: продажи=директор, операционный руководитель=первый оператор; колонка «Оператор 2» — конкретно второй сотрудник, не первый оператор и не собирательная команда. Референс: фото 4 и слайд 82.</a:t>
            </a:r>
          </a:p>
          <a:p/>
          <a:p>
            <a:r>
              <a:t>[ДОПУЩЕНИЕ] В работах I и K R назначен второму оператору, A — первому оператору/операционному руководителю: это разные люди. Приемка качества задания дополнительно согласуется с внешним агрономом и клиентом. Это внутреннее разделение выполнения и утверждения, не независимый сертификационный аудит. Если второй оператор отсутствует, роли не объединяются молча: задание переносится либо назначается отдельный допущенный исполнитель с проверкой бюджета. «Команда» в I-уведомлениях D раскрыта обоим операторам.</a:t>
            </a:r>
          </a:p>
          <a:p/>
          <a:p>
            <a:r>
              <a:t>| ID | R — выполняет | A — принимает | C — консультирует | I — информируется |</a:t>
            </a:r>
          </a:p>
          <a:p>
            <a:r>
              <a:t>| --- | --- | --- | --- | --- |</a:t>
            </a:r>
          </a:p>
          <a:p>
            <a:r>
              <a:t>| A | Юрист | Директор | Агроном;Операционный руководитель | Инвестор |</a:t>
            </a:r>
          </a:p>
          <a:p>
            <a:r>
              <a:t>| B | Продажи | Директор | Агроном | Инвестор |</a:t>
            </a:r>
          </a:p>
          <a:p>
            <a:r>
              <a:t>| C | Юрист | Директор | Бухгалтер | Инвестор |</a:t>
            </a:r>
          </a:p>
          <a:p>
            <a:r>
              <a:t>| D | Директор | Инвестор | Бухгалтер;Юрист | Команда |</a:t>
            </a:r>
          </a:p>
          <a:p>
            <a:r>
              <a:t>| E | Операционный руководитель | Директор | Агроном | Бухгалтер |</a:t>
            </a:r>
          </a:p>
          <a:p>
            <a:r>
              <a:t>| F | Операционный руководитель | Директор | Учебный партнер;Агроном | Инвестор |</a:t>
            </a:r>
          </a:p>
          <a:p>
            <a:r>
              <a:t>| G | Юрист | Директор | Операционный руководитель | Клиенты |</a:t>
            </a:r>
          </a:p>
          <a:p>
            <a:r>
              <a:t>| H | Агроном | Операционный руководитель | Юрист | Продажи |</a:t>
            </a:r>
          </a:p>
          <a:p>
            <a:r>
              <a:t>| I | Второй оператор | Операционный руководитель | Агроном;Клиент | Директор |</a:t>
            </a:r>
          </a:p>
          <a:p>
            <a:r>
              <a:t>| J | Продажи | Директор | Агроном;Клиент | Бухгалтер |</a:t>
            </a:r>
          </a:p>
          <a:p>
            <a:r>
              <a:t>| M | Операционный руководитель | Директор | Агроном;Клиент | Инвестор |</a:t>
            </a:r>
          </a:p>
          <a:p>
            <a:r>
              <a:t>| K | Второй оператор | Операционный руководитель | Агроном;Клиент | Директор |</a:t>
            </a:r>
          </a:p>
          <a:p>
            <a:r>
              <a:t>| L | Бухгалтер | Директор | Агроном;Операционный руководитель | Инвестор |</a:t>
            </a:r>
          </a:p>
          <a:p/>
          <a:p>
            <a:r>
              <a:t>Комментарий к слайду:</a:t>
            </a:r>
          </a:p>
          <a:p>
            <a:r>
              <a:t>Матрица извлечена из CSV без изменения распределения ответственности. Опер. рук. — операционный руководитель; учеб. партнер — учебный партнер.</a:t>
            </a:r>
          </a:p>
          <a:p>
            <a:r>
              <a:t>A Проверка региона, полетов и схемы АХР: R Юрист; A Директор; C Агроном;Операционный руководитель; I Инвестор</a:t>
            </a:r>
          </a:p>
          <a:p>
            <a:r>
              <a:t>B Интервью и предварительные заявки хозяйств: R Продажи; A Директор; C Агроном; I Инвестор</a:t>
            </a:r>
          </a:p>
          <a:p>
            <a:r>
              <a:t>C ООО, договоры, учет и страховой проект: R Юрист; A Директор; C Бухгалтер; I Инвестор</a:t>
            </a:r>
          </a:p>
          <a:p>
            <a:r>
              <a:t>D Инвестиционное решение и финансирование: R Директор; A Инвестор; C Бухгалтер;Юрист; I Команда</a:t>
            </a:r>
          </a:p>
          <a:p>
            <a:r>
              <a:t>E Закупка и приемка оборудования: R Операционный руководитель; A Директор; C Агроном; I Бухгалтер</a:t>
            </a:r>
          </a:p>
          <a:p>
            <a:r>
              <a:t>F Подбор и гражданская переподготовка: R Операционный руководитель; A Директор; C Учебный партнер;Агроном; I Инвестор</a:t>
            </a:r>
          </a:p>
          <a:p>
            <a:r>
              <a:t>G Разрешительная готовность и учет БВС: R Юрист; A Директор; C Операционный руководитель; I Клиенты</a:t>
            </a:r>
          </a:p>
          <a:p>
            <a:r>
              <a:t>H SOP, CRM, карты и контроль качества: R Агроном; A Операционный руководитель; C Юрист; I Продажи</a:t>
            </a:r>
          </a:p>
          <a:p>
            <a:r>
              <a:t>I Стендовые и контролируемые приемочные испытания: R Второй оператор; A Операционный руководитель; C Агроном;Клиент; I Директор</a:t>
            </a:r>
          </a:p>
          <a:p>
            <a:r>
              <a:t>J Сезонные договоры и маршрутизация: R Продажи; A Директор; C Агроном;Клиент; I Бухгалтер</a:t>
            </a:r>
          </a:p>
          <a:p>
            <a:r>
              <a:t>M Предсезонная готовность и ожидание погодного окна: R Операционный руководитель; A Директор; C Агроном;Клиент; I Инвестор</a:t>
            </a:r>
          </a:p>
          <a:p>
            <a:r>
              <a:t>K Первый коммерческий сезон: R Второй оператор; A Операционный руководитель; C Агроном;Клиент; I Директор</a:t>
            </a:r>
          </a:p>
          <a:p>
            <a:r>
              <a:t>L Аудит сезона и решение о продолжении: R Бухгалтер; A Директор; C Агроном;Операционный руководитель; I Инвестор</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[ДОПУЩЕНИЕ] Модель — номинальные рубли РФ,2027–2031, одна бригада, без долга и субсидий. Цены2027 без НДС: внесение1300 руб./га-проход, мониторинг250 руб./га-обследование. Рост цен4% в год, переменных и фиксированных затрат5%; рост загрузки не означает приобретения второй бригады. Препараты и энтомофаги предоставляет клиент; их стоимость отсутствует и в выручке, и в расходах. Все закупочные бюджеты — полная цена с невозмещаемыми налогами у российского поставщика; прямой импорт в базу не включен.</a:t>
            </a:r>
          </a:p>
          <a:p/>
          <a:p>
            <a:r>
              <a:t>### CAPEX, OPEX и единичная экономика</a:t>
            </a:r>
          </a:p>
          <a:p/>
          <a:p>
            <a:r>
              <a:t>[ДОПУЩЕНИЕ] CAPEX7млн: два аппарата внесения с АКБ/зарядкой4млн; авто и прицеп1,4млн; мониторинговый аппарат0,6млн; смешивание и безопасность0,4млн; IT0,2млн; капитальный запас заменяемых узлов0,4млн. Последний не является запасом расходных химикатов. Конкретные модели выбираются после проверки максимальной взлетной массы и законной эксплуатации; бюджет не равен подтвержденному предложению поставщика.</a:t>
            </a:r>
          </a:p>
          <a:p/>
          <a:p>
            <a:r>
              <a:t>[ДОПУЩЕНИЕ] Переменные внесения400руб./га-проход: топливо/логистика150, энергия50, текущее обслуживание130, СИЗ/мойка/обращение с отходами70. Мониторинг60руб./га-обследование: логистика30, энергия/обслуживание20, переменная обработка данных10. Штатная зарплата и амортизация в эти ставки не включены; АКБ и капитальные узлы финансируются CAPEX замен, а не повторно в текущем ремонте.</a:t>
            </a:r>
          </a:p>
          <a:p/>
          <a:p>
            <a:r>
              <a:t>[ДОПУЩЕНИЕ] Постоянный OPEX2027 — {fmt(y1['fixed_opex_rub'])}руб.: прозрачный payroll директора и двух операторов {fmt(PAYROLL_GROSS_ANNUAL)}руб. gross + начисления {fmt(PAYROLL_CONTRIBUTIONS_ANNUAL)}руб. (30% общих взносов и 0,2% травматизм как допущение до подтверждения класса); всего работодателю {fmt(PAYROLL_TOTAL_ANNUAL)}руб.; аренда360тыс.; страхование/комплаенс300тыс. (страхование120, юрист60, внешний агроном120); маркетинг240тыс.; IT120тыс.; администрирование180тыс. (бухгалтер120, банк/прочее60). Бюджеты внешних специалистов и труда экономные; подтверждение их достаточности является инвестиционным gate. Стартовые500тыс. распределены на первоначальное обучение200, подготовку правового/операционного досье200 и организационные расходы100; ежегодное сопровождение не дублирует эти разовые работы.</a:t>
            </a:r>
          </a:p>
          <a:p/>
          <a:p>
            <a:r>
              <a:t>[РАСЧЕТ]</a:t>
            </a:r>
          </a:p>
          <a:p/>
          <a:p>
            <a:r>
              <a:t>| Услуга2027 | Тариф | Переменные | Вклад до УСН | УСН6% | Вклад после УСН |</a:t>
            </a:r>
          </a:p>
          <a:p>
            <a:r>
              <a:t>| --- | --- | --- | --- | --- | --- |</a:t>
            </a:r>
          </a:p>
          <a:p>
            <a:r>
              <a:t>| Внесение, руб./га-проход | 1300 | 400 | 900 | 78 | 822 |</a:t>
            </a:r>
          </a:p>
          <a:p>
            <a:r>
              <a:t>| Мониторинг, руб./га-обследование | 250 | 60 | 190 | 15 | 175 |</a:t>
            </a:r>
          </a:p>
          <a:p/>
          <a:p>
            <a:r>
              <a:t>[РАСЧЕТ] Вклад до постоянных затрат2027:6,16млнруб., маржинальность70%. После УСН вклад5,632млн. EBITDA-безубыточность при постоянном миксе услуг: 8 410 286руб. выручки; денежная операционная безубыточность после УСН — 9 198 750руб., или одновременно 6 271,9га-проходов и 4 181,2га-обследований. Это пропорциональный набор услуг, не два независимых порога. CAPEX и возврат инвестиций этим порогом не покрываются.</a:t>
            </a:r>
          </a:p>
          <a:p/>
          <a:p>
            <a:r>
              <a:t>### Налоги и денежный поток</a:t>
            </a:r>
          </a:p>
          <a:p/>
          <a:p>
            <a:r>
              <a:t>[ДОПУЩЕНИЕ] Налоговый бюджет основан на архивных чтениях ФНС и закона 04.07.2026 №228-ФЗ: 2027–2029 порог 20 млн, 2030 — 15 млн, 2031 — 10 млн руб.; УСН 6%.[14][12][11] На 20.10.2026 налоговые первоисточники повторно недоступны; это сохраненные параметры модели до новой правовой сверки, не подтверждение актуального налогового режима.</a:t>
            </a:r>
          </a:p>
          <a:p/>
          <a:p>
            <a:r>
              <a:t>[ДОПУЩЕНИЕ] УСН в модели6% выручки без снижения на страховые взносы — консервативный бюджет, а не выбор оптимального налогообложения. При утрате освобождения применяется5% НДС сверх тарифа при сохранении законных условий специальной ставки, без вычета входного НДС; общая ставка и вычеты требуют отдельного сопоставления с бухгалтером.[28]</a:t>
            </a:r>
          </a:p>
          <a:p/>
          <a:p>
            <a:r>
              <a:t>[РАСЧЕТ] НДС рассчитывается отдельно: проверяется доход прошлого года и месячное превышение текущего порога с началом обложения со следующего месяца. В базе2027–2029 НДС отсутствует, с2030 начисляется5% сверх выручки из-за превышения доходом2029 порога15млн. Собранный налог полностью перечисляется, не входит в выручку/EBITDA/УСН/FCF. Денежные сроки уплаты упрощены; право переложить налог на клиента должно быть закреплено в договоре.</a:t>
            </a:r>
          </a:p>
          <a:p/>
          <a:p>
            <a:r>
              <a:t>[ДОПУЩЕНИЕ] Амортизация начальных7млн линейно5лет; замен —3года с года покупки. CAPEX замен2027–2031:0 /300000 /600000 /900000 /600000руб. в номинале. Возмещение входного НДС не финансирует инвестиции. Остаточная стоимость оборудования в денежном потоке равна нулю.</a:t>
            </a:r>
          </a:p>
          <a:p/>
          <a:p>
            <a:r>
              <a:t>[РАСЧЕТ] Выручка=объем×тариф по каждой услуге; EBITDA=выручка−переменные−фиксированныйOPEX; EBIT=EBITDA−амортизация; расчетная чистая прибыль=EBIT−УСН. FCF=EBITDA−УСН−CAPEXзамен+возвратрезерва. УСН платится с доходов даже при убытке. Амортизация не вычитается из FCF повторно.</a:t>
            </a:r>
          </a:p>
          <a:p/>
          <a:p>
            <a:r>
              <a:t>[РАСЧЕТ] Все суммы таблицы — рубли, без округления исходных формул:</a:t>
            </a:r>
          </a:p>
          <a:p/>
          <a:p>
            <a:r>
              <a:t>| Год | Выручка | Переменные | Фикс.OPEX | EBITDA | Амортизация | УСН | Чистая прибыль | CAPEX замен | FCF |</a:t>
            </a:r>
          </a:p>
          <a:p>
            <a:r>
              <a:t>| --- | --- | --- | --- | --- | --- | --- | --- | --- | --- |</a:t>
            </a:r>
          </a:p>
          <a:p>
            <a:r>
              <a:t>| 2027 | 8 800 000,00 | 2 640 000,00 | 5 887 200,00 | 272 800,00 | 1 400 000,00 | 528 000,00 | -1 655 200,00 | 0,00 | -255 200,00 |</a:t>
            </a:r>
          </a:p>
          <a:p>
            <a:r>
              <a:t>| 2028 | 13 728 000,00 | 4 158 000,00 | 6 181 560,00 | 3 388 440,00 | 1 500 000,00 | 823 680,00 | 1 064 760,00 | 300 000,00 | 2 264 760,00 |</a:t>
            </a:r>
          </a:p>
          <a:p>
            <a:r>
              <a:t>| 2029 | 17 630 080,00 | 5 380 200,00 | 6 490 638,00 | 5 759 242,00 | 1 700 000,00 | 1 057 804,80 | 3 001 437,20 | 600 000,00 | 4 101 437,20 |</a:t>
            </a:r>
          </a:p>
          <a:p>
            <a:r>
              <a:t>| 2030 | 20 078 822,40 | 6 181 717,50 | 6 815 169,90 | 7 081 935,00 | 2 000 000,00 | 1 204 729,34 | 3 877 205,66 | 900 000,00 | 4 977 205,66 |</a:t>
            </a:r>
          </a:p>
          <a:p>
            <a:r>
              <a:t>| 2031 | 22 695 256,06 | 7 049 936,25 | 7 155 928,40 | 8 489 391,42 | 2 100 000,00 | 1 361 715,36 | 5 027 676,06 | 600 000,00 | 8 527 676,06 |</a:t>
            </a:r>
          </a:p>
          <a:p/>
          <a:p>
            <a:r>
              <a:t>### Ликвидность и сезонность</a:t>
            </a:r>
          </a:p>
          <a:p/>
          <a:p>
            <a:r>
              <a:t>[ДОПУЩЕНИЕ] Поступления и выполнение распределены апрель–сентябрь10/20/25/20/15/10%. Услуги оплачиваются в месяц выполнения; плановый договорный аванс30% не используется для улучшения модели. Фиксированные расходы 490 600руб./месяц в 2027. Подготовительные расходы2026 свернуты в t0; годовая модель оценивается на условную дату31.12.2026, не заменяет календарь траншей осени2026.</a:t>
            </a:r>
          </a:p>
          <a:p/>
          <a:p>
            <a:r>
              <a:t>[РАСЧЕТ] После оплаты оборудования и запуска на счете2млнруб. Минимум месячного остатка2027 — 528 200руб., конец года — 1 744 800руб. Без поступлений резерв покрывает 4,08месяца постоянных расходов. Отдельная таблица: `data/monthly_cashflow_2027.csv`; отсутствие месячного минуса не исключает внутримесячного разрыва.</a:t>
            </a:r>
          </a:p>
          <a:p/>
          <a:p>
            <a:r>
              <a:t>[ДОПУЩЕНИЕ] Резерв 2 млн учитывается только в t0 и возвращается в конце 2031 при завершении оценочного проекта. Рост дебиторской задолженности не смоделирован; резерв не индексируется. Для продолжающегося бизнеса его возврат исключается. Инвестиционный NPV не является суммой дивидендов инвестору.</a:t>
            </a:r>
          </a:p>
          <a:p/>
          <a:p>
            <a:r>
              <a:t>### Проверка закупочного бюджета</a:t>
            </a:r>
          </a:p>
          <a:p/>
          <a:p>
            <a:r>
              <a:t>[ДОПУЩЕНИЕ] Базовые 4 млн руб. на два аппарата внесения — закупочный лимит без выбранной модели, не подтвержденная цена. Производительность 130 га/день подтверждается приемочным испытанием выбранного комплекта, а не характеристиками другой модели.</a:t>
            </a:r>
          </a:p>
          <a:p/>
          <a:p>
            <a:r>
              <a:t>[ФАКТ] При прямом чтении 20.10.2026 Агропрофи публикует XAG P100 Pro за 2 990 000 руб. за комплект: https://xag-ap.ru/ .[3][29] Состав, налоги, доставка и условия требуют письменного КП. Это ориентир, не договор или решение о выборе модели.</a:t>
            </a:r>
          </a:p>
          <a:p/>
          <a:p>
            <a:r>
              <a:t>[РАСЧЕТ] Два комплекта стоят 5 980 000 руб., превышение базового лимита — 1 980 000 руб. Это изолированный тест удорожания закупки, не новая полноценная база; его финансовые результаты требуют полного пересчета модели. Обучение и сопровождение в комплекте нужно исключить из повторного счета после получения КП.</a:t>
            </a:r>
          </a:p>
          <a:p/>
          <a:p>
            <a:r>
              <a:t>[ДОПУЩЕНИЕ] До инвестирования нужны два сопоставимых КП с АКБ, зарядкой, доставкой, обучением, сервисом и налогами. Необходимо либо подтвердить комплект в лимите 4 млн руб. с нужной выработкой, либо пересчитать модель, финансирование и сроки целиком. Без этого закупочный этап не утверждается.</a:t>
            </a:r>
          </a:p>
          <a:p/>
          <a:p/>
          <a:p>
            <a:r>
              <a:t>[ФАКТ] Дилер указывает бак 60 л, официальный производитель XAG — Rated Capacity 50 L.[29][30] Извлекатель дополнительно вернул иную версию карточки (2,9 млн / 50 л), тогда как прямой HTML подтвердил 2,99 млн / 60 л. Ни одна версия не является подтвержденным КП. До закупки нужны артикул, год выпуска, серийная спецификация и полный перечень АКБ, зарядок, охлаждения, RTK, генератора, модулей, налогов и доставки. Состав примера P150 Pro нельзя переносить на P100 Pro.</a:t>
            </a:r>
          </a:p>
          <a:p/>
          <a:p>
            <a:r>
              <a:t>### Стресс отсрочки оплаты</a:t>
            </a:r>
          </a:p>
          <a:p/>
          <a:p>
            <a:r>
              <a:t>[ДОПУЩЕНИЕ] Авансов нет; выполнение и переменные по базовому сезону, поступления сдвинуты на полные месяцы; УСН резервируется при поступлении. Годовой результат может скрывать внутрисезонный разрыв.</a:t>
            </a:r>
          </a:p>
          <a:p/>
          <a:p>
            <a:r>
              <a:t>[РАСЧЕТ]</a:t>
            </a:r>
          </a:p>
          <a:p/>
          <a:p>
            <a:r>
              <a:t>| Отсрочка, мес. | Минимум денег, руб. | Дополнительная ликвидность, руб. |</a:t>
            </a:r>
          </a:p>
          <a:p>
            <a:r>
              <a:t>| --- | --- | --- |</a:t>
            </a:r>
          </a:p>
          <a:p>
            <a:r>
              <a:t>| 1 | -417 800 | 417 800 |</a:t>
            </a:r>
          </a:p>
          <a:p>
            <a:r>
              <a:t>| 2 | -1 568 400 | 1 568 400 |</a:t>
            </a:r>
          </a:p>
          <a:p>
            <a:r>
              <a:t>| 3 | -2 587 000 | 2 587 000 |</a:t>
            </a:r>
          </a:p>
          <a:p/>
          <a:p>
            <a:r>
              <a:t>[ДОПУЩЕНИЕ] Нужен календарь платежей октября 2026 — апреля 2027 с траншами, авансами и возвратностью. Он пока не подтвержден; условный t0 не выдается за реальный график оплаты. Резерв не уменьшается повторным вычитанием уже профинансированного CAPEX.</a:t>
            </a:r>
          </a:p>
          <a:p/>
          <a:p>
            <a:r>
              <a:t>Комментарий к слайду:</a:t>
            </a:r>
          </a:p>
          <a:p>
            <a:r>
              <a:t>Редактируемые объекты. Финансовые показатели — расчет модели, входные данные — допущения; проект не является действующим подтвержденным бизнесом.</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[ДОПУЩЕНИЕ] Ставка дисконтирования 24% — требуемая доходность проектного капитала, не рыночная котировка WACC; финансирование долевое. Потоки номинальные, конец каждого года, t0=-9500000 руб. Ликвидационная стоимость оборудования 0; возврат оборотного резерва 2 млн только в конце Y5.</a:t>
            </a:r>
          </a:p>
          <a:p/>
          <a:p>
            <a:r>
              <a:t>[РАСЧЕТ] NPV=−9500000+Σ(FCFₜ/1,24ᵗ)=-1 067 653,16 руб. Простая окупаемость 3,681 года; дисконтированная окупаемость: Не достигнута года. Если показатель не достигнут за горизонт, он отображается как «Не достигнута».</a:t>
            </a:r>
          </a:p>
          <a:p/>
          <a:p>
            <a:r>
              <a:t>| Период | FCF, руб. | Коэффициент | PV, руб. | Накопленный PV |</a:t>
            </a:r>
          </a:p>
          <a:p>
            <a:r>
              <a:t>| --- | --- | --- | --- | --- |</a:t>
            </a:r>
          </a:p>
          <a:p>
            <a:r>
              <a:t>| 0 | -9 500 000,00 | 1,000000 | -9 500 000,00 | -9 500 000,00 |</a:t>
            </a:r>
          </a:p>
          <a:p>
            <a:r>
              <a:t>| 1 | -255 200,00 | 0,806452 | -205 806,45 | -9 705 806,45 |</a:t>
            </a:r>
          </a:p>
          <a:p>
            <a:r>
              <a:t>| 2 | 2 264 760,00 | 0,650364 | 1 472 918,83 | -8 232 887,62 |</a:t>
            </a:r>
          </a:p>
          <a:p>
            <a:r>
              <a:t>| 3 | 4 101 437,20 | 0,524487 | 2 151 151,56 | -6 081 736,05 |</a:t>
            </a:r>
          </a:p>
          <a:p>
            <a:r>
              <a:t>| 4 | 4 977 205,66 | 0,422974 | 2 105 226,58 | -3 976 509,47 |</a:t>
            </a:r>
          </a:p>
          <a:p>
            <a:r>
              <a:t>| 5 | 8 527 676,06 | 0,341108 | 2 908 856,31 | -1 067 653,16 |</a:t>
            </a:r>
          </a:p>
          <a:p/>
          <a:p>
            <a:r>
              <a:t>[РАСЧЕТ] Если бизнес продолжает работу и резерв не высвобождается, NPV без возврата 2 млн составляет -1 749 868,64 руб. Это отдельная проверка терминального допущения, не прибавка стоимости бизнеса.</a:t>
            </a:r>
          </a:p>
          <a:p/>
          <a:p>
            <a:r>
              <a:t>[РАСЧЕТ] Чувствительность (каждый стресс отдельно, горизонт не удлиняется):</a:t>
            </a:r>
          </a:p>
          <a:p/>
          <a:p>
            <a:r>
              <a:t>| Сценарий | NPV,руб. | Простая окупаемость,лет | Дисконтированная,лет |</a:t>
            </a:r>
          </a:p>
          <a:p>
            <a:r>
              <a:t>| --- | --- | --- | --- |</a:t>
            </a:r>
          </a:p>
          <a:p>
            <a:r>
              <a:t>| База | -1 067 653,16 | 3,681 | Не достигнута |</a:t>
            </a:r>
          </a:p>
          <a:p>
            <a:r>
              <a:t>| Оба тарифа−10% | -4 969 223,33 | 4,927 | Не достигнута |</a:t>
            </a:r>
          </a:p>
          <a:p>
            <a:r>
              <a:t>| Оба объема−25% | -7 652 932,56 | Не достигнута | Не достигнута |</a:t>
            </a:r>
          </a:p>
          <a:p>
            <a:r>
              <a:t>| Переменные+20% | -3 602 569,98 | 4,407 | Не достигнута |</a:t>
            </a:r>
          </a:p>
          <a:p>
            <a:r>
              <a:t>| Задержка 1 год | -5 086 492,35 | 4,849 | Не достигнута |</a:t>
            </a:r>
          </a:p>
          <a:p>
            <a:r>
              <a:t>| Внесение 900 руб. в 2027; мониторинг без изменения | -11 619 466,40 | Не достигнута | Не достигнута |</a:t>
            </a:r>
          </a:p>
          <a:p/>
          <a:p>
            <a:r>
              <a:t>[ДОПУЩЕНИЕ] При задержке 2027 выручка 0, расходы сохранения готовности 900000 руб.; объемы и замены сдвинуты на год, цены/расходы индексируются по календарю. Это условие успешной консервации, а не полный штат в простое. При невозможности сократить расходы результат хуже. Тариф 900 руб. в стрессе индексируется далее на 4%, постоянные затраты не сокращаются. Он является проверкой ценового давления, не утверждением сопоставимости чужой услуги.</a:t>
            </a:r>
          </a:p>
          <a:p/>
          <a:p>
            <a:r>
              <a:t>[РАСЧЕТ] Окупаемость трактуется как не достигнутая, если накопленный поток не пересек ноль в пятилетнем горизонте; возврат резерва показывается отдельно и не интерполируется как операционная окупаемость. Основное условие вложения капитала — проверка готовности клиентов оплачивать именно плановый тариф.</a:t>
            </a:r>
          </a:p>
          <a:p/>
          <a:p>
            <a:r>
              <a:t>### Дополнительные воспроизводимые сценарии</a:t>
            </a:r>
          </a:p>
          <a:p/>
          <a:p>
            <a:r>
              <a:t>[ДОПУЩЕНИЕ] Альтернативная структура: мониторинг равен внесению / 3 во все пять лет. Закупочный стресс меняет CAPEX на 8,98 млн; текущие расходы и будущие замены прежние. Комбинированный стресс одновременно снижает оба тарифа на 10%, оба объема на 25% и повышает CAPEX на 1,98 млн; исходный пятилетний горизонт сохранен. Это разные сценарии, не подписанные бюджеты. Источники расчета: data/supplemental_model.csv и scripts/build_supplemental.py.</a:t>
            </a:r>
          </a:p>
          <a:p/>
          <a:p>
            <a:r>
              <a:t>[РАСЧЕТ]</a:t>
            </a:r>
          </a:p>
          <a:p/>
          <a:p>
            <a:r>
              <a:t>| Сценарий | Финансирование, руб. | Выручка 2027, руб. | NPV, руб. |</a:t>
            </a:r>
          </a:p>
          <a:p>
            <a:r>
              <a:t>| --- | --- | --- | --- |</a:t>
            </a:r>
          </a:p>
          <a:p>
            <a:r>
              <a:t>| Мониторинг = внесение / 3 во все пять лет; не базовая выручка | 9 500 000 | 8 300 000 | -2 933 766,34 |</a:t>
            </a:r>
          </a:p>
          <a:p>
            <a:r>
              <a:t>| Два публичных ценника по 2,99 млн вместо лимита 4 млн; прочее неизменно; не полное КП | 11 480 000 | 8 800 000 | -3 047 653,16 |</a:t>
            </a:r>
          </a:p>
          <a:p>
            <a:r>
              <a:t>| Оба тарифа −10%; оба объема −25%; CAPEX +1,98 млн; исходный горизонт | 11 480 000 | 5 940 000 | -12 559 110,18 |</a:t>
            </a:r>
          </a:p>
          <a:p/>
          <a:p/>
          <a:p>
            <a:r>
              <a:t>[ДОПУЩЕНИЕ] Отдельный ресурсный стресс ограничивает одну бригаду 20 эффективными полевыми днями в каждом месяце. Это не наблюденная погода и не подтверждение производительности. Требуемые дни: (га-проходы / 130 + га-обследования / 500) × доля месяца. При превышении 20 оба месячных объема сокращаются одинаковым коэффициентом 20 / требуемые дни; невыполненные работы не переносятся. Постоянные расходы, замены и возврат резерва сохранены.</a:t>
            </a:r>
          </a:p>
          <a:p/>
          <a:p>
            <a:r>
              <a:t>[РАСЧЕТ] NPV ресурсного стресса — -2 704 508,25 руб.; простая / дисконтированная окупаемость — 4,089 / Не достигнута года. Базовая модель не заменена. Помесячные объемы и годовые потоки: data/capacity_scenario_monthly.csv и data/capacity_scenario_annual.csv; формулы — scripts/build_capacity_scenario.py.</a:t>
            </a:r>
          </a:p>
          <a:p/>
          <a:p>
            <a:r>
              <a:t>Комментарий к слайду:</a:t>
            </a:r>
          </a:p>
          <a:p>
            <a:r>
              <a:t>Редактируемые объекты. Финансовые показатели — расчет модели, входные данные — допущения; проект не является действующим подтвержденным бизнесом.</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[ДОПУЩЕНИЕ] Потребность до запуска разделена на оборудование, подготовительные расходы и ликвидность; приведенные суммы являются бюджетными лимитами до получения предложений поставщиков.</a:t>
            </a:r>
          </a:p>
          <a:p/>
          <a:p>
            <a:r>
              <a:t>| Назначение | Сумма, млн руб. | Контроль использования |</a:t>
            </a:r>
          </a:p>
          <a:p>
            <a:r>
              <a:t>|---|---:|---|</a:t>
            </a:r>
          </a:p>
          <a:p>
            <a:r>
              <a:t>| CAPEX | 7,0 | Спецификация основного, резервного и мониторингового аппаратов, транспорта и оснащения; приемка |</a:t>
            </a:r>
          </a:p>
          <a:p>
            <a:r>
              <a:t>| Стартовые расходы | 0,5 | Подготовка запуска, первоначальное обучение и организационные услуги без повторного учета в CAPEX |</a:t>
            </a:r>
          </a:p>
          <a:p>
            <a:r>
              <a:t>| Оборотный резерв | 2,0 | Покрытие временного дефицита денег по платежному календарю |</a:t>
            </a:r>
          </a:p>
          <a:p>
            <a:r>
              <a:t>| Всего | 9,5 | [РАСЧЕТ] 7,0 + 0,5 + 2,0 |</a:t>
            </a:r>
          </a:p>
          <a:p/>
          <a:p>
            <a:r>
              <a:t>[ДОПУЩЕНИЕ] Резерв не является свободным бюджетом расширения или повторной статьей расходов. До инвестиционного go/no-go в 2026 году сверяются состав поставки, гарантия, сервис, применимость техники и кассовые обязательства. Стоимость внешних специалистов, труда и эксплуатации должна иметь отдельные строки операционной модели; отсутствие коммерческого предложения не оправдывает нулевую оценку. Достаточность резерва проверяется помесячным денежным потоком, включая задержку старта и оплаты.</a:t>
            </a:r>
          </a:p>
          <a:p/>
          <a:p>
            <a:r>
              <a:t>[ДОПУЩЕНИЕ] Базовые 4 млн руб. на основной и резервный аппараты внесения не подтверждены КП. Ориентир пары XAG P100 Pro — 5,98 млн руб.; закупочный стресс требует 11,48 млн руб. финансирования. Проверка комплектации и производительности обязательна; подробности в разделе 17.</a:t>
            </a:r>
          </a:p>
          <a:p/>
          <a:p>
            <a:r>
              <a:t>Комментарий к слайду:</a:t>
            </a:r>
          </a:p>
          <a:p>
            <a:r>
              <a:t>Редактируемые объекты. Финансовые показатели — расчет модели, входные данные — допущения; проект не является действующим подтвержденным бизнесом.</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[ДОПУЩЕНИЕ] Финансирование предполагается исключительно долевым: учредитель вносит 2,5 млн руб., внешний инвестор — 7 млн руб. Долг и гранты в базовый источник покрытия не включены; социальная направленность не означает подтвержденного права на субсидию.</a:t>
            </a:r>
          </a:p>
          <a:p/>
          <a:p>
            <a:r>
              <a:t>| Источник | Вклад, млн руб. | Условие |</a:t>
            </a:r>
          </a:p>
          <a:p>
            <a:r>
              <a:t>|---|---:|---|</a:t>
            </a:r>
          </a:p>
          <a:p>
            <a:r>
              <a:t>| Учредитель | 2,5 | Подтвержденная доступность денег и оформление вклада |</a:t>
            </a:r>
          </a:p>
          <a:p>
            <a:r>
              <a:t>| Внешний долевой инвестор | 7,0 | Проверка модели, юридическая готовность и подписанные условия |</a:t>
            </a:r>
          </a:p>
          <a:p>
            <a:r>
              <a:t>| Итого | 9,5 | [РАСЧЕТ] 2,5 + 7,0; соответствует стартовой потребности |</a:t>
            </a:r>
          </a:p>
          <a:p/>
          <a:p>
            <a:r>
              <a:t>[ДОПУЩЕНИЕ] Доля инвестора не установлена. Отношение денежного вклада к потребности не используется как готовая оценка доли: необходимы согласование оценки бизнеса, корпоративных прав, порядка дополнительного финансирования и выхода. Документы должны определять отчетность, решения, требующие согласования, и последствия отказа от запуска. Крупные закупки привязываются к подтвержденной готовности.</a:t>
            </a:r>
          </a:p>
          <a:p/>
          <a:p>
            <a:r>
              <a:t>[ДОПУЩЕНИЕ] Источники 2,5 + 7,0 млн руб. покрывают только базовые 9,5 млн. При закупочном стрессе 11,48 млн дефицит составляет 1,98 млн руб. Если вклад учредителя неизменен, внешнее финансирование требуется 8,98 млн вместо 7 млн. Дополнительные деньги не подтверждены; до согласования новых условий закупка не проводится. Увеличение суммы вклада не устанавливает автоматически долю инвестора.</a:t>
            </a:r>
          </a:p>
          <a:p/>
          <a:p>
            <a:r>
              <a:t>[ДОПУЩЕНИЕ] Последовательность финансирования: A/B/C требуют подтвержденного источника подготовки до D; плановый вклад учредителя не объявляется внесенным. На D утверждаются транши, лимит необратимых обязательств и условия возврата/замены техники при отказе в допуске. По текущему календарю E предшествует окончательным договорам J и апрельскому пилоту: покупка до пилота — открытый инвестиционный риск, не завершенная проверка спроса. Без согласованного уровня обязательств клиентов и правовой реализуемости необратимая закупка не разрешается. Если инвестору нужен пилот до закупки, календарь и бюджет пересчитываются; зимнее испытание не выдается за полевой пилот.</a:t>
            </a:r>
          </a:p>
          <a:p/>
          <a:p>
            <a:r>
              <a:t>Комментарий к слайду:</a:t>
            </a:r>
          </a:p>
          <a:p>
            <a:r>
              <a:t>2,5 + 7,0 млн покрывают только базовые 9,5 млн. При закупочном стрессе нужно еще 1,98 млн; при неизменном вкладе учредителя внешний вклад 8,98 млн. Дополнительное финансирование не подтверждено. Без нового решения закупка не проводится.</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[РАСЧЕТ] Сводные показатели из тех же исходных данных:</a:t>
            </a:r>
          </a:p>
          <a:p/>
          <a:p>
            <a:r>
              <a:t>| Показатель | 2027 | 2031 |</a:t>
            </a:r>
          </a:p>
          <a:p>
            <a:r>
              <a:t>| --- | --- | --- |</a:t>
            </a:r>
          </a:p>
          <a:p>
            <a:r>
              <a:t>| Га-проходы внесения | 6000 | 13000 |</a:t>
            </a:r>
          </a:p>
          <a:p>
            <a:r>
              <a:t>| Га-обследования | 4000 | 10000 |</a:t>
            </a:r>
          </a:p>
          <a:p>
            <a:r>
              <a:t>| Загрузка потолка внесения | 46,2% | 100% |</a:t>
            </a:r>
          </a:p>
          <a:p>
            <a:r>
              <a:t>| Бригады / штат | 1 /3FTE | 1 /3FTE |</a:t>
            </a:r>
          </a:p>
          <a:p>
            <a:r>
              <a:t>| Выручка,руб. | 8 800 000 | 22 695 256 |</a:t>
            </a:r>
          </a:p>
          <a:p>
            <a:r>
              <a:t>| EBITDA,руб. | 272 800 | 8 489 391 |</a:t>
            </a:r>
          </a:p>
          <a:p>
            <a:r>
              <a:t>| Рентабельность EBITDA | 3,1% | 37,4% |</a:t>
            </a:r>
          </a:p>
          <a:p>
            <a:r>
              <a:t>| FCF,руб. | -255 200 | 8 527 676 |</a:t>
            </a:r>
          </a:p>
          <a:p>
            <a:r>
              <a:t>| Выручка на FTE,руб. | 2 933 333 | 7 565 085 |</a:t>
            </a:r>
          </a:p>
          <a:p/>
          <a:p>
            <a:r>
              <a:t>[ДОПУЩЕНИЕ] KPI операционного качества: отчет не позднее 48 часов после задания;100% работ с полетным и агрономическим чек-листом;0 несогласованных отклонений в дозе/контуре; регистрация каждого опасного события; повторные договоры не менее 60% клиентов после первого сезона. Эти цели еще не достигнуты. Рост рентабельности к 2031 обусловлен загрузкой одной команды и требует отдельного подтверждения мощности и оплаты труда, а не считается гарантированным эффектом технологии.</a:t>
            </a:r>
          </a:p>
          <a:p/>
          <a:p>
            <a:r>
              <a:t>[РАСЧЕТ] Обе услуги требуют 54,15 эффективного дня в 2027 и 120 в 2031; это не гарантированные доступные смены. FCF 2031 до высвобождения резерва: 6 527 676,06 руб.; возврат резерва отдельно 2 млн руб. [ДОПУЩЕНИЕ] Поздняя база ресурсно не подтверждена.</a:t>
            </a:r>
          </a:p>
          <a:p/>
          <a:p>
            <a:r>
              <a:t>Комментарий к слайду:</a:t>
            </a:r>
          </a:p>
          <a:p>
            <a:r>
              <a:t>Редактируемые объекты. Финансовые показатели — расчет модели, входные данные — допущения; проект не является действующим подтвержденным бизнесом.</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[ДОПУЩЕНИЕ] Реестр использует экспертные категории вероятности В и воздействия У: Н — низкое, С — среднее, В — высокое. Это не статистические частоты. Остаточный риск указан после исполнения мер и подлежит пересмотру по фактическим событиям.</a:t>
            </a:r>
          </a:p>
          <a:p/>
          <a:p>
            <a:r>
              <a:t>| Риск | Вероятность | Воздействие | Меры снижения | Остаточный риск В/У | Владелец | Триггер |</a:t>
            </a:r>
          </a:p>
          <a:p>
            <a:r>
              <a:t>|---|---|---|---|---|---|---|</a:t>
            </a:r>
          </a:p>
          <a:p>
            <a:r>
              <a:t>| Запрет или недоступность разрешений | С | В | Правовая проверка до вложений; повторная проверка выезда; no-go | С/В | Директор, юрист | Нет письменного основания для работы |</a:t>
            </a:r>
          </a:p>
          <a:p>
            <a:r>
              <a:t>| Потеря погодных окон | В | В | Приоритеты, маршрутизация, реалистичные договоры; запрет небезопасного ускорения | С/В | Операционный руководитель | Переносы нарушают согласованные сроки |</a:t>
            </a:r>
          </a:p>
          <a:p>
            <a:r>
              <a:t>| Недозагрузка | С | В | Проверка заявок, пилот, договоры до сезона; отказ от расширения | С/С | Директор | Объем подтвержденных заказов ниже плана |</a:t>
            </a:r>
          </a:p>
          <a:p>
            <a:r>
              <a:t>| Поломка и задержка сервиса | С | В | Основной и резервный аппараты, обслуживание, запас деталей | Н/С | Операционный руководитель | Дефект до выезда или растущий срок ремонта |</a:t>
            </a:r>
          </a:p>
          <a:p>
            <a:r>
              <a:t>| Ошибка внесения, недопустимое воздействие | С | В | Проверка агрономом, параметры задания, стоп-процедура, разбор инцидента | Н/В | Операционный руководитель | Несоответствие карты, условий или материала |</a:t>
            </a:r>
          </a:p>
          <a:p>
            <a:r>
              <a:t>| Дефицит кадров и перегрузка | В | В | Проверка фонда труда, наставник, календарь отдыха, ограничение заказов | С/В | Директор | Вакансия, переработки, ошибки подготовки |</a:t>
            </a:r>
          </a:p>
          <a:p>
            <a:r>
              <a:t>| Конфликт мониторинга и внесения | С | В | Раздельные окна; без отдельной команды одновременные полеты запрещены | Н/С | Операционный руководитель | Двойное бронирование людей или техники |</a:t>
            </a:r>
          </a:p>
          <a:p>
            <a:r>
              <a:t>| Задержка платежей | С | В | Аванс, лимиты дебиторской задолженности, платежный календарь | С/С | Директор, бухгалтер | Просрочка или прогноз отрицательного остатка |</a:t>
            </a:r>
          </a:p>
          <a:p>
            <a:r>
              <a:t>| Неудачная гражданская адаптация | С | С | Добровольность, равные требования, индивидуальное обучение, конфиденциальность | Н/С | Директор | Кандидат сообщает о трудностях или не проходит проверку |</a:t>
            </a:r>
          </a:p>
          <a:p>
            <a:r>
              <a:t>| Завышенное обещание эффекта | С | С | Не гарантировать урожайность; фиксировать объем и критерии приемки | Н/С | Директор, агроном | Клиент ожидает результат вне договора |</a:t>
            </a:r>
          </a:p>
          <a:p/>
          <a:p>
            <a:r>
              <a:t>[ДОПУЩЕНИЕ] При правовом запрете, отсутствии безопасных условий или неподтвержденной компетенции применяется остановка независимо от остаточного рейтинга. Владелец фиксирует событие, решение и условия возобновления; директор пересчитывает календарь и ликвидность. После сезона проверяются фактические затраты, претензии и продления. Масштабирование допускается только после подтверждения способности одной бригады выполнять обязательства без скрытой неоплачиваемой нагрузки.</a:t>
            </a:r>
          </a:p>
          <a:p/>
          <a:p>
            <a:r>
              <a:t>[ДОПУЩЕНИЕ] Дополнительные риски: тариф 1300 не принят — директор проверяет платный спрос и ценовой стресс; КП выше 4 млн за пару — директор останавливает закупку и пересогласует дефицит; транш не поступил — запрет необратимых обязательств; дополнительные обследования не подтверждены — отдельная проверка мониторинга; НДС не переложен на клиента — бухгалтер пересчитывает маржу; пиковый месяц превышает рабочие окна — операционный руководитель ограничивает портфель. Триггеры: неподписанное обязательство на дату D/J, КП выше лимита, просроченный транш, отрицательный прогноз денег или отсутствие безопасных смен. Рейтинги остаточного риска — цели после мер, не уже достигнутое снижение.</a:t>
            </a:r>
          </a:p>
          <a:p/>
          <a:p>
            <a:r>
              <a:t>## Sources</a:t>
            </a:r>
          </a:p>
          <a:p/>
          <a:p>
            <a:r>
              <a:t>[2] https://beeuav.ru/uslugi/obrabotka-polej — Обработка полей дронами в сельском хозяйстве | Точное опрыскивание до 10 га/час</a:t>
            </a:r>
          </a:p>
          <a:p>
            <a:r>
              <a:t>[3] https://xag-ap.ru — Агродроны XAG для опрыскивания полей — купить в Поволжье</a:t>
            </a:r>
          </a:p>
          <a:p>
            <a:r>
              <a:t>[4] https://xag-ap.ru/spraying.php — Обработка полей дроном — опрыскивание, посев | Агропрофи</a:t>
            </a:r>
          </a:p>
          <a:p>
            <a:r>
              <a:t>[5] https://xn--80aai6cg.xn--p1ai — Агродроны и инновации для сельского хозяйства</a:t>
            </a:r>
          </a:p>
          <a:p>
            <a:r>
              <a:t>[6] https://germes-technology.ru — Агродроны «Гермес»</a:t>
            </a:r>
          </a:p>
          <a:p>
            <a:r>
              <a:t>[7] https://agrdron.ru — Агродроны ЮФО — обработка полей агродронами</a:t>
            </a:r>
          </a:p>
          <a:p>
            <a:r>
              <a:t>[8] https://www.vesti.ru/article/4893778 — Лут: в 2025 году в РФ обработали около 600 тысяч га полей с помощью агродронов - Новости на Вести.ru</a:t>
            </a:r>
          </a:p>
          <a:p>
            <a:r>
              <a:t>[9] https://www.rshb.ru/news/16072026-000004 — День поля: площадь обработанных агродронами полей в России в 2026 году вырастет на треть – РСХБ</a:t>
            </a:r>
          </a:p>
          <a:p>
            <a:r>
              <a:t>[11] https://pravo.ppt.ru/fz/228-fz-343389 — Федеральный закон от 04.07.2026 № 228-ФЗ О внесении изменений в статью 145 части второй Налогового кодекса Российской Федерации (в редакции от 05.09.2026)</a:t>
            </a:r>
          </a:p>
          <a:p>
            <a:r>
              <a:t>[12] https://www.nalog.gov.ru/rn33/news/tax_doc_news/16636398 — Порог доходов для уплаты НДС на УСН сохранён на уровне 20 млн рублей до 2029 года |  ФНС России  | 33 Владимирская область</a:t>
            </a:r>
          </a:p>
          <a:p>
            <a:r>
              <a:t>[14] https://www.nalog.gov.ru/rn77/taxation/taxes/usn — Упрощенная система налогообложения |  ФНС России  | 77 город Москва</a:t>
            </a:r>
          </a:p>
          <a:p>
            <a:r>
              <a:t>[15] https://www.consultant.ru/document/cons_doc_LAW_13744/009711b4b9730b8597cfd79d7160a30bcae04d60 — ВЗК РФ Статья 33. Государственная регистрация и государственный учет воздушных судов \ КонсультантПлюс</a:t>
            </a:r>
          </a:p>
          <a:p>
            <a:r>
              <a:t>[16] http://publication.pravo.gov.ru/document/0001202608280041 — Приказ Министерства транспорта Российской Федерации от 02.07.2026 № 303 ∙ Официальное опубликование правовых актов</a:t>
            </a:r>
          </a:p>
          <a:p>
            <a:r>
              <a:t>[17] https://base.garant.ru/414829385 — Приказ Министерства транспорта Российской Федерации от 02.07.2026 № 303 “Об утверждении Федеральных авиационных правил «Требования к эксплуатанту, выполняющему авиационные работы, и порядок выдачи ему документа, подтверждающего соответствие требованиям федеральных авиационных правил” | ГАРАНТ</a:t>
            </a:r>
          </a:p>
          <a:p>
            <a:r>
              <a:t>[18] http://publication.pravo.gov.ru/document/0001202602270023?index=2 — Постановление Главного государственного санитарного врача Российской Федерации от 12.02.2026 № 2 ∙ Официальное опубликование правовых актов</a:t>
            </a:r>
          </a:p>
          <a:p>
            <a:r>
              <a:t>[19] https://www.consultant.ru/document/cons_doc_LAW_527669/4e1be0f3b6a61b723c0f41a8cdd22c5410404e57 — ИЗМЕНЕНИЯ, ВНОСИМЫЕ В САНИТАРНЫЕ ПРАВИЛА И НОРМЫ САНПИН 2.1.3684-21 "САНИТАРНО-ЭПИДЕМИОЛОГИЧЕСКИЕ ТРЕБОВАНИЯ К СОДЕРЖАНИЮ ТЕРРИТОРИЙ ГОРОДСКИХ И СЕЛЬСКИХ ПОСЕЛЕНИЙ, К ВОДНЫМ ОБЪЕКТАМ, ПИТЬЕВОЙ ВОДЕ И ПИТЬЕВОМУ ВОДОСНАБЖЕНИЮ, АТМОСФЕРНОМУ ВОЗДУХУ,... \ КонсультантПлюс</a:t>
            </a:r>
          </a:p>
          <a:p>
            <a:r>
              <a:t>[20] http://publication.pravo.gov.ru/document/0001202606020080?index=49 — Постановление Главного государственного санитарного врача Российской Федерации от 02.06.2026 № 15 ∙ Официальное опубликование правовых актов</a:t>
            </a:r>
          </a:p>
          <a:p>
            <a:r>
              <a:t>[21] https://www.consultant.ru/document/cons_doc_LAW_535845/92d969e26a4326c5d02fa79b8f9cf4994ee5633b — ФЕДЕРАЛЬНАЯ СЛУЖБА ПО НАДЗОРУ В СФЕРЕ ЗАЩИТЫ ПРАВ ПОТРЕБИТЕЛЕЙ И БЛАГОПОЛУЧИЯ ЧЕЛОВЕКА ГЛАВНЫЙ ГОСУДАРСТВЕННЫЙ САНИТАРНЫЙ ВРАЧ РОССИЙСКОЙ ФЕДЕРАЦИИ ПОСТАНОВЛЕНИЕ от 2 июня 2026 г. N 15 ОБ УТВЕРЖДЕНИИ САНИТАРНЫХ ПРАВИЛ СП 2.2.4285-26... \ КонсультантПлюс</a:t>
            </a:r>
          </a:p>
          <a:p>
            <a:r>
              <a:t>[26] http://static.government.ru/media/files/3m4AHa9s3PrYTDr316ibUtyEVUpnRT2x.pdf — Стратегия БАС, распоряжение 1630-р</a:t>
            </a:r>
          </a:p>
          <a:p>
            <a:r>
              <a:t>[27] https://tk-expert.ru/uploads/files/docs/%D0%9F%D0%9E%D0%A1%D0%A2%D0%90%D0%9D%D0%9E%D0%92%D0%9B%D0%95%D0%9D%D0%98%D0%95%2002.06.2026%20N15%20%D0%A1%D0%90%D0%9D%D0%98%D0%A2%D0%90%D0%A0%D0%9D%D0%AB%D0%A5%20%D0%9F%D0%A0%D0%90%D0%92%D0%98%D0%9B%20%D0%A1%D0%9F%2002.2.4285-26%20%D0%A1%D0%90%D0%9D%D0%98%D0%A2%D0%90%D0%A0%D0%9D%D0%9E-%D0%AD%D0%9F%D0%98%D0%94%D0%95%D0%9C%D0%98%D0%9E%D0%9B%D0%9E%D0%93%D0%98%D0%A7%D0%95%D0%A1%D0%9A%D0%98%D0%95%20%D0%A2%D0%A0%D0%95%D0%91.%D0%9A%20%D0%A3%D0%A1%D0%9B%D0%9E%D0%92%D0%98%D0%AF%D0%9C%20%D0%A2%D0%A0%D0%A3%D0%94%D0%90.pdf — СП 2.2.4285-26, текст постановления 02.06.2026 №15 (копия)</a:t>
            </a:r>
          </a:p>
          <a:p>
            <a:r>
              <a:t>[28] https://www.nalog.gov.ru/rn77/taxation/taxes/nds_usn — https://www.nalog.gov.ru/rn77/taxation/taxes/nds_usn/</a:t>
            </a:r>
          </a:p>
          <a:p>
            <a:r>
              <a:t>[29] https://xag-ap.ru/p100pro.php — Агропрофи: XAG P100 Pro, карточка модели</a:t>
            </a:r>
          </a:p>
          <a:p>
            <a:r>
              <a:t>[30] https://www.xa.com/en/p100pro/p100prospecs — XAG P100 Pro: официальная спецификация</a:t>
            </a:r>
          </a:p>
          <a:p>
            <a:r>
              <a:t>[31] https://16.fsvps.gov.ru/news/s-1-marta-2026-goda-vstupili-v-zakonnuyu-silu-izmeneniya-v-zakonodatelstvo-rf-kasayushhiesya-primeneniya-pesticzidov-i-agrohimikatov — Россельхознадзор: уведомления и ФГИС Сатурн с 01.03.2026</a:t>
            </a:r>
          </a:p>
          <a:p>
            <a:r>
              <a:t>[32] http://publication.pravo.gov.ru/Document/View/1600202211300002 — Указ Республики Татарстан от 25.11.2022 № УП-813</a:t>
            </a:r>
          </a:p>
          <a:p>
            <a:r>
              <a:t>[33] https://agroexpert.press/numbers/posevnaya-ploshhad-v-2025-godu-snizilas-na-111-do-79298-mln-ga-rosstat — Агроэксперт: общероссийская посевная площадь 2025 по данным Росстата</a:t>
            </a:r>
          </a:p>
          <a:p>
            <a:r>
              <a:t>[34] https://zur-kazan.ru/news/article/srednemesyachnaya-zarplata-v-tatarstane-vozrosla-do-98-479-rubley-131310 — Журнал Казань: средняя зарплата Татарстана, январь–июнь 2026</a:t>
            </a:r>
          </a:p>
          <a:p>
            <a:r>
              <a:t>[35] https://www.nalog.gov.ru/rn77/news/activities_fts/16577139 — ФНС: единый тариф взносов и предельная база 2026</a:t>
            </a:r>
          </a:p>
          <a:p>
            <a:r>
              <a:t>[36] https://agrdron.ru/about — Агродроны ЮФО: цена услуги от 900 руб./га</a:t>
            </a:r>
          </a:p>
          <a:p>
            <a:r>
              <a:t>[37] https://secrets.tbank.ru/blogi-kompanij/pro-tekhnologii-v-polyah — Леонид Гоминюк, ООО Купец: авторский диапазон стоимости, 07.05.2025</a:t>
            </a:r>
          </a:p>
          <a:p/>
          <a:p>
            <a:r>
              <a:t>Комментарий к слайду:</a:t>
            </a:r>
          </a:p>
          <a:p>
            <a:r>
              <a:t>Редактируемые объекты. Финансовые показатели — расчет модели, входные данные — допущения; проект не является действующим подтвержденным бизнесом.</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1.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92A20"/>
        </a:solidFill>
        <a:effectLst/>
      </p:bgPr>
    </p:bg>
    <p:spTree>
      <p:nvGrpSpPr>
        <p:cNvPr id="1" name=""/>
        <p:cNvGrpSpPr/>
        <p:nvPr/>
      </p:nvGrpSpPr>
      <p:grpSpPr/>
      <p:sp>
        <p:nvSpPr>
          <p:cNvPr id="2" name="Rectangle 1"/>
          <p:cNvSpPr/>
          <p:nvPr/>
        </p:nvSpPr>
        <p:spPr>
          <a:xfrm>
            <a:off x="411480" y="393192"/>
            <a:ext cx="91440" cy="448056"/>
          </a:xfrm>
          <a:prstGeom prst="rect">
            <a:avLst/>
          </a:prstGeom>
          <a:solidFill>
            <a:srgbClr val="C8F2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58368" y="356616"/>
            <a:ext cx="10835640" cy="886968"/>
          </a:xfrm>
          <a:prstGeom prst="rect">
            <a:avLst/>
          </a:prstGeom>
          <a:noFill/>
        </p:spPr>
        <p:txBody>
          <a:bodyPr wrap="square" lIns="13716" rIns="13716" tIns="0" bIns="0">
            <a:spAutoFit/>
          </a:bodyPr>
          <a:lstStyle/>
          <a:p>
            <a:pPr>
              <a:spcBef>
                <a:spcPts val="0"/>
              </a:spcBef>
              <a:spcAft>
                <a:spcPts val="500"/>
              </a:spcAft>
              <a:defRPr sz="3000" b="1">
                <a:solidFill>
                  <a:srgbClr val="FFFFFF"/>
                </a:solidFill>
                <a:latin typeface="Arial"/>
              </a:defRPr>
            </a:pPr>
            <a:r>
              <a:t>Резюме</a:t>
            </a:r>
          </a:p>
        </p:txBody>
      </p:sp>
      <p:sp>
        <p:nvSpPr>
          <p:cNvPr id="4" name="TextBox 3"/>
          <p:cNvSpPr txBox="1"/>
          <p:nvPr/>
        </p:nvSpPr>
        <p:spPr>
          <a:xfrm>
            <a:off x="658368" y="1161288"/>
            <a:ext cx="10881360" cy="329184"/>
          </a:xfrm>
          <a:prstGeom prst="rect">
            <a:avLst/>
          </a:prstGeom>
          <a:noFill/>
        </p:spPr>
        <p:txBody>
          <a:bodyPr wrap="square" lIns="13716" rIns="13716" tIns="0" bIns="0">
            <a:spAutoFit/>
          </a:bodyPr>
          <a:lstStyle/>
          <a:p>
            <a:pPr>
              <a:spcBef>
                <a:spcPts val="0"/>
              </a:spcBef>
              <a:spcAft>
                <a:spcPts val="500"/>
              </a:spcAft>
              <a:defRPr sz="1500" b="0">
                <a:solidFill>
                  <a:srgbClr val="C8F26B"/>
                </a:solidFill>
                <a:latin typeface="Arial"/>
              </a:defRPr>
            </a:pPr>
            <a:r>
              <a:t>[ДОПУЩЕНИЕ] Концепция сервиса  •  [РАСЧЕТ] Финансы базового сценария</a:t>
            </a:r>
          </a:p>
        </p:txBody>
      </p:sp>
      <p:sp>
        <p:nvSpPr>
          <p:cNvPr id="5" name="TextBox 4"/>
          <p:cNvSpPr txBox="1"/>
          <p:nvPr/>
        </p:nvSpPr>
        <p:spPr>
          <a:xfrm>
            <a:off x="502920" y="6510528"/>
            <a:ext cx="10058400" cy="210312"/>
          </a:xfrm>
          <a:prstGeom prst="rect">
            <a:avLst/>
          </a:prstGeom>
          <a:noFill/>
        </p:spPr>
        <p:txBody>
          <a:bodyPr wrap="square" lIns="13716" rIns="13716" tIns="0" bIns="0">
            <a:spAutoFit/>
          </a:bodyPr>
          <a:lstStyle/>
          <a:p>
            <a:pPr>
              <a:spcBef>
                <a:spcPts val="0"/>
              </a:spcBef>
              <a:spcAft>
                <a:spcPts val="500"/>
              </a:spcAft>
              <a:defRPr sz="1000" b="0">
                <a:solidFill>
                  <a:srgbClr val="AFC5B8"/>
                </a:solidFill>
                <a:latin typeface="Arial"/>
              </a:defRPr>
            </a:pPr>
            <a:r>
              <a:t>АГРОВЕКТОР / инвестиционная гипотеза / 2027–2031 / редакция 20.10.2026</a:t>
            </a:r>
          </a:p>
        </p:txBody>
      </p:sp>
      <p:sp>
        <p:nvSpPr>
          <p:cNvPr id="6" name="TextBox 5"/>
          <p:cNvSpPr txBox="1"/>
          <p:nvPr/>
        </p:nvSpPr>
        <p:spPr>
          <a:xfrm>
            <a:off x="11018520" y="6483096"/>
            <a:ext cx="731520" cy="256032"/>
          </a:xfrm>
          <a:prstGeom prst="rect">
            <a:avLst/>
          </a:prstGeom>
          <a:noFill/>
        </p:spPr>
        <p:txBody>
          <a:bodyPr wrap="square" lIns="13716" rIns="13716" tIns="0" bIns="0">
            <a:spAutoFit/>
          </a:bodyPr>
          <a:lstStyle/>
          <a:p>
            <a:pPr>
              <a:spcBef>
                <a:spcPts val="0"/>
              </a:spcBef>
              <a:spcAft>
                <a:spcPts val="500"/>
              </a:spcAft>
              <a:defRPr sz="1100" b="1">
                <a:solidFill>
                  <a:srgbClr val="C8F26B"/>
                </a:solidFill>
                <a:latin typeface="Arial"/>
              </a:defRPr>
            </a:pPr>
            <a:r>
              <a:t>01 / 22</a:t>
            </a:r>
          </a:p>
        </p:txBody>
      </p:sp>
      <p:sp>
        <p:nvSpPr>
          <p:cNvPr id="7" name="TextBox 6"/>
          <p:cNvSpPr txBox="1"/>
          <p:nvPr/>
        </p:nvSpPr>
        <p:spPr>
          <a:xfrm>
            <a:off x="594360" y="1764792"/>
            <a:ext cx="6400800" cy="914400"/>
          </a:xfrm>
          <a:prstGeom prst="rect">
            <a:avLst/>
          </a:prstGeom>
          <a:noFill/>
        </p:spPr>
        <p:txBody>
          <a:bodyPr wrap="square" lIns="13716" rIns="13716" tIns="0" bIns="0">
            <a:spAutoFit/>
          </a:bodyPr>
          <a:lstStyle/>
          <a:p>
            <a:pPr>
              <a:spcBef>
                <a:spcPts val="0"/>
              </a:spcBef>
              <a:spcAft>
                <a:spcPts val="500"/>
              </a:spcAft>
              <a:defRPr sz="4800" b="1">
                <a:solidFill>
                  <a:srgbClr val="FFFFFF"/>
                </a:solidFill>
                <a:latin typeface="Arial"/>
              </a:defRPr>
            </a:pPr>
            <a:r>
              <a:t>АгроВектор</a:t>
            </a:r>
          </a:p>
        </p:txBody>
      </p:sp>
      <p:sp>
        <p:nvSpPr>
          <p:cNvPr id="8" name="TextBox 7"/>
          <p:cNvSpPr txBox="1"/>
          <p:nvPr/>
        </p:nvSpPr>
        <p:spPr>
          <a:xfrm>
            <a:off x="640080" y="2743200"/>
            <a:ext cx="5943600" cy="1051560"/>
          </a:xfrm>
          <a:prstGeom prst="rect">
            <a:avLst/>
          </a:prstGeom>
          <a:noFill/>
        </p:spPr>
        <p:txBody>
          <a:bodyPr wrap="square" lIns="13716" rIns="13716" tIns="0" bIns="0">
            <a:spAutoFit/>
          </a:bodyPr>
          <a:lstStyle/>
          <a:p>
            <a:pPr>
              <a:spcBef>
                <a:spcPts val="0"/>
              </a:spcBef>
              <a:spcAft>
                <a:spcPts val="500"/>
              </a:spcAft>
              <a:defRPr sz="2500" b="0">
                <a:solidFill>
                  <a:srgbClr val="FFFFFF"/>
                </a:solidFill>
                <a:latin typeface="Arial"/>
              </a:defRPr>
            </a:pPr>
            <a:r>
              <a:t>Мониторинг посевов и точечное внесение</a:t>
            </a:r>
          </a:p>
          <a:p>
            <a:pPr>
              <a:spcBef>
                <a:spcPts val="0"/>
              </a:spcBef>
              <a:spcAft>
                <a:spcPts val="500"/>
              </a:spcAft>
              <a:defRPr sz="2500" b="0">
                <a:solidFill>
                  <a:srgbClr val="FFFFFF"/>
                </a:solidFill>
                <a:latin typeface="Arial"/>
              </a:defRPr>
            </a:pPr>
            <a:r>
              <a:t>с проверяемым заданием и отчетом</a:t>
            </a:r>
          </a:p>
        </p:txBody>
      </p:sp>
      <p:sp>
        <p:nvSpPr>
          <p:cNvPr id="9" name="TextBox 8"/>
          <p:cNvSpPr txBox="1"/>
          <p:nvPr/>
        </p:nvSpPr>
        <p:spPr>
          <a:xfrm>
            <a:off x="640080" y="4142232"/>
            <a:ext cx="5669280" cy="914400"/>
          </a:xfrm>
          <a:prstGeom prst="rect">
            <a:avLst/>
          </a:prstGeom>
          <a:noFill/>
        </p:spPr>
        <p:txBody>
          <a:bodyPr wrap="square" lIns="13716" rIns="13716" tIns="0" bIns="0">
            <a:spAutoFit/>
          </a:bodyPr>
          <a:lstStyle/>
          <a:p>
            <a:pPr>
              <a:spcBef>
                <a:spcPts val="0"/>
              </a:spcBef>
              <a:spcAft>
                <a:spcPts val="500"/>
              </a:spcAft>
              <a:defRPr sz="1800" b="0">
                <a:solidFill>
                  <a:srgbClr val="AFC5B8"/>
                </a:solidFill>
                <a:latin typeface="Arial"/>
              </a:defRPr>
            </a:pPr>
            <a:r>
              <a:t>Одна бригада • Татарстан — условная зона</a:t>
            </a:r>
          </a:p>
          <a:p>
            <a:pPr>
              <a:spcBef>
                <a:spcPts val="0"/>
              </a:spcBef>
              <a:spcAft>
                <a:spcPts val="500"/>
              </a:spcAft>
              <a:defRPr sz="1800" b="0">
                <a:solidFill>
                  <a:srgbClr val="AFC5B8"/>
                </a:solidFill>
                <a:latin typeface="Arial"/>
              </a:defRPr>
            </a:pPr>
            <a:r>
              <a:t>Гражданская переподготовка специалистов БПЛА</a:t>
            </a:r>
          </a:p>
        </p:txBody>
      </p:sp>
      <p:sp>
        <p:nvSpPr>
          <p:cNvPr id="10" name="Rounded Rectangle 9"/>
          <p:cNvSpPr/>
          <p:nvPr/>
        </p:nvSpPr>
        <p:spPr>
          <a:xfrm>
            <a:off x="6629400" y="1755648"/>
            <a:ext cx="2423160" cy="341071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6812280" y="1938528"/>
            <a:ext cx="347472" cy="54864"/>
          </a:xfrm>
          <a:prstGeom prst="rect">
            <a:avLst/>
          </a:prstGeom>
          <a:solidFill>
            <a:srgbClr val="C8F2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30568" y="2112264"/>
            <a:ext cx="2020824" cy="658368"/>
          </a:xfrm>
          <a:prstGeom prst="rect">
            <a:avLst/>
          </a:prstGeom>
          <a:noFill/>
        </p:spPr>
        <p:txBody>
          <a:bodyPr wrap="square" lIns="13716" rIns="13716" tIns="0" bIns="0">
            <a:spAutoFit/>
          </a:bodyPr>
          <a:lstStyle/>
          <a:p>
            <a:pPr>
              <a:spcBef>
                <a:spcPts val="0"/>
              </a:spcBef>
              <a:spcAft>
                <a:spcPts val="500"/>
              </a:spcAft>
              <a:defRPr sz="3500" b="1">
                <a:solidFill>
                  <a:srgbClr val="164C38"/>
                </a:solidFill>
                <a:latin typeface="Arial"/>
              </a:defRPr>
            </a:pPr>
            <a:r>
              <a:t>9,5</a:t>
            </a:r>
          </a:p>
        </p:txBody>
      </p:sp>
      <p:sp>
        <p:nvSpPr>
          <p:cNvPr id="13" name="TextBox 12"/>
          <p:cNvSpPr txBox="1"/>
          <p:nvPr/>
        </p:nvSpPr>
        <p:spPr>
          <a:xfrm>
            <a:off x="6830568" y="2843784"/>
            <a:ext cx="2020824" cy="585216"/>
          </a:xfrm>
          <a:prstGeom prst="rect">
            <a:avLst/>
          </a:prstGeom>
          <a:noFill/>
        </p:spPr>
        <p:txBody>
          <a:bodyPr wrap="square" lIns="13716" rIns="13716" tIns="0" bIns="0">
            <a:spAutoFit/>
          </a:bodyPr>
          <a:lstStyle/>
          <a:p>
            <a:pPr>
              <a:spcBef>
                <a:spcPts val="0"/>
              </a:spcBef>
              <a:spcAft>
                <a:spcPts val="500"/>
              </a:spcAft>
              <a:defRPr sz="2000" b="1">
                <a:solidFill>
                  <a:srgbClr val="164C38"/>
                </a:solidFill>
                <a:latin typeface="Arial"/>
              </a:defRPr>
            </a:pPr>
            <a:r>
              <a:t>млн ₽</a:t>
            </a:r>
          </a:p>
        </p:txBody>
      </p:sp>
      <p:sp>
        <p:nvSpPr>
          <p:cNvPr id="14" name="TextBox 13"/>
          <p:cNvSpPr txBox="1"/>
          <p:nvPr/>
        </p:nvSpPr>
        <p:spPr>
          <a:xfrm>
            <a:off x="6830568" y="3447288"/>
            <a:ext cx="2020824" cy="1645920"/>
          </a:xfrm>
          <a:prstGeom prst="rect">
            <a:avLst/>
          </a:prstGeom>
          <a:noFill/>
        </p:spPr>
        <p:txBody>
          <a:bodyPr wrap="square" lIns="13716" rIns="13716" tIns="0" bIns="0">
            <a:spAutoFit/>
          </a:bodyPr>
          <a:lstStyle/>
          <a:p>
            <a:pPr>
              <a:spcBef>
                <a:spcPts val="0"/>
              </a:spcBef>
              <a:spcAft>
                <a:spcPts val="500"/>
              </a:spcAft>
              <a:defRPr sz="1800" b="0">
                <a:solidFill>
                  <a:srgbClr val="092A20"/>
                </a:solidFill>
                <a:latin typeface="Arial"/>
              </a:defRPr>
            </a:pPr>
            <a:r>
              <a:t>Стартовая потребность</a:t>
            </a:r>
          </a:p>
        </p:txBody>
      </p:sp>
      <p:sp>
        <p:nvSpPr>
          <p:cNvPr id="15" name="Rounded Rectangle 14"/>
          <p:cNvSpPr/>
          <p:nvPr/>
        </p:nvSpPr>
        <p:spPr>
          <a:xfrm>
            <a:off x="9253728" y="1755648"/>
            <a:ext cx="2423160" cy="341071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9436607" y="1938528"/>
            <a:ext cx="347472" cy="54864"/>
          </a:xfrm>
          <a:prstGeom prst="rect">
            <a:avLst/>
          </a:prstGeom>
          <a:solidFill>
            <a:srgbClr val="C8F2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9454896" y="2112264"/>
            <a:ext cx="2020824" cy="658368"/>
          </a:xfrm>
          <a:prstGeom prst="rect">
            <a:avLst/>
          </a:prstGeom>
          <a:noFill/>
        </p:spPr>
        <p:txBody>
          <a:bodyPr wrap="square" lIns="13716" rIns="13716" tIns="0" bIns="0">
            <a:spAutoFit/>
          </a:bodyPr>
          <a:lstStyle/>
          <a:p>
            <a:pPr>
              <a:spcBef>
                <a:spcPts val="0"/>
              </a:spcBef>
              <a:spcAft>
                <a:spcPts val="500"/>
              </a:spcAft>
              <a:defRPr sz="3500" b="1">
                <a:solidFill>
                  <a:srgbClr val="164C38"/>
                </a:solidFill>
                <a:latin typeface="Arial"/>
              </a:defRPr>
            </a:pPr>
            <a:r>
              <a:t>-1,07</a:t>
            </a:r>
          </a:p>
        </p:txBody>
      </p:sp>
      <p:sp>
        <p:nvSpPr>
          <p:cNvPr id="18" name="TextBox 17"/>
          <p:cNvSpPr txBox="1"/>
          <p:nvPr/>
        </p:nvSpPr>
        <p:spPr>
          <a:xfrm>
            <a:off x="9454896" y="2843784"/>
            <a:ext cx="2020824" cy="585216"/>
          </a:xfrm>
          <a:prstGeom prst="rect">
            <a:avLst/>
          </a:prstGeom>
          <a:noFill/>
        </p:spPr>
        <p:txBody>
          <a:bodyPr wrap="square" lIns="13716" rIns="13716" tIns="0" bIns="0">
            <a:spAutoFit/>
          </a:bodyPr>
          <a:lstStyle/>
          <a:p>
            <a:pPr>
              <a:spcBef>
                <a:spcPts val="0"/>
              </a:spcBef>
              <a:spcAft>
                <a:spcPts val="500"/>
              </a:spcAft>
              <a:defRPr sz="2000" b="1">
                <a:solidFill>
                  <a:srgbClr val="164C38"/>
                </a:solidFill>
                <a:latin typeface="Arial"/>
              </a:defRPr>
            </a:pPr>
            <a:r>
              <a:t>млн ₽ NPV</a:t>
            </a:r>
          </a:p>
        </p:txBody>
      </p:sp>
      <p:sp>
        <p:nvSpPr>
          <p:cNvPr id="19" name="TextBox 18"/>
          <p:cNvSpPr txBox="1"/>
          <p:nvPr/>
        </p:nvSpPr>
        <p:spPr>
          <a:xfrm>
            <a:off x="9454896" y="3447288"/>
            <a:ext cx="2020824" cy="1645920"/>
          </a:xfrm>
          <a:prstGeom prst="rect">
            <a:avLst/>
          </a:prstGeom>
          <a:noFill/>
        </p:spPr>
        <p:txBody>
          <a:bodyPr wrap="square" lIns="13716" rIns="13716" tIns="0" bIns="0">
            <a:spAutoFit/>
          </a:bodyPr>
          <a:lstStyle/>
          <a:p>
            <a:pPr>
              <a:spcBef>
                <a:spcPts val="0"/>
              </a:spcBef>
              <a:spcAft>
                <a:spcPts val="500"/>
              </a:spcAft>
              <a:defRPr sz="1800" b="0">
                <a:solidFill>
                  <a:srgbClr val="092A20"/>
                </a:solidFill>
                <a:latin typeface="Arial"/>
              </a:defRPr>
            </a:pPr>
            <a:r>
              <a:t>Ставка 24%; горизонт 5 лет</a:t>
            </a:r>
          </a:p>
        </p:txBody>
      </p:sp>
      <p:sp>
        <p:nvSpPr>
          <p:cNvPr id="20" name="Rounded Rectangle 19"/>
          <p:cNvSpPr/>
          <p:nvPr/>
        </p:nvSpPr>
        <p:spPr>
          <a:xfrm>
            <a:off x="502920" y="5513832"/>
            <a:ext cx="11183112" cy="448056"/>
          </a:xfrm>
          <a:prstGeom prst="roundRect">
            <a:avLst>
              <a:gd name="adj" fmla="val 8000"/>
            </a:avLst>
          </a:prstGeom>
          <a:solidFill>
            <a:srgbClr val="C8F2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58368" y="5596128"/>
            <a:ext cx="10881360" cy="320040"/>
          </a:xfrm>
          <a:prstGeom prst="rect">
            <a:avLst/>
          </a:prstGeom>
          <a:noFill/>
        </p:spPr>
        <p:txBody>
          <a:bodyPr wrap="square" lIns="13716" rIns="13716" tIns="0" bIns="0">
            <a:spAutoFit/>
          </a:bodyPr>
          <a:lstStyle/>
          <a:p>
            <a:pPr>
              <a:spcBef>
                <a:spcPts val="0"/>
              </a:spcBef>
              <a:spcAft>
                <a:spcPts val="500"/>
              </a:spcAft>
              <a:defRPr sz="1600" b="1">
                <a:solidFill>
                  <a:srgbClr val="092A20"/>
                </a:solidFill>
                <a:latin typeface="Arial"/>
              </a:defRPr>
            </a:pPr>
            <a:r>
              <a:t>Решение: поэтапное финансирование после правовой проверки и подтверждения спроса</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092A20"/>
        </a:solidFill>
        <a:effectLst/>
      </p:bgPr>
    </p:bg>
    <p:spTree>
      <p:nvGrpSpPr>
        <p:cNvPr id="1" name=""/>
        <p:cNvGrpSpPr/>
        <p:nvPr/>
      </p:nvGrpSpPr>
      <p:grpSpPr/>
      <p:sp>
        <p:nvSpPr>
          <p:cNvPr id="2" name="Rectangle 1"/>
          <p:cNvSpPr/>
          <p:nvPr/>
        </p:nvSpPr>
        <p:spPr>
          <a:xfrm>
            <a:off x="411480" y="393192"/>
            <a:ext cx="91440" cy="448056"/>
          </a:xfrm>
          <a:prstGeom prst="rect">
            <a:avLst/>
          </a:prstGeom>
          <a:solidFill>
            <a:srgbClr val="C8F2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58368" y="356616"/>
            <a:ext cx="10835640" cy="886968"/>
          </a:xfrm>
          <a:prstGeom prst="rect">
            <a:avLst/>
          </a:prstGeom>
          <a:noFill/>
        </p:spPr>
        <p:txBody>
          <a:bodyPr wrap="square" lIns="13716" rIns="13716" tIns="0" bIns="0">
            <a:spAutoFit/>
          </a:bodyPr>
          <a:lstStyle/>
          <a:p>
            <a:pPr>
              <a:spcBef>
                <a:spcPts val="0"/>
              </a:spcBef>
              <a:spcAft>
                <a:spcPts val="500"/>
              </a:spcAft>
              <a:defRPr sz="3000" b="1">
                <a:solidFill>
                  <a:srgbClr val="FFFFFF"/>
                </a:solidFill>
                <a:latin typeface="Arial"/>
              </a:defRPr>
            </a:pPr>
            <a:r>
              <a:t>SMART-цели</a:t>
            </a:r>
          </a:p>
        </p:txBody>
      </p:sp>
      <p:sp>
        <p:nvSpPr>
          <p:cNvPr id="4" name="TextBox 3"/>
          <p:cNvSpPr txBox="1"/>
          <p:nvPr/>
        </p:nvSpPr>
        <p:spPr>
          <a:xfrm>
            <a:off x="658368" y="1161288"/>
            <a:ext cx="10881360" cy="329184"/>
          </a:xfrm>
          <a:prstGeom prst="rect">
            <a:avLst/>
          </a:prstGeom>
          <a:noFill/>
        </p:spPr>
        <p:txBody>
          <a:bodyPr wrap="square" lIns="13716" rIns="13716" tIns="0" bIns="0">
            <a:spAutoFit/>
          </a:bodyPr>
          <a:lstStyle/>
          <a:p>
            <a:pPr>
              <a:spcBef>
                <a:spcPts val="0"/>
              </a:spcBef>
              <a:spcAft>
                <a:spcPts val="500"/>
              </a:spcAft>
              <a:defRPr sz="1500" b="0">
                <a:solidFill>
                  <a:srgbClr val="C8F26B"/>
                </a:solidFill>
                <a:latin typeface="Arial"/>
              </a:defRPr>
            </a:pPr>
            <a:r>
              <a:t>[ДОПУЩЕНИЕ]</a:t>
            </a:r>
          </a:p>
        </p:txBody>
      </p:sp>
      <p:sp>
        <p:nvSpPr>
          <p:cNvPr id="5" name="TextBox 4"/>
          <p:cNvSpPr txBox="1"/>
          <p:nvPr/>
        </p:nvSpPr>
        <p:spPr>
          <a:xfrm>
            <a:off x="502920" y="6510528"/>
            <a:ext cx="10058400" cy="210312"/>
          </a:xfrm>
          <a:prstGeom prst="rect">
            <a:avLst/>
          </a:prstGeom>
          <a:noFill/>
        </p:spPr>
        <p:txBody>
          <a:bodyPr wrap="square" lIns="13716" rIns="13716" tIns="0" bIns="0">
            <a:spAutoFit/>
          </a:bodyPr>
          <a:lstStyle/>
          <a:p>
            <a:pPr>
              <a:spcBef>
                <a:spcPts val="0"/>
              </a:spcBef>
              <a:spcAft>
                <a:spcPts val="500"/>
              </a:spcAft>
              <a:defRPr sz="1000" b="0">
                <a:solidFill>
                  <a:srgbClr val="AFC5B8"/>
                </a:solidFill>
                <a:latin typeface="Arial"/>
              </a:defRPr>
            </a:pPr>
            <a:r>
              <a:t>АГРОВЕКТОР / инвестиционная гипотеза / 2027–2031 / редакция 20.10.2026</a:t>
            </a:r>
          </a:p>
        </p:txBody>
      </p:sp>
      <p:sp>
        <p:nvSpPr>
          <p:cNvPr id="6" name="TextBox 5"/>
          <p:cNvSpPr txBox="1"/>
          <p:nvPr/>
        </p:nvSpPr>
        <p:spPr>
          <a:xfrm>
            <a:off x="11018520" y="6483096"/>
            <a:ext cx="731520" cy="256032"/>
          </a:xfrm>
          <a:prstGeom prst="rect">
            <a:avLst/>
          </a:prstGeom>
          <a:noFill/>
        </p:spPr>
        <p:txBody>
          <a:bodyPr wrap="square" lIns="13716" rIns="13716" tIns="0" bIns="0">
            <a:spAutoFit/>
          </a:bodyPr>
          <a:lstStyle/>
          <a:p>
            <a:pPr>
              <a:spcBef>
                <a:spcPts val="0"/>
              </a:spcBef>
              <a:spcAft>
                <a:spcPts val="500"/>
              </a:spcAft>
              <a:defRPr sz="1100" b="1">
                <a:solidFill>
                  <a:srgbClr val="C8F26B"/>
                </a:solidFill>
                <a:latin typeface="Arial"/>
              </a:defRPr>
            </a:pPr>
            <a:r>
              <a:t>02 / 22</a:t>
            </a:r>
          </a:p>
        </p:txBody>
      </p:sp>
      <p:graphicFrame>
        <p:nvGraphicFramePr>
          <p:cNvPr id="7" name="Table 6"/>
          <p:cNvGraphicFramePr>
            <a:graphicFrameLocks noGrp="1"/>
          </p:cNvGraphicFramePr>
          <p:nvPr/>
        </p:nvGraphicFramePr>
        <p:xfrm>
          <a:off x="502920" y="1737360"/>
          <a:ext cx="11183112" cy="3520440"/>
        </p:xfrm>
        <a:graphic>
          <a:graphicData uri="http://schemas.openxmlformats.org/drawingml/2006/table">
            <a:tbl>
              <a:tblPr firstRow="1" bandRow="1">
                <a:tableStyleId>{5C22544A-7EE6-4342-B048-85BDC9FD1C3A}</a:tableStyleId>
              </a:tblPr>
              <a:tblGrid>
                <a:gridCol w="4709160"/>
                <a:gridCol w="2103120"/>
                <a:gridCol w="4370832"/>
              </a:tblGrid>
              <a:tr h="502920">
                <a:tc>
                  <a:txBody>
                    <a:bodyPr/>
                    <a:lstStyle/>
                    <a:p>
                      <a:pPr>
                        <a:spcAft>
                          <a:spcPts val="0"/>
                        </a:spcAft>
                        <a:defRPr sz="1500" b="1">
                          <a:solidFill>
                            <a:srgbClr val="FFFFFF"/>
                          </a:solidFill>
                          <a:latin typeface="Arial"/>
                        </a:defRPr>
                      </a:pPr>
                      <a:r>
                        <a:t>Цель / результат</a:t>
                      </a:r>
                    </a:p>
                  </a:txBody>
                  <a:tcPr marL="91440" marR="91440" marT="45720" marB="45720">
                    <a:solidFill>
                      <a:srgbClr val="164C38"/>
                    </a:solidFill>
                  </a:tcPr>
                </a:tc>
                <a:tc>
                  <a:txBody>
                    <a:bodyPr/>
                    <a:lstStyle/>
                    <a:p>
                      <a:pPr>
                        <a:spcAft>
                          <a:spcPts val="0"/>
                        </a:spcAft>
                        <a:defRPr sz="1500" b="1">
                          <a:solidFill>
                            <a:srgbClr val="FFFFFF"/>
                          </a:solidFill>
                          <a:latin typeface="Arial"/>
                        </a:defRPr>
                      </a:pPr>
                      <a:r>
                        <a:t>Срок</a:t>
                      </a:r>
                    </a:p>
                  </a:txBody>
                  <a:tcPr marL="91440" marR="91440" marT="45720" marB="45720">
                    <a:solidFill>
                      <a:srgbClr val="164C38"/>
                    </a:solidFill>
                  </a:tcPr>
                </a:tc>
                <a:tc>
                  <a:txBody>
                    <a:bodyPr/>
                    <a:lstStyle/>
                    <a:p>
                      <a:pPr>
                        <a:spcAft>
                          <a:spcPts val="0"/>
                        </a:spcAft>
                        <a:defRPr sz="1500" b="1">
                          <a:solidFill>
                            <a:srgbClr val="FFFFFF"/>
                          </a:solidFill>
                          <a:latin typeface="Arial"/>
                        </a:defRPr>
                      </a:pPr>
                      <a:r>
                        <a:t>Подтверждение</a:t>
                      </a:r>
                    </a:p>
                  </a:txBody>
                  <a:tcPr marL="91440" marR="91440" marT="45720" marB="45720">
                    <a:solidFill>
                      <a:srgbClr val="164C38"/>
                    </a:solidFill>
                  </a:tcPr>
                </a:tc>
              </a:tr>
              <a:tr h="502920">
                <a:tc>
                  <a:txBody>
                    <a:bodyPr/>
                    <a:lstStyle/>
                    <a:p>
                      <a:pPr>
                        <a:spcAft>
                          <a:spcPts val="0"/>
                        </a:spcAft>
                        <a:defRPr sz="1500" b="0">
                          <a:solidFill>
                            <a:srgbClr val="092A20"/>
                          </a:solidFill>
                          <a:latin typeface="Arial"/>
                        </a:defRPr>
                      </a:pPr>
                      <a:r>
                        <a:t>Правовая карта всех полей; GO/NO-GO</a:t>
                      </a:r>
                    </a:p>
                  </a:txBody>
                  <a:tcPr marL="91440" marR="91440" marT="45720" marB="45720">
                    <a:solidFill>
                      <a:srgbClr val="FFFFFF"/>
                    </a:solidFill>
                  </a:tcPr>
                </a:tc>
                <a:tc>
                  <a:txBody>
                    <a:bodyPr/>
                    <a:lstStyle/>
                    <a:p>
                      <a:pPr>
                        <a:spcAft>
                          <a:spcPts val="0"/>
                        </a:spcAft>
                        <a:defRPr sz="1500" b="0">
                          <a:solidFill>
                            <a:srgbClr val="092A20"/>
                          </a:solidFill>
                          <a:latin typeface="Arial"/>
                        </a:defRPr>
                      </a:pPr>
                      <a:r>
                        <a:t>01.11.2026</a:t>
                      </a:r>
                    </a:p>
                  </a:txBody>
                  <a:tcPr marL="91440" marR="91440" marT="45720" marB="45720">
                    <a:solidFill>
                      <a:srgbClr val="FFFFFF"/>
                    </a:solidFill>
                  </a:tcPr>
                </a:tc>
                <a:tc>
                  <a:txBody>
                    <a:bodyPr/>
                    <a:lstStyle/>
                    <a:p>
                      <a:pPr>
                        <a:spcAft>
                          <a:spcPts val="0"/>
                        </a:spcAft>
                        <a:defRPr sz="1500" b="0">
                          <a:solidFill>
                            <a:srgbClr val="092A20"/>
                          </a:solidFill>
                          <a:latin typeface="Arial"/>
                        </a:defRPr>
                      </a:pPr>
                      <a:r>
                        <a:t>Директор; заключение юриста</a:t>
                      </a:r>
                    </a:p>
                  </a:txBody>
                  <a:tcPr marL="91440" marR="91440" marT="45720" marB="45720">
                    <a:solidFill>
                      <a:srgbClr val="FFFFFF"/>
                    </a:solidFill>
                  </a:tcPr>
                </a:tc>
              </a:tr>
              <a:tr h="502920">
                <a:tc>
                  <a:txBody>
                    <a:bodyPr/>
                    <a:lstStyle/>
                    <a:p>
                      <a:pPr>
                        <a:spcAft>
                          <a:spcPts val="0"/>
                        </a:spcAft>
                        <a:defRPr sz="1500" b="0">
                          <a:solidFill>
                            <a:srgbClr val="092A20"/>
                          </a:solidFill>
                          <a:latin typeface="Arial"/>
                        </a:defRPr>
                      </a:pPr>
                      <a:r>
                        <a:t>20 интервью; заявки: 6 000 / 4 000</a:t>
                      </a:r>
                    </a:p>
                  </a:txBody>
                  <a:tcPr marL="91440" marR="91440" marT="45720" marB="45720">
                    <a:solidFill>
                      <a:srgbClr val="EFF4EF"/>
                    </a:solidFill>
                  </a:tcPr>
                </a:tc>
                <a:tc>
                  <a:txBody>
                    <a:bodyPr/>
                    <a:lstStyle/>
                    <a:p>
                      <a:pPr>
                        <a:spcAft>
                          <a:spcPts val="0"/>
                        </a:spcAft>
                        <a:defRPr sz="1500" b="0">
                          <a:solidFill>
                            <a:srgbClr val="092A20"/>
                          </a:solidFill>
                          <a:latin typeface="Arial"/>
                        </a:defRPr>
                      </a:pPr>
                      <a:r>
                        <a:t>29.11.2026</a:t>
                      </a:r>
                    </a:p>
                  </a:txBody>
                  <a:tcPr marL="91440" marR="91440" marT="45720" marB="45720">
                    <a:solidFill>
                      <a:srgbClr val="EFF4EF"/>
                    </a:solidFill>
                  </a:tcPr>
                </a:tc>
                <a:tc>
                  <a:txBody>
                    <a:bodyPr/>
                    <a:lstStyle/>
                    <a:p>
                      <a:pPr>
                        <a:spcAft>
                          <a:spcPts val="0"/>
                        </a:spcAft>
                        <a:defRPr sz="1500" b="0">
                          <a:solidFill>
                            <a:srgbClr val="092A20"/>
                          </a:solidFill>
                          <a:latin typeface="Arial"/>
                        </a:defRPr>
                      </a:pPr>
                      <a:r>
                        <a:t>Директор; реестр заявок</a:t>
                      </a:r>
                    </a:p>
                  </a:txBody>
                  <a:tcPr marL="91440" marR="91440" marT="45720" marB="45720">
                    <a:solidFill>
                      <a:srgbClr val="EFF4EF"/>
                    </a:solidFill>
                  </a:tcPr>
                </a:tc>
              </a:tr>
              <a:tr h="502920">
                <a:tc>
                  <a:txBody>
                    <a:bodyPr/>
                    <a:lstStyle/>
                    <a:p>
                      <a:pPr>
                        <a:spcAft>
                          <a:spcPts val="0"/>
                        </a:spcAft>
                        <a:defRPr sz="1500" b="0">
                          <a:solidFill>
                            <a:srgbClr val="092A20"/>
                          </a:solidFill>
                          <a:latin typeface="Arial"/>
                        </a:defRPr>
                      </a:pPr>
                      <a:r>
                        <a:t>10 клиентов; договоры: 6 000 / 4 000</a:t>
                      </a:r>
                    </a:p>
                  </a:txBody>
                  <a:tcPr marL="91440" marR="91440" marT="45720" marB="45720">
                    <a:solidFill>
                      <a:srgbClr val="FFFFFF"/>
                    </a:solidFill>
                  </a:tcPr>
                </a:tc>
                <a:tc>
                  <a:txBody>
                    <a:bodyPr/>
                    <a:lstStyle/>
                    <a:p>
                      <a:pPr>
                        <a:spcAft>
                          <a:spcPts val="0"/>
                        </a:spcAft>
                        <a:defRPr sz="1500" b="0">
                          <a:solidFill>
                            <a:srgbClr val="092A20"/>
                          </a:solidFill>
                          <a:latin typeface="Arial"/>
                        </a:defRPr>
                      </a:pPr>
                      <a:r>
                        <a:t>21.03.2027</a:t>
                      </a:r>
                    </a:p>
                  </a:txBody>
                  <a:tcPr marL="91440" marR="91440" marT="45720" marB="45720">
                    <a:solidFill>
                      <a:srgbClr val="FFFFFF"/>
                    </a:solidFill>
                  </a:tcPr>
                </a:tc>
                <a:tc>
                  <a:txBody>
                    <a:bodyPr/>
                    <a:lstStyle/>
                    <a:p>
                      <a:pPr>
                        <a:spcAft>
                          <a:spcPts val="0"/>
                        </a:spcAft>
                        <a:defRPr sz="1500" b="0">
                          <a:solidFill>
                            <a:srgbClr val="092A20"/>
                          </a:solidFill>
                          <a:latin typeface="Arial"/>
                        </a:defRPr>
                      </a:pPr>
                      <a:r>
                        <a:t>Директор; договоры и календарь</a:t>
                      </a:r>
                    </a:p>
                  </a:txBody>
                  <a:tcPr marL="91440" marR="91440" marT="45720" marB="45720">
                    <a:solidFill>
                      <a:srgbClr val="FFFFFF"/>
                    </a:solidFill>
                  </a:tcPr>
                </a:tc>
              </a:tr>
              <a:tr h="502920">
                <a:tc>
                  <a:txBody>
                    <a:bodyPr/>
                    <a:lstStyle/>
                    <a:p>
                      <a:pPr>
                        <a:spcAft>
                          <a:spcPts val="0"/>
                        </a:spcAft>
                        <a:defRPr sz="1500" b="0">
                          <a:solidFill>
                            <a:srgbClr val="092A20"/>
                          </a:solidFill>
                          <a:latin typeface="Arial"/>
                        </a:defRPr>
                      </a:pPr>
                      <a:r>
                        <a:t>3 аппарата; 2 оператора; пилот 100 га</a:t>
                      </a:r>
                    </a:p>
                  </a:txBody>
                  <a:tcPr marL="91440" marR="91440" marT="45720" marB="45720">
                    <a:solidFill>
                      <a:srgbClr val="EFF4EF"/>
                    </a:solidFill>
                  </a:tcPr>
                </a:tc>
                <a:tc>
                  <a:txBody>
                    <a:bodyPr/>
                    <a:lstStyle/>
                    <a:p>
                      <a:pPr>
                        <a:spcAft>
                          <a:spcPts val="0"/>
                        </a:spcAft>
                        <a:defRPr sz="1500" b="0">
                          <a:solidFill>
                            <a:srgbClr val="092A20"/>
                          </a:solidFill>
                          <a:latin typeface="Arial"/>
                        </a:defRPr>
                      </a:pPr>
                      <a:r>
                        <a:t>30.04.2027</a:t>
                      </a:r>
                    </a:p>
                  </a:txBody>
                  <a:tcPr marL="91440" marR="91440" marT="45720" marB="45720">
                    <a:solidFill>
                      <a:srgbClr val="EFF4EF"/>
                    </a:solidFill>
                  </a:tcPr>
                </a:tc>
                <a:tc>
                  <a:txBody>
                    <a:bodyPr/>
                    <a:lstStyle/>
                    <a:p>
                      <a:pPr>
                        <a:spcAft>
                          <a:spcPts val="0"/>
                        </a:spcAft>
                        <a:defRPr sz="1500" b="0">
                          <a:solidFill>
                            <a:srgbClr val="092A20"/>
                          </a:solidFill>
                          <a:latin typeface="Arial"/>
                        </a:defRPr>
                      </a:pPr>
                      <a:r>
                        <a:t>Опер. руководитель; акты и допуски</a:t>
                      </a:r>
                    </a:p>
                  </a:txBody>
                  <a:tcPr marL="91440" marR="91440" marT="45720" marB="45720">
                    <a:solidFill>
                      <a:srgbClr val="EFF4EF"/>
                    </a:solidFill>
                  </a:tcPr>
                </a:tc>
              </a:tr>
              <a:tr h="502920">
                <a:tc>
                  <a:txBody>
                    <a:bodyPr/>
                    <a:lstStyle/>
                    <a:p>
                      <a:pPr>
                        <a:spcAft>
                          <a:spcPts val="0"/>
                        </a:spcAft>
                        <a:defRPr sz="1500" b="0">
                          <a:solidFill>
                            <a:srgbClr val="092A20"/>
                          </a:solidFill>
                          <a:latin typeface="Arial"/>
                        </a:defRPr>
                      </a:pPr>
                      <a:r>
                        <a:t>6 000 / 4 000; выручка 8,8 млн ₽</a:t>
                      </a:r>
                    </a:p>
                  </a:txBody>
                  <a:tcPr marL="91440" marR="91440" marT="45720" marB="45720">
                    <a:solidFill>
                      <a:srgbClr val="FFFFFF"/>
                    </a:solidFill>
                  </a:tcPr>
                </a:tc>
                <a:tc>
                  <a:txBody>
                    <a:bodyPr/>
                    <a:lstStyle/>
                    <a:p>
                      <a:pPr>
                        <a:spcAft>
                          <a:spcPts val="0"/>
                        </a:spcAft>
                        <a:defRPr sz="1500" b="0">
                          <a:solidFill>
                            <a:srgbClr val="092A20"/>
                          </a:solidFill>
                          <a:latin typeface="Arial"/>
                        </a:defRPr>
                      </a:pPr>
                      <a:r>
                        <a:t>12.09.2027</a:t>
                      </a:r>
                    </a:p>
                  </a:txBody>
                  <a:tcPr marL="91440" marR="91440" marT="45720" marB="45720">
                    <a:solidFill>
                      <a:srgbClr val="FFFFFF"/>
                    </a:solidFill>
                  </a:tcPr>
                </a:tc>
                <a:tc>
                  <a:txBody>
                    <a:bodyPr/>
                    <a:lstStyle/>
                    <a:p>
                      <a:pPr>
                        <a:spcAft>
                          <a:spcPts val="0"/>
                        </a:spcAft>
                        <a:defRPr sz="1500" b="0">
                          <a:solidFill>
                            <a:srgbClr val="092A20"/>
                          </a:solidFill>
                          <a:latin typeface="Arial"/>
                        </a:defRPr>
                      </a:pPr>
                      <a:r>
                        <a:t>Директор; акты и учет</a:t>
                      </a:r>
                    </a:p>
                  </a:txBody>
                  <a:tcPr marL="91440" marR="91440" marT="45720" marB="45720">
                    <a:solidFill>
                      <a:srgbClr val="FFFFFF"/>
                    </a:solidFill>
                  </a:tcPr>
                </a:tc>
              </a:tr>
              <a:tr h="502920">
                <a:tc>
                  <a:txBody>
                    <a:bodyPr/>
                    <a:lstStyle/>
                    <a:p>
                      <a:pPr>
                        <a:spcAft>
                          <a:spcPts val="0"/>
                        </a:spcAft>
                        <a:defRPr sz="1500" b="0">
                          <a:solidFill>
                            <a:srgbClr val="092A20"/>
                          </a:solidFill>
                          <a:latin typeface="Arial"/>
                        </a:defRPr>
                      </a:pPr>
                      <a:r>
                        <a:t>2 оператора: обучение и наставник</a:t>
                      </a:r>
                    </a:p>
                  </a:txBody>
                  <a:tcPr marL="91440" marR="91440" marT="45720" marB="45720">
                    <a:solidFill>
                      <a:srgbClr val="EFF4EF"/>
                    </a:solidFill>
                  </a:tcPr>
                </a:tc>
                <a:tc>
                  <a:txBody>
                    <a:bodyPr/>
                    <a:lstStyle/>
                    <a:p>
                      <a:pPr>
                        <a:spcAft>
                          <a:spcPts val="0"/>
                        </a:spcAft>
                        <a:defRPr sz="1500" b="0">
                          <a:solidFill>
                            <a:srgbClr val="092A20"/>
                          </a:solidFill>
                          <a:latin typeface="Arial"/>
                        </a:defRPr>
                      </a:pPr>
                      <a:r>
                        <a:t>11.04.2027; контроль 12.07.2027</a:t>
                      </a:r>
                    </a:p>
                  </a:txBody>
                  <a:tcPr marL="91440" marR="91440" marT="45720" marB="45720">
                    <a:solidFill>
                      <a:srgbClr val="EFF4EF"/>
                    </a:solidFill>
                  </a:tcPr>
                </a:tc>
                <a:tc>
                  <a:txBody>
                    <a:bodyPr/>
                    <a:lstStyle/>
                    <a:p>
                      <a:pPr>
                        <a:spcAft>
                          <a:spcPts val="0"/>
                        </a:spcAft>
                        <a:defRPr sz="1500" b="0">
                          <a:solidFill>
                            <a:srgbClr val="092A20"/>
                          </a:solidFill>
                          <a:latin typeface="Arial"/>
                        </a:defRPr>
                      </a:pPr>
                      <a:r>
                        <a:t>Опер. руководитель; протоколы</a:t>
                      </a:r>
                    </a:p>
                  </a:txBody>
                  <a:tcPr marL="91440" marR="91440" marT="45720" marB="45720">
                    <a:solidFill>
                      <a:srgbClr val="EFF4EF"/>
                    </a:solidFill>
                  </a:tcPr>
                </a:tc>
              </a:tr>
            </a:tbl>
          </a:graphicData>
        </a:graphic>
      </p:graphicFrame>
      <p:sp>
        <p:nvSpPr>
          <p:cNvPr id="8" name="Rounded Rectangle 7"/>
          <p:cNvSpPr/>
          <p:nvPr/>
        </p:nvSpPr>
        <p:spPr>
          <a:xfrm>
            <a:off x="502920" y="5715000"/>
            <a:ext cx="11183112" cy="448056"/>
          </a:xfrm>
          <a:prstGeom prst="roundRect">
            <a:avLst>
              <a:gd name="adj" fmla="val 8000"/>
            </a:avLst>
          </a:prstGeom>
          <a:solidFill>
            <a:srgbClr val="C8F2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58368" y="5797296"/>
            <a:ext cx="10881360" cy="320040"/>
          </a:xfrm>
          <a:prstGeom prst="rect">
            <a:avLst/>
          </a:prstGeom>
          <a:noFill/>
        </p:spPr>
        <p:txBody>
          <a:bodyPr wrap="square" lIns="13716" rIns="13716" tIns="0" bIns="0">
            <a:spAutoFit/>
          </a:bodyPr>
          <a:lstStyle/>
          <a:p>
            <a:pPr>
              <a:spcBef>
                <a:spcPts val="0"/>
              </a:spcBef>
              <a:spcAft>
                <a:spcPts val="500"/>
              </a:spcAft>
              <a:defRPr sz="1600" b="1">
                <a:solidFill>
                  <a:srgbClr val="092A20"/>
                </a:solidFill>
                <a:latin typeface="Arial"/>
              </a:defRPr>
            </a:pPr>
            <a:r>
              <a:t>Коммерческие цели не отменяют право остановить небезопасное задание</a:t>
            </a:r>
          </a:p>
        </p:txBody>
      </p:sp>
      <p:sp>
        <p:nvSpPr>
          <p:cNvPr id="10" name="TextBox 9"/>
          <p:cNvSpPr txBox="1"/>
          <p:nvPr/>
        </p:nvSpPr>
        <p:spPr>
          <a:xfrm>
            <a:off x="594360" y="5321808"/>
            <a:ext cx="10972800" cy="329184"/>
          </a:xfrm>
          <a:prstGeom prst="rect">
            <a:avLst/>
          </a:prstGeom>
          <a:noFill/>
        </p:spPr>
        <p:txBody>
          <a:bodyPr wrap="square" lIns="13716" rIns="13716" tIns="0" bIns="0">
            <a:spAutoFit/>
          </a:bodyPr>
          <a:lstStyle/>
          <a:p>
            <a:pPr>
              <a:spcBef>
                <a:spcPts val="0"/>
              </a:spcBef>
              <a:spcAft>
                <a:spcPts val="500"/>
              </a:spcAft>
              <a:defRPr sz="1500" b="0">
                <a:solidFill>
                  <a:srgbClr val="AFC5B8"/>
                </a:solidFill>
                <a:latin typeface="Arial"/>
              </a:defRPr>
            </a:pPr>
            <a:r>
              <a:t>Объемы: га-проходы внесения / га-обследования. Это разные операции, не сумма площади.</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092A20"/>
        </a:solidFill>
        <a:effectLst/>
      </p:bgPr>
    </p:bg>
    <p:spTree>
      <p:nvGrpSpPr>
        <p:cNvPr id="1" name=""/>
        <p:cNvGrpSpPr/>
        <p:nvPr/>
      </p:nvGrpSpPr>
      <p:grpSpPr/>
      <p:sp>
        <p:nvSpPr>
          <p:cNvPr id="2" name="Rectangle 1"/>
          <p:cNvSpPr/>
          <p:nvPr/>
        </p:nvSpPr>
        <p:spPr>
          <a:xfrm>
            <a:off x="411480" y="393192"/>
            <a:ext cx="91440" cy="448056"/>
          </a:xfrm>
          <a:prstGeom prst="rect">
            <a:avLst/>
          </a:prstGeom>
          <a:solidFill>
            <a:srgbClr val="C8F2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58368" y="356616"/>
            <a:ext cx="10835640" cy="886968"/>
          </a:xfrm>
          <a:prstGeom prst="rect">
            <a:avLst/>
          </a:prstGeom>
          <a:noFill/>
        </p:spPr>
        <p:txBody>
          <a:bodyPr wrap="square" lIns="13716" rIns="13716" tIns="0" bIns="0">
            <a:spAutoFit/>
          </a:bodyPr>
          <a:lstStyle/>
          <a:p>
            <a:pPr>
              <a:spcBef>
                <a:spcPts val="0"/>
              </a:spcBef>
              <a:spcAft>
                <a:spcPts val="500"/>
              </a:spcAft>
              <a:defRPr sz="3000" b="1">
                <a:solidFill>
                  <a:srgbClr val="FFFFFF"/>
                </a:solidFill>
                <a:latin typeface="Arial"/>
              </a:defRPr>
            </a:pPr>
            <a:r>
              <a:t>Описание продукта и стратегическая канва</a:t>
            </a:r>
          </a:p>
        </p:txBody>
      </p:sp>
      <p:sp>
        <p:nvSpPr>
          <p:cNvPr id="4" name="TextBox 3"/>
          <p:cNvSpPr txBox="1"/>
          <p:nvPr/>
        </p:nvSpPr>
        <p:spPr>
          <a:xfrm>
            <a:off x="658368" y="1161288"/>
            <a:ext cx="10881360" cy="329184"/>
          </a:xfrm>
          <a:prstGeom prst="rect">
            <a:avLst/>
          </a:prstGeom>
          <a:noFill/>
        </p:spPr>
        <p:txBody>
          <a:bodyPr wrap="square" lIns="13716" rIns="13716" tIns="0" bIns="0">
            <a:spAutoFit/>
          </a:bodyPr>
          <a:lstStyle/>
          <a:p>
            <a:pPr>
              <a:spcBef>
                <a:spcPts val="0"/>
              </a:spcBef>
              <a:spcAft>
                <a:spcPts val="500"/>
              </a:spcAft>
              <a:defRPr sz="1500" b="0">
                <a:solidFill>
                  <a:srgbClr val="C8F26B"/>
                </a:solidFill>
                <a:latin typeface="Arial"/>
              </a:defRPr>
            </a:pPr>
            <a:r>
              <a:t>[ДОПУЩЕНИЕ] Стратегическая канва предложения; сравнение компаний — только на слайде 6</a:t>
            </a:r>
          </a:p>
        </p:txBody>
      </p:sp>
      <p:sp>
        <p:nvSpPr>
          <p:cNvPr id="5" name="TextBox 4"/>
          <p:cNvSpPr txBox="1"/>
          <p:nvPr/>
        </p:nvSpPr>
        <p:spPr>
          <a:xfrm>
            <a:off x="502920" y="6510528"/>
            <a:ext cx="10058400" cy="210312"/>
          </a:xfrm>
          <a:prstGeom prst="rect">
            <a:avLst/>
          </a:prstGeom>
          <a:noFill/>
        </p:spPr>
        <p:txBody>
          <a:bodyPr wrap="square" lIns="13716" rIns="13716" tIns="0" bIns="0">
            <a:spAutoFit/>
          </a:bodyPr>
          <a:lstStyle/>
          <a:p>
            <a:pPr>
              <a:spcBef>
                <a:spcPts val="0"/>
              </a:spcBef>
              <a:spcAft>
                <a:spcPts val="500"/>
              </a:spcAft>
              <a:defRPr sz="1000" b="0">
                <a:solidFill>
                  <a:srgbClr val="AFC5B8"/>
                </a:solidFill>
                <a:latin typeface="Arial"/>
              </a:defRPr>
            </a:pPr>
            <a:r>
              <a:t>АГРОВЕКТОР / инвестиционная гипотеза / 2027–2031 / редакция 20.10.2026</a:t>
            </a:r>
          </a:p>
        </p:txBody>
      </p:sp>
      <p:sp>
        <p:nvSpPr>
          <p:cNvPr id="6" name="TextBox 5"/>
          <p:cNvSpPr txBox="1"/>
          <p:nvPr/>
        </p:nvSpPr>
        <p:spPr>
          <a:xfrm>
            <a:off x="11018520" y="6483096"/>
            <a:ext cx="731520" cy="256032"/>
          </a:xfrm>
          <a:prstGeom prst="rect">
            <a:avLst/>
          </a:prstGeom>
          <a:noFill/>
        </p:spPr>
        <p:txBody>
          <a:bodyPr wrap="square" lIns="13716" rIns="13716" tIns="0" bIns="0">
            <a:spAutoFit/>
          </a:bodyPr>
          <a:lstStyle/>
          <a:p>
            <a:pPr>
              <a:spcBef>
                <a:spcPts val="0"/>
              </a:spcBef>
              <a:spcAft>
                <a:spcPts val="500"/>
              </a:spcAft>
              <a:defRPr sz="1100" b="1">
                <a:solidFill>
                  <a:srgbClr val="C8F26B"/>
                </a:solidFill>
                <a:latin typeface="Arial"/>
              </a:defRPr>
            </a:pPr>
            <a:r>
              <a:t>03 / 22</a:t>
            </a:r>
          </a:p>
        </p:txBody>
      </p:sp>
      <p:sp>
        <p:nvSpPr>
          <p:cNvPr id="7" name="Rounded Rectangle 6"/>
          <p:cNvSpPr/>
          <p:nvPr/>
        </p:nvSpPr>
        <p:spPr>
          <a:xfrm>
            <a:off x="502920" y="1737360"/>
            <a:ext cx="3593592" cy="356616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685800" y="1920240"/>
            <a:ext cx="347472" cy="54864"/>
          </a:xfrm>
          <a:prstGeom prst="rect">
            <a:avLst/>
          </a:prstGeom>
          <a:solidFill>
            <a:srgbClr val="C8F2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04088" y="2121408"/>
            <a:ext cx="3191256" cy="585216"/>
          </a:xfrm>
          <a:prstGeom prst="rect">
            <a:avLst/>
          </a:prstGeom>
          <a:noFill/>
        </p:spPr>
        <p:txBody>
          <a:bodyPr wrap="square" lIns="13716" rIns="13716" tIns="0" bIns="0">
            <a:spAutoFit/>
          </a:bodyPr>
          <a:lstStyle/>
          <a:p>
            <a:pPr>
              <a:spcBef>
                <a:spcPts val="0"/>
              </a:spcBef>
              <a:spcAft>
                <a:spcPts val="500"/>
              </a:spcAft>
              <a:defRPr sz="2000" b="1">
                <a:solidFill>
                  <a:srgbClr val="164C38"/>
                </a:solidFill>
                <a:latin typeface="Arial"/>
              </a:defRPr>
            </a:pPr>
            <a:r>
              <a:t>Один договор</a:t>
            </a:r>
          </a:p>
        </p:txBody>
      </p:sp>
      <p:sp>
        <p:nvSpPr>
          <p:cNvPr id="10" name="TextBox 9"/>
          <p:cNvSpPr txBox="1"/>
          <p:nvPr/>
        </p:nvSpPr>
        <p:spPr>
          <a:xfrm>
            <a:off x="704088" y="2724912"/>
            <a:ext cx="3191256" cy="2505456"/>
          </a:xfrm>
          <a:prstGeom prst="rect">
            <a:avLst/>
          </a:prstGeom>
          <a:noFill/>
        </p:spPr>
        <p:txBody>
          <a:bodyPr wrap="square" lIns="13716" rIns="13716" tIns="0" bIns="0">
            <a:spAutoFit/>
          </a:bodyPr>
          <a:lstStyle/>
          <a:p>
            <a:pPr>
              <a:spcBef>
                <a:spcPts val="0"/>
              </a:spcBef>
              <a:spcAft>
                <a:spcPts val="500"/>
              </a:spcAft>
              <a:defRPr sz="1900" b="0">
                <a:solidFill>
                  <a:srgbClr val="092A20"/>
                </a:solidFill>
                <a:latin typeface="Arial"/>
              </a:defRPr>
            </a:pPr>
            <a:r>
              <a:t>Задание → обследование → внесение → отчет. Мониторинг оплачивается отдельно.</a:t>
            </a:r>
          </a:p>
        </p:txBody>
      </p:sp>
      <p:sp>
        <p:nvSpPr>
          <p:cNvPr id="11" name="Rounded Rectangle 10"/>
          <p:cNvSpPr/>
          <p:nvPr/>
        </p:nvSpPr>
        <p:spPr>
          <a:xfrm>
            <a:off x="4297680" y="1737360"/>
            <a:ext cx="3593592" cy="356616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4480560" y="1920240"/>
            <a:ext cx="347472" cy="54864"/>
          </a:xfrm>
          <a:prstGeom prst="rect">
            <a:avLst/>
          </a:prstGeom>
          <a:solidFill>
            <a:srgbClr val="C8F2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498848" y="2121408"/>
            <a:ext cx="3191256" cy="585216"/>
          </a:xfrm>
          <a:prstGeom prst="rect">
            <a:avLst/>
          </a:prstGeom>
          <a:noFill/>
        </p:spPr>
        <p:txBody>
          <a:bodyPr wrap="square" lIns="13716" rIns="13716" tIns="0" bIns="0">
            <a:spAutoFit/>
          </a:bodyPr>
          <a:lstStyle/>
          <a:p>
            <a:pPr>
              <a:spcBef>
                <a:spcPts val="0"/>
              </a:spcBef>
              <a:spcAft>
                <a:spcPts val="500"/>
              </a:spcAft>
              <a:defRPr sz="2000" b="1">
                <a:solidFill>
                  <a:srgbClr val="164C38"/>
                </a:solidFill>
                <a:latin typeface="Arial"/>
              </a:defRPr>
            </a:pPr>
            <a:r>
              <a:t>Локальный маршрут</a:t>
            </a:r>
          </a:p>
        </p:txBody>
      </p:sp>
      <p:sp>
        <p:nvSpPr>
          <p:cNvPr id="14" name="TextBox 13"/>
          <p:cNvSpPr txBox="1"/>
          <p:nvPr/>
        </p:nvSpPr>
        <p:spPr>
          <a:xfrm>
            <a:off x="4498848" y="2724912"/>
            <a:ext cx="3191256" cy="2505456"/>
          </a:xfrm>
          <a:prstGeom prst="rect">
            <a:avLst/>
          </a:prstGeom>
          <a:noFill/>
        </p:spPr>
        <p:txBody>
          <a:bodyPr wrap="square" lIns="13716" rIns="13716" tIns="0" bIns="0">
            <a:spAutoFit/>
          </a:bodyPr>
          <a:lstStyle/>
          <a:p>
            <a:pPr>
              <a:spcBef>
                <a:spcPts val="0"/>
              </a:spcBef>
              <a:spcAft>
                <a:spcPts val="500"/>
              </a:spcAft>
              <a:defRPr sz="1900" b="0">
                <a:solidFill>
                  <a:srgbClr val="092A20"/>
                </a:solidFill>
                <a:latin typeface="Arial"/>
              </a:defRPr>
            </a:pPr>
            <a:r>
              <a:t>Татарстан до 150 км; от 100 га-проходов. Только при подтвержденном допуске.</a:t>
            </a:r>
          </a:p>
        </p:txBody>
      </p:sp>
      <p:sp>
        <p:nvSpPr>
          <p:cNvPr id="15" name="Rounded Rectangle 14"/>
          <p:cNvSpPr/>
          <p:nvPr/>
        </p:nvSpPr>
        <p:spPr>
          <a:xfrm>
            <a:off x="8092440" y="1737360"/>
            <a:ext cx="3593592" cy="356616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8275319" y="1920240"/>
            <a:ext cx="347472" cy="54864"/>
          </a:xfrm>
          <a:prstGeom prst="rect">
            <a:avLst/>
          </a:prstGeom>
          <a:solidFill>
            <a:srgbClr val="C8F2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293608" y="2121408"/>
            <a:ext cx="3191256" cy="585216"/>
          </a:xfrm>
          <a:prstGeom prst="rect">
            <a:avLst/>
          </a:prstGeom>
          <a:noFill/>
        </p:spPr>
        <p:txBody>
          <a:bodyPr wrap="square" lIns="13716" rIns="13716" tIns="0" bIns="0">
            <a:spAutoFit/>
          </a:bodyPr>
          <a:lstStyle/>
          <a:p>
            <a:pPr>
              <a:spcBef>
                <a:spcPts val="0"/>
              </a:spcBef>
              <a:spcAft>
                <a:spcPts val="500"/>
              </a:spcAft>
              <a:defRPr sz="2000" b="1">
                <a:solidFill>
                  <a:srgbClr val="164C38"/>
                </a:solidFill>
                <a:latin typeface="Arial"/>
              </a:defRPr>
            </a:pPr>
            <a:r>
              <a:t>Проверяемый результат</a:t>
            </a:r>
          </a:p>
        </p:txBody>
      </p:sp>
      <p:sp>
        <p:nvSpPr>
          <p:cNvPr id="18" name="TextBox 17"/>
          <p:cNvSpPr txBox="1"/>
          <p:nvPr/>
        </p:nvSpPr>
        <p:spPr>
          <a:xfrm>
            <a:off x="8293608" y="2724912"/>
            <a:ext cx="3191256" cy="2505456"/>
          </a:xfrm>
          <a:prstGeom prst="rect">
            <a:avLst/>
          </a:prstGeom>
          <a:noFill/>
        </p:spPr>
        <p:txBody>
          <a:bodyPr wrap="square" lIns="13716" rIns="13716" tIns="0" bIns="0">
            <a:spAutoFit/>
          </a:bodyPr>
          <a:lstStyle/>
          <a:p>
            <a:pPr>
              <a:spcBef>
                <a:spcPts val="0"/>
              </a:spcBef>
              <a:spcAft>
                <a:spcPts val="500"/>
              </a:spcAft>
              <a:defRPr sz="1900" b="0">
                <a:solidFill>
                  <a:srgbClr val="092A20"/>
                </a:solidFill>
                <a:latin typeface="Arial"/>
              </a:defRPr>
            </a:pPr>
            <a:r>
              <a:t>Объем, параметры и отклонения; отчет до 48 часов — цель, не доказанное преимущество.</a:t>
            </a:r>
          </a:p>
        </p:txBody>
      </p:sp>
      <p:sp>
        <p:nvSpPr>
          <p:cNvPr id="19" name="Rounded Rectangle 18"/>
          <p:cNvSpPr/>
          <p:nvPr/>
        </p:nvSpPr>
        <p:spPr>
          <a:xfrm>
            <a:off x="502920" y="5715000"/>
            <a:ext cx="11183112" cy="448056"/>
          </a:xfrm>
          <a:prstGeom prst="roundRect">
            <a:avLst>
              <a:gd name="adj" fmla="val 8000"/>
            </a:avLst>
          </a:prstGeom>
          <a:solidFill>
            <a:srgbClr val="C8F2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58368" y="5797296"/>
            <a:ext cx="10881360" cy="320040"/>
          </a:xfrm>
          <a:prstGeom prst="rect">
            <a:avLst/>
          </a:prstGeom>
          <a:noFill/>
        </p:spPr>
        <p:txBody>
          <a:bodyPr wrap="square" lIns="13716" rIns="13716" tIns="0" bIns="0">
            <a:spAutoFit/>
          </a:bodyPr>
          <a:lstStyle/>
          <a:p>
            <a:pPr>
              <a:spcBef>
                <a:spcPts val="0"/>
              </a:spcBef>
              <a:spcAft>
                <a:spcPts val="500"/>
              </a:spcAft>
              <a:defRPr sz="1600" b="1">
                <a:solidFill>
                  <a:srgbClr val="092A20"/>
                </a:solidFill>
                <a:latin typeface="Arial"/>
              </a:defRPr>
            </a:pPr>
            <a:r>
              <a:t>Не обещаем универсальную экономию препаратов или гарантированный рост урожайности</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092A20"/>
        </a:solidFill>
        <a:effectLst/>
      </p:bgPr>
    </p:bg>
    <p:spTree>
      <p:nvGrpSpPr>
        <p:cNvPr id="1" name=""/>
        <p:cNvGrpSpPr/>
        <p:nvPr/>
      </p:nvGrpSpPr>
      <p:grpSpPr/>
      <p:sp>
        <p:nvSpPr>
          <p:cNvPr id="2" name="Rectangle 1"/>
          <p:cNvSpPr/>
          <p:nvPr/>
        </p:nvSpPr>
        <p:spPr>
          <a:xfrm>
            <a:off x="411480" y="393192"/>
            <a:ext cx="91440" cy="448056"/>
          </a:xfrm>
          <a:prstGeom prst="rect">
            <a:avLst/>
          </a:prstGeom>
          <a:solidFill>
            <a:srgbClr val="C8F2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58368" y="356616"/>
            <a:ext cx="10835640" cy="886968"/>
          </a:xfrm>
          <a:prstGeom prst="rect">
            <a:avLst/>
          </a:prstGeom>
          <a:noFill/>
        </p:spPr>
        <p:txBody>
          <a:bodyPr wrap="square" lIns="13716" rIns="13716" tIns="0" bIns="0">
            <a:spAutoFit/>
          </a:bodyPr>
          <a:lstStyle/>
          <a:p>
            <a:pPr>
              <a:spcBef>
                <a:spcPts val="0"/>
              </a:spcBef>
              <a:spcAft>
                <a:spcPts val="500"/>
              </a:spcAft>
              <a:defRPr sz="3000" b="1">
                <a:solidFill>
                  <a:srgbClr val="FFFFFF"/>
                </a:solidFill>
                <a:latin typeface="Arial"/>
              </a:defRPr>
            </a:pPr>
            <a:r>
              <a:t>Lean Canvas</a:t>
            </a:r>
          </a:p>
        </p:txBody>
      </p:sp>
      <p:sp>
        <p:nvSpPr>
          <p:cNvPr id="4" name="TextBox 3"/>
          <p:cNvSpPr txBox="1"/>
          <p:nvPr/>
        </p:nvSpPr>
        <p:spPr>
          <a:xfrm>
            <a:off x="658368" y="1161288"/>
            <a:ext cx="10881360" cy="329184"/>
          </a:xfrm>
          <a:prstGeom prst="rect">
            <a:avLst/>
          </a:prstGeom>
          <a:noFill/>
        </p:spPr>
        <p:txBody>
          <a:bodyPr wrap="square" lIns="13716" rIns="13716" tIns="0" bIns="0">
            <a:spAutoFit/>
          </a:bodyPr>
          <a:lstStyle/>
          <a:p>
            <a:pPr>
              <a:spcBef>
                <a:spcPts val="0"/>
              </a:spcBef>
              <a:spcAft>
                <a:spcPts val="500"/>
              </a:spcAft>
              <a:defRPr sz="1500" b="0">
                <a:solidFill>
                  <a:srgbClr val="C8F26B"/>
                </a:solidFill>
                <a:latin typeface="Arial"/>
              </a:defRPr>
            </a:pPr>
            <a:r>
              <a:t>[ДОПУЩЕНИЕ]</a:t>
            </a:r>
          </a:p>
        </p:txBody>
      </p:sp>
      <p:sp>
        <p:nvSpPr>
          <p:cNvPr id="5" name="TextBox 4"/>
          <p:cNvSpPr txBox="1"/>
          <p:nvPr/>
        </p:nvSpPr>
        <p:spPr>
          <a:xfrm>
            <a:off x="502920" y="6510528"/>
            <a:ext cx="10058400" cy="210312"/>
          </a:xfrm>
          <a:prstGeom prst="rect">
            <a:avLst/>
          </a:prstGeom>
          <a:noFill/>
        </p:spPr>
        <p:txBody>
          <a:bodyPr wrap="square" lIns="13716" rIns="13716" tIns="0" bIns="0">
            <a:spAutoFit/>
          </a:bodyPr>
          <a:lstStyle/>
          <a:p>
            <a:pPr>
              <a:spcBef>
                <a:spcPts val="0"/>
              </a:spcBef>
              <a:spcAft>
                <a:spcPts val="500"/>
              </a:spcAft>
              <a:defRPr sz="1000" b="0">
                <a:solidFill>
                  <a:srgbClr val="AFC5B8"/>
                </a:solidFill>
                <a:latin typeface="Arial"/>
              </a:defRPr>
            </a:pPr>
            <a:r>
              <a:t>АГРОВЕКТОР / инвестиционная гипотеза / 2027–2031 / редакция 20.10.2026</a:t>
            </a:r>
          </a:p>
        </p:txBody>
      </p:sp>
      <p:sp>
        <p:nvSpPr>
          <p:cNvPr id="6" name="TextBox 5"/>
          <p:cNvSpPr txBox="1"/>
          <p:nvPr/>
        </p:nvSpPr>
        <p:spPr>
          <a:xfrm>
            <a:off x="11018520" y="6483096"/>
            <a:ext cx="731520" cy="256032"/>
          </a:xfrm>
          <a:prstGeom prst="rect">
            <a:avLst/>
          </a:prstGeom>
          <a:noFill/>
        </p:spPr>
        <p:txBody>
          <a:bodyPr wrap="square" lIns="13716" rIns="13716" tIns="0" bIns="0">
            <a:spAutoFit/>
          </a:bodyPr>
          <a:lstStyle/>
          <a:p>
            <a:pPr>
              <a:spcBef>
                <a:spcPts val="0"/>
              </a:spcBef>
              <a:spcAft>
                <a:spcPts val="500"/>
              </a:spcAft>
              <a:defRPr sz="1100" b="1">
                <a:solidFill>
                  <a:srgbClr val="C8F26B"/>
                </a:solidFill>
                <a:latin typeface="Arial"/>
              </a:defRPr>
            </a:pPr>
            <a:r>
              <a:t>04 / 22</a:t>
            </a:r>
          </a:p>
        </p:txBody>
      </p:sp>
      <p:sp>
        <p:nvSpPr>
          <p:cNvPr id="7" name="Rounded Rectangle 6"/>
          <p:cNvSpPr/>
          <p:nvPr/>
        </p:nvSpPr>
        <p:spPr>
          <a:xfrm>
            <a:off x="502920" y="1691640"/>
            <a:ext cx="3593592" cy="123444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67512" y="1819656"/>
            <a:ext cx="3264408" cy="320040"/>
          </a:xfrm>
          <a:prstGeom prst="rect">
            <a:avLst/>
          </a:prstGeom>
          <a:noFill/>
        </p:spPr>
        <p:txBody>
          <a:bodyPr wrap="square" lIns="13716" rIns="13716" tIns="0" bIns="0">
            <a:spAutoFit/>
          </a:bodyPr>
          <a:lstStyle/>
          <a:p>
            <a:pPr>
              <a:spcBef>
                <a:spcPts val="0"/>
              </a:spcBef>
              <a:spcAft>
                <a:spcPts val="500"/>
              </a:spcAft>
              <a:defRPr sz="1900" b="1">
                <a:solidFill>
                  <a:srgbClr val="164C38"/>
                </a:solidFill>
                <a:latin typeface="Arial"/>
              </a:defRPr>
            </a:pPr>
            <a:r>
              <a:t>1 / Сегменты</a:t>
            </a:r>
          </a:p>
        </p:txBody>
      </p:sp>
      <p:sp>
        <p:nvSpPr>
          <p:cNvPr id="9" name="TextBox 8"/>
          <p:cNvSpPr txBox="1"/>
          <p:nvPr/>
        </p:nvSpPr>
        <p:spPr>
          <a:xfrm>
            <a:off x="667512" y="2221992"/>
            <a:ext cx="3264408" cy="621792"/>
          </a:xfrm>
          <a:prstGeom prst="rect">
            <a:avLst/>
          </a:prstGeom>
          <a:noFill/>
        </p:spPr>
        <p:txBody>
          <a:bodyPr wrap="square" lIns="13716" rIns="13716" tIns="0" bIns="0">
            <a:spAutoFit/>
          </a:bodyPr>
          <a:lstStyle/>
          <a:p>
            <a:pPr>
              <a:spcBef>
                <a:spcPts val="0"/>
              </a:spcBef>
              <a:spcAft>
                <a:spcPts val="500"/>
              </a:spcAft>
              <a:defRPr sz="1600" b="0">
                <a:solidFill>
                  <a:srgbClr val="092A20"/>
                </a:solidFill>
                <a:latin typeface="Arial"/>
              </a:defRPr>
            </a:pPr>
            <a:r>
              <a:t>КФХ, малые и средние; агрохолдинги — вторично</a:t>
            </a:r>
          </a:p>
        </p:txBody>
      </p:sp>
      <p:sp>
        <p:nvSpPr>
          <p:cNvPr id="10" name="Rounded Rectangle 9"/>
          <p:cNvSpPr/>
          <p:nvPr/>
        </p:nvSpPr>
        <p:spPr>
          <a:xfrm>
            <a:off x="4297680" y="1691640"/>
            <a:ext cx="3593592" cy="123444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462272" y="1819656"/>
            <a:ext cx="3264408" cy="320040"/>
          </a:xfrm>
          <a:prstGeom prst="rect">
            <a:avLst/>
          </a:prstGeom>
          <a:noFill/>
        </p:spPr>
        <p:txBody>
          <a:bodyPr wrap="square" lIns="13716" rIns="13716" tIns="0" bIns="0">
            <a:spAutoFit/>
          </a:bodyPr>
          <a:lstStyle/>
          <a:p>
            <a:pPr>
              <a:spcBef>
                <a:spcPts val="0"/>
              </a:spcBef>
              <a:spcAft>
                <a:spcPts val="500"/>
              </a:spcAft>
              <a:defRPr sz="1900" b="1">
                <a:solidFill>
                  <a:srgbClr val="164C38"/>
                </a:solidFill>
                <a:latin typeface="Arial"/>
              </a:defRPr>
            </a:pPr>
            <a:r>
              <a:t>2 / Ценность</a:t>
            </a:r>
          </a:p>
        </p:txBody>
      </p:sp>
      <p:sp>
        <p:nvSpPr>
          <p:cNvPr id="12" name="TextBox 11"/>
          <p:cNvSpPr txBox="1"/>
          <p:nvPr/>
        </p:nvSpPr>
        <p:spPr>
          <a:xfrm>
            <a:off x="4462272" y="2221992"/>
            <a:ext cx="3264408" cy="621792"/>
          </a:xfrm>
          <a:prstGeom prst="rect">
            <a:avLst/>
          </a:prstGeom>
          <a:noFill/>
        </p:spPr>
        <p:txBody>
          <a:bodyPr wrap="square" lIns="13716" rIns="13716" tIns="0" bIns="0">
            <a:spAutoFit/>
          </a:bodyPr>
          <a:lstStyle/>
          <a:p>
            <a:pPr>
              <a:spcBef>
                <a:spcPts val="0"/>
              </a:spcBef>
              <a:spcAft>
                <a:spcPts val="500"/>
              </a:spcAft>
              <a:defRPr sz="1600" b="0">
                <a:solidFill>
                  <a:srgbClr val="092A20"/>
                </a:solidFill>
                <a:latin typeface="Arial"/>
              </a:defRPr>
            </a:pPr>
            <a:r>
              <a:t>Обследование, карта задания, внесение и отчет</a:t>
            </a:r>
          </a:p>
        </p:txBody>
      </p:sp>
      <p:sp>
        <p:nvSpPr>
          <p:cNvPr id="13" name="Rounded Rectangle 12"/>
          <p:cNvSpPr/>
          <p:nvPr/>
        </p:nvSpPr>
        <p:spPr>
          <a:xfrm>
            <a:off x="8092440" y="1691640"/>
            <a:ext cx="3593592" cy="123444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257032" y="1819656"/>
            <a:ext cx="3264408" cy="320040"/>
          </a:xfrm>
          <a:prstGeom prst="rect">
            <a:avLst/>
          </a:prstGeom>
          <a:noFill/>
        </p:spPr>
        <p:txBody>
          <a:bodyPr wrap="square" lIns="13716" rIns="13716" tIns="0" bIns="0">
            <a:spAutoFit/>
          </a:bodyPr>
          <a:lstStyle/>
          <a:p>
            <a:pPr>
              <a:spcBef>
                <a:spcPts val="0"/>
              </a:spcBef>
              <a:spcAft>
                <a:spcPts val="500"/>
              </a:spcAft>
              <a:defRPr sz="1900" b="1">
                <a:solidFill>
                  <a:srgbClr val="164C38"/>
                </a:solidFill>
                <a:latin typeface="Arial"/>
              </a:defRPr>
            </a:pPr>
            <a:r>
              <a:t>3 / Каналы</a:t>
            </a:r>
          </a:p>
        </p:txBody>
      </p:sp>
      <p:sp>
        <p:nvSpPr>
          <p:cNvPr id="15" name="TextBox 14"/>
          <p:cNvSpPr txBox="1"/>
          <p:nvPr/>
        </p:nvSpPr>
        <p:spPr>
          <a:xfrm>
            <a:off x="8257032" y="2221992"/>
            <a:ext cx="3264408" cy="621792"/>
          </a:xfrm>
          <a:prstGeom prst="rect">
            <a:avLst/>
          </a:prstGeom>
          <a:noFill/>
        </p:spPr>
        <p:txBody>
          <a:bodyPr wrap="square" lIns="13716" rIns="13716" tIns="0" bIns="0">
            <a:spAutoFit/>
          </a:bodyPr>
          <a:lstStyle/>
          <a:p>
            <a:pPr>
              <a:spcBef>
                <a:spcPts val="0"/>
              </a:spcBef>
              <a:spcAft>
                <a:spcPts val="500"/>
              </a:spcAft>
              <a:defRPr sz="1600" b="0">
                <a:solidFill>
                  <a:srgbClr val="092A20"/>
                </a:solidFill>
                <a:latin typeface="Arial"/>
              </a:defRPr>
            </a:pPr>
            <a:r>
              <a:t>Директор; агрономы; демонстрации; рекомендации</a:t>
            </a:r>
          </a:p>
        </p:txBody>
      </p:sp>
      <p:sp>
        <p:nvSpPr>
          <p:cNvPr id="16" name="Rounded Rectangle 15"/>
          <p:cNvSpPr/>
          <p:nvPr/>
        </p:nvSpPr>
        <p:spPr>
          <a:xfrm>
            <a:off x="502920" y="3072384"/>
            <a:ext cx="3593592" cy="123444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67512" y="3200400"/>
            <a:ext cx="3264408" cy="320040"/>
          </a:xfrm>
          <a:prstGeom prst="rect">
            <a:avLst/>
          </a:prstGeom>
          <a:noFill/>
        </p:spPr>
        <p:txBody>
          <a:bodyPr wrap="square" lIns="13716" rIns="13716" tIns="0" bIns="0">
            <a:spAutoFit/>
          </a:bodyPr>
          <a:lstStyle/>
          <a:p>
            <a:pPr>
              <a:spcBef>
                <a:spcPts val="0"/>
              </a:spcBef>
              <a:spcAft>
                <a:spcPts val="500"/>
              </a:spcAft>
              <a:defRPr sz="1900" b="1">
                <a:solidFill>
                  <a:srgbClr val="164C38"/>
                </a:solidFill>
                <a:latin typeface="Arial"/>
              </a:defRPr>
            </a:pPr>
            <a:r>
              <a:t>4 / Отношения</a:t>
            </a:r>
          </a:p>
        </p:txBody>
      </p:sp>
      <p:sp>
        <p:nvSpPr>
          <p:cNvPr id="18" name="TextBox 17"/>
          <p:cNvSpPr txBox="1"/>
          <p:nvPr/>
        </p:nvSpPr>
        <p:spPr>
          <a:xfrm>
            <a:off x="667512" y="3602736"/>
            <a:ext cx="3264408" cy="621792"/>
          </a:xfrm>
          <a:prstGeom prst="rect">
            <a:avLst/>
          </a:prstGeom>
          <a:noFill/>
        </p:spPr>
        <p:txBody>
          <a:bodyPr wrap="square" lIns="13716" rIns="13716" tIns="0" bIns="0">
            <a:spAutoFit/>
          </a:bodyPr>
          <a:lstStyle/>
          <a:p>
            <a:pPr>
              <a:spcBef>
                <a:spcPts val="0"/>
              </a:spcBef>
              <a:spcAft>
                <a:spcPts val="500"/>
              </a:spcAft>
              <a:defRPr sz="1600" b="0">
                <a:solidFill>
                  <a:srgbClr val="092A20"/>
                </a:solidFill>
                <a:latin typeface="Arial"/>
              </a:defRPr>
            </a:pPr>
            <a:r>
              <a:t>Один контакт; календарь сезона; разбор отклонений</a:t>
            </a:r>
          </a:p>
        </p:txBody>
      </p:sp>
      <p:sp>
        <p:nvSpPr>
          <p:cNvPr id="19" name="Rounded Rectangle 18"/>
          <p:cNvSpPr/>
          <p:nvPr/>
        </p:nvSpPr>
        <p:spPr>
          <a:xfrm>
            <a:off x="4297680" y="3072384"/>
            <a:ext cx="3593592" cy="123444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4462272" y="3200400"/>
            <a:ext cx="3264408" cy="320040"/>
          </a:xfrm>
          <a:prstGeom prst="rect">
            <a:avLst/>
          </a:prstGeom>
          <a:noFill/>
        </p:spPr>
        <p:txBody>
          <a:bodyPr wrap="square" lIns="13716" rIns="13716" tIns="0" bIns="0">
            <a:spAutoFit/>
          </a:bodyPr>
          <a:lstStyle/>
          <a:p>
            <a:pPr>
              <a:spcBef>
                <a:spcPts val="0"/>
              </a:spcBef>
              <a:spcAft>
                <a:spcPts val="500"/>
              </a:spcAft>
              <a:defRPr sz="1900" b="1">
                <a:solidFill>
                  <a:srgbClr val="164C38"/>
                </a:solidFill>
                <a:latin typeface="Arial"/>
              </a:defRPr>
            </a:pPr>
            <a:r>
              <a:t>5 / Доходы</a:t>
            </a:r>
          </a:p>
        </p:txBody>
      </p:sp>
      <p:sp>
        <p:nvSpPr>
          <p:cNvPr id="21" name="TextBox 20"/>
          <p:cNvSpPr txBox="1"/>
          <p:nvPr/>
        </p:nvSpPr>
        <p:spPr>
          <a:xfrm>
            <a:off x="4462272" y="3602736"/>
            <a:ext cx="3264408" cy="621792"/>
          </a:xfrm>
          <a:prstGeom prst="rect">
            <a:avLst/>
          </a:prstGeom>
          <a:noFill/>
        </p:spPr>
        <p:txBody>
          <a:bodyPr wrap="square" lIns="13716" rIns="13716" tIns="0" bIns="0">
            <a:spAutoFit/>
          </a:bodyPr>
          <a:lstStyle/>
          <a:p>
            <a:pPr>
              <a:spcBef>
                <a:spcPts val="0"/>
              </a:spcBef>
              <a:spcAft>
                <a:spcPts val="500"/>
              </a:spcAft>
              <a:defRPr sz="1600" b="0">
                <a:solidFill>
                  <a:srgbClr val="092A20"/>
                </a:solidFill>
                <a:latin typeface="Arial"/>
              </a:defRPr>
            </a:pPr>
            <a:r>
              <a:t>₽/га-проход и ₽/га-обследование; отдельно</a:t>
            </a:r>
          </a:p>
        </p:txBody>
      </p:sp>
      <p:sp>
        <p:nvSpPr>
          <p:cNvPr id="22" name="Rounded Rectangle 21"/>
          <p:cNvSpPr/>
          <p:nvPr/>
        </p:nvSpPr>
        <p:spPr>
          <a:xfrm>
            <a:off x="8092440" y="3072384"/>
            <a:ext cx="3593592" cy="123444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8257032" y="3200400"/>
            <a:ext cx="3264408" cy="320040"/>
          </a:xfrm>
          <a:prstGeom prst="rect">
            <a:avLst/>
          </a:prstGeom>
          <a:noFill/>
        </p:spPr>
        <p:txBody>
          <a:bodyPr wrap="square" lIns="13716" rIns="13716" tIns="0" bIns="0">
            <a:spAutoFit/>
          </a:bodyPr>
          <a:lstStyle/>
          <a:p>
            <a:pPr>
              <a:spcBef>
                <a:spcPts val="0"/>
              </a:spcBef>
              <a:spcAft>
                <a:spcPts val="500"/>
              </a:spcAft>
              <a:defRPr sz="1900" b="1">
                <a:solidFill>
                  <a:srgbClr val="164C38"/>
                </a:solidFill>
                <a:latin typeface="Arial"/>
              </a:defRPr>
            </a:pPr>
            <a:r>
              <a:t>6 / Ресурсы</a:t>
            </a:r>
          </a:p>
        </p:txBody>
      </p:sp>
      <p:sp>
        <p:nvSpPr>
          <p:cNvPr id="24" name="TextBox 23"/>
          <p:cNvSpPr txBox="1"/>
          <p:nvPr/>
        </p:nvSpPr>
        <p:spPr>
          <a:xfrm>
            <a:off x="8257032" y="3602736"/>
            <a:ext cx="3264408" cy="621792"/>
          </a:xfrm>
          <a:prstGeom prst="rect">
            <a:avLst/>
          </a:prstGeom>
          <a:noFill/>
        </p:spPr>
        <p:txBody>
          <a:bodyPr wrap="square" lIns="13716" rIns="13716" tIns="0" bIns="0">
            <a:spAutoFit/>
          </a:bodyPr>
          <a:lstStyle/>
          <a:p>
            <a:pPr>
              <a:spcBef>
                <a:spcPts val="0"/>
              </a:spcBef>
              <a:spcAft>
                <a:spcPts val="500"/>
              </a:spcAft>
              <a:defRPr sz="1600" b="0">
                <a:solidFill>
                  <a:srgbClr val="092A20"/>
                </a:solidFill>
                <a:latin typeface="Arial"/>
              </a:defRPr>
            </a:pPr>
            <a:r>
              <a:t>Одна бригада; 3 БВС; резерв ликвидности</a:t>
            </a:r>
          </a:p>
        </p:txBody>
      </p:sp>
      <p:sp>
        <p:nvSpPr>
          <p:cNvPr id="25" name="Rounded Rectangle 24"/>
          <p:cNvSpPr/>
          <p:nvPr/>
        </p:nvSpPr>
        <p:spPr>
          <a:xfrm>
            <a:off x="502920" y="4453128"/>
            <a:ext cx="3593592" cy="123444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67512" y="4581144"/>
            <a:ext cx="3264408" cy="320040"/>
          </a:xfrm>
          <a:prstGeom prst="rect">
            <a:avLst/>
          </a:prstGeom>
          <a:noFill/>
        </p:spPr>
        <p:txBody>
          <a:bodyPr wrap="square" lIns="13716" rIns="13716" tIns="0" bIns="0">
            <a:spAutoFit/>
          </a:bodyPr>
          <a:lstStyle/>
          <a:p>
            <a:pPr>
              <a:spcBef>
                <a:spcPts val="0"/>
              </a:spcBef>
              <a:spcAft>
                <a:spcPts val="500"/>
              </a:spcAft>
              <a:defRPr sz="1900" b="1">
                <a:solidFill>
                  <a:srgbClr val="164C38"/>
                </a:solidFill>
                <a:latin typeface="Arial"/>
              </a:defRPr>
            </a:pPr>
            <a:r>
              <a:t>7 / Действия</a:t>
            </a:r>
          </a:p>
        </p:txBody>
      </p:sp>
      <p:sp>
        <p:nvSpPr>
          <p:cNvPr id="27" name="TextBox 26"/>
          <p:cNvSpPr txBox="1"/>
          <p:nvPr/>
        </p:nvSpPr>
        <p:spPr>
          <a:xfrm>
            <a:off x="667512" y="4983480"/>
            <a:ext cx="3264408" cy="621792"/>
          </a:xfrm>
          <a:prstGeom prst="rect">
            <a:avLst/>
          </a:prstGeom>
          <a:noFill/>
        </p:spPr>
        <p:txBody>
          <a:bodyPr wrap="square" lIns="13716" rIns="13716" tIns="0" bIns="0">
            <a:spAutoFit/>
          </a:bodyPr>
          <a:lstStyle/>
          <a:p>
            <a:pPr>
              <a:spcBef>
                <a:spcPts val="0"/>
              </a:spcBef>
              <a:spcAft>
                <a:spcPts val="500"/>
              </a:spcAft>
              <a:defRPr sz="1600" b="0">
                <a:solidFill>
                  <a:srgbClr val="092A20"/>
                </a:solidFill>
                <a:latin typeface="Arial"/>
              </a:defRPr>
            </a:pPr>
            <a:r>
              <a:t>Правовая проверка; выполнение; контроль; сервис</a:t>
            </a:r>
          </a:p>
        </p:txBody>
      </p:sp>
      <p:sp>
        <p:nvSpPr>
          <p:cNvPr id="28" name="Rounded Rectangle 27"/>
          <p:cNvSpPr/>
          <p:nvPr/>
        </p:nvSpPr>
        <p:spPr>
          <a:xfrm>
            <a:off x="4297680" y="4453128"/>
            <a:ext cx="3593592" cy="123444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4462272" y="4581144"/>
            <a:ext cx="3264408" cy="320040"/>
          </a:xfrm>
          <a:prstGeom prst="rect">
            <a:avLst/>
          </a:prstGeom>
          <a:noFill/>
        </p:spPr>
        <p:txBody>
          <a:bodyPr wrap="square" lIns="13716" rIns="13716" tIns="0" bIns="0">
            <a:spAutoFit/>
          </a:bodyPr>
          <a:lstStyle/>
          <a:p>
            <a:pPr>
              <a:spcBef>
                <a:spcPts val="0"/>
              </a:spcBef>
              <a:spcAft>
                <a:spcPts val="500"/>
              </a:spcAft>
              <a:defRPr sz="1900" b="1">
                <a:solidFill>
                  <a:srgbClr val="164C38"/>
                </a:solidFill>
                <a:latin typeface="Arial"/>
              </a:defRPr>
            </a:pPr>
            <a:r>
              <a:t>8 / Партнеры</a:t>
            </a:r>
          </a:p>
        </p:txBody>
      </p:sp>
      <p:sp>
        <p:nvSpPr>
          <p:cNvPr id="30" name="TextBox 29"/>
          <p:cNvSpPr txBox="1"/>
          <p:nvPr/>
        </p:nvSpPr>
        <p:spPr>
          <a:xfrm>
            <a:off x="4462272" y="4983480"/>
            <a:ext cx="3264408" cy="621792"/>
          </a:xfrm>
          <a:prstGeom prst="rect">
            <a:avLst/>
          </a:prstGeom>
          <a:noFill/>
        </p:spPr>
        <p:txBody>
          <a:bodyPr wrap="square" lIns="13716" rIns="13716" tIns="0" bIns="0">
            <a:spAutoFit/>
          </a:bodyPr>
          <a:lstStyle/>
          <a:p>
            <a:pPr>
              <a:spcBef>
                <a:spcPts val="0"/>
              </a:spcBef>
              <a:spcAft>
                <a:spcPts val="500"/>
              </a:spcAft>
              <a:defRPr sz="1600" b="0">
                <a:solidFill>
                  <a:srgbClr val="092A20"/>
                </a:solidFill>
                <a:latin typeface="Arial"/>
              </a:defRPr>
            </a:pPr>
            <a:r>
              <a:t>Агроном; обучение; сервис; юрист; бухгалтер</a:t>
            </a:r>
          </a:p>
        </p:txBody>
      </p:sp>
      <p:sp>
        <p:nvSpPr>
          <p:cNvPr id="31" name="Rounded Rectangle 30"/>
          <p:cNvSpPr/>
          <p:nvPr/>
        </p:nvSpPr>
        <p:spPr>
          <a:xfrm>
            <a:off x="8092440" y="4453128"/>
            <a:ext cx="3593592" cy="123444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8257032" y="4581144"/>
            <a:ext cx="3264408" cy="320040"/>
          </a:xfrm>
          <a:prstGeom prst="rect">
            <a:avLst/>
          </a:prstGeom>
          <a:noFill/>
        </p:spPr>
        <p:txBody>
          <a:bodyPr wrap="square" lIns="13716" rIns="13716" tIns="0" bIns="0">
            <a:spAutoFit/>
          </a:bodyPr>
          <a:lstStyle/>
          <a:p>
            <a:pPr>
              <a:spcBef>
                <a:spcPts val="0"/>
              </a:spcBef>
              <a:spcAft>
                <a:spcPts val="500"/>
              </a:spcAft>
              <a:defRPr sz="1900" b="1">
                <a:solidFill>
                  <a:srgbClr val="164C38"/>
                </a:solidFill>
                <a:latin typeface="Arial"/>
              </a:defRPr>
            </a:pPr>
            <a:r>
              <a:t>9 / Затраты</a:t>
            </a:r>
          </a:p>
        </p:txBody>
      </p:sp>
      <p:sp>
        <p:nvSpPr>
          <p:cNvPr id="33" name="TextBox 32"/>
          <p:cNvSpPr txBox="1"/>
          <p:nvPr/>
        </p:nvSpPr>
        <p:spPr>
          <a:xfrm>
            <a:off x="8257032" y="4983480"/>
            <a:ext cx="3264408" cy="621792"/>
          </a:xfrm>
          <a:prstGeom prst="rect">
            <a:avLst/>
          </a:prstGeom>
          <a:noFill/>
        </p:spPr>
        <p:txBody>
          <a:bodyPr wrap="square" lIns="13716" rIns="13716" tIns="0" bIns="0">
            <a:spAutoFit/>
          </a:bodyPr>
          <a:lstStyle/>
          <a:p>
            <a:pPr>
              <a:spcBef>
                <a:spcPts val="0"/>
              </a:spcBef>
              <a:spcAft>
                <a:spcPts val="500"/>
              </a:spcAft>
              <a:defRPr sz="1600" b="0">
                <a:solidFill>
                  <a:srgbClr val="092A20"/>
                </a:solidFill>
                <a:latin typeface="Arial"/>
              </a:defRPr>
            </a:pPr>
            <a:r>
              <a:t>Труд; эксплуатация; услуги; CAPEX отдельно</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092A20"/>
        </a:solidFill>
        <a:effectLst/>
      </p:bgPr>
    </p:bg>
    <p:spTree>
      <p:nvGrpSpPr>
        <p:cNvPr id="1" name=""/>
        <p:cNvGrpSpPr/>
        <p:nvPr/>
      </p:nvGrpSpPr>
      <p:grpSpPr/>
      <p:sp>
        <p:nvSpPr>
          <p:cNvPr id="2" name="Rectangle 1"/>
          <p:cNvSpPr/>
          <p:nvPr/>
        </p:nvSpPr>
        <p:spPr>
          <a:xfrm>
            <a:off x="411480" y="393192"/>
            <a:ext cx="91440" cy="448056"/>
          </a:xfrm>
          <a:prstGeom prst="rect">
            <a:avLst/>
          </a:prstGeom>
          <a:solidFill>
            <a:srgbClr val="C8F2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58368" y="356616"/>
            <a:ext cx="10835640" cy="886968"/>
          </a:xfrm>
          <a:prstGeom prst="rect">
            <a:avLst/>
          </a:prstGeom>
          <a:noFill/>
        </p:spPr>
        <p:txBody>
          <a:bodyPr wrap="square" lIns="13716" rIns="13716" tIns="0" bIns="0">
            <a:spAutoFit/>
          </a:bodyPr>
          <a:lstStyle/>
          <a:p>
            <a:pPr>
              <a:spcBef>
                <a:spcPts val="0"/>
              </a:spcBef>
              <a:spcAft>
                <a:spcPts val="500"/>
              </a:spcAft>
              <a:defRPr sz="3000" b="1">
                <a:solidFill>
                  <a:srgbClr val="FFFFFF"/>
                </a:solidFill>
                <a:latin typeface="Arial"/>
              </a:defRPr>
            </a:pPr>
            <a:r>
              <a:t>Маркетинговый план</a:t>
            </a:r>
          </a:p>
        </p:txBody>
      </p:sp>
      <p:sp>
        <p:nvSpPr>
          <p:cNvPr id="4" name="TextBox 3"/>
          <p:cNvSpPr txBox="1"/>
          <p:nvPr/>
        </p:nvSpPr>
        <p:spPr>
          <a:xfrm>
            <a:off x="658368" y="1161288"/>
            <a:ext cx="10881360" cy="329184"/>
          </a:xfrm>
          <a:prstGeom prst="rect">
            <a:avLst/>
          </a:prstGeom>
          <a:noFill/>
        </p:spPr>
        <p:txBody>
          <a:bodyPr wrap="square" lIns="13716" rIns="13716" tIns="0" bIns="0">
            <a:spAutoFit/>
          </a:bodyPr>
          <a:lstStyle/>
          <a:p>
            <a:pPr>
              <a:spcBef>
                <a:spcPts val="0"/>
              </a:spcBef>
              <a:spcAft>
                <a:spcPts val="500"/>
              </a:spcAft>
              <a:defRPr sz="1500" b="0">
                <a:solidFill>
                  <a:srgbClr val="C8F26B"/>
                </a:solidFill>
                <a:latin typeface="Arial"/>
              </a:defRPr>
            </a:pPr>
            <a:r>
              <a:t>[РАСЧЕТ] на [ДОПУЩЕНИЕ]: TAM / SAM / SOM — сценарные, не внешняя статистика</a:t>
            </a:r>
          </a:p>
        </p:txBody>
      </p:sp>
      <p:sp>
        <p:nvSpPr>
          <p:cNvPr id="5" name="TextBox 4"/>
          <p:cNvSpPr txBox="1"/>
          <p:nvPr/>
        </p:nvSpPr>
        <p:spPr>
          <a:xfrm>
            <a:off x="502920" y="6510528"/>
            <a:ext cx="10058400" cy="210312"/>
          </a:xfrm>
          <a:prstGeom prst="rect">
            <a:avLst/>
          </a:prstGeom>
          <a:noFill/>
        </p:spPr>
        <p:txBody>
          <a:bodyPr wrap="square" lIns="13716" rIns="13716" tIns="0" bIns="0">
            <a:spAutoFit/>
          </a:bodyPr>
          <a:lstStyle/>
          <a:p>
            <a:pPr>
              <a:spcBef>
                <a:spcPts val="0"/>
              </a:spcBef>
              <a:spcAft>
                <a:spcPts val="500"/>
              </a:spcAft>
              <a:defRPr sz="1000" b="0">
                <a:solidFill>
                  <a:srgbClr val="AFC5B8"/>
                </a:solidFill>
                <a:latin typeface="Arial"/>
              </a:defRPr>
            </a:pPr>
            <a:r>
              <a:t>АГРОВЕКТОР / инвестиционная гипотеза / 2027–2031 / редакция 20.10.2026</a:t>
            </a:r>
          </a:p>
        </p:txBody>
      </p:sp>
      <p:sp>
        <p:nvSpPr>
          <p:cNvPr id="6" name="TextBox 5"/>
          <p:cNvSpPr txBox="1"/>
          <p:nvPr/>
        </p:nvSpPr>
        <p:spPr>
          <a:xfrm>
            <a:off x="11018520" y="6483096"/>
            <a:ext cx="731520" cy="256032"/>
          </a:xfrm>
          <a:prstGeom prst="rect">
            <a:avLst/>
          </a:prstGeom>
          <a:noFill/>
        </p:spPr>
        <p:txBody>
          <a:bodyPr wrap="square" lIns="13716" rIns="13716" tIns="0" bIns="0">
            <a:spAutoFit/>
          </a:bodyPr>
          <a:lstStyle/>
          <a:p>
            <a:pPr>
              <a:spcBef>
                <a:spcPts val="0"/>
              </a:spcBef>
              <a:spcAft>
                <a:spcPts val="500"/>
              </a:spcAft>
              <a:defRPr sz="1100" b="1">
                <a:solidFill>
                  <a:srgbClr val="C8F26B"/>
                </a:solidFill>
                <a:latin typeface="Arial"/>
              </a:defRPr>
            </a:pPr>
            <a:r>
              <a:t>05 / 22</a:t>
            </a:r>
          </a:p>
        </p:txBody>
      </p:sp>
      <p:sp>
        <p:nvSpPr>
          <p:cNvPr id="7" name="TextBox 6"/>
          <p:cNvSpPr txBox="1"/>
          <p:nvPr/>
        </p:nvSpPr>
        <p:spPr>
          <a:xfrm>
            <a:off x="502920" y="6071616"/>
            <a:ext cx="11155680" cy="402336"/>
          </a:xfrm>
          <a:prstGeom prst="rect">
            <a:avLst/>
          </a:prstGeom>
          <a:noFill/>
        </p:spPr>
        <p:txBody>
          <a:bodyPr wrap="square" lIns="13716" rIns="13716" tIns="0" bIns="0">
            <a:spAutoFit/>
          </a:bodyPr>
          <a:lstStyle/>
          <a:p>
            <a:pPr>
              <a:spcBef>
                <a:spcPts val="0"/>
              </a:spcBef>
              <a:spcAft>
                <a:spcPts val="500"/>
              </a:spcAft>
              <a:defRPr sz="900" b="0">
                <a:solidFill>
                  <a:srgbClr val="AFC5B8"/>
                </a:solidFill>
                <a:latin typeface="Arial"/>
              </a:defRPr>
            </a:pPr>
            <a:r>
              <a:t>Источники: https://www.vesti.ru/article/4893778 · https://www.rshb.ru/news/16072026-000004</a:t>
            </a:r>
          </a:p>
        </p:txBody>
      </p:sp>
      <p:sp>
        <p:nvSpPr>
          <p:cNvPr id="8" name="Rounded Rectangle 7"/>
          <p:cNvSpPr/>
          <p:nvPr/>
        </p:nvSpPr>
        <p:spPr>
          <a:xfrm>
            <a:off x="502920" y="1737360"/>
            <a:ext cx="3593592" cy="254203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685800" y="1920240"/>
            <a:ext cx="347472" cy="54864"/>
          </a:xfrm>
          <a:prstGeom prst="rect">
            <a:avLst/>
          </a:prstGeom>
          <a:solidFill>
            <a:srgbClr val="C8F2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04088" y="2093976"/>
            <a:ext cx="3191256" cy="658368"/>
          </a:xfrm>
          <a:prstGeom prst="rect">
            <a:avLst/>
          </a:prstGeom>
          <a:noFill/>
        </p:spPr>
        <p:txBody>
          <a:bodyPr wrap="square" lIns="13716" rIns="13716" tIns="0" bIns="0">
            <a:spAutoFit/>
          </a:bodyPr>
          <a:lstStyle/>
          <a:p>
            <a:pPr>
              <a:spcBef>
                <a:spcPts val="0"/>
              </a:spcBef>
              <a:spcAft>
                <a:spcPts val="500"/>
              </a:spcAft>
              <a:defRPr sz="3500" b="1">
                <a:solidFill>
                  <a:srgbClr val="164C38"/>
                </a:solidFill>
                <a:latin typeface="Arial"/>
              </a:defRPr>
            </a:pPr>
            <a:r>
              <a:t>1,245 млрд</a:t>
            </a:r>
          </a:p>
        </p:txBody>
      </p:sp>
      <p:sp>
        <p:nvSpPr>
          <p:cNvPr id="11" name="TextBox 10"/>
          <p:cNvSpPr txBox="1"/>
          <p:nvPr/>
        </p:nvSpPr>
        <p:spPr>
          <a:xfrm>
            <a:off x="704088" y="2825496"/>
            <a:ext cx="3191256" cy="585216"/>
          </a:xfrm>
          <a:prstGeom prst="rect">
            <a:avLst/>
          </a:prstGeom>
          <a:noFill/>
        </p:spPr>
        <p:txBody>
          <a:bodyPr wrap="square" lIns="13716" rIns="13716" tIns="0" bIns="0">
            <a:spAutoFit/>
          </a:bodyPr>
          <a:lstStyle/>
          <a:p>
            <a:pPr>
              <a:spcBef>
                <a:spcPts val="0"/>
              </a:spcBef>
              <a:spcAft>
                <a:spcPts val="500"/>
              </a:spcAft>
              <a:defRPr sz="2000" b="1">
                <a:solidFill>
                  <a:srgbClr val="164C38"/>
                </a:solidFill>
                <a:latin typeface="Arial"/>
              </a:defRPr>
            </a:pPr>
            <a:r>
              <a:t>TAM / ₽ в год</a:t>
            </a:r>
          </a:p>
        </p:txBody>
      </p:sp>
      <p:sp>
        <p:nvSpPr>
          <p:cNvPr id="12" name="TextBox 11"/>
          <p:cNvSpPr txBox="1"/>
          <p:nvPr/>
        </p:nvSpPr>
        <p:spPr>
          <a:xfrm>
            <a:off x="704088" y="3429000"/>
            <a:ext cx="3191256" cy="777239"/>
          </a:xfrm>
          <a:prstGeom prst="rect">
            <a:avLst/>
          </a:prstGeom>
          <a:noFill/>
        </p:spPr>
        <p:txBody>
          <a:bodyPr wrap="square" lIns="13716" rIns="13716" tIns="0" bIns="0">
            <a:spAutoFit/>
          </a:bodyPr>
          <a:lstStyle/>
          <a:p>
            <a:pPr>
              <a:spcBef>
                <a:spcPts val="0"/>
              </a:spcBef>
              <a:spcAft>
                <a:spcPts val="500"/>
              </a:spcAft>
              <a:defRPr sz="1600" b="0">
                <a:solidFill>
                  <a:srgbClr val="092A20"/>
                </a:solidFill>
                <a:latin typeface="Arial"/>
              </a:defRPr>
            </a:pPr>
            <a:r>
              <a:t>2 000 хозяйств × 2 000 га</a:t>
            </a:r>
          </a:p>
          <a:p>
            <a:pPr>
              <a:spcBef>
                <a:spcPts val="0"/>
              </a:spcBef>
              <a:spcAft>
                <a:spcPts val="500"/>
              </a:spcAft>
              <a:defRPr sz="1600" b="0">
                <a:solidFill>
                  <a:srgbClr val="092A20"/>
                </a:solidFill>
                <a:latin typeface="Arial"/>
              </a:defRPr>
            </a:pPr>
            <a:r>
              <a:t>15% пригодной площади</a:t>
            </a:r>
          </a:p>
        </p:txBody>
      </p:sp>
      <p:sp>
        <p:nvSpPr>
          <p:cNvPr id="13" name="Rounded Rectangle 12"/>
          <p:cNvSpPr/>
          <p:nvPr/>
        </p:nvSpPr>
        <p:spPr>
          <a:xfrm>
            <a:off x="4297680" y="1737360"/>
            <a:ext cx="3593592" cy="254203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480560" y="1920240"/>
            <a:ext cx="347472" cy="54864"/>
          </a:xfrm>
          <a:prstGeom prst="rect">
            <a:avLst/>
          </a:prstGeom>
          <a:solidFill>
            <a:srgbClr val="C8F2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498848" y="2093976"/>
            <a:ext cx="3191256" cy="658368"/>
          </a:xfrm>
          <a:prstGeom prst="rect">
            <a:avLst/>
          </a:prstGeom>
          <a:noFill/>
        </p:spPr>
        <p:txBody>
          <a:bodyPr wrap="square" lIns="13716" rIns="13716" tIns="0" bIns="0">
            <a:spAutoFit/>
          </a:bodyPr>
          <a:lstStyle/>
          <a:p>
            <a:pPr>
              <a:spcBef>
                <a:spcPts val="0"/>
              </a:spcBef>
              <a:spcAft>
                <a:spcPts val="500"/>
              </a:spcAft>
              <a:defRPr sz="3500" b="1">
                <a:solidFill>
                  <a:srgbClr val="164C38"/>
                </a:solidFill>
                <a:latin typeface="Arial"/>
              </a:defRPr>
            </a:pPr>
            <a:r>
              <a:t>124,5 млн</a:t>
            </a:r>
          </a:p>
        </p:txBody>
      </p:sp>
      <p:sp>
        <p:nvSpPr>
          <p:cNvPr id="16" name="TextBox 15"/>
          <p:cNvSpPr txBox="1"/>
          <p:nvPr/>
        </p:nvSpPr>
        <p:spPr>
          <a:xfrm>
            <a:off x="4498848" y="2825496"/>
            <a:ext cx="3191256" cy="585216"/>
          </a:xfrm>
          <a:prstGeom prst="rect">
            <a:avLst/>
          </a:prstGeom>
          <a:noFill/>
        </p:spPr>
        <p:txBody>
          <a:bodyPr wrap="square" lIns="13716" rIns="13716" tIns="0" bIns="0">
            <a:spAutoFit/>
          </a:bodyPr>
          <a:lstStyle/>
          <a:p>
            <a:pPr>
              <a:spcBef>
                <a:spcPts val="0"/>
              </a:spcBef>
              <a:spcAft>
                <a:spcPts val="500"/>
              </a:spcAft>
              <a:defRPr sz="2000" b="1">
                <a:solidFill>
                  <a:srgbClr val="164C38"/>
                </a:solidFill>
                <a:latin typeface="Arial"/>
              </a:defRPr>
            </a:pPr>
            <a:r>
              <a:t>SAM / ₽ в год</a:t>
            </a:r>
          </a:p>
        </p:txBody>
      </p:sp>
      <p:sp>
        <p:nvSpPr>
          <p:cNvPr id="17" name="TextBox 16"/>
          <p:cNvSpPr txBox="1"/>
          <p:nvPr/>
        </p:nvSpPr>
        <p:spPr>
          <a:xfrm>
            <a:off x="4498848" y="3429000"/>
            <a:ext cx="3191256" cy="777239"/>
          </a:xfrm>
          <a:prstGeom prst="rect">
            <a:avLst/>
          </a:prstGeom>
          <a:noFill/>
        </p:spPr>
        <p:txBody>
          <a:bodyPr wrap="square" lIns="13716" rIns="13716" tIns="0" bIns="0">
            <a:spAutoFit/>
          </a:bodyPr>
          <a:lstStyle/>
          <a:p>
            <a:pPr>
              <a:spcBef>
                <a:spcPts val="0"/>
              </a:spcBef>
              <a:spcAft>
                <a:spcPts val="500"/>
              </a:spcAft>
              <a:defRPr sz="1600" b="0">
                <a:solidFill>
                  <a:srgbClr val="092A20"/>
                </a:solidFill>
                <a:latin typeface="Arial"/>
              </a:defRPr>
            </a:pPr>
            <a:r>
              <a:t>200 хозяйств × 2 000 га</a:t>
            </a:r>
          </a:p>
          <a:p>
            <a:pPr>
              <a:spcBef>
                <a:spcPts val="0"/>
              </a:spcBef>
              <a:spcAft>
                <a:spcPts val="500"/>
              </a:spcAft>
              <a:defRPr sz="1600" b="0">
                <a:solidFill>
                  <a:srgbClr val="092A20"/>
                </a:solidFill>
                <a:latin typeface="Arial"/>
              </a:defRPr>
            </a:pPr>
            <a:r>
              <a:t>Условный доступный кластер</a:t>
            </a:r>
          </a:p>
        </p:txBody>
      </p:sp>
      <p:sp>
        <p:nvSpPr>
          <p:cNvPr id="18" name="Rounded Rectangle 17"/>
          <p:cNvSpPr/>
          <p:nvPr/>
        </p:nvSpPr>
        <p:spPr>
          <a:xfrm>
            <a:off x="8092440" y="1737360"/>
            <a:ext cx="3593592" cy="254203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8275320" y="1920240"/>
            <a:ext cx="347472" cy="54864"/>
          </a:xfrm>
          <a:prstGeom prst="rect">
            <a:avLst/>
          </a:prstGeom>
          <a:solidFill>
            <a:srgbClr val="C8F2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293608" y="2093976"/>
            <a:ext cx="3191256" cy="658368"/>
          </a:xfrm>
          <a:prstGeom prst="rect">
            <a:avLst/>
          </a:prstGeom>
          <a:noFill/>
        </p:spPr>
        <p:txBody>
          <a:bodyPr wrap="square" lIns="13716" rIns="13716" tIns="0" bIns="0">
            <a:spAutoFit/>
          </a:bodyPr>
          <a:lstStyle/>
          <a:p>
            <a:pPr>
              <a:spcBef>
                <a:spcPts val="0"/>
              </a:spcBef>
              <a:spcAft>
                <a:spcPts val="500"/>
              </a:spcAft>
              <a:defRPr sz="3500" b="1">
                <a:solidFill>
                  <a:srgbClr val="164C38"/>
                </a:solidFill>
                <a:latin typeface="Arial"/>
              </a:defRPr>
            </a:pPr>
            <a:r>
              <a:t>8,8 млн</a:t>
            </a:r>
          </a:p>
        </p:txBody>
      </p:sp>
      <p:sp>
        <p:nvSpPr>
          <p:cNvPr id="21" name="TextBox 20"/>
          <p:cNvSpPr txBox="1"/>
          <p:nvPr/>
        </p:nvSpPr>
        <p:spPr>
          <a:xfrm>
            <a:off x="8293608" y="2825496"/>
            <a:ext cx="3191256" cy="585216"/>
          </a:xfrm>
          <a:prstGeom prst="rect">
            <a:avLst/>
          </a:prstGeom>
          <a:noFill/>
        </p:spPr>
        <p:txBody>
          <a:bodyPr wrap="square" lIns="13716" rIns="13716" tIns="0" bIns="0">
            <a:spAutoFit/>
          </a:bodyPr>
          <a:lstStyle/>
          <a:p>
            <a:pPr>
              <a:spcBef>
                <a:spcPts val="0"/>
              </a:spcBef>
              <a:spcAft>
                <a:spcPts val="500"/>
              </a:spcAft>
              <a:defRPr sz="2000" b="1">
                <a:solidFill>
                  <a:srgbClr val="164C38"/>
                </a:solidFill>
                <a:latin typeface="Arial"/>
              </a:defRPr>
            </a:pPr>
            <a:r>
              <a:t>SOM / первый сезон</a:t>
            </a:r>
          </a:p>
        </p:txBody>
      </p:sp>
      <p:sp>
        <p:nvSpPr>
          <p:cNvPr id="22" name="TextBox 21"/>
          <p:cNvSpPr txBox="1"/>
          <p:nvPr/>
        </p:nvSpPr>
        <p:spPr>
          <a:xfrm>
            <a:off x="8293608" y="3429000"/>
            <a:ext cx="3191256" cy="777239"/>
          </a:xfrm>
          <a:prstGeom prst="rect">
            <a:avLst/>
          </a:prstGeom>
          <a:noFill/>
        </p:spPr>
        <p:txBody>
          <a:bodyPr wrap="square" lIns="13716" rIns="13716" tIns="0" bIns="0">
            <a:spAutoFit/>
          </a:bodyPr>
          <a:lstStyle/>
          <a:p>
            <a:pPr>
              <a:spcBef>
                <a:spcPts val="0"/>
              </a:spcBef>
              <a:spcAft>
                <a:spcPts val="500"/>
              </a:spcAft>
              <a:defRPr sz="1600" b="0">
                <a:solidFill>
                  <a:srgbClr val="092A20"/>
                </a:solidFill>
                <a:latin typeface="Arial"/>
              </a:defRPr>
            </a:pPr>
            <a:r>
              <a:t>6 000 га-проходов × 1 300 ₽</a:t>
            </a:r>
          </a:p>
          <a:p>
            <a:pPr>
              <a:spcBef>
                <a:spcPts val="0"/>
              </a:spcBef>
              <a:spcAft>
                <a:spcPts val="500"/>
              </a:spcAft>
              <a:defRPr sz="1600" b="0">
                <a:solidFill>
                  <a:srgbClr val="092A20"/>
                </a:solidFill>
                <a:latin typeface="Arial"/>
              </a:defRPr>
            </a:pPr>
            <a:r>
              <a:t>+ 4 000 обследований × 250 ₽</a:t>
            </a:r>
          </a:p>
        </p:txBody>
      </p:sp>
      <p:sp>
        <p:nvSpPr>
          <p:cNvPr id="23" name="TextBox 22"/>
          <p:cNvSpPr txBox="1"/>
          <p:nvPr/>
        </p:nvSpPr>
        <p:spPr>
          <a:xfrm>
            <a:off x="594360" y="4480560"/>
            <a:ext cx="10972800" cy="594360"/>
          </a:xfrm>
          <a:prstGeom prst="rect">
            <a:avLst/>
          </a:prstGeom>
          <a:noFill/>
        </p:spPr>
        <p:txBody>
          <a:bodyPr wrap="square" lIns="13716" rIns="13716" tIns="0" bIns="0">
            <a:spAutoFit/>
          </a:bodyPr>
          <a:lstStyle/>
          <a:p>
            <a:pPr>
              <a:spcBef>
                <a:spcPts val="0"/>
              </a:spcBef>
              <a:spcAft>
                <a:spcPts val="500"/>
              </a:spcAft>
              <a:defRPr sz="1700" b="0">
                <a:solidFill>
                  <a:srgbClr val="FFFFFF"/>
                </a:solidFill>
                <a:latin typeface="Arial"/>
              </a:defRPr>
            </a:pPr>
            <a:r>
              <a:t>TAM = 2 000 × 2 000 × 15% × (1,5 × 1 300 + 0,5 × 250); SAM — для 200 хозяйств.</a:t>
            </a:r>
          </a:p>
        </p:txBody>
      </p:sp>
      <p:sp>
        <p:nvSpPr>
          <p:cNvPr id="24" name="TextBox 23"/>
          <p:cNvSpPr txBox="1"/>
          <p:nvPr/>
        </p:nvSpPr>
        <p:spPr>
          <a:xfrm>
            <a:off x="594360" y="5138928"/>
            <a:ext cx="10972800" cy="768096"/>
          </a:xfrm>
          <a:prstGeom prst="rect">
            <a:avLst/>
          </a:prstGeom>
          <a:noFill/>
        </p:spPr>
        <p:txBody>
          <a:bodyPr wrap="square" lIns="13716" rIns="13716" tIns="0" bIns="0">
            <a:spAutoFit/>
          </a:bodyPr>
          <a:lstStyle/>
          <a:p>
            <a:pPr>
              <a:spcBef>
                <a:spcPts val="0"/>
              </a:spcBef>
              <a:spcAft>
                <a:spcPts val="500"/>
              </a:spcAft>
              <a:defRPr sz="1600" b="0">
                <a:solidFill>
                  <a:srgbClr val="AFC5B8"/>
                </a:solidFill>
                <a:latin typeface="Arial"/>
              </a:defRPr>
            </a:pPr>
            <a:r>
              <a:t>SOM / SAM: 7,07% выручки; 6,67% внесения; 13,33% мониторинга.</a:t>
            </a:r>
          </a:p>
          <a:p>
            <a:pPr>
              <a:spcBef>
                <a:spcPts val="0"/>
              </a:spcBef>
              <a:spcAft>
                <a:spcPts val="500"/>
              </a:spcAft>
              <a:defRPr sz="1600" b="0">
                <a:solidFill>
                  <a:srgbClr val="AFC5B8"/>
                </a:solidFill>
                <a:latin typeface="Arial"/>
              </a:defRPr>
            </a:pPr>
            <a:r>
              <a:t>2 000 / 200 хозяйств — гипотезы, не реестр. Микс SOM отличается от SAM.</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092A20"/>
        </a:solidFill>
        <a:effectLst/>
      </p:bgPr>
    </p:bg>
    <p:spTree>
      <p:nvGrpSpPr>
        <p:cNvPr id="1" name=""/>
        <p:cNvGrpSpPr/>
        <p:nvPr/>
      </p:nvGrpSpPr>
      <p:grpSpPr/>
      <p:sp>
        <p:nvSpPr>
          <p:cNvPr id="2" name="Rectangle 1"/>
          <p:cNvSpPr/>
          <p:nvPr/>
        </p:nvSpPr>
        <p:spPr>
          <a:xfrm>
            <a:off x="411480" y="393192"/>
            <a:ext cx="91440" cy="448056"/>
          </a:xfrm>
          <a:prstGeom prst="rect">
            <a:avLst/>
          </a:prstGeom>
          <a:solidFill>
            <a:srgbClr val="C8F2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58368" y="356616"/>
            <a:ext cx="10835640" cy="886968"/>
          </a:xfrm>
          <a:prstGeom prst="rect">
            <a:avLst/>
          </a:prstGeom>
          <a:noFill/>
        </p:spPr>
        <p:txBody>
          <a:bodyPr wrap="square" lIns="13716" rIns="13716" tIns="0" bIns="0">
            <a:spAutoFit/>
          </a:bodyPr>
          <a:lstStyle/>
          <a:p>
            <a:pPr>
              <a:spcBef>
                <a:spcPts val="0"/>
              </a:spcBef>
              <a:spcAft>
                <a:spcPts val="500"/>
              </a:spcAft>
              <a:defRPr sz="3000" b="1">
                <a:solidFill>
                  <a:srgbClr val="FFFFFF"/>
                </a:solidFill>
                <a:latin typeface="Arial"/>
              </a:defRPr>
            </a:pPr>
            <a:r>
              <a:t>Анализ конкурентов</a:t>
            </a:r>
          </a:p>
        </p:txBody>
      </p:sp>
      <p:sp>
        <p:nvSpPr>
          <p:cNvPr id="4" name="TextBox 3"/>
          <p:cNvSpPr txBox="1"/>
          <p:nvPr/>
        </p:nvSpPr>
        <p:spPr>
          <a:xfrm>
            <a:off x="658368" y="1161288"/>
            <a:ext cx="10881360" cy="329184"/>
          </a:xfrm>
          <a:prstGeom prst="rect">
            <a:avLst/>
          </a:prstGeom>
          <a:noFill/>
        </p:spPr>
        <p:txBody>
          <a:bodyPr wrap="square" lIns="13716" rIns="13716" tIns="0" bIns="0">
            <a:spAutoFit/>
          </a:bodyPr>
          <a:lstStyle/>
          <a:p>
            <a:pPr>
              <a:spcBef>
                <a:spcPts val="0"/>
              </a:spcBef>
              <a:spcAft>
                <a:spcPts val="500"/>
              </a:spcAft>
              <a:defRPr sz="1500" b="0">
                <a:solidFill>
                  <a:srgbClr val="C8F26B"/>
                </a:solidFill>
                <a:latin typeface="Arial"/>
              </a:defRPr>
            </a:pPr>
            <a:r>
              <a:t>Проверка 20.10.2026: [ФАКТ] заявления компаний; АгроВектор — [ДОПУЩЕНИЕ]</a:t>
            </a:r>
          </a:p>
        </p:txBody>
      </p:sp>
      <p:sp>
        <p:nvSpPr>
          <p:cNvPr id="5" name="TextBox 4"/>
          <p:cNvSpPr txBox="1"/>
          <p:nvPr/>
        </p:nvSpPr>
        <p:spPr>
          <a:xfrm>
            <a:off x="502920" y="6510528"/>
            <a:ext cx="10058400" cy="210312"/>
          </a:xfrm>
          <a:prstGeom prst="rect">
            <a:avLst/>
          </a:prstGeom>
          <a:noFill/>
        </p:spPr>
        <p:txBody>
          <a:bodyPr wrap="square" lIns="13716" rIns="13716" tIns="0" bIns="0">
            <a:spAutoFit/>
          </a:bodyPr>
          <a:lstStyle/>
          <a:p>
            <a:pPr>
              <a:spcBef>
                <a:spcPts val="0"/>
              </a:spcBef>
              <a:spcAft>
                <a:spcPts val="500"/>
              </a:spcAft>
              <a:defRPr sz="1000" b="0">
                <a:solidFill>
                  <a:srgbClr val="AFC5B8"/>
                </a:solidFill>
                <a:latin typeface="Arial"/>
              </a:defRPr>
            </a:pPr>
            <a:r>
              <a:t>АГРОВЕКТОР / инвестиционная гипотеза / 2027–2031 / редакция 20.10.2026</a:t>
            </a:r>
          </a:p>
        </p:txBody>
      </p:sp>
      <p:sp>
        <p:nvSpPr>
          <p:cNvPr id="6" name="TextBox 5"/>
          <p:cNvSpPr txBox="1"/>
          <p:nvPr/>
        </p:nvSpPr>
        <p:spPr>
          <a:xfrm>
            <a:off x="11018520" y="6483096"/>
            <a:ext cx="731520" cy="256032"/>
          </a:xfrm>
          <a:prstGeom prst="rect">
            <a:avLst/>
          </a:prstGeom>
          <a:noFill/>
        </p:spPr>
        <p:txBody>
          <a:bodyPr wrap="square" lIns="13716" rIns="13716" tIns="0" bIns="0">
            <a:spAutoFit/>
          </a:bodyPr>
          <a:lstStyle/>
          <a:p>
            <a:pPr>
              <a:spcBef>
                <a:spcPts val="0"/>
              </a:spcBef>
              <a:spcAft>
                <a:spcPts val="500"/>
              </a:spcAft>
              <a:defRPr sz="1100" b="1">
                <a:solidFill>
                  <a:srgbClr val="C8F26B"/>
                </a:solidFill>
                <a:latin typeface="Arial"/>
              </a:defRPr>
            </a:pPr>
            <a:r>
              <a:t>06 / 22</a:t>
            </a:r>
          </a:p>
        </p:txBody>
      </p:sp>
      <p:graphicFrame>
        <p:nvGraphicFramePr>
          <p:cNvPr id="7" name="Table 6"/>
          <p:cNvGraphicFramePr>
            <a:graphicFrameLocks noGrp="1"/>
          </p:cNvGraphicFramePr>
          <p:nvPr/>
        </p:nvGraphicFramePr>
        <p:xfrm>
          <a:off x="502920" y="1691640"/>
          <a:ext cx="11183112" cy="4251960"/>
        </p:xfrm>
        <a:graphic>
          <a:graphicData uri="http://schemas.openxmlformats.org/drawingml/2006/table">
            <a:tbl>
              <a:tblPr firstRow="1" bandRow="1">
                <a:tableStyleId>{5C22544A-7EE6-4342-B048-85BDC9FD1C3A}</a:tableStyleId>
              </a:tblPr>
              <a:tblGrid>
                <a:gridCol w="1828800"/>
                <a:gridCol w="2880360"/>
                <a:gridCol w="2743200"/>
                <a:gridCol w="3730752"/>
              </a:tblGrid>
              <a:tr h="607422">
                <a:tc>
                  <a:txBody>
                    <a:bodyPr/>
                    <a:lstStyle/>
                    <a:p>
                      <a:pPr>
                        <a:spcAft>
                          <a:spcPts val="0"/>
                        </a:spcAft>
                        <a:defRPr sz="1500" b="1">
                          <a:solidFill>
                            <a:srgbClr val="FFFFFF"/>
                          </a:solidFill>
                          <a:latin typeface="Arial"/>
                        </a:defRPr>
                      </a:pPr>
                      <a:r>
                        <a:t>Исполнитель</a:t>
                      </a:r>
                    </a:p>
                  </a:txBody>
                  <a:tcPr marL="91440" marR="91440" marT="45720" marB="45720">
                    <a:solidFill>
                      <a:srgbClr val="164C38"/>
                    </a:solidFill>
                  </a:tcPr>
                </a:tc>
                <a:tc>
                  <a:txBody>
                    <a:bodyPr/>
                    <a:lstStyle/>
                    <a:p>
                      <a:pPr>
                        <a:spcAft>
                          <a:spcPts val="0"/>
                        </a:spcAft>
                        <a:defRPr sz="1500" b="1">
                          <a:solidFill>
                            <a:srgbClr val="FFFFFF"/>
                          </a:solidFill>
                          <a:latin typeface="Arial"/>
                        </a:defRPr>
                      </a:pPr>
                      <a:r>
                        <a:t>Услуги / территория</a:t>
                      </a:r>
                    </a:p>
                  </a:txBody>
                  <a:tcPr marL="91440" marR="91440" marT="45720" marB="45720">
                    <a:solidFill>
                      <a:srgbClr val="164C38"/>
                    </a:solidFill>
                  </a:tcPr>
                </a:tc>
                <a:tc>
                  <a:txBody>
                    <a:bodyPr/>
                    <a:lstStyle/>
                    <a:p>
                      <a:pPr>
                        <a:spcAft>
                          <a:spcPts val="0"/>
                        </a:spcAft>
                        <a:defRPr sz="1500" b="1">
                          <a:solidFill>
                            <a:srgbClr val="FFFFFF"/>
                          </a:solidFill>
                          <a:latin typeface="Arial"/>
                        </a:defRPr>
                      </a:pPr>
                      <a:r>
                        <a:t>Цена и база, руб./га</a:t>
                      </a:r>
                    </a:p>
                  </a:txBody>
                  <a:tcPr marL="91440" marR="91440" marT="45720" marB="45720">
                    <a:solidFill>
                      <a:srgbClr val="164C38"/>
                    </a:solidFill>
                  </a:tcPr>
                </a:tc>
                <a:tc>
                  <a:txBody>
                    <a:bodyPr/>
                    <a:lstStyle/>
                    <a:p>
                      <a:pPr>
                        <a:spcAft>
                          <a:spcPts val="0"/>
                        </a:spcAft>
                        <a:defRPr sz="1500" b="1">
                          <a:solidFill>
                            <a:srgbClr val="FFFFFF"/>
                          </a:solidFill>
                          <a:latin typeface="Arial"/>
                        </a:defRPr>
                      </a:pPr>
                      <a:r>
                        <a:t>Доказательства / ограничения</a:t>
                      </a:r>
                    </a:p>
                  </a:txBody>
                  <a:tcPr marL="91440" marR="91440" marT="45720" marB="45720">
                    <a:solidFill>
                      <a:srgbClr val="164C38"/>
                    </a:solidFill>
                  </a:tcPr>
                </a:tc>
              </a:tr>
              <a:tr h="607422">
                <a:tc>
                  <a:txBody>
                    <a:bodyPr/>
                    <a:lstStyle/>
                    <a:p>
                      <a:pPr>
                        <a:spcAft>
                          <a:spcPts val="0"/>
                        </a:spcAft>
                        <a:defRPr sz="1500" b="0">
                          <a:solidFill>
                            <a:srgbClr val="092A20"/>
                          </a:solidFill>
                          <a:latin typeface="Arial"/>
                        </a:defRPr>
                      </a:pPr>
                      <a:r>
                        <a:t>BeeUAV</a:t>
                      </a:r>
                    </a:p>
                  </a:txBody>
                  <a:tcPr marL="91440" marR="91440" marT="45720" marB="45720">
                    <a:solidFill>
                      <a:srgbClr val="FFFFFF"/>
                    </a:solidFill>
                  </a:tcPr>
                </a:tc>
                <a:tc>
                  <a:txBody>
                    <a:bodyPr/>
                    <a:lstStyle/>
                    <a:p>
                      <a:pPr>
                        <a:spcAft>
                          <a:spcPts val="0"/>
                        </a:spcAft>
                        <a:defRPr sz="1500" b="0">
                          <a:solidFill>
                            <a:srgbClr val="092A20"/>
                          </a:solidFill>
                          <a:latin typeface="Arial"/>
                        </a:defRPr>
                      </a:pPr>
                      <a:r>
                        <a:t>Внесение; Татарстан упомянут</a:t>
                      </a:r>
                    </a:p>
                  </a:txBody>
                  <a:tcPr marL="91440" marR="91440" marT="45720" marB="45720">
                    <a:solidFill>
                      <a:srgbClr val="FFFFFF"/>
                    </a:solidFill>
                  </a:tcPr>
                </a:tc>
                <a:tc>
                  <a:txBody>
                    <a:bodyPr/>
                    <a:lstStyle/>
                    <a:p>
                      <a:pPr>
                        <a:spcAft>
                          <a:spcPts val="0"/>
                        </a:spcAft>
                        <a:defRPr sz="1500" b="0">
                          <a:solidFill>
                            <a:srgbClr val="092A20"/>
                          </a:solidFill>
                          <a:latin typeface="Arial"/>
                        </a:defRPr>
                      </a:pPr>
                      <a:r>
                        <a:t>Не раскрыта; НДС н/д</a:t>
                      </a:r>
                    </a:p>
                  </a:txBody>
                  <a:tcPr marL="91440" marR="91440" marT="45720" marB="45720">
                    <a:solidFill>
                      <a:srgbClr val="FFFFFF"/>
                    </a:solidFill>
                  </a:tcPr>
                </a:tc>
                <a:tc>
                  <a:txBody>
                    <a:bodyPr/>
                    <a:lstStyle/>
                    <a:p>
                      <a:pPr>
                        <a:spcAft>
                          <a:spcPts val="0"/>
                        </a:spcAft>
                        <a:defRPr sz="1500" b="0">
                          <a:solidFill>
                            <a:srgbClr val="092A20"/>
                          </a:solidFill>
                          <a:latin typeface="Arial"/>
                        </a:defRPr>
                      </a:pPr>
                      <a:r>
                        <a:t>Объем и доля не раскрыты [2]</a:t>
                      </a:r>
                    </a:p>
                  </a:txBody>
                  <a:tcPr marL="91440" marR="91440" marT="45720" marB="45720">
                    <a:solidFill>
                      <a:srgbClr val="FFFFFF"/>
                    </a:solidFill>
                  </a:tcPr>
                </a:tc>
              </a:tr>
              <a:tr h="607422">
                <a:tc>
                  <a:txBody>
                    <a:bodyPr/>
                    <a:lstStyle/>
                    <a:p>
                      <a:pPr>
                        <a:spcAft>
                          <a:spcPts val="0"/>
                        </a:spcAft>
                        <a:defRPr sz="1500" b="0">
                          <a:solidFill>
                            <a:srgbClr val="092A20"/>
                          </a:solidFill>
                          <a:latin typeface="Arial"/>
                        </a:defRPr>
                      </a:pPr>
                      <a:r>
                        <a:t>Агропрофи</a:t>
                      </a:r>
                    </a:p>
                  </a:txBody>
                  <a:tcPr marL="91440" marR="91440" marT="45720" marB="45720">
                    <a:solidFill>
                      <a:srgbClr val="EFF4EF"/>
                    </a:solidFill>
                  </a:tcPr>
                </a:tc>
                <a:tc>
                  <a:txBody>
                    <a:bodyPr/>
                    <a:lstStyle/>
                    <a:p>
                      <a:pPr>
                        <a:spcAft>
                          <a:spcPts val="0"/>
                        </a:spcAft>
                        <a:defRPr sz="1500" b="0">
                          <a:solidFill>
                            <a:srgbClr val="092A20"/>
                          </a:solidFill>
                          <a:latin typeface="Arial"/>
                        </a:defRPr>
                      </a:pPr>
                      <a:r>
                        <a:t>Внесение и посев; Поволжье</a:t>
                      </a:r>
                    </a:p>
                  </a:txBody>
                  <a:tcPr marL="91440" marR="91440" marT="45720" marB="45720">
                    <a:solidFill>
                      <a:srgbClr val="EFF4EF"/>
                    </a:solidFill>
                  </a:tcPr>
                </a:tc>
                <a:tc>
                  <a:txBody>
                    <a:bodyPr/>
                    <a:lstStyle/>
                    <a:p>
                      <a:pPr>
                        <a:spcAft>
                          <a:spcPts val="0"/>
                        </a:spcAft>
                        <a:defRPr sz="1500" b="0">
                          <a:solidFill>
                            <a:srgbClr val="092A20"/>
                          </a:solidFill>
                          <a:latin typeface="Arial"/>
                        </a:defRPr>
                      </a:pPr>
                      <a:r>
                        <a:t>Не раскрыта; НДС н/д</a:t>
                      </a:r>
                    </a:p>
                  </a:txBody>
                  <a:tcPr marL="91440" marR="91440" marT="45720" marB="45720">
                    <a:solidFill>
                      <a:srgbClr val="EFF4EF"/>
                    </a:solidFill>
                  </a:tcPr>
                </a:tc>
                <a:tc>
                  <a:txBody>
                    <a:bodyPr/>
                    <a:lstStyle/>
                    <a:p>
                      <a:pPr>
                        <a:spcAft>
                          <a:spcPts val="0"/>
                        </a:spcAft>
                        <a:defRPr sz="1500" b="0">
                          <a:solidFill>
                            <a:srgbClr val="092A20"/>
                          </a:solidFill>
                          <a:latin typeface="Arial"/>
                        </a:defRPr>
                      </a:pPr>
                      <a:r>
                        <a:t>50 тыс.+ га без периода; доля н/д [3][4]</a:t>
                      </a:r>
                    </a:p>
                  </a:txBody>
                  <a:tcPr marL="91440" marR="91440" marT="45720" marB="45720">
                    <a:solidFill>
                      <a:srgbClr val="EFF4EF"/>
                    </a:solidFill>
                  </a:tcPr>
                </a:tc>
              </a:tr>
              <a:tr h="607422">
                <a:tc>
                  <a:txBody>
                    <a:bodyPr/>
                    <a:lstStyle/>
                    <a:p>
                      <a:pPr>
                        <a:spcAft>
                          <a:spcPts val="0"/>
                        </a:spcAft>
                        <a:defRPr sz="1500" b="0">
                          <a:solidFill>
                            <a:srgbClr val="092A20"/>
                          </a:solidFill>
                          <a:latin typeface="Arial"/>
                        </a:defRPr>
                      </a:pPr>
                      <a:r>
                        <a:t>Аграс</a:t>
                      </a:r>
                    </a:p>
                  </a:txBody>
                  <a:tcPr marL="91440" marR="91440" marT="45720" marB="45720">
                    <a:solidFill>
                      <a:srgbClr val="FFFFFF"/>
                    </a:solidFill>
                  </a:tcPr>
                </a:tc>
                <a:tc>
                  <a:txBody>
                    <a:bodyPr/>
                    <a:lstStyle/>
                    <a:p>
                      <a:pPr>
                        <a:spcAft>
                          <a:spcPts val="0"/>
                        </a:spcAft>
                        <a:defRPr sz="1500" b="0">
                          <a:solidFill>
                            <a:srgbClr val="092A20"/>
                          </a:solidFill>
                          <a:latin typeface="Arial"/>
                        </a:defRPr>
                      </a:pPr>
                      <a:r>
                        <a:t>Аренда и сервис; Татарстан заявлен</a:t>
                      </a:r>
                    </a:p>
                  </a:txBody>
                  <a:tcPr marL="91440" marR="91440" marT="45720" marB="45720">
                    <a:solidFill>
                      <a:srgbClr val="FFFFFF"/>
                    </a:solidFill>
                  </a:tcPr>
                </a:tc>
                <a:tc>
                  <a:txBody>
                    <a:bodyPr/>
                    <a:lstStyle/>
                    <a:p>
                      <a:pPr>
                        <a:spcAft>
                          <a:spcPts val="0"/>
                        </a:spcAft>
                        <a:defRPr sz="1500" b="0">
                          <a:solidFill>
                            <a:srgbClr val="092A20"/>
                          </a:solidFill>
                          <a:latin typeface="Arial"/>
                        </a:defRPr>
                      </a:pPr>
                      <a:r>
                        <a:t>Не раскрыта; НДС услуги н/д</a:t>
                      </a:r>
                    </a:p>
                  </a:txBody>
                  <a:tcPr marL="91440" marR="91440" marT="45720" marB="45720">
                    <a:solidFill>
                      <a:srgbClr val="FFFFFF"/>
                    </a:solidFill>
                  </a:tcPr>
                </a:tc>
                <a:tc>
                  <a:txBody>
                    <a:bodyPr/>
                    <a:lstStyle/>
                    <a:p>
                      <a:pPr>
                        <a:spcAft>
                          <a:spcPts val="0"/>
                        </a:spcAft>
                        <a:defRPr sz="1500" b="0">
                          <a:solidFill>
                            <a:srgbClr val="092A20"/>
                          </a:solidFill>
                          <a:latin typeface="Arial"/>
                        </a:defRPr>
                      </a:pPr>
                      <a:r>
                        <a:t>Проекты РТ &gt;40 тыс. га за 2025; доля н/д [5]</a:t>
                      </a:r>
                    </a:p>
                  </a:txBody>
                  <a:tcPr marL="91440" marR="91440" marT="45720" marB="45720">
                    <a:solidFill>
                      <a:srgbClr val="FFFFFF"/>
                    </a:solidFill>
                  </a:tcPr>
                </a:tc>
              </a:tr>
              <a:tr h="607422">
                <a:tc>
                  <a:txBody>
                    <a:bodyPr/>
                    <a:lstStyle/>
                    <a:p>
                      <a:pPr>
                        <a:spcAft>
                          <a:spcPts val="0"/>
                        </a:spcAft>
                        <a:defRPr sz="1500" b="0">
                          <a:solidFill>
                            <a:srgbClr val="092A20"/>
                          </a:solidFill>
                          <a:latin typeface="Arial"/>
                        </a:defRPr>
                      </a:pPr>
                      <a:r>
                        <a:t>Гермес</a:t>
                      </a:r>
                    </a:p>
                  </a:txBody>
                  <a:tcPr marL="91440" marR="91440" marT="45720" marB="45720">
                    <a:solidFill>
                      <a:srgbClr val="EFF4EF"/>
                    </a:solidFill>
                  </a:tcPr>
                </a:tc>
                <a:tc>
                  <a:txBody>
                    <a:bodyPr/>
                    <a:lstStyle/>
                    <a:p>
                      <a:pPr>
                        <a:spcAft>
                          <a:spcPts val="0"/>
                        </a:spcAft>
                        <a:defRPr sz="1500" b="0">
                          <a:solidFill>
                            <a:srgbClr val="092A20"/>
                          </a:solidFill>
                          <a:latin typeface="Arial"/>
                        </a:defRPr>
                      </a:pPr>
                      <a:r>
                        <a:t>Внесение и мониторинг; Краснодар/Адыгея</a:t>
                      </a:r>
                    </a:p>
                  </a:txBody>
                  <a:tcPr marL="91440" marR="91440" marT="45720" marB="45720">
                    <a:solidFill>
                      <a:srgbClr val="EFF4EF"/>
                    </a:solidFill>
                  </a:tcPr>
                </a:tc>
                <a:tc>
                  <a:txBody>
                    <a:bodyPr/>
                    <a:lstStyle/>
                    <a:p>
                      <a:pPr>
                        <a:spcAft>
                          <a:spcPts val="0"/>
                        </a:spcAft>
                        <a:defRPr sz="1500" b="0">
                          <a:solidFill>
                            <a:srgbClr val="092A20"/>
                          </a:solidFill>
                          <a:latin typeface="Arial"/>
                        </a:defRPr>
                      </a:pPr>
                      <a:r>
                        <a:t>Не раскрыта; НДС н/д</a:t>
                      </a:r>
                    </a:p>
                  </a:txBody>
                  <a:tcPr marL="91440" marR="91440" marT="45720" marB="45720">
                    <a:solidFill>
                      <a:srgbClr val="EFF4EF"/>
                    </a:solidFill>
                  </a:tcPr>
                </a:tc>
                <a:tc>
                  <a:txBody>
                    <a:bodyPr/>
                    <a:lstStyle/>
                    <a:p>
                      <a:pPr>
                        <a:spcAft>
                          <a:spcPts val="0"/>
                        </a:spcAft>
                        <a:defRPr sz="1500" b="0">
                          <a:solidFill>
                            <a:srgbClr val="092A20"/>
                          </a:solidFill>
                          <a:latin typeface="Arial"/>
                        </a:defRPr>
                      </a:pPr>
                      <a:r>
                        <a:t>Кейс 500 га без даты; доля н/д [6]</a:t>
                      </a:r>
                    </a:p>
                  </a:txBody>
                  <a:tcPr marL="91440" marR="91440" marT="45720" marB="45720">
                    <a:solidFill>
                      <a:srgbClr val="EFF4EF"/>
                    </a:solidFill>
                  </a:tcPr>
                </a:tc>
              </a:tr>
              <a:tr h="607422">
                <a:tc>
                  <a:txBody>
                    <a:bodyPr/>
                    <a:lstStyle/>
                    <a:p>
                      <a:pPr>
                        <a:spcAft>
                          <a:spcPts val="0"/>
                        </a:spcAft>
                        <a:defRPr sz="1500" b="0">
                          <a:solidFill>
                            <a:srgbClr val="092A20"/>
                          </a:solidFill>
                          <a:latin typeface="Arial"/>
                        </a:defRPr>
                      </a:pPr>
                      <a:r>
                        <a:t>Агродроны ЮФО</a:t>
                      </a:r>
                    </a:p>
                  </a:txBody>
                  <a:tcPr marL="91440" marR="91440" marT="45720" marB="45720">
                    <a:solidFill>
                      <a:srgbClr val="FFFFFF"/>
                    </a:solidFill>
                  </a:tcPr>
                </a:tc>
                <a:tc>
                  <a:txBody>
                    <a:bodyPr/>
                    <a:lstStyle/>
                    <a:p>
                      <a:pPr>
                        <a:spcAft>
                          <a:spcPts val="0"/>
                        </a:spcAft>
                        <a:defRPr sz="1500" b="0">
                          <a:solidFill>
                            <a:srgbClr val="092A20"/>
                          </a:solidFill>
                          <a:latin typeface="Arial"/>
                        </a:defRPr>
                      </a:pPr>
                      <a:r>
                        <a:t>Внесение; юг РФ; не Татарстан</a:t>
                      </a:r>
                    </a:p>
                  </a:txBody>
                  <a:tcPr marL="91440" marR="91440" marT="45720" marB="45720">
                    <a:solidFill>
                      <a:srgbClr val="FFFFFF"/>
                    </a:solidFill>
                  </a:tcPr>
                </a:tc>
                <a:tc>
                  <a:txBody>
                    <a:bodyPr/>
                    <a:lstStyle/>
                    <a:p>
                      <a:pPr>
                        <a:spcAft>
                          <a:spcPts val="0"/>
                        </a:spcAft>
                        <a:defRPr sz="1500" b="0">
                          <a:solidFill>
                            <a:srgbClr val="092A20"/>
                          </a:solidFill>
                          <a:latin typeface="Arial"/>
                        </a:defRPr>
                      </a:pPr>
                      <a:r>
                        <a:t>900 средняя; НДС и логистика н/д</a:t>
                      </a:r>
                    </a:p>
                  </a:txBody>
                  <a:tcPr marL="91440" marR="91440" marT="45720" marB="45720">
                    <a:solidFill>
                      <a:srgbClr val="FFFFFF"/>
                    </a:solidFill>
                  </a:tcPr>
                </a:tc>
                <a:tc>
                  <a:txBody>
                    <a:bodyPr/>
                    <a:lstStyle/>
                    <a:p>
                      <a:pPr>
                        <a:spcAft>
                          <a:spcPts val="0"/>
                        </a:spcAft>
                        <a:defRPr sz="1500" b="0">
                          <a:solidFill>
                            <a:srgbClr val="092A20"/>
                          </a:solidFill>
                          <a:latin typeface="Arial"/>
                        </a:defRPr>
                      </a:pPr>
                      <a:r>
                        <a:t>Акты заявлены; объем и доля н/д [7]</a:t>
                      </a:r>
                    </a:p>
                  </a:txBody>
                  <a:tcPr marL="91440" marR="91440" marT="45720" marB="45720">
                    <a:solidFill>
                      <a:srgbClr val="FFFFFF"/>
                    </a:solidFill>
                  </a:tcPr>
                </a:tc>
              </a:tr>
              <a:tr h="607428">
                <a:tc>
                  <a:txBody>
                    <a:bodyPr/>
                    <a:lstStyle/>
                    <a:p>
                      <a:pPr>
                        <a:spcAft>
                          <a:spcPts val="0"/>
                        </a:spcAft>
                        <a:defRPr sz="1500" b="0">
                          <a:solidFill>
                            <a:srgbClr val="092A20"/>
                          </a:solidFill>
                          <a:latin typeface="Arial"/>
                        </a:defRPr>
                      </a:pPr>
                      <a:r>
                        <a:t>АгроВектор (план)</a:t>
                      </a:r>
                    </a:p>
                  </a:txBody>
                  <a:tcPr marL="91440" marR="91440" marT="45720" marB="45720">
                    <a:solidFill>
                      <a:srgbClr val="EFF4EF"/>
                    </a:solidFill>
                  </a:tcPr>
                </a:tc>
                <a:tc>
                  <a:txBody>
                    <a:bodyPr/>
                    <a:lstStyle/>
                    <a:p>
                      <a:pPr>
                        <a:spcAft>
                          <a:spcPts val="0"/>
                        </a:spcAft>
                        <a:defRPr sz="1500" b="0">
                          <a:solidFill>
                            <a:srgbClr val="092A20"/>
                          </a:solidFill>
                          <a:latin typeface="Arial"/>
                        </a:defRPr>
                      </a:pPr>
                      <a:r>
                        <a:t>Внесение и мониторинг; Татарстан условно</a:t>
                      </a:r>
                    </a:p>
                  </a:txBody>
                  <a:tcPr marL="91440" marR="91440" marT="45720" marB="45720">
                    <a:solidFill>
                      <a:srgbClr val="EFF4EF"/>
                    </a:solidFill>
                  </a:tcPr>
                </a:tc>
                <a:tc>
                  <a:txBody>
                    <a:bodyPr/>
                    <a:lstStyle/>
                    <a:p>
                      <a:pPr>
                        <a:spcAft>
                          <a:spcPts val="0"/>
                        </a:spcAft>
                        <a:defRPr sz="1500" b="0">
                          <a:solidFill>
                            <a:srgbClr val="092A20"/>
                          </a:solidFill>
                          <a:latin typeface="Arial"/>
                        </a:defRPr>
                      </a:pPr>
                      <a:r>
                        <a:t>1300 / 250 план; без НДС и препаратов</a:t>
                      </a:r>
                    </a:p>
                  </a:txBody>
                  <a:tcPr marL="91440" marR="91440" marT="45720" marB="45720">
                    <a:solidFill>
                      <a:srgbClr val="EFF4EF"/>
                    </a:solidFill>
                  </a:tcPr>
                </a:tc>
                <a:tc>
                  <a:txBody>
                    <a:bodyPr/>
                    <a:lstStyle/>
                    <a:p>
                      <a:pPr>
                        <a:spcAft>
                          <a:spcPts val="0"/>
                        </a:spcAft>
                        <a:defRPr sz="1500" b="0">
                          <a:solidFill>
                            <a:srgbClr val="092A20"/>
                          </a:solidFill>
                          <a:latin typeface="Arial"/>
                        </a:defRPr>
                      </a:pPr>
                      <a:r>
                        <a:t>Нет выполненного сезона и установленной доли</a:t>
                      </a:r>
                    </a:p>
                  </a:txBody>
                  <a:tcPr marL="91440" marR="91440" marT="45720" marB="45720">
                    <a:solidFill>
                      <a:srgbClr val="EFF4EF"/>
                    </a:solidFill>
                  </a:tcPr>
                </a:tc>
              </a:tr>
            </a:tbl>
          </a:graphicData>
        </a:graphic>
      </p:graphicFrame>
      <p:sp>
        <p:nvSpPr>
          <p:cNvPr id="8" name="TextBox 7"/>
          <p:cNvSpPr txBox="1"/>
          <p:nvPr/>
        </p:nvSpPr>
        <p:spPr>
          <a:xfrm>
            <a:off x="594360" y="6080760"/>
            <a:ext cx="10972800" cy="292608"/>
          </a:xfrm>
          <a:prstGeom prst="rect">
            <a:avLst/>
          </a:prstGeom>
          <a:noFill/>
        </p:spPr>
        <p:txBody>
          <a:bodyPr wrap="square" lIns="13716" rIns="13716" tIns="0" bIns="0">
            <a:spAutoFit/>
          </a:bodyPr>
          <a:lstStyle/>
          <a:p>
            <a:pPr>
              <a:spcBef>
                <a:spcPts val="0"/>
              </a:spcBef>
              <a:spcAft>
                <a:spcPts val="500"/>
              </a:spcAft>
              <a:defRPr sz="1500" b="0">
                <a:solidFill>
                  <a:srgbClr val="AFC5B8"/>
                </a:solidFill>
                <a:latin typeface="Arial"/>
              </a:defRPr>
            </a:pPr>
            <a:r>
              <a:t>Доли публично не раскрыты. 900 ₽ — не сопоставимое КП Татарстана. Н/д ≠ 0.</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092A20"/>
        </a:solidFill>
        <a:effectLst/>
      </p:bgPr>
    </p:bg>
    <p:spTree>
      <p:nvGrpSpPr>
        <p:cNvPr id="1" name=""/>
        <p:cNvGrpSpPr/>
        <p:nvPr/>
      </p:nvGrpSpPr>
      <p:grpSpPr/>
      <p:sp>
        <p:nvSpPr>
          <p:cNvPr id="2" name="Rectangle 1"/>
          <p:cNvSpPr/>
          <p:nvPr/>
        </p:nvSpPr>
        <p:spPr>
          <a:xfrm>
            <a:off x="411480" y="393192"/>
            <a:ext cx="91440" cy="448056"/>
          </a:xfrm>
          <a:prstGeom prst="rect">
            <a:avLst/>
          </a:prstGeom>
          <a:solidFill>
            <a:srgbClr val="C8F2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58368" y="356616"/>
            <a:ext cx="10835640" cy="886968"/>
          </a:xfrm>
          <a:prstGeom prst="rect">
            <a:avLst/>
          </a:prstGeom>
          <a:noFill/>
        </p:spPr>
        <p:txBody>
          <a:bodyPr wrap="square" lIns="13716" rIns="13716" tIns="0" bIns="0">
            <a:spAutoFit/>
          </a:bodyPr>
          <a:lstStyle/>
          <a:p>
            <a:pPr>
              <a:spcBef>
                <a:spcPts val="0"/>
              </a:spcBef>
              <a:spcAft>
                <a:spcPts val="500"/>
              </a:spcAft>
              <a:defRPr sz="3000" b="1">
                <a:solidFill>
                  <a:srgbClr val="FFFFFF"/>
                </a:solidFill>
                <a:latin typeface="Arial"/>
              </a:defRPr>
            </a:pPr>
            <a:r>
              <a:t>Развернутый SWOT</a:t>
            </a:r>
          </a:p>
        </p:txBody>
      </p:sp>
      <p:sp>
        <p:nvSpPr>
          <p:cNvPr id="4" name="TextBox 3"/>
          <p:cNvSpPr txBox="1"/>
          <p:nvPr/>
        </p:nvSpPr>
        <p:spPr>
          <a:xfrm>
            <a:off x="658368" y="1161288"/>
            <a:ext cx="10881360" cy="329184"/>
          </a:xfrm>
          <a:prstGeom prst="rect">
            <a:avLst/>
          </a:prstGeom>
          <a:noFill/>
        </p:spPr>
        <p:txBody>
          <a:bodyPr wrap="square" lIns="13716" rIns="13716" tIns="0" bIns="0">
            <a:spAutoFit/>
          </a:bodyPr>
          <a:lstStyle/>
          <a:p>
            <a:pPr>
              <a:spcBef>
                <a:spcPts val="0"/>
              </a:spcBef>
              <a:spcAft>
                <a:spcPts val="500"/>
              </a:spcAft>
              <a:defRPr sz="1500" b="0">
                <a:solidFill>
                  <a:srgbClr val="C8F26B"/>
                </a:solidFill>
                <a:latin typeface="Arial"/>
              </a:defRPr>
            </a:pPr>
            <a:r>
              <a:t>[ДОПУЩЕНИЕ]</a:t>
            </a:r>
          </a:p>
        </p:txBody>
      </p:sp>
      <p:sp>
        <p:nvSpPr>
          <p:cNvPr id="5" name="TextBox 4"/>
          <p:cNvSpPr txBox="1"/>
          <p:nvPr/>
        </p:nvSpPr>
        <p:spPr>
          <a:xfrm>
            <a:off x="502920" y="6510528"/>
            <a:ext cx="10058400" cy="210312"/>
          </a:xfrm>
          <a:prstGeom prst="rect">
            <a:avLst/>
          </a:prstGeom>
          <a:noFill/>
        </p:spPr>
        <p:txBody>
          <a:bodyPr wrap="square" lIns="13716" rIns="13716" tIns="0" bIns="0">
            <a:spAutoFit/>
          </a:bodyPr>
          <a:lstStyle/>
          <a:p>
            <a:pPr>
              <a:spcBef>
                <a:spcPts val="0"/>
              </a:spcBef>
              <a:spcAft>
                <a:spcPts val="500"/>
              </a:spcAft>
              <a:defRPr sz="1000" b="0">
                <a:solidFill>
                  <a:srgbClr val="AFC5B8"/>
                </a:solidFill>
                <a:latin typeface="Arial"/>
              </a:defRPr>
            </a:pPr>
            <a:r>
              <a:t>АГРОВЕКТОР / инвестиционная гипотеза / 2027–2031 / редакция 20.10.2026</a:t>
            </a:r>
          </a:p>
        </p:txBody>
      </p:sp>
      <p:sp>
        <p:nvSpPr>
          <p:cNvPr id="6" name="TextBox 5"/>
          <p:cNvSpPr txBox="1"/>
          <p:nvPr/>
        </p:nvSpPr>
        <p:spPr>
          <a:xfrm>
            <a:off x="11018520" y="6483096"/>
            <a:ext cx="731520" cy="256032"/>
          </a:xfrm>
          <a:prstGeom prst="rect">
            <a:avLst/>
          </a:prstGeom>
          <a:noFill/>
        </p:spPr>
        <p:txBody>
          <a:bodyPr wrap="square" lIns="13716" rIns="13716" tIns="0" bIns="0">
            <a:spAutoFit/>
          </a:bodyPr>
          <a:lstStyle/>
          <a:p>
            <a:pPr>
              <a:spcBef>
                <a:spcPts val="0"/>
              </a:spcBef>
              <a:spcAft>
                <a:spcPts val="500"/>
              </a:spcAft>
              <a:defRPr sz="1100" b="1">
                <a:solidFill>
                  <a:srgbClr val="C8F26B"/>
                </a:solidFill>
                <a:latin typeface="Arial"/>
              </a:defRPr>
            </a:pPr>
            <a:r>
              <a:t>07 / 22</a:t>
            </a:r>
          </a:p>
        </p:txBody>
      </p:sp>
      <p:sp>
        <p:nvSpPr>
          <p:cNvPr id="7" name="Rounded Rectangle 6"/>
          <p:cNvSpPr/>
          <p:nvPr/>
        </p:nvSpPr>
        <p:spPr>
          <a:xfrm>
            <a:off x="502920" y="1719072"/>
            <a:ext cx="5477256" cy="1883664"/>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685800" y="1901952"/>
            <a:ext cx="347472" cy="54864"/>
          </a:xfrm>
          <a:prstGeom prst="rect">
            <a:avLst/>
          </a:prstGeom>
          <a:solidFill>
            <a:srgbClr val="C8F2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04088" y="2103120"/>
            <a:ext cx="5074920" cy="585216"/>
          </a:xfrm>
          <a:prstGeom prst="rect">
            <a:avLst/>
          </a:prstGeom>
          <a:noFill/>
        </p:spPr>
        <p:txBody>
          <a:bodyPr wrap="square" lIns="13716" rIns="13716" tIns="0" bIns="0">
            <a:spAutoFit/>
          </a:bodyPr>
          <a:lstStyle/>
          <a:p>
            <a:pPr>
              <a:spcBef>
                <a:spcPts val="0"/>
              </a:spcBef>
              <a:spcAft>
                <a:spcPts val="500"/>
              </a:spcAft>
              <a:defRPr sz="2000" b="1">
                <a:solidFill>
                  <a:srgbClr val="164C38"/>
                </a:solidFill>
                <a:latin typeface="Arial"/>
              </a:defRPr>
            </a:pPr>
            <a:r>
              <a:t>S / Конструкция сервиса</a:t>
            </a:r>
          </a:p>
        </p:txBody>
      </p:sp>
      <p:sp>
        <p:nvSpPr>
          <p:cNvPr id="10" name="TextBox 9"/>
          <p:cNvSpPr txBox="1"/>
          <p:nvPr/>
        </p:nvSpPr>
        <p:spPr>
          <a:xfrm>
            <a:off x="704088" y="2706624"/>
            <a:ext cx="5074920" cy="822960"/>
          </a:xfrm>
          <a:prstGeom prst="rect">
            <a:avLst/>
          </a:prstGeom>
          <a:noFill/>
        </p:spPr>
        <p:txBody>
          <a:bodyPr wrap="square" lIns="13716" rIns="13716" tIns="0" bIns="0">
            <a:spAutoFit/>
          </a:bodyPr>
          <a:lstStyle/>
          <a:p>
            <a:pPr>
              <a:spcBef>
                <a:spcPts val="0"/>
              </a:spcBef>
              <a:spcAft>
                <a:spcPts val="500"/>
              </a:spcAft>
              <a:defRPr sz="1700" b="0">
                <a:solidFill>
                  <a:srgbClr val="092A20"/>
                </a:solidFill>
                <a:latin typeface="Arial"/>
              </a:defRPr>
            </a:pPr>
            <a:r>
              <a:t>Мониторинг + задание + отчет</a:t>
            </a:r>
          </a:p>
          <a:p>
            <a:pPr>
              <a:spcBef>
                <a:spcPts val="0"/>
              </a:spcBef>
              <a:spcAft>
                <a:spcPts val="500"/>
              </a:spcAft>
              <a:defRPr sz="1700" b="0">
                <a:solidFill>
                  <a:srgbClr val="092A20"/>
                </a:solidFill>
                <a:latin typeface="Arial"/>
              </a:defRPr>
            </a:pPr>
            <a:r>
              <a:t>Резервный аппарат</a:t>
            </a:r>
          </a:p>
          <a:p>
            <a:pPr>
              <a:spcBef>
                <a:spcPts val="0"/>
              </a:spcBef>
              <a:spcAft>
                <a:spcPts val="500"/>
              </a:spcAft>
              <a:defRPr sz="1700" b="0">
                <a:solidFill>
                  <a:srgbClr val="092A20"/>
                </a:solidFill>
                <a:latin typeface="Arial"/>
              </a:defRPr>
            </a:pPr>
            <a:r>
              <a:t>→ Единая приемка и готовность резерва</a:t>
            </a:r>
          </a:p>
        </p:txBody>
      </p:sp>
      <p:sp>
        <p:nvSpPr>
          <p:cNvPr id="11" name="Rounded Rectangle 10"/>
          <p:cNvSpPr/>
          <p:nvPr/>
        </p:nvSpPr>
        <p:spPr>
          <a:xfrm>
            <a:off x="6208776" y="1719072"/>
            <a:ext cx="5477256" cy="1883664"/>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6391656" y="1901952"/>
            <a:ext cx="347472" cy="54864"/>
          </a:xfrm>
          <a:prstGeom prst="rect">
            <a:avLst/>
          </a:prstGeom>
          <a:solidFill>
            <a:srgbClr val="C8F2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9944" y="2103120"/>
            <a:ext cx="5074920" cy="585216"/>
          </a:xfrm>
          <a:prstGeom prst="rect">
            <a:avLst/>
          </a:prstGeom>
          <a:noFill/>
        </p:spPr>
        <p:txBody>
          <a:bodyPr wrap="square" lIns="13716" rIns="13716" tIns="0" bIns="0">
            <a:spAutoFit/>
          </a:bodyPr>
          <a:lstStyle/>
          <a:p>
            <a:pPr>
              <a:spcBef>
                <a:spcPts val="0"/>
              </a:spcBef>
              <a:spcAft>
                <a:spcPts val="500"/>
              </a:spcAft>
              <a:defRPr sz="2000" b="1">
                <a:solidFill>
                  <a:srgbClr val="164C38"/>
                </a:solidFill>
                <a:latin typeface="Arial"/>
              </a:defRPr>
            </a:pPr>
            <a:r>
              <a:t>W / Ограничения</a:t>
            </a:r>
          </a:p>
        </p:txBody>
      </p:sp>
      <p:sp>
        <p:nvSpPr>
          <p:cNvPr id="14" name="TextBox 13"/>
          <p:cNvSpPr txBox="1"/>
          <p:nvPr/>
        </p:nvSpPr>
        <p:spPr>
          <a:xfrm>
            <a:off x="6409944" y="2706624"/>
            <a:ext cx="5074920" cy="822960"/>
          </a:xfrm>
          <a:prstGeom prst="rect">
            <a:avLst/>
          </a:prstGeom>
          <a:noFill/>
        </p:spPr>
        <p:txBody>
          <a:bodyPr wrap="square" lIns="13716" rIns="13716" tIns="0" bIns="0">
            <a:spAutoFit/>
          </a:bodyPr>
          <a:lstStyle/>
          <a:p>
            <a:pPr>
              <a:spcBef>
                <a:spcPts val="0"/>
              </a:spcBef>
              <a:spcAft>
                <a:spcPts val="500"/>
              </a:spcAft>
              <a:defRPr sz="1700" b="0">
                <a:solidFill>
                  <a:srgbClr val="092A20"/>
                </a:solidFill>
                <a:latin typeface="Arial"/>
              </a:defRPr>
            </a:pPr>
            <a:r>
              <a:t>Нет подтвержденного портфеля</a:t>
            </a:r>
          </a:p>
          <a:p>
            <a:pPr>
              <a:spcBef>
                <a:spcPts val="0"/>
              </a:spcBef>
              <a:spcAft>
                <a:spcPts val="500"/>
              </a:spcAft>
              <a:defRPr sz="1700" b="0">
                <a:solidFill>
                  <a:srgbClr val="092A20"/>
                </a:solidFill>
                <a:latin typeface="Arial"/>
              </a:defRPr>
            </a:pPr>
            <a:r>
              <a:t>Одна бригада; экономный ФОТ</a:t>
            </a:r>
          </a:p>
          <a:p>
            <a:pPr>
              <a:spcBef>
                <a:spcPts val="0"/>
              </a:spcBef>
              <a:spcAft>
                <a:spcPts val="500"/>
              </a:spcAft>
              <a:defRPr sz="1700" b="0">
                <a:solidFill>
                  <a:srgbClr val="092A20"/>
                </a:solidFill>
                <a:latin typeface="Arial"/>
              </a:defRPr>
            </a:pPr>
            <a:r>
              <a:t>→ Заявки до закупки, лимит нагрузки</a:t>
            </a:r>
          </a:p>
        </p:txBody>
      </p:sp>
      <p:sp>
        <p:nvSpPr>
          <p:cNvPr id="15" name="Rounded Rectangle 14"/>
          <p:cNvSpPr/>
          <p:nvPr/>
        </p:nvSpPr>
        <p:spPr>
          <a:xfrm>
            <a:off x="502920" y="3758183"/>
            <a:ext cx="5477256" cy="1883664"/>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685800" y="3941063"/>
            <a:ext cx="347472" cy="54864"/>
          </a:xfrm>
          <a:prstGeom prst="rect">
            <a:avLst/>
          </a:prstGeom>
          <a:solidFill>
            <a:srgbClr val="C8F2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04088" y="4142231"/>
            <a:ext cx="5074920" cy="585216"/>
          </a:xfrm>
          <a:prstGeom prst="rect">
            <a:avLst/>
          </a:prstGeom>
          <a:noFill/>
        </p:spPr>
        <p:txBody>
          <a:bodyPr wrap="square" lIns="13716" rIns="13716" tIns="0" bIns="0">
            <a:spAutoFit/>
          </a:bodyPr>
          <a:lstStyle/>
          <a:p>
            <a:pPr>
              <a:spcBef>
                <a:spcPts val="0"/>
              </a:spcBef>
              <a:spcAft>
                <a:spcPts val="500"/>
              </a:spcAft>
              <a:defRPr sz="2000" b="1">
                <a:solidFill>
                  <a:srgbClr val="164C38"/>
                </a:solidFill>
                <a:latin typeface="Arial"/>
              </a:defRPr>
            </a:pPr>
            <a:r>
              <a:t>O / Возможности</a:t>
            </a:r>
          </a:p>
        </p:txBody>
      </p:sp>
      <p:sp>
        <p:nvSpPr>
          <p:cNvPr id="18" name="TextBox 17"/>
          <p:cNvSpPr txBox="1"/>
          <p:nvPr/>
        </p:nvSpPr>
        <p:spPr>
          <a:xfrm>
            <a:off x="704088" y="4745736"/>
            <a:ext cx="5074920" cy="822960"/>
          </a:xfrm>
          <a:prstGeom prst="rect">
            <a:avLst/>
          </a:prstGeom>
          <a:noFill/>
        </p:spPr>
        <p:txBody>
          <a:bodyPr wrap="square" lIns="13716" rIns="13716" tIns="0" bIns="0">
            <a:spAutoFit/>
          </a:bodyPr>
          <a:lstStyle/>
          <a:p>
            <a:pPr>
              <a:spcBef>
                <a:spcPts val="0"/>
              </a:spcBef>
              <a:spcAft>
                <a:spcPts val="500"/>
              </a:spcAft>
              <a:defRPr sz="1700" b="0">
                <a:solidFill>
                  <a:srgbClr val="092A20"/>
                </a:solidFill>
                <a:latin typeface="Arial"/>
              </a:defRPr>
            </a:pPr>
            <a:r>
              <a:t>Локальные задачи хозяйств</a:t>
            </a:r>
          </a:p>
          <a:p>
            <a:pPr>
              <a:spcBef>
                <a:spcPts val="0"/>
              </a:spcBef>
              <a:spcAft>
                <a:spcPts val="500"/>
              </a:spcAft>
              <a:defRPr sz="1700" b="0">
                <a:solidFill>
                  <a:srgbClr val="092A20"/>
                </a:solidFill>
                <a:latin typeface="Arial"/>
              </a:defRPr>
            </a:pPr>
            <a:r>
              <a:t>Гражданская переподготовка</a:t>
            </a:r>
          </a:p>
          <a:p>
            <a:pPr>
              <a:spcBef>
                <a:spcPts val="0"/>
              </a:spcBef>
              <a:spcAft>
                <a:spcPts val="500"/>
              </a:spcAft>
              <a:defRPr sz="1700" b="0">
                <a:solidFill>
                  <a:srgbClr val="092A20"/>
                </a:solidFill>
                <a:latin typeface="Arial"/>
              </a:defRPr>
            </a:pPr>
            <a:r>
              <a:t>→ Платный пилот и наставничество</a:t>
            </a:r>
          </a:p>
        </p:txBody>
      </p:sp>
      <p:sp>
        <p:nvSpPr>
          <p:cNvPr id="19" name="Rounded Rectangle 18"/>
          <p:cNvSpPr/>
          <p:nvPr/>
        </p:nvSpPr>
        <p:spPr>
          <a:xfrm>
            <a:off x="6208776" y="3758183"/>
            <a:ext cx="5477256" cy="1883664"/>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391656" y="3941063"/>
            <a:ext cx="347472" cy="54864"/>
          </a:xfrm>
          <a:prstGeom prst="rect">
            <a:avLst/>
          </a:prstGeom>
          <a:solidFill>
            <a:srgbClr val="C8F2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409944" y="4142231"/>
            <a:ext cx="5074920" cy="585216"/>
          </a:xfrm>
          <a:prstGeom prst="rect">
            <a:avLst/>
          </a:prstGeom>
          <a:noFill/>
        </p:spPr>
        <p:txBody>
          <a:bodyPr wrap="square" lIns="13716" rIns="13716" tIns="0" bIns="0">
            <a:spAutoFit/>
          </a:bodyPr>
          <a:lstStyle/>
          <a:p>
            <a:pPr>
              <a:spcBef>
                <a:spcPts val="0"/>
              </a:spcBef>
              <a:spcAft>
                <a:spcPts val="500"/>
              </a:spcAft>
              <a:defRPr sz="2000" b="1">
                <a:solidFill>
                  <a:srgbClr val="164C38"/>
                </a:solidFill>
                <a:latin typeface="Arial"/>
              </a:defRPr>
            </a:pPr>
            <a:r>
              <a:t>T / Угрозы</a:t>
            </a:r>
          </a:p>
        </p:txBody>
      </p:sp>
      <p:sp>
        <p:nvSpPr>
          <p:cNvPr id="22" name="TextBox 21"/>
          <p:cNvSpPr txBox="1"/>
          <p:nvPr/>
        </p:nvSpPr>
        <p:spPr>
          <a:xfrm>
            <a:off x="6409944" y="4745736"/>
            <a:ext cx="5074920" cy="822960"/>
          </a:xfrm>
          <a:prstGeom prst="rect">
            <a:avLst/>
          </a:prstGeom>
          <a:noFill/>
        </p:spPr>
        <p:txBody>
          <a:bodyPr wrap="square" lIns="13716" rIns="13716" tIns="0" bIns="0">
            <a:spAutoFit/>
          </a:bodyPr>
          <a:lstStyle/>
          <a:p>
            <a:pPr>
              <a:spcBef>
                <a:spcPts val="0"/>
              </a:spcBef>
              <a:spcAft>
                <a:spcPts val="500"/>
              </a:spcAft>
              <a:defRPr sz="1700" b="0">
                <a:solidFill>
                  <a:srgbClr val="092A20"/>
                </a:solidFill>
                <a:latin typeface="Arial"/>
              </a:defRPr>
            </a:pPr>
            <a:r>
              <a:t>Запреты; погода; ценовое давление</a:t>
            </a:r>
          </a:p>
          <a:p>
            <a:pPr>
              <a:spcBef>
                <a:spcPts val="0"/>
              </a:spcBef>
              <a:spcAft>
                <a:spcPts val="500"/>
              </a:spcAft>
              <a:defRPr sz="1700" b="0">
                <a:solidFill>
                  <a:srgbClr val="092A20"/>
                </a:solidFill>
                <a:latin typeface="Arial"/>
              </a:defRPr>
            </a:pPr>
            <a:r>
              <a:t>Просрочка платежей</a:t>
            </a:r>
          </a:p>
          <a:p>
            <a:pPr>
              <a:spcBef>
                <a:spcPts val="0"/>
              </a:spcBef>
              <a:spcAft>
                <a:spcPts val="500"/>
              </a:spcAft>
              <a:defRPr sz="1700" b="0">
                <a:solidFill>
                  <a:srgbClr val="092A20"/>
                </a:solidFill>
                <a:latin typeface="Arial"/>
              </a:defRPr>
            </a:pPr>
            <a:r>
              <a:t>→ No-go, резерв времени и аванс</a:t>
            </a:r>
          </a:p>
        </p:txBody>
      </p:sp>
      <p:sp>
        <p:nvSpPr>
          <p:cNvPr id="23" name="Rounded Rectangle 22"/>
          <p:cNvSpPr/>
          <p:nvPr/>
        </p:nvSpPr>
        <p:spPr>
          <a:xfrm>
            <a:off x="502920" y="5879592"/>
            <a:ext cx="11183112" cy="448056"/>
          </a:xfrm>
          <a:prstGeom prst="roundRect">
            <a:avLst>
              <a:gd name="adj" fmla="val 8000"/>
            </a:avLst>
          </a:prstGeom>
          <a:solidFill>
            <a:srgbClr val="C8F2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58368" y="5961888"/>
            <a:ext cx="10881360" cy="320040"/>
          </a:xfrm>
          <a:prstGeom prst="rect">
            <a:avLst/>
          </a:prstGeom>
          <a:noFill/>
        </p:spPr>
        <p:txBody>
          <a:bodyPr wrap="square" lIns="13716" rIns="13716" tIns="0" bIns="0">
            <a:spAutoFit/>
          </a:bodyPr>
          <a:lstStyle/>
          <a:p>
            <a:pPr>
              <a:spcBef>
                <a:spcPts val="0"/>
              </a:spcBef>
              <a:spcAft>
                <a:spcPts val="500"/>
              </a:spcAft>
              <a:defRPr sz="1600" b="1">
                <a:solidFill>
                  <a:srgbClr val="092A20"/>
                </a:solidFill>
                <a:latin typeface="Arial"/>
              </a:defRPr>
            </a:pPr>
            <a:r>
              <a:t>Стратегия WT: не расширять парк до подтверждения правовой доступности, кадров и экономики</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092A20"/>
        </a:solidFill>
        <a:effectLst/>
      </p:bgPr>
    </p:bg>
    <p:spTree>
      <p:nvGrpSpPr>
        <p:cNvPr id="1" name=""/>
        <p:cNvGrpSpPr/>
        <p:nvPr/>
      </p:nvGrpSpPr>
      <p:grpSpPr/>
      <p:sp>
        <p:nvSpPr>
          <p:cNvPr id="2" name="Rectangle 1"/>
          <p:cNvSpPr/>
          <p:nvPr/>
        </p:nvSpPr>
        <p:spPr>
          <a:xfrm>
            <a:off x="411480" y="393192"/>
            <a:ext cx="91440" cy="448056"/>
          </a:xfrm>
          <a:prstGeom prst="rect">
            <a:avLst/>
          </a:prstGeom>
          <a:solidFill>
            <a:srgbClr val="C8F2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58368" y="356616"/>
            <a:ext cx="10835640" cy="886968"/>
          </a:xfrm>
          <a:prstGeom prst="rect">
            <a:avLst/>
          </a:prstGeom>
          <a:noFill/>
        </p:spPr>
        <p:txBody>
          <a:bodyPr wrap="square" lIns="13716" rIns="13716" tIns="0" bIns="0">
            <a:spAutoFit/>
          </a:bodyPr>
          <a:lstStyle/>
          <a:p>
            <a:pPr>
              <a:spcBef>
                <a:spcPts val="0"/>
              </a:spcBef>
              <a:spcAft>
                <a:spcPts val="500"/>
              </a:spcAft>
              <a:defRPr sz="3000" b="1">
                <a:solidFill>
                  <a:srgbClr val="FFFFFF"/>
                </a:solidFill>
                <a:latin typeface="Arial"/>
              </a:defRPr>
            </a:pPr>
            <a:r>
              <a:t>Пять сил Портера</a:t>
            </a:r>
          </a:p>
        </p:txBody>
      </p:sp>
      <p:sp>
        <p:nvSpPr>
          <p:cNvPr id="4" name="TextBox 3"/>
          <p:cNvSpPr txBox="1"/>
          <p:nvPr/>
        </p:nvSpPr>
        <p:spPr>
          <a:xfrm>
            <a:off x="658368" y="1161288"/>
            <a:ext cx="10881360" cy="329184"/>
          </a:xfrm>
          <a:prstGeom prst="rect">
            <a:avLst/>
          </a:prstGeom>
          <a:noFill/>
        </p:spPr>
        <p:txBody>
          <a:bodyPr wrap="square" lIns="13716" rIns="13716" tIns="0" bIns="0">
            <a:spAutoFit/>
          </a:bodyPr>
          <a:lstStyle/>
          <a:p>
            <a:pPr>
              <a:spcBef>
                <a:spcPts val="0"/>
              </a:spcBef>
              <a:spcAft>
                <a:spcPts val="500"/>
              </a:spcAft>
              <a:defRPr sz="1500" b="0">
                <a:solidFill>
                  <a:srgbClr val="C8F26B"/>
                </a:solidFill>
                <a:latin typeface="Arial"/>
              </a:defRPr>
            </a:pPr>
            <a:r>
              <a:t>[ДОПУЩЕНИЕ]</a:t>
            </a:r>
          </a:p>
        </p:txBody>
      </p:sp>
      <p:sp>
        <p:nvSpPr>
          <p:cNvPr id="5" name="TextBox 4"/>
          <p:cNvSpPr txBox="1"/>
          <p:nvPr/>
        </p:nvSpPr>
        <p:spPr>
          <a:xfrm>
            <a:off x="502920" y="6510528"/>
            <a:ext cx="10058400" cy="210312"/>
          </a:xfrm>
          <a:prstGeom prst="rect">
            <a:avLst/>
          </a:prstGeom>
          <a:noFill/>
        </p:spPr>
        <p:txBody>
          <a:bodyPr wrap="square" lIns="13716" rIns="13716" tIns="0" bIns="0">
            <a:spAutoFit/>
          </a:bodyPr>
          <a:lstStyle/>
          <a:p>
            <a:pPr>
              <a:spcBef>
                <a:spcPts val="0"/>
              </a:spcBef>
              <a:spcAft>
                <a:spcPts val="500"/>
              </a:spcAft>
              <a:defRPr sz="1000" b="0">
                <a:solidFill>
                  <a:srgbClr val="AFC5B8"/>
                </a:solidFill>
                <a:latin typeface="Arial"/>
              </a:defRPr>
            </a:pPr>
            <a:r>
              <a:t>АГРОВЕКТОР / инвестиционная гипотеза / 2027–2031 / редакция 20.10.2026</a:t>
            </a:r>
          </a:p>
        </p:txBody>
      </p:sp>
      <p:sp>
        <p:nvSpPr>
          <p:cNvPr id="6" name="TextBox 5"/>
          <p:cNvSpPr txBox="1"/>
          <p:nvPr/>
        </p:nvSpPr>
        <p:spPr>
          <a:xfrm>
            <a:off x="11018520" y="6483096"/>
            <a:ext cx="731520" cy="256032"/>
          </a:xfrm>
          <a:prstGeom prst="rect">
            <a:avLst/>
          </a:prstGeom>
          <a:noFill/>
        </p:spPr>
        <p:txBody>
          <a:bodyPr wrap="square" lIns="13716" rIns="13716" tIns="0" bIns="0">
            <a:spAutoFit/>
          </a:bodyPr>
          <a:lstStyle/>
          <a:p>
            <a:pPr>
              <a:spcBef>
                <a:spcPts val="0"/>
              </a:spcBef>
              <a:spcAft>
                <a:spcPts val="500"/>
              </a:spcAft>
              <a:defRPr sz="1100" b="1">
                <a:solidFill>
                  <a:srgbClr val="C8F26B"/>
                </a:solidFill>
                <a:latin typeface="Arial"/>
              </a:defRPr>
            </a:pPr>
            <a:r>
              <a:t>08 / 22</a:t>
            </a:r>
          </a:p>
        </p:txBody>
      </p:sp>
      <p:graphicFrame>
        <p:nvGraphicFramePr>
          <p:cNvPr id="7" name="Table 6"/>
          <p:cNvGraphicFramePr>
            <a:graphicFrameLocks noGrp="1"/>
          </p:cNvGraphicFramePr>
          <p:nvPr/>
        </p:nvGraphicFramePr>
        <p:xfrm>
          <a:off x="502920" y="1737360"/>
          <a:ext cx="11183112" cy="3520440"/>
        </p:xfrm>
        <a:graphic>
          <a:graphicData uri="http://schemas.openxmlformats.org/drawingml/2006/table">
            <a:tbl>
              <a:tblPr firstRow="1" bandRow="1">
                <a:tableStyleId>{5C22544A-7EE6-4342-B048-85BDC9FD1C3A}</a:tableStyleId>
              </a:tblPr>
              <a:tblGrid>
                <a:gridCol w="3108960"/>
                <a:gridCol w="2331720"/>
                <a:gridCol w="5742432"/>
              </a:tblGrid>
              <a:tr h="586740">
                <a:tc>
                  <a:txBody>
                    <a:bodyPr/>
                    <a:lstStyle/>
                    <a:p>
                      <a:pPr>
                        <a:spcAft>
                          <a:spcPts val="0"/>
                        </a:spcAft>
                        <a:defRPr sz="1800" b="1">
                          <a:solidFill>
                            <a:srgbClr val="FFFFFF"/>
                          </a:solidFill>
                          <a:latin typeface="Arial"/>
                        </a:defRPr>
                      </a:pPr>
                      <a:r>
                        <a:t>Сила</a:t>
                      </a:r>
                    </a:p>
                  </a:txBody>
                  <a:tcPr marL="91440" marR="91440" marT="45720" marB="45720">
                    <a:solidFill>
                      <a:srgbClr val="164C38"/>
                    </a:solidFill>
                  </a:tcPr>
                </a:tc>
                <a:tc>
                  <a:txBody>
                    <a:bodyPr/>
                    <a:lstStyle/>
                    <a:p>
                      <a:pPr>
                        <a:spcAft>
                          <a:spcPts val="0"/>
                        </a:spcAft>
                        <a:defRPr sz="1800" b="1">
                          <a:solidFill>
                            <a:srgbClr val="FFFFFF"/>
                          </a:solidFill>
                          <a:latin typeface="Arial"/>
                        </a:defRPr>
                      </a:pPr>
                      <a:r>
                        <a:t>Уровень гипотезы</a:t>
                      </a:r>
                    </a:p>
                  </a:txBody>
                  <a:tcPr marL="91440" marR="91440" marT="45720" marB="45720">
                    <a:solidFill>
                      <a:srgbClr val="164C38"/>
                    </a:solidFill>
                  </a:tcPr>
                </a:tc>
                <a:tc>
                  <a:txBody>
                    <a:bodyPr/>
                    <a:lstStyle/>
                    <a:p>
                      <a:pPr>
                        <a:spcAft>
                          <a:spcPts val="0"/>
                        </a:spcAft>
                        <a:defRPr sz="1800" b="1">
                          <a:solidFill>
                            <a:srgbClr val="FFFFFF"/>
                          </a:solidFill>
                          <a:latin typeface="Arial"/>
                        </a:defRPr>
                      </a:pPr>
                      <a:r>
                        <a:t>Ответ проекта / что проверить</a:t>
                      </a:r>
                    </a:p>
                  </a:txBody>
                  <a:tcPr marL="91440" marR="91440" marT="45720" marB="45720">
                    <a:solidFill>
                      <a:srgbClr val="164C38"/>
                    </a:solidFill>
                  </a:tcPr>
                </a:tc>
              </a:tr>
              <a:tr h="586740">
                <a:tc>
                  <a:txBody>
                    <a:bodyPr/>
                    <a:lstStyle/>
                    <a:p>
                      <a:pPr>
                        <a:spcAft>
                          <a:spcPts val="0"/>
                        </a:spcAft>
                        <a:defRPr sz="1800" b="0">
                          <a:solidFill>
                            <a:srgbClr val="092A20"/>
                          </a:solidFill>
                          <a:latin typeface="Arial"/>
                        </a:defRPr>
                      </a:pPr>
                      <a:r>
                        <a:t>Соперничество</a:t>
                      </a:r>
                    </a:p>
                  </a:txBody>
                  <a:tcPr marL="91440" marR="91440" marT="45720" marB="45720">
                    <a:solidFill>
                      <a:srgbClr val="FFFFFF"/>
                    </a:solidFill>
                  </a:tcPr>
                </a:tc>
                <a:tc>
                  <a:txBody>
                    <a:bodyPr/>
                    <a:lstStyle/>
                    <a:p>
                      <a:pPr>
                        <a:spcAft>
                          <a:spcPts val="0"/>
                        </a:spcAft>
                        <a:defRPr sz="1800" b="0">
                          <a:solidFill>
                            <a:srgbClr val="092A20"/>
                          </a:solidFill>
                          <a:latin typeface="Arial"/>
                        </a:defRPr>
                      </a:pPr>
                      <a:r>
                        <a:t>Высокий</a:t>
                      </a:r>
                    </a:p>
                  </a:txBody>
                  <a:tcPr marL="91440" marR="91440" marT="45720" marB="45720">
                    <a:solidFill>
                      <a:srgbClr val="FFFFFF"/>
                    </a:solidFill>
                  </a:tcPr>
                </a:tc>
                <a:tc>
                  <a:txBody>
                    <a:bodyPr/>
                    <a:lstStyle/>
                    <a:p>
                      <a:pPr>
                        <a:spcAft>
                          <a:spcPts val="0"/>
                        </a:spcAft>
                        <a:defRPr sz="1800" b="0">
                          <a:solidFill>
                            <a:srgbClr val="092A20"/>
                          </a:solidFill>
                          <a:latin typeface="Arial"/>
                        </a:defRPr>
                      </a:pPr>
                      <a:r>
                        <a:t>Приемка и сроки; сопоставимые КП</a:t>
                      </a:r>
                    </a:p>
                  </a:txBody>
                  <a:tcPr marL="91440" marR="91440" marT="45720" marB="45720">
                    <a:solidFill>
                      <a:srgbClr val="FFFFFF"/>
                    </a:solidFill>
                  </a:tcPr>
                </a:tc>
              </a:tr>
              <a:tr h="586740">
                <a:tc>
                  <a:txBody>
                    <a:bodyPr/>
                    <a:lstStyle/>
                    <a:p>
                      <a:pPr>
                        <a:spcAft>
                          <a:spcPts val="0"/>
                        </a:spcAft>
                        <a:defRPr sz="1800" b="0">
                          <a:solidFill>
                            <a:srgbClr val="092A20"/>
                          </a:solidFill>
                          <a:latin typeface="Arial"/>
                        </a:defRPr>
                      </a:pPr>
                      <a:r>
                        <a:t>Новые участники</a:t>
                      </a:r>
                    </a:p>
                  </a:txBody>
                  <a:tcPr marL="91440" marR="91440" marT="45720" marB="45720">
                    <a:solidFill>
                      <a:srgbClr val="EFF4EF"/>
                    </a:solidFill>
                  </a:tcPr>
                </a:tc>
                <a:tc>
                  <a:txBody>
                    <a:bodyPr/>
                    <a:lstStyle/>
                    <a:p>
                      <a:pPr>
                        <a:spcAft>
                          <a:spcPts val="0"/>
                        </a:spcAft>
                        <a:defRPr sz="1800" b="0">
                          <a:solidFill>
                            <a:srgbClr val="092A20"/>
                          </a:solidFill>
                          <a:latin typeface="Arial"/>
                        </a:defRPr>
                      </a:pPr>
                      <a:r>
                        <a:t>Средний</a:t>
                      </a:r>
                    </a:p>
                  </a:txBody>
                  <a:tcPr marL="91440" marR="91440" marT="45720" marB="45720">
                    <a:solidFill>
                      <a:srgbClr val="EFF4EF"/>
                    </a:solidFill>
                  </a:tcPr>
                </a:tc>
                <a:tc>
                  <a:txBody>
                    <a:bodyPr/>
                    <a:lstStyle/>
                    <a:p>
                      <a:pPr>
                        <a:spcAft>
                          <a:spcPts val="0"/>
                        </a:spcAft>
                        <a:defRPr sz="1800" b="0">
                          <a:solidFill>
                            <a:srgbClr val="092A20"/>
                          </a:solidFill>
                          <a:latin typeface="Arial"/>
                        </a:defRPr>
                      </a:pPr>
                      <a:r>
                        <a:t>Повторные договоры; стоимость готовности</a:t>
                      </a:r>
                    </a:p>
                  </a:txBody>
                  <a:tcPr marL="91440" marR="91440" marT="45720" marB="45720">
                    <a:solidFill>
                      <a:srgbClr val="EFF4EF"/>
                    </a:solidFill>
                  </a:tcPr>
                </a:tc>
              </a:tr>
              <a:tr h="586740">
                <a:tc>
                  <a:txBody>
                    <a:bodyPr/>
                    <a:lstStyle/>
                    <a:p>
                      <a:pPr>
                        <a:spcAft>
                          <a:spcPts val="0"/>
                        </a:spcAft>
                        <a:defRPr sz="1800" b="0">
                          <a:solidFill>
                            <a:srgbClr val="092A20"/>
                          </a:solidFill>
                          <a:latin typeface="Arial"/>
                        </a:defRPr>
                      </a:pPr>
                      <a:r>
                        <a:t>Заменители</a:t>
                      </a:r>
                    </a:p>
                  </a:txBody>
                  <a:tcPr marL="91440" marR="91440" marT="45720" marB="45720">
                    <a:solidFill>
                      <a:srgbClr val="FFFFFF"/>
                    </a:solidFill>
                  </a:tcPr>
                </a:tc>
                <a:tc>
                  <a:txBody>
                    <a:bodyPr/>
                    <a:lstStyle/>
                    <a:p>
                      <a:pPr>
                        <a:spcAft>
                          <a:spcPts val="0"/>
                        </a:spcAft>
                        <a:defRPr sz="1800" b="0">
                          <a:solidFill>
                            <a:srgbClr val="092A20"/>
                          </a:solidFill>
                          <a:latin typeface="Arial"/>
                        </a:defRPr>
                      </a:pPr>
                      <a:r>
                        <a:t>Высокий</a:t>
                      </a:r>
                    </a:p>
                  </a:txBody>
                  <a:tcPr marL="91440" marR="91440" marT="45720" marB="45720">
                    <a:solidFill>
                      <a:srgbClr val="FFFFFF"/>
                    </a:solidFill>
                  </a:tcPr>
                </a:tc>
                <a:tc>
                  <a:txBody>
                    <a:bodyPr/>
                    <a:lstStyle/>
                    <a:p>
                      <a:pPr>
                        <a:spcAft>
                          <a:spcPts val="0"/>
                        </a:spcAft>
                        <a:defRPr sz="1800" b="0">
                          <a:solidFill>
                            <a:srgbClr val="092A20"/>
                          </a:solidFill>
                          <a:latin typeface="Arial"/>
                        </a:defRPr>
                      </a:pPr>
                      <a:r>
                        <a:t>Отбор задач; полная стоимость альтернатив</a:t>
                      </a:r>
                    </a:p>
                  </a:txBody>
                  <a:tcPr marL="91440" marR="91440" marT="45720" marB="45720">
                    <a:solidFill>
                      <a:srgbClr val="FFFFFF"/>
                    </a:solidFill>
                  </a:tcPr>
                </a:tc>
              </a:tr>
              <a:tr h="586740">
                <a:tc>
                  <a:txBody>
                    <a:bodyPr/>
                    <a:lstStyle/>
                    <a:p>
                      <a:pPr>
                        <a:spcAft>
                          <a:spcPts val="0"/>
                        </a:spcAft>
                        <a:defRPr sz="1800" b="0">
                          <a:solidFill>
                            <a:srgbClr val="092A20"/>
                          </a:solidFill>
                          <a:latin typeface="Arial"/>
                        </a:defRPr>
                      </a:pPr>
                      <a:r>
                        <a:t>Покупатели</a:t>
                      </a:r>
                    </a:p>
                  </a:txBody>
                  <a:tcPr marL="91440" marR="91440" marT="45720" marB="45720">
                    <a:solidFill>
                      <a:srgbClr val="EFF4EF"/>
                    </a:solidFill>
                  </a:tcPr>
                </a:tc>
                <a:tc>
                  <a:txBody>
                    <a:bodyPr/>
                    <a:lstStyle/>
                    <a:p>
                      <a:pPr>
                        <a:spcAft>
                          <a:spcPts val="0"/>
                        </a:spcAft>
                        <a:defRPr sz="1800" b="0">
                          <a:solidFill>
                            <a:srgbClr val="092A20"/>
                          </a:solidFill>
                          <a:latin typeface="Arial"/>
                        </a:defRPr>
                      </a:pPr>
                      <a:r>
                        <a:t>Высокий</a:t>
                      </a:r>
                    </a:p>
                  </a:txBody>
                  <a:tcPr marL="91440" marR="91440" marT="45720" marB="45720">
                    <a:solidFill>
                      <a:srgbClr val="EFF4EF"/>
                    </a:solidFill>
                  </a:tcPr>
                </a:tc>
                <a:tc>
                  <a:txBody>
                    <a:bodyPr/>
                    <a:lstStyle/>
                    <a:p>
                      <a:pPr>
                        <a:spcAft>
                          <a:spcPts val="0"/>
                        </a:spcAft>
                        <a:defRPr sz="1800" b="0">
                          <a:solidFill>
                            <a:srgbClr val="092A20"/>
                          </a:solidFill>
                          <a:latin typeface="Arial"/>
                        </a:defRPr>
                      </a:pPr>
                      <a:r>
                        <a:t>Лимит концентрации; причины отказов</a:t>
                      </a:r>
                    </a:p>
                  </a:txBody>
                  <a:tcPr marL="91440" marR="91440" marT="45720" marB="45720">
                    <a:solidFill>
                      <a:srgbClr val="EFF4EF"/>
                    </a:solidFill>
                  </a:tcPr>
                </a:tc>
              </a:tr>
              <a:tr h="586740">
                <a:tc>
                  <a:txBody>
                    <a:bodyPr/>
                    <a:lstStyle/>
                    <a:p>
                      <a:pPr>
                        <a:spcAft>
                          <a:spcPts val="0"/>
                        </a:spcAft>
                        <a:defRPr sz="1800" b="0">
                          <a:solidFill>
                            <a:srgbClr val="092A20"/>
                          </a:solidFill>
                          <a:latin typeface="Arial"/>
                        </a:defRPr>
                      </a:pPr>
                      <a:r>
                        <a:t>Поставщики</a:t>
                      </a:r>
                    </a:p>
                  </a:txBody>
                  <a:tcPr marL="91440" marR="91440" marT="45720" marB="45720">
                    <a:solidFill>
                      <a:srgbClr val="FFFFFF"/>
                    </a:solidFill>
                  </a:tcPr>
                </a:tc>
                <a:tc>
                  <a:txBody>
                    <a:bodyPr/>
                    <a:lstStyle/>
                    <a:p>
                      <a:pPr>
                        <a:spcAft>
                          <a:spcPts val="0"/>
                        </a:spcAft>
                        <a:defRPr sz="1800" b="0">
                          <a:solidFill>
                            <a:srgbClr val="092A20"/>
                          </a:solidFill>
                          <a:latin typeface="Arial"/>
                        </a:defRPr>
                      </a:pPr>
                      <a:r>
                        <a:t>Средний–высокий</a:t>
                      </a:r>
                    </a:p>
                  </a:txBody>
                  <a:tcPr marL="91440" marR="91440" marT="45720" marB="45720">
                    <a:solidFill>
                      <a:srgbClr val="FFFFFF"/>
                    </a:solidFill>
                  </a:tcPr>
                </a:tc>
                <a:tc>
                  <a:txBody>
                    <a:bodyPr/>
                    <a:lstStyle/>
                    <a:p>
                      <a:pPr>
                        <a:spcAft>
                          <a:spcPts val="0"/>
                        </a:spcAft>
                        <a:defRPr sz="1800" b="0">
                          <a:solidFill>
                            <a:srgbClr val="092A20"/>
                          </a:solidFill>
                          <a:latin typeface="Arial"/>
                        </a:defRPr>
                      </a:pPr>
                      <a:r>
                        <a:t>Запчасти, резерв, сервис; реальные сроки ремонта</a:t>
                      </a:r>
                    </a:p>
                  </a:txBody>
                  <a:tcPr marL="91440" marR="91440" marT="45720" marB="45720">
                    <a:solidFill>
                      <a:srgbClr val="FFFFFF"/>
                    </a:solidFill>
                  </a:tcPr>
                </a:tc>
              </a:tr>
            </a:tbl>
          </a:graphicData>
        </a:graphic>
      </p:graphicFrame>
      <p:sp>
        <p:nvSpPr>
          <p:cNvPr id="8" name="Rounded Rectangle 7"/>
          <p:cNvSpPr/>
          <p:nvPr/>
        </p:nvSpPr>
        <p:spPr>
          <a:xfrm>
            <a:off x="502920" y="5513832"/>
            <a:ext cx="11183112" cy="448056"/>
          </a:xfrm>
          <a:prstGeom prst="roundRect">
            <a:avLst>
              <a:gd name="adj" fmla="val 8000"/>
            </a:avLst>
          </a:prstGeom>
          <a:solidFill>
            <a:srgbClr val="C8F2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58368" y="5596128"/>
            <a:ext cx="10881360" cy="320040"/>
          </a:xfrm>
          <a:prstGeom prst="rect">
            <a:avLst/>
          </a:prstGeom>
          <a:noFill/>
        </p:spPr>
        <p:txBody>
          <a:bodyPr wrap="square" lIns="13716" rIns="13716" tIns="0" bIns="0">
            <a:spAutoFit/>
          </a:bodyPr>
          <a:lstStyle/>
          <a:p>
            <a:pPr>
              <a:spcBef>
                <a:spcPts val="0"/>
              </a:spcBef>
              <a:spcAft>
                <a:spcPts val="500"/>
              </a:spcAft>
              <a:defRPr sz="1600" b="1">
                <a:solidFill>
                  <a:srgbClr val="092A20"/>
                </a:solidFill>
                <a:latin typeface="Arial"/>
              </a:defRPr>
            </a:pPr>
            <a:r>
              <a:t>Устойчивое конкурентное преимущество до полевой проверки не подтверждено</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092A20"/>
        </a:solidFill>
        <a:effectLst/>
      </p:bgPr>
    </p:bg>
    <p:spTree>
      <p:nvGrpSpPr>
        <p:cNvPr id="1" name=""/>
        <p:cNvGrpSpPr/>
        <p:nvPr/>
      </p:nvGrpSpPr>
      <p:grpSpPr/>
      <p:sp>
        <p:nvSpPr>
          <p:cNvPr id="2" name="Rectangle 1"/>
          <p:cNvSpPr/>
          <p:nvPr/>
        </p:nvSpPr>
        <p:spPr>
          <a:xfrm>
            <a:off x="411480" y="393192"/>
            <a:ext cx="91440" cy="448056"/>
          </a:xfrm>
          <a:prstGeom prst="rect">
            <a:avLst/>
          </a:prstGeom>
          <a:solidFill>
            <a:srgbClr val="C8F2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58368" y="356616"/>
            <a:ext cx="10835640" cy="886968"/>
          </a:xfrm>
          <a:prstGeom prst="rect">
            <a:avLst/>
          </a:prstGeom>
          <a:noFill/>
        </p:spPr>
        <p:txBody>
          <a:bodyPr wrap="square" lIns="13716" rIns="13716" tIns="0" bIns="0">
            <a:spAutoFit/>
          </a:bodyPr>
          <a:lstStyle/>
          <a:p>
            <a:pPr>
              <a:spcBef>
                <a:spcPts val="0"/>
              </a:spcBef>
              <a:spcAft>
                <a:spcPts val="500"/>
              </a:spcAft>
              <a:defRPr sz="2600" b="1">
                <a:solidFill>
                  <a:srgbClr val="FFFFFF"/>
                </a:solidFill>
                <a:latin typeface="Arial"/>
              </a:defRPr>
            </a:pPr>
            <a:r>
              <a:t>Организационно-правовая форма и регуляторный контур</a:t>
            </a:r>
          </a:p>
        </p:txBody>
      </p:sp>
      <p:sp>
        <p:nvSpPr>
          <p:cNvPr id="4" name="TextBox 3"/>
          <p:cNvSpPr txBox="1"/>
          <p:nvPr/>
        </p:nvSpPr>
        <p:spPr>
          <a:xfrm>
            <a:off x="658368" y="1161288"/>
            <a:ext cx="10881360" cy="329184"/>
          </a:xfrm>
          <a:prstGeom prst="rect">
            <a:avLst/>
          </a:prstGeom>
          <a:noFill/>
        </p:spPr>
        <p:txBody>
          <a:bodyPr wrap="square" lIns="13716" rIns="13716" tIns="0" bIns="0">
            <a:spAutoFit/>
          </a:bodyPr>
          <a:lstStyle/>
          <a:p>
            <a:pPr>
              <a:spcBef>
                <a:spcPts val="0"/>
              </a:spcBef>
              <a:spcAft>
                <a:spcPts val="500"/>
              </a:spcAft>
              <a:defRPr sz="1500" b="0">
                <a:solidFill>
                  <a:srgbClr val="C8F26B"/>
                </a:solidFill>
                <a:latin typeface="Arial"/>
              </a:defRPr>
            </a:pPr>
            <a:r>
              <a:t>[ДОПУЩЕНИЕ] ООО и порядок проверки; не юридическое заключение</a:t>
            </a:r>
          </a:p>
        </p:txBody>
      </p:sp>
      <p:sp>
        <p:nvSpPr>
          <p:cNvPr id="5" name="TextBox 4"/>
          <p:cNvSpPr txBox="1"/>
          <p:nvPr/>
        </p:nvSpPr>
        <p:spPr>
          <a:xfrm>
            <a:off x="502920" y="6510528"/>
            <a:ext cx="10058400" cy="210312"/>
          </a:xfrm>
          <a:prstGeom prst="rect">
            <a:avLst/>
          </a:prstGeom>
          <a:noFill/>
        </p:spPr>
        <p:txBody>
          <a:bodyPr wrap="square" lIns="13716" rIns="13716" tIns="0" bIns="0">
            <a:spAutoFit/>
          </a:bodyPr>
          <a:lstStyle/>
          <a:p>
            <a:pPr>
              <a:spcBef>
                <a:spcPts val="0"/>
              </a:spcBef>
              <a:spcAft>
                <a:spcPts val="500"/>
              </a:spcAft>
              <a:defRPr sz="1000" b="0">
                <a:solidFill>
                  <a:srgbClr val="AFC5B8"/>
                </a:solidFill>
                <a:latin typeface="Arial"/>
              </a:defRPr>
            </a:pPr>
            <a:r>
              <a:t>АГРОВЕКТОР / инвестиционная гипотеза / 2027–2031 / редакция 20.10.2026</a:t>
            </a:r>
          </a:p>
        </p:txBody>
      </p:sp>
      <p:sp>
        <p:nvSpPr>
          <p:cNvPr id="6" name="TextBox 5"/>
          <p:cNvSpPr txBox="1"/>
          <p:nvPr/>
        </p:nvSpPr>
        <p:spPr>
          <a:xfrm>
            <a:off x="11018520" y="6483096"/>
            <a:ext cx="731520" cy="256032"/>
          </a:xfrm>
          <a:prstGeom prst="rect">
            <a:avLst/>
          </a:prstGeom>
          <a:noFill/>
        </p:spPr>
        <p:txBody>
          <a:bodyPr wrap="square" lIns="13716" rIns="13716" tIns="0" bIns="0">
            <a:spAutoFit/>
          </a:bodyPr>
          <a:lstStyle/>
          <a:p>
            <a:pPr>
              <a:spcBef>
                <a:spcPts val="0"/>
              </a:spcBef>
              <a:spcAft>
                <a:spcPts val="500"/>
              </a:spcAft>
              <a:defRPr sz="1100" b="1">
                <a:solidFill>
                  <a:srgbClr val="C8F26B"/>
                </a:solidFill>
                <a:latin typeface="Arial"/>
              </a:defRPr>
            </a:pPr>
            <a:r>
              <a:t>09 / 22</a:t>
            </a:r>
          </a:p>
        </p:txBody>
      </p:sp>
      <p:sp>
        <p:nvSpPr>
          <p:cNvPr id="7" name="TextBox 6"/>
          <p:cNvSpPr txBox="1"/>
          <p:nvPr/>
        </p:nvSpPr>
        <p:spPr>
          <a:xfrm>
            <a:off x="502920" y="6071616"/>
            <a:ext cx="11155680" cy="402336"/>
          </a:xfrm>
          <a:prstGeom prst="rect">
            <a:avLst/>
          </a:prstGeom>
          <a:noFill/>
        </p:spPr>
        <p:txBody>
          <a:bodyPr wrap="square" lIns="13716" rIns="13716" tIns="0" bIns="0">
            <a:spAutoFit/>
          </a:bodyPr>
          <a:lstStyle/>
          <a:p>
            <a:pPr>
              <a:spcBef>
                <a:spcPts val="0"/>
              </a:spcBef>
              <a:spcAft>
                <a:spcPts val="500"/>
              </a:spcAft>
              <a:defRPr sz="900" b="0">
                <a:solidFill>
                  <a:srgbClr val="AFC5B8"/>
                </a:solidFill>
                <a:latin typeface="Arial"/>
              </a:defRPr>
            </a:pPr>
            <a:r>
              <a:t>Источники: https://base.garant.ru/414829385/ · http://publication.pravo.gov.ru/Document/View/1600202211300002</a:t>
            </a:r>
          </a:p>
        </p:txBody>
      </p:sp>
      <p:sp>
        <p:nvSpPr>
          <p:cNvPr id="8" name="Rounded Rectangle 7"/>
          <p:cNvSpPr/>
          <p:nvPr/>
        </p:nvSpPr>
        <p:spPr>
          <a:xfrm>
            <a:off x="502920" y="1719072"/>
            <a:ext cx="3566160" cy="350215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685800" y="1901952"/>
            <a:ext cx="347472" cy="54864"/>
          </a:xfrm>
          <a:prstGeom prst="rect">
            <a:avLst/>
          </a:prstGeom>
          <a:solidFill>
            <a:srgbClr val="C8F2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04088" y="2103120"/>
            <a:ext cx="3163824" cy="585216"/>
          </a:xfrm>
          <a:prstGeom prst="rect">
            <a:avLst/>
          </a:prstGeom>
          <a:noFill/>
        </p:spPr>
        <p:txBody>
          <a:bodyPr wrap="square" lIns="13716" rIns="13716" tIns="0" bIns="0">
            <a:spAutoFit/>
          </a:bodyPr>
          <a:lstStyle/>
          <a:p>
            <a:pPr>
              <a:spcBef>
                <a:spcPts val="0"/>
              </a:spcBef>
              <a:spcAft>
                <a:spcPts val="500"/>
              </a:spcAft>
              <a:defRPr sz="2000" b="1">
                <a:solidFill>
                  <a:srgbClr val="164C38"/>
                </a:solidFill>
                <a:latin typeface="Arial"/>
              </a:defRPr>
            </a:pPr>
            <a:r>
              <a:t>ООО</a:t>
            </a:r>
          </a:p>
        </p:txBody>
      </p:sp>
      <p:sp>
        <p:nvSpPr>
          <p:cNvPr id="11" name="TextBox 10"/>
          <p:cNvSpPr txBox="1"/>
          <p:nvPr/>
        </p:nvSpPr>
        <p:spPr>
          <a:xfrm>
            <a:off x="704088" y="2706624"/>
            <a:ext cx="3163824" cy="2441448"/>
          </a:xfrm>
          <a:prstGeom prst="rect">
            <a:avLst/>
          </a:prstGeom>
          <a:noFill/>
        </p:spPr>
        <p:txBody>
          <a:bodyPr wrap="square" lIns="13716" rIns="13716" tIns="0" bIns="0">
            <a:spAutoFit/>
          </a:bodyPr>
          <a:lstStyle/>
          <a:p>
            <a:pPr>
              <a:spcBef>
                <a:spcPts val="0"/>
              </a:spcBef>
              <a:spcAft>
                <a:spcPts val="500"/>
              </a:spcAft>
              <a:defRPr sz="1800" b="0">
                <a:solidFill>
                  <a:srgbClr val="092A20"/>
                </a:solidFill>
                <a:latin typeface="Arial"/>
              </a:defRPr>
            </a:pPr>
            <a:r>
              <a:t>Договорный контур и долевое финансирование.</a:t>
            </a:r>
          </a:p>
          <a:p>
            <a:pPr>
              <a:spcBef>
                <a:spcPts val="0"/>
              </a:spcBef>
              <a:spcAft>
                <a:spcPts val="500"/>
              </a:spcAft>
              <a:defRPr sz="1800" b="0">
                <a:solidFill>
                  <a:srgbClr val="092A20"/>
                </a:solidFill>
                <a:latin typeface="Arial"/>
              </a:defRPr>
            </a:pPr>
          </a:p>
          <a:p>
            <a:pPr>
              <a:spcBef>
                <a:spcPts val="0"/>
              </a:spcBef>
              <a:spcAft>
                <a:spcPts val="500"/>
              </a:spcAft>
              <a:defRPr sz="1800" b="0">
                <a:solidFill>
                  <a:srgbClr val="092A20"/>
                </a:solidFill>
                <a:latin typeface="Arial"/>
              </a:defRPr>
            </a:pPr>
            <a:r>
              <a:t>Статус БВС определяется по максимальной взлетной массе, не по массе пустого аппарата.</a:t>
            </a:r>
          </a:p>
        </p:txBody>
      </p:sp>
      <p:graphicFrame>
        <p:nvGraphicFramePr>
          <p:cNvPr id="12" name="Table 11"/>
          <p:cNvGraphicFramePr>
            <a:graphicFrameLocks noGrp="1"/>
          </p:cNvGraphicFramePr>
          <p:nvPr/>
        </p:nvGraphicFramePr>
        <p:xfrm>
          <a:off x="4297680" y="1737360"/>
          <a:ext cx="7388352" cy="3502152"/>
        </p:xfrm>
        <a:graphic>
          <a:graphicData uri="http://schemas.openxmlformats.org/drawingml/2006/table">
            <a:tbl>
              <a:tblPr firstRow="1" bandRow="1">
                <a:tableStyleId>{5C22544A-7EE6-4342-B048-85BDC9FD1C3A}</a:tableStyleId>
              </a:tblPr>
              <a:tblGrid>
                <a:gridCol w="1737360"/>
                <a:gridCol w="5650992"/>
              </a:tblGrid>
              <a:tr h="583692">
                <a:tc>
                  <a:txBody>
                    <a:bodyPr/>
                    <a:lstStyle/>
                    <a:p>
                      <a:pPr>
                        <a:spcAft>
                          <a:spcPts val="0"/>
                        </a:spcAft>
                        <a:defRPr sz="1700" b="1">
                          <a:solidFill>
                            <a:srgbClr val="FFFFFF"/>
                          </a:solidFill>
                          <a:latin typeface="Arial"/>
                        </a:defRPr>
                      </a:pPr>
                      <a:r>
                        <a:t>Отдельный gate</a:t>
                      </a:r>
                    </a:p>
                  </a:txBody>
                  <a:tcPr marL="91440" marR="91440" marT="45720" marB="45720">
                    <a:solidFill>
                      <a:srgbClr val="164C38"/>
                    </a:solidFill>
                  </a:tcPr>
                </a:tc>
                <a:tc>
                  <a:txBody>
                    <a:bodyPr/>
                    <a:lstStyle/>
                    <a:p>
                      <a:pPr>
                        <a:spcAft>
                          <a:spcPts val="0"/>
                        </a:spcAft>
                        <a:defRPr sz="1700" b="1">
                          <a:solidFill>
                            <a:srgbClr val="FFFFFF"/>
                          </a:solidFill>
                          <a:latin typeface="Arial"/>
                        </a:defRPr>
                      </a:pPr>
                      <a:r>
                        <a:t>Что подтвердить до работы</a:t>
                      </a:r>
                    </a:p>
                  </a:txBody>
                  <a:tcPr marL="91440" marR="91440" marT="45720" marB="45720">
                    <a:solidFill>
                      <a:srgbClr val="164C38"/>
                    </a:solidFill>
                  </a:tcPr>
                </a:tc>
              </a:tr>
              <a:tr h="583692">
                <a:tc>
                  <a:txBody>
                    <a:bodyPr/>
                    <a:lstStyle/>
                    <a:p>
                      <a:pPr>
                        <a:spcAft>
                          <a:spcPts val="0"/>
                        </a:spcAft>
                        <a:defRPr sz="1700" b="0">
                          <a:solidFill>
                            <a:srgbClr val="092A20"/>
                          </a:solidFill>
                          <a:latin typeface="Arial"/>
                        </a:defRPr>
                      </a:pPr>
                      <a:r>
                        <a:t>БВС</a:t>
                      </a:r>
                    </a:p>
                  </a:txBody>
                  <a:tcPr marL="91440" marR="91440" marT="45720" marB="45720">
                    <a:solidFill>
                      <a:srgbClr val="FFFFFF"/>
                    </a:solidFill>
                  </a:tcPr>
                </a:tc>
                <a:tc>
                  <a:txBody>
                    <a:bodyPr/>
                    <a:lstStyle/>
                    <a:p>
                      <a:pPr>
                        <a:spcAft>
                          <a:spcPts val="0"/>
                        </a:spcAft>
                        <a:defRPr sz="1700" b="0">
                          <a:solidFill>
                            <a:srgbClr val="092A20"/>
                          </a:solidFill>
                          <a:latin typeface="Arial"/>
                        </a:defRPr>
                      </a:pPr>
                      <a:r>
                        <a:t>Учет / регистрация и применимые документы</a:t>
                      </a:r>
                    </a:p>
                  </a:txBody>
                  <a:tcPr marL="91440" marR="91440" marT="45720" marB="45720">
                    <a:solidFill>
                      <a:srgbClr val="FFFFFF"/>
                    </a:solidFill>
                  </a:tcPr>
                </a:tc>
              </a:tr>
              <a:tr h="583692">
                <a:tc>
                  <a:txBody>
                    <a:bodyPr/>
                    <a:lstStyle/>
                    <a:p>
                      <a:pPr>
                        <a:spcAft>
                          <a:spcPts val="0"/>
                        </a:spcAft>
                        <a:defRPr sz="1700" b="0">
                          <a:solidFill>
                            <a:srgbClr val="092A20"/>
                          </a:solidFill>
                          <a:latin typeface="Arial"/>
                        </a:defRPr>
                      </a:pPr>
                      <a:r>
                        <a:t>Полет</a:t>
                      </a:r>
                    </a:p>
                  </a:txBody>
                  <a:tcPr marL="91440" marR="91440" marT="45720" marB="45720">
                    <a:solidFill>
                      <a:srgbClr val="EFF4EF"/>
                    </a:solidFill>
                  </a:tcPr>
                </a:tc>
                <a:tc>
                  <a:txBody>
                    <a:bodyPr/>
                    <a:lstStyle/>
                    <a:p>
                      <a:pPr>
                        <a:spcAft>
                          <a:spcPts val="0"/>
                        </a:spcAft>
                        <a:defRPr sz="1700" b="0">
                          <a:solidFill>
                            <a:srgbClr val="092A20"/>
                          </a:solidFill>
                          <a:latin typeface="Arial"/>
                        </a:defRPr>
                      </a:pPr>
                      <a:r>
                        <a:t>Территория, маршрут и условия использования</a:t>
                      </a:r>
                    </a:p>
                  </a:txBody>
                  <a:tcPr marL="91440" marR="91440" marT="45720" marB="45720">
                    <a:solidFill>
                      <a:srgbClr val="EFF4EF"/>
                    </a:solidFill>
                  </a:tcPr>
                </a:tc>
              </a:tr>
              <a:tr h="583692">
                <a:tc>
                  <a:txBody>
                    <a:bodyPr/>
                    <a:lstStyle/>
                    <a:p>
                      <a:pPr>
                        <a:spcAft>
                          <a:spcPts val="0"/>
                        </a:spcAft>
                        <a:defRPr sz="1700" b="0">
                          <a:solidFill>
                            <a:srgbClr val="092A20"/>
                          </a:solidFill>
                          <a:latin typeface="Arial"/>
                        </a:defRPr>
                      </a:pPr>
                      <a:r>
                        <a:t>АХР</a:t>
                      </a:r>
                    </a:p>
                  </a:txBody>
                  <a:tcPr marL="91440" marR="91440" marT="45720" marB="45720">
                    <a:solidFill>
                      <a:srgbClr val="FFFFFF"/>
                    </a:solidFill>
                  </a:tcPr>
                </a:tc>
                <a:tc>
                  <a:txBody>
                    <a:bodyPr/>
                    <a:lstStyle/>
                    <a:p>
                      <a:pPr>
                        <a:spcAft>
                          <a:spcPts val="0"/>
                        </a:spcAft>
                        <a:defRPr sz="1700" b="0">
                          <a:solidFill>
                            <a:srgbClr val="092A20"/>
                          </a:solidFill>
                          <a:latin typeface="Arial"/>
                        </a:defRPr>
                      </a:pPr>
                      <a:r>
                        <a:t>Правомерность конкретной схемы выполнения</a:t>
                      </a:r>
                    </a:p>
                  </a:txBody>
                  <a:tcPr marL="91440" marR="91440" marT="45720" marB="45720">
                    <a:solidFill>
                      <a:srgbClr val="FFFFFF"/>
                    </a:solidFill>
                  </a:tcPr>
                </a:tc>
              </a:tr>
              <a:tr h="583692">
                <a:tc>
                  <a:txBody>
                    <a:bodyPr/>
                    <a:lstStyle/>
                    <a:p>
                      <a:pPr>
                        <a:spcAft>
                          <a:spcPts val="0"/>
                        </a:spcAft>
                        <a:defRPr sz="1700" b="0">
                          <a:solidFill>
                            <a:srgbClr val="092A20"/>
                          </a:solidFill>
                          <a:latin typeface="Arial"/>
                        </a:defRPr>
                      </a:pPr>
                      <a:r>
                        <a:t>Препарат</a:t>
                      </a:r>
                    </a:p>
                  </a:txBody>
                  <a:tcPr marL="91440" marR="91440" marT="45720" marB="45720">
                    <a:solidFill>
                      <a:srgbClr val="EFF4EF"/>
                    </a:solidFill>
                  </a:tcPr>
                </a:tc>
                <a:tc>
                  <a:txBody>
                    <a:bodyPr/>
                    <a:lstStyle/>
                    <a:p>
                      <a:pPr>
                        <a:spcAft>
                          <a:spcPts val="0"/>
                        </a:spcAft>
                        <a:defRPr sz="1700" b="0">
                          <a:solidFill>
                            <a:srgbClr val="092A20"/>
                          </a:solidFill>
                          <a:latin typeface="Arial"/>
                        </a:defRPr>
                      </a:pPr>
                      <a:r>
                        <a:t>Допустимость технологии и регламент применения</a:t>
                      </a:r>
                    </a:p>
                  </a:txBody>
                  <a:tcPr marL="91440" marR="91440" marT="45720" marB="45720">
                    <a:solidFill>
                      <a:srgbClr val="EFF4EF"/>
                    </a:solidFill>
                  </a:tcPr>
                </a:tc>
              </a:tr>
              <a:tr h="583692">
                <a:tc>
                  <a:txBody>
                    <a:bodyPr/>
                    <a:lstStyle/>
                    <a:p>
                      <a:pPr>
                        <a:spcAft>
                          <a:spcPts val="0"/>
                        </a:spcAft>
                        <a:defRPr sz="1700" b="0">
                          <a:solidFill>
                            <a:srgbClr val="092A20"/>
                          </a:solidFill>
                          <a:latin typeface="Arial"/>
                        </a:defRPr>
                      </a:pPr>
                      <a:r>
                        <a:t>Регион</a:t>
                      </a:r>
                    </a:p>
                  </a:txBody>
                  <a:tcPr marL="91440" marR="91440" marT="45720" marB="45720">
                    <a:solidFill>
                      <a:srgbClr val="FFFFFF"/>
                    </a:solidFill>
                  </a:tcPr>
                </a:tc>
                <a:tc>
                  <a:txBody>
                    <a:bodyPr/>
                    <a:lstStyle/>
                    <a:p>
                      <a:pPr>
                        <a:spcAft>
                          <a:spcPts val="0"/>
                        </a:spcAft>
                        <a:defRPr sz="1700" b="0">
                          <a:solidFill>
                            <a:srgbClr val="092A20"/>
                          </a:solidFill>
                          <a:latin typeface="Arial"/>
                        </a:defRPr>
                      </a:pPr>
                      <a:r>
                        <a:t>Действующий запрет / исключения, если применимы</a:t>
                      </a:r>
                    </a:p>
                  </a:txBody>
                  <a:tcPr marL="91440" marR="91440" marT="45720" marB="45720">
                    <a:solidFill>
                      <a:srgbClr val="FFFFFF"/>
                    </a:solidFill>
                  </a:tcPr>
                </a:tc>
              </a:tr>
            </a:tbl>
          </a:graphicData>
        </a:graphic>
      </p:graphicFrame>
      <p:sp>
        <p:nvSpPr>
          <p:cNvPr id="13" name="Rounded Rectangle 12"/>
          <p:cNvSpPr/>
          <p:nvPr/>
        </p:nvSpPr>
        <p:spPr>
          <a:xfrm>
            <a:off x="502920" y="5513832"/>
            <a:ext cx="11183112" cy="448056"/>
          </a:xfrm>
          <a:prstGeom prst="roundRect">
            <a:avLst>
              <a:gd name="adj" fmla="val 8000"/>
            </a:avLst>
          </a:prstGeom>
          <a:solidFill>
            <a:srgbClr val="C8F2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58368" y="5596128"/>
            <a:ext cx="10881360" cy="320040"/>
          </a:xfrm>
          <a:prstGeom prst="rect">
            <a:avLst/>
          </a:prstGeom>
          <a:noFill/>
        </p:spPr>
        <p:txBody>
          <a:bodyPr wrap="square" lIns="13716" rIns="13716" tIns="0" bIns="0">
            <a:spAutoFit/>
          </a:bodyPr>
          <a:lstStyle/>
          <a:p>
            <a:pPr>
              <a:spcBef>
                <a:spcPts val="0"/>
              </a:spcBef>
              <a:spcAft>
                <a:spcPts val="500"/>
              </a:spcAft>
              <a:defRPr sz="1600" b="1">
                <a:solidFill>
                  <a:srgbClr val="092A20"/>
                </a:solidFill>
                <a:latin typeface="Arial"/>
              </a:defRPr>
            </a:pPr>
            <a:r>
              <a:t>ФАП-303 прочитан во вторичном тексте; режим Татарстана и санитарные условия требуют сверки</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092A20"/>
        </a:solidFill>
        <a:effectLst/>
      </p:bgPr>
    </p:bg>
    <p:spTree>
      <p:nvGrpSpPr>
        <p:cNvPr id="1" name=""/>
        <p:cNvGrpSpPr/>
        <p:nvPr/>
      </p:nvGrpSpPr>
      <p:grpSpPr/>
      <p:sp>
        <p:nvSpPr>
          <p:cNvPr id="2" name="Rectangle 1"/>
          <p:cNvSpPr/>
          <p:nvPr/>
        </p:nvSpPr>
        <p:spPr>
          <a:xfrm>
            <a:off x="411480" y="393192"/>
            <a:ext cx="91440" cy="448056"/>
          </a:xfrm>
          <a:prstGeom prst="rect">
            <a:avLst/>
          </a:prstGeom>
          <a:solidFill>
            <a:srgbClr val="C8F2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58368" y="356616"/>
            <a:ext cx="10835640" cy="886968"/>
          </a:xfrm>
          <a:prstGeom prst="rect">
            <a:avLst/>
          </a:prstGeom>
          <a:noFill/>
        </p:spPr>
        <p:txBody>
          <a:bodyPr wrap="square" lIns="13716" rIns="13716" tIns="0" bIns="0">
            <a:spAutoFit/>
          </a:bodyPr>
          <a:lstStyle/>
          <a:p>
            <a:pPr>
              <a:spcBef>
                <a:spcPts val="0"/>
              </a:spcBef>
              <a:spcAft>
                <a:spcPts val="500"/>
              </a:spcAft>
              <a:defRPr sz="3000" b="1">
                <a:solidFill>
                  <a:srgbClr val="FFFFFF"/>
                </a:solidFill>
                <a:latin typeface="Arial"/>
              </a:defRPr>
            </a:pPr>
            <a:r>
              <a:t>Стейкхолдеры: власть и интерес</a:t>
            </a:r>
          </a:p>
        </p:txBody>
      </p:sp>
      <p:sp>
        <p:nvSpPr>
          <p:cNvPr id="4" name="TextBox 3"/>
          <p:cNvSpPr txBox="1"/>
          <p:nvPr/>
        </p:nvSpPr>
        <p:spPr>
          <a:xfrm>
            <a:off x="658368" y="1161288"/>
            <a:ext cx="10881360" cy="329184"/>
          </a:xfrm>
          <a:prstGeom prst="rect">
            <a:avLst/>
          </a:prstGeom>
          <a:noFill/>
        </p:spPr>
        <p:txBody>
          <a:bodyPr wrap="square" lIns="13716" rIns="13716" tIns="0" bIns="0">
            <a:spAutoFit/>
          </a:bodyPr>
          <a:lstStyle/>
          <a:p>
            <a:pPr>
              <a:spcBef>
                <a:spcPts val="0"/>
              </a:spcBef>
              <a:spcAft>
                <a:spcPts val="500"/>
              </a:spcAft>
              <a:defRPr sz="1500" b="0">
                <a:solidFill>
                  <a:srgbClr val="C8F26B"/>
                </a:solidFill>
                <a:latin typeface="Arial"/>
              </a:defRPr>
            </a:pPr>
            <a:r>
              <a:t>[ДОПУЩЕНИЕ]</a:t>
            </a:r>
          </a:p>
        </p:txBody>
      </p:sp>
      <p:sp>
        <p:nvSpPr>
          <p:cNvPr id="5" name="TextBox 4"/>
          <p:cNvSpPr txBox="1"/>
          <p:nvPr/>
        </p:nvSpPr>
        <p:spPr>
          <a:xfrm>
            <a:off x="502920" y="6510528"/>
            <a:ext cx="10058400" cy="210312"/>
          </a:xfrm>
          <a:prstGeom prst="rect">
            <a:avLst/>
          </a:prstGeom>
          <a:noFill/>
        </p:spPr>
        <p:txBody>
          <a:bodyPr wrap="square" lIns="13716" rIns="13716" tIns="0" bIns="0">
            <a:spAutoFit/>
          </a:bodyPr>
          <a:lstStyle/>
          <a:p>
            <a:pPr>
              <a:spcBef>
                <a:spcPts val="0"/>
              </a:spcBef>
              <a:spcAft>
                <a:spcPts val="500"/>
              </a:spcAft>
              <a:defRPr sz="1000" b="0">
                <a:solidFill>
                  <a:srgbClr val="AFC5B8"/>
                </a:solidFill>
                <a:latin typeface="Arial"/>
              </a:defRPr>
            </a:pPr>
            <a:r>
              <a:t>АГРОВЕКТОР / инвестиционная гипотеза / 2027–2031 / редакция 20.10.2026</a:t>
            </a:r>
          </a:p>
        </p:txBody>
      </p:sp>
      <p:sp>
        <p:nvSpPr>
          <p:cNvPr id="6" name="TextBox 5"/>
          <p:cNvSpPr txBox="1"/>
          <p:nvPr/>
        </p:nvSpPr>
        <p:spPr>
          <a:xfrm>
            <a:off x="11018520" y="6483096"/>
            <a:ext cx="731520" cy="256032"/>
          </a:xfrm>
          <a:prstGeom prst="rect">
            <a:avLst/>
          </a:prstGeom>
          <a:noFill/>
        </p:spPr>
        <p:txBody>
          <a:bodyPr wrap="square" lIns="13716" rIns="13716" tIns="0" bIns="0">
            <a:spAutoFit/>
          </a:bodyPr>
          <a:lstStyle/>
          <a:p>
            <a:pPr>
              <a:spcBef>
                <a:spcPts val="0"/>
              </a:spcBef>
              <a:spcAft>
                <a:spcPts val="500"/>
              </a:spcAft>
              <a:defRPr sz="1100" b="1">
                <a:solidFill>
                  <a:srgbClr val="C8F26B"/>
                </a:solidFill>
                <a:latin typeface="Arial"/>
              </a:defRPr>
            </a:pPr>
            <a:r>
              <a:t>10 / 22</a:t>
            </a:r>
          </a:p>
        </p:txBody>
      </p:sp>
      <p:sp>
        <p:nvSpPr>
          <p:cNvPr id="7" name="Rounded Rectangle 6"/>
          <p:cNvSpPr/>
          <p:nvPr/>
        </p:nvSpPr>
        <p:spPr>
          <a:xfrm>
            <a:off x="502920" y="1719072"/>
            <a:ext cx="5477256" cy="1883664"/>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685800" y="1901952"/>
            <a:ext cx="347472" cy="54864"/>
          </a:xfrm>
          <a:prstGeom prst="rect">
            <a:avLst/>
          </a:prstGeom>
          <a:solidFill>
            <a:srgbClr val="C8F2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04088" y="2103120"/>
            <a:ext cx="5074920" cy="585216"/>
          </a:xfrm>
          <a:prstGeom prst="rect">
            <a:avLst/>
          </a:prstGeom>
          <a:noFill/>
        </p:spPr>
        <p:txBody>
          <a:bodyPr wrap="square" lIns="13716" rIns="13716" tIns="0" bIns="0">
            <a:spAutoFit/>
          </a:bodyPr>
          <a:lstStyle/>
          <a:p>
            <a:pPr>
              <a:spcBef>
                <a:spcPts val="0"/>
              </a:spcBef>
              <a:spcAft>
                <a:spcPts val="500"/>
              </a:spcAft>
              <a:defRPr sz="2000" b="1">
                <a:solidFill>
                  <a:srgbClr val="164C38"/>
                </a:solidFill>
                <a:latin typeface="Arial"/>
              </a:defRPr>
            </a:pPr>
            <a:r>
              <a:t>Высокая власть / высокий интерес</a:t>
            </a:r>
          </a:p>
        </p:txBody>
      </p:sp>
      <p:sp>
        <p:nvSpPr>
          <p:cNvPr id="10" name="TextBox 9"/>
          <p:cNvSpPr txBox="1"/>
          <p:nvPr/>
        </p:nvSpPr>
        <p:spPr>
          <a:xfrm>
            <a:off x="704088" y="2706624"/>
            <a:ext cx="5074920" cy="822960"/>
          </a:xfrm>
          <a:prstGeom prst="rect">
            <a:avLst/>
          </a:prstGeom>
          <a:noFill/>
        </p:spPr>
        <p:txBody>
          <a:bodyPr wrap="square" lIns="13716" rIns="13716" tIns="0" bIns="0">
            <a:spAutoFit/>
          </a:bodyPr>
          <a:lstStyle/>
          <a:p>
            <a:pPr>
              <a:spcBef>
                <a:spcPts val="0"/>
              </a:spcBef>
              <a:spcAft>
                <a:spcPts val="500"/>
              </a:spcAft>
              <a:defRPr sz="1600" b="0">
                <a:solidFill>
                  <a:srgbClr val="092A20"/>
                </a:solidFill>
                <a:latin typeface="Arial"/>
              </a:defRPr>
            </a:pPr>
            <a:r>
              <a:t>Учредитель, инвестор, клиенты и агрономы</a:t>
            </a:r>
          </a:p>
          <a:p>
            <a:pPr>
              <a:spcBef>
                <a:spcPts val="0"/>
              </a:spcBef>
              <a:spcAft>
                <a:spcPts val="500"/>
              </a:spcAft>
              <a:defRPr sz="1600" b="0">
                <a:solidFill>
                  <a:srgbClr val="092A20"/>
                </a:solidFill>
                <a:latin typeface="Arial"/>
              </a:defRPr>
            </a:pPr>
            <a:r>
              <a:t>→ План-факт; договоры; приемка</a:t>
            </a:r>
          </a:p>
          <a:p>
            <a:pPr>
              <a:spcBef>
                <a:spcPts val="0"/>
              </a:spcBef>
              <a:spcAft>
                <a:spcPts val="500"/>
              </a:spcAft>
              <a:defRPr sz="1600" b="0">
                <a:solidFill>
                  <a:srgbClr val="092A20"/>
                </a:solidFill>
                <a:latin typeface="Arial"/>
              </a:defRPr>
            </a:pPr>
            <a:r>
              <a:t>Владелец: директор</a:t>
            </a:r>
          </a:p>
        </p:txBody>
      </p:sp>
      <p:sp>
        <p:nvSpPr>
          <p:cNvPr id="11" name="Rounded Rectangle 10"/>
          <p:cNvSpPr/>
          <p:nvPr/>
        </p:nvSpPr>
        <p:spPr>
          <a:xfrm>
            <a:off x="6208776" y="1719072"/>
            <a:ext cx="5477256" cy="1883664"/>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6391656" y="1901952"/>
            <a:ext cx="347472" cy="54864"/>
          </a:xfrm>
          <a:prstGeom prst="rect">
            <a:avLst/>
          </a:prstGeom>
          <a:solidFill>
            <a:srgbClr val="C8F2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9944" y="2103120"/>
            <a:ext cx="5074920" cy="585216"/>
          </a:xfrm>
          <a:prstGeom prst="rect">
            <a:avLst/>
          </a:prstGeom>
          <a:noFill/>
        </p:spPr>
        <p:txBody>
          <a:bodyPr wrap="square" lIns="13716" rIns="13716" tIns="0" bIns="0">
            <a:spAutoFit/>
          </a:bodyPr>
          <a:lstStyle/>
          <a:p>
            <a:pPr>
              <a:spcBef>
                <a:spcPts val="0"/>
              </a:spcBef>
              <a:spcAft>
                <a:spcPts val="500"/>
              </a:spcAft>
              <a:defRPr sz="2000" b="1">
                <a:solidFill>
                  <a:srgbClr val="164C38"/>
                </a:solidFill>
                <a:latin typeface="Arial"/>
              </a:defRPr>
            </a:pPr>
            <a:r>
              <a:t>Высокая власть / переменный интерес</a:t>
            </a:r>
          </a:p>
        </p:txBody>
      </p:sp>
      <p:sp>
        <p:nvSpPr>
          <p:cNvPr id="14" name="TextBox 13"/>
          <p:cNvSpPr txBox="1"/>
          <p:nvPr/>
        </p:nvSpPr>
        <p:spPr>
          <a:xfrm>
            <a:off x="6409944" y="2706624"/>
            <a:ext cx="5074920" cy="822960"/>
          </a:xfrm>
          <a:prstGeom prst="rect">
            <a:avLst/>
          </a:prstGeom>
          <a:noFill/>
        </p:spPr>
        <p:txBody>
          <a:bodyPr wrap="square" lIns="13716" rIns="13716" tIns="0" bIns="0">
            <a:spAutoFit/>
          </a:bodyPr>
          <a:lstStyle/>
          <a:p>
            <a:pPr>
              <a:spcBef>
                <a:spcPts val="0"/>
              </a:spcBef>
              <a:spcAft>
                <a:spcPts val="500"/>
              </a:spcAft>
              <a:defRPr sz="1600" b="0">
                <a:solidFill>
                  <a:srgbClr val="092A20"/>
                </a:solidFill>
                <a:latin typeface="Arial"/>
              </a:defRPr>
            </a:pPr>
            <a:r>
              <a:t>Уполномоченные органы</a:t>
            </a:r>
          </a:p>
          <a:p>
            <a:pPr>
              <a:spcBef>
                <a:spcPts val="0"/>
              </a:spcBef>
              <a:spcAft>
                <a:spcPts val="500"/>
              </a:spcAft>
              <a:defRPr sz="1600" b="0">
                <a:solidFill>
                  <a:srgbClr val="092A20"/>
                </a:solidFill>
                <a:latin typeface="Arial"/>
              </a:defRPr>
            </a:pPr>
            <a:r>
              <a:t>→ Документы по конкретной территории</a:t>
            </a:r>
          </a:p>
          <a:p>
            <a:pPr>
              <a:spcBef>
                <a:spcPts val="0"/>
              </a:spcBef>
              <a:spcAft>
                <a:spcPts val="500"/>
              </a:spcAft>
              <a:defRPr sz="1600" b="0">
                <a:solidFill>
                  <a:srgbClr val="092A20"/>
                </a:solidFill>
                <a:latin typeface="Arial"/>
              </a:defRPr>
            </a:pPr>
            <a:r>
              <a:t>Владелец: внешний юрист</a:t>
            </a:r>
          </a:p>
        </p:txBody>
      </p:sp>
      <p:sp>
        <p:nvSpPr>
          <p:cNvPr id="15" name="Rounded Rectangle 14"/>
          <p:cNvSpPr/>
          <p:nvPr/>
        </p:nvSpPr>
        <p:spPr>
          <a:xfrm>
            <a:off x="502920" y="3758183"/>
            <a:ext cx="5477256" cy="1883664"/>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685800" y="3941063"/>
            <a:ext cx="347472" cy="54864"/>
          </a:xfrm>
          <a:prstGeom prst="rect">
            <a:avLst/>
          </a:prstGeom>
          <a:solidFill>
            <a:srgbClr val="C8F2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04088" y="4142231"/>
            <a:ext cx="5074920" cy="585216"/>
          </a:xfrm>
          <a:prstGeom prst="rect">
            <a:avLst/>
          </a:prstGeom>
          <a:noFill/>
        </p:spPr>
        <p:txBody>
          <a:bodyPr wrap="square" lIns="13716" rIns="13716" tIns="0" bIns="0">
            <a:spAutoFit/>
          </a:bodyPr>
          <a:lstStyle/>
          <a:p>
            <a:pPr>
              <a:spcBef>
                <a:spcPts val="0"/>
              </a:spcBef>
              <a:spcAft>
                <a:spcPts val="500"/>
              </a:spcAft>
              <a:defRPr sz="2000" b="1">
                <a:solidFill>
                  <a:srgbClr val="164C38"/>
                </a:solidFill>
                <a:latin typeface="Arial"/>
              </a:defRPr>
            </a:pPr>
            <a:r>
              <a:t>Средняя власть / высокий интерес</a:t>
            </a:r>
          </a:p>
        </p:txBody>
      </p:sp>
      <p:sp>
        <p:nvSpPr>
          <p:cNvPr id="18" name="TextBox 17"/>
          <p:cNvSpPr txBox="1"/>
          <p:nvPr/>
        </p:nvSpPr>
        <p:spPr>
          <a:xfrm>
            <a:off x="704088" y="4745736"/>
            <a:ext cx="5074920" cy="822960"/>
          </a:xfrm>
          <a:prstGeom prst="rect">
            <a:avLst/>
          </a:prstGeom>
          <a:noFill/>
        </p:spPr>
        <p:txBody>
          <a:bodyPr wrap="square" lIns="13716" rIns="13716" tIns="0" bIns="0">
            <a:spAutoFit/>
          </a:bodyPr>
          <a:lstStyle/>
          <a:p>
            <a:pPr>
              <a:spcBef>
                <a:spcPts val="0"/>
              </a:spcBef>
              <a:spcAft>
                <a:spcPts val="500"/>
              </a:spcAft>
              <a:defRPr sz="1600" b="0">
                <a:solidFill>
                  <a:srgbClr val="092A20"/>
                </a:solidFill>
                <a:latin typeface="Arial"/>
              </a:defRPr>
            </a:pPr>
            <a:r>
              <a:t>Операторы, учебный партнер, агроном</a:t>
            </a:r>
          </a:p>
          <a:p>
            <a:pPr>
              <a:spcBef>
                <a:spcPts val="0"/>
              </a:spcBef>
              <a:spcAft>
                <a:spcPts val="500"/>
              </a:spcAft>
              <a:defRPr sz="1600" b="0">
                <a:solidFill>
                  <a:srgbClr val="092A20"/>
                </a:solidFill>
                <a:latin typeface="Arial"/>
              </a:defRPr>
            </a:pPr>
            <a:r>
              <a:t>→ Инструктаж, нагрузка, компетенции</a:t>
            </a:r>
          </a:p>
          <a:p>
            <a:pPr>
              <a:spcBef>
                <a:spcPts val="0"/>
              </a:spcBef>
              <a:spcAft>
                <a:spcPts val="500"/>
              </a:spcAft>
              <a:defRPr sz="1600" b="0">
                <a:solidFill>
                  <a:srgbClr val="092A20"/>
                </a:solidFill>
                <a:latin typeface="Arial"/>
              </a:defRPr>
            </a:pPr>
            <a:r>
              <a:t>Владелец: операционный руководитель</a:t>
            </a:r>
          </a:p>
        </p:txBody>
      </p:sp>
      <p:sp>
        <p:nvSpPr>
          <p:cNvPr id="19" name="Rounded Rectangle 18"/>
          <p:cNvSpPr/>
          <p:nvPr/>
        </p:nvSpPr>
        <p:spPr>
          <a:xfrm>
            <a:off x="6208776" y="3758183"/>
            <a:ext cx="5477256" cy="1883664"/>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391656" y="3941063"/>
            <a:ext cx="347472" cy="54864"/>
          </a:xfrm>
          <a:prstGeom prst="rect">
            <a:avLst/>
          </a:prstGeom>
          <a:solidFill>
            <a:srgbClr val="C8F2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409944" y="4142231"/>
            <a:ext cx="5074920" cy="585216"/>
          </a:xfrm>
          <a:prstGeom prst="rect">
            <a:avLst/>
          </a:prstGeom>
          <a:noFill/>
        </p:spPr>
        <p:txBody>
          <a:bodyPr wrap="square" lIns="13716" rIns="13716" tIns="0" bIns="0">
            <a:spAutoFit/>
          </a:bodyPr>
          <a:lstStyle/>
          <a:p>
            <a:pPr>
              <a:spcBef>
                <a:spcPts val="0"/>
              </a:spcBef>
              <a:spcAft>
                <a:spcPts val="500"/>
              </a:spcAft>
              <a:defRPr sz="2000" b="1">
                <a:solidFill>
                  <a:srgbClr val="164C38"/>
                </a:solidFill>
                <a:latin typeface="Arial"/>
              </a:defRPr>
            </a:pPr>
            <a:r>
              <a:t>Низкая власть / высокий или переменный</a:t>
            </a:r>
          </a:p>
        </p:txBody>
      </p:sp>
      <p:sp>
        <p:nvSpPr>
          <p:cNvPr id="22" name="TextBox 21"/>
          <p:cNvSpPr txBox="1"/>
          <p:nvPr/>
        </p:nvSpPr>
        <p:spPr>
          <a:xfrm>
            <a:off x="6409944" y="4745736"/>
            <a:ext cx="5074920" cy="822960"/>
          </a:xfrm>
          <a:prstGeom prst="rect">
            <a:avLst/>
          </a:prstGeom>
          <a:noFill/>
        </p:spPr>
        <p:txBody>
          <a:bodyPr wrap="square" lIns="13716" rIns="13716" tIns="0" bIns="0">
            <a:spAutoFit/>
          </a:bodyPr>
          <a:lstStyle/>
          <a:p>
            <a:pPr>
              <a:spcBef>
                <a:spcPts val="0"/>
              </a:spcBef>
              <a:spcAft>
                <a:spcPts val="500"/>
              </a:spcAft>
              <a:defRPr sz="1600" b="0">
                <a:solidFill>
                  <a:srgbClr val="092A20"/>
                </a:solidFill>
                <a:latin typeface="Arial"/>
              </a:defRPr>
            </a:pPr>
            <a:r>
              <a:t>Кандидаты после СВО, соседи полей</a:t>
            </a:r>
          </a:p>
          <a:p>
            <a:pPr>
              <a:spcBef>
                <a:spcPts val="0"/>
              </a:spcBef>
              <a:spcAft>
                <a:spcPts val="500"/>
              </a:spcAft>
              <a:defRPr sz="1600" b="0">
                <a:solidFill>
                  <a:srgbClr val="092A20"/>
                </a:solidFill>
                <a:latin typeface="Arial"/>
              </a:defRPr>
            </a:pPr>
            <a:r>
              <a:t>→ Добровольность; канал обращений</a:t>
            </a:r>
          </a:p>
          <a:p>
            <a:pPr>
              <a:spcBef>
                <a:spcPts val="0"/>
              </a:spcBef>
              <a:spcAft>
                <a:spcPts val="500"/>
              </a:spcAft>
              <a:defRPr sz="1600" b="0">
                <a:solidFill>
                  <a:srgbClr val="092A20"/>
                </a:solidFill>
                <a:latin typeface="Arial"/>
              </a:defRPr>
            </a:pPr>
            <a:r>
              <a:t>Владелец: директор</a:t>
            </a:r>
          </a:p>
        </p:txBody>
      </p:sp>
      <p:sp>
        <p:nvSpPr>
          <p:cNvPr id="23" name="TextBox 22"/>
          <p:cNvSpPr txBox="1"/>
          <p:nvPr/>
        </p:nvSpPr>
        <p:spPr>
          <a:xfrm>
            <a:off x="594360" y="5897880"/>
            <a:ext cx="10972800" cy="502920"/>
          </a:xfrm>
          <a:prstGeom prst="rect">
            <a:avLst/>
          </a:prstGeom>
          <a:noFill/>
        </p:spPr>
        <p:txBody>
          <a:bodyPr wrap="square" lIns="13716" rIns="13716" tIns="0" bIns="0">
            <a:spAutoFit/>
          </a:bodyPr>
          <a:lstStyle/>
          <a:p>
            <a:pPr>
              <a:spcBef>
                <a:spcPts val="0"/>
              </a:spcBef>
              <a:spcAft>
                <a:spcPts val="500"/>
              </a:spcAft>
              <a:defRPr sz="1500" b="0">
                <a:solidFill>
                  <a:srgbClr val="AFC5B8"/>
                </a:solidFill>
                <a:latin typeface="Arial"/>
              </a:defRPr>
            </a:pPr>
            <a:r>
              <a:t>Сервис техники: средняя власть / средний интерес; регламент реакции — операционный руководитель.</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092A20"/>
        </a:solidFill>
        <a:effectLst/>
      </p:bgPr>
    </p:bg>
    <p:spTree>
      <p:nvGrpSpPr>
        <p:cNvPr id="1" name=""/>
        <p:cNvGrpSpPr/>
        <p:nvPr/>
      </p:nvGrpSpPr>
      <p:grpSpPr/>
      <p:sp>
        <p:nvSpPr>
          <p:cNvPr id="2" name="Rectangle 1"/>
          <p:cNvSpPr/>
          <p:nvPr/>
        </p:nvSpPr>
        <p:spPr>
          <a:xfrm>
            <a:off x="411480" y="393192"/>
            <a:ext cx="91440" cy="448056"/>
          </a:xfrm>
          <a:prstGeom prst="rect">
            <a:avLst/>
          </a:prstGeom>
          <a:solidFill>
            <a:srgbClr val="C8F2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58368" y="356616"/>
            <a:ext cx="10835640" cy="886968"/>
          </a:xfrm>
          <a:prstGeom prst="rect">
            <a:avLst/>
          </a:prstGeom>
          <a:noFill/>
        </p:spPr>
        <p:txBody>
          <a:bodyPr wrap="square" lIns="13716" rIns="13716" tIns="0" bIns="0">
            <a:spAutoFit/>
          </a:bodyPr>
          <a:lstStyle/>
          <a:p>
            <a:pPr>
              <a:spcBef>
                <a:spcPts val="0"/>
              </a:spcBef>
              <a:spcAft>
                <a:spcPts val="500"/>
              </a:spcAft>
              <a:defRPr sz="3000" b="1">
                <a:solidFill>
                  <a:srgbClr val="FFFFFF"/>
                </a:solidFill>
                <a:latin typeface="Arial"/>
              </a:defRPr>
            </a:pPr>
            <a:r>
              <a:t>Производственный план</a:t>
            </a:r>
          </a:p>
        </p:txBody>
      </p:sp>
      <p:sp>
        <p:nvSpPr>
          <p:cNvPr id="4" name="TextBox 3"/>
          <p:cNvSpPr txBox="1"/>
          <p:nvPr/>
        </p:nvSpPr>
        <p:spPr>
          <a:xfrm>
            <a:off x="658368" y="1161288"/>
            <a:ext cx="10881360" cy="329184"/>
          </a:xfrm>
          <a:prstGeom prst="rect">
            <a:avLst/>
          </a:prstGeom>
          <a:noFill/>
        </p:spPr>
        <p:txBody>
          <a:bodyPr wrap="square" lIns="13716" rIns="13716" tIns="0" bIns="0">
            <a:spAutoFit/>
          </a:bodyPr>
          <a:lstStyle/>
          <a:p>
            <a:pPr>
              <a:spcBef>
                <a:spcPts val="0"/>
              </a:spcBef>
              <a:spcAft>
                <a:spcPts val="500"/>
              </a:spcAft>
              <a:defRPr sz="1500" b="0">
                <a:solidFill>
                  <a:srgbClr val="C8F26B"/>
                </a:solidFill>
                <a:latin typeface="Arial"/>
              </a:defRPr>
            </a:pPr>
            <a:r>
              <a:t>[ДОПУЩЕНИЕ] Производительность  •  [РАСЧЕТ] Календарная емкость бригады</a:t>
            </a:r>
          </a:p>
        </p:txBody>
      </p:sp>
      <p:sp>
        <p:nvSpPr>
          <p:cNvPr id="5" name="TextBox 4"/>
          <p:cNvSpPr txBox="1"/>
          <p:nvPr/>
        </p:nvSpPr>
        <p:spPr>
          <a:xfrm>
            <a:off x="502920" y="6510528"/>
            <a:ext cx="10058400" cy="210312"/>
          </a:xfrm>
          <a:prstGeom prst="rect">
            <a:avLst/>
          </a:prstGeom>
          <a:noFill/>
        </p:spPr>
        <p:txBody>
          <a:bodyPr wrap="square" lIns="13716" rIns="13716" tIns="0" bIns="0">
            <a:spAutoFit/>
          </a:bodyPr>
          <a:lstStyle/>
          <a:p>
            <a:pPr>
              <a:spcBef>
                <a:spcPts val="0"/>
              </a:spcBef>
              <a:spcAft>
                <a:spcPts val="500"/>
              </a:spcAft>
              <a:defRPr sz="1000" b="0">
                <a:solidFill>
                  <a:srgbClr val="AFC5B8"/>
                </a:solidFill>
                <a:latin typeface="Arial"/>
              </a:defRPr>
            </a:pPr>
            <a:r>
              <a:t>АГРОВЕКТОР / инвестиционная гипотеза / 2027–2031 / редакция 20.10.2026</a:t>
            </a:r>
          </a:p>
        </p:txBody>
      </p:sp>
      <p:sp>
        <p:nvSpPr>
          <p:cNvPr id="6" name="TextBox 5"/>
          <p:cNvSpPr txBox="1"/>
          <p:nvPr/>
        </p:nvSpPr>
        <p:spPr>
          <a:xfrm>
            <a:off x="11018520" y="6483096"/>
            <a:ext cx="731520" cy="256032"/>
          </a:xfrm>
          <a:prstGeom prst="rect">
            <a:avLst/>
          </a:prstGeom>
          <a:noFill/>
        </p:spPr>
        <p:txBody>
          <a:bodyPr wrap="square" lIns="13716" rIns="13716" tIns="0" bIns="0">
            <a:spAutoFit/>
          </a:bodyPr>
          <a:lstStyle/>
          <a:p>
            <a:pPr>
              <a:spcBef>
                <a:spcPts val="0"/>
              </a:spcBef>
              <a:spcAft>
                <a:spcPts val="500"/>
              </a:spcAft>
              <a:defRPr sz="1100" b="1">
                <a:solidFill>
                  <a:srgbClr val="C8F26B"/>
                </a:solidFill>
                <a:latin typeface="Arial"/>
              </a:defRPr>
            </a:pPr>
            <a:r>
              <a:t>11 / 22</a:t>
            </a:r>
          </a:p>
        </p:txBody>
      </p:sp>
      <p:sp>
        <p:nvSpPr>
          <p:cNvPr id="7" name="Rounded Rectangle 6"/>
          <p:cNvSpPr/>
          <p:nvPr/>
        </p:nvSpPr>
        <p:spPr>
          <a:xfrm>
            <a:off x="502920" y="1719072"/>
            <a:ext cx="3584448" cy="331927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685800" y="1901952"/>
            <a:ext cx="347472" cy="54864"/>
          </a:xfrm>
          <a:prstGeom prst="rect">
            <a:avLst/>
          </a:prstGeom>
          <a:solidFill>
            <a:srgbClr val="C8F2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04088" y="2075688"/>
            <a:ext cx="3182112" cy="658368"/>
          </a:xfrm>
          <a:prstGeom prst="rect">
            <a:avLst/>
          </a:prstGeom>
          <a:noFill/>
        </p:spPr>
        <p:txBody>
          <a:bodyPr wrap="square" lIns="13716" rIns="13716" tIns="0" bIns="0">
            <a:spAutoFit/>
          </a:bodyPr>
          <a:lstStyle/>
          <a:p>
            <a:pPr>
              <a:spcBef>
                <a:spcPts val="0"/>
              </a:spcBef>
              <a:spcAft>
                <a:spcPts val="500"/>
              </a:spcAft>
              <a:defRPr sz="3500" b="1">
                <a:solidFill>
                  <a:srgbClr val="164C38"/>
                </a:solidFill>
                <a:latin typeface="Arial"/>
              </a:defRPr>
            </a:pPr>
            <a:r>
              <a:t>13 000</a:t>
            </a:r>
          </a:p>
        </p:txBody>
      </p:sp>
      <p:sp>
        <p:nvSpPr>
          <p:cNvPr id="10" name="TextBox 9"/>
          <p:cNvSpPr txBox="1"/>
          <p:nvPr/>
        </p:nvSpPr>
        <p:spPr>
          <a:xfrm>
            <a:off x="704088" y="2807208"/>
            <a:ext cx="3182112" cy="585216"/>
          </a:xfrm>
          <a:prstGeom prst="rect">
            <a:avLst/>
          </a:prstGeom>
          <a:noFill/>
        </p:spPr>
        <p:txBody>
          <a:bodyPr wrap="square" lIns="13716" rIns="13716" tIns="0" bIns="0">
            <a:spAutoFit/>
          </a:bodyPr>
          <a:lstStyle/>
          <a:p>
            <a:pPr>
              <a:spcBef>
                <a:spcPts val="0"/>
              </a:spcBef>
              <a:spcAft>
                <a:spcPts val="500"/>
              </a:spcAft>
              <a:defRPr sz="2000" b="1">
                <a:solidFill>
                  <a:srgbClr val="164C38"/>
                </a:solidFill>
                <a:latin typeface="Arial"/>
              </a:defRPr>
            </a:pPr>
            <a:r>
              <a:t>га-проходов / потолок</a:t>
            </a:r>
          </a:p>
        </p:txBody>
      </p:sp>
      <p:sp>
        <p:nvSpPr>
          <p:cNvPr id="11" name="TextBox 10"/>
          <p:cNvSpPr txBox="1"/>
          <p:nvPr/>
        </p:nvSpPr>
        <p:spPr>
          <a:xfrm>
            <a:off x="704088" y="3410712"/>
            <a:ext cx="3182112" cy="1554479"/>
          </a:xfrm>
          <a:prstGeom prst="rect">
            <a:avLst/>
          </a:prstGeom>
          <a:noFill/>
        </p:spPr>
        <p:txBody>
          <a:bodyPr wrap="square" lIns="13716" rIns="13716" tIns="0" bIns="0">
            <a:spAutoFit/>
          </a:bodyPr>
          <a:lstStyle/>
          <a:p>
            <a:pPr>
              <a:spcBef>
                <a:spcPts val="0"/>
              </a:spcBef>
              <a:spcAft>
                <a:spcPts val="500"/>
              </a:spcAft>
              <a:defRPr sz="1700" b="0">
                <a:solidFill>
                  <a:srgbClr val="092A20"/>
                </a:solidFill>
                <a:latin typeface="Arial"/>
              </a:defRPr>
            </a:pPr>
            <a:r>
              <a:t>100 эффективных дней × 130 га</a:t>
            </a:r>
          </a:p>
          <a:p>
            <a:pPr>
              <a:spcBef>
                <a:spcPts val="0"/>
              </a:spcBef>
              <a:spcAft>
                <a:spcPts val="500"/>
              </a:spcAft>
              <a:defRPr sz="1700" b="0">
                <a:solidFill>
                  <a:srgbClr val="092A20"/>
                </a:solidFill>
                <a:latin typeface="Arial"/>
              </a:defRPr>
            </a:pPr>
            <a:r>
              <a:t>Основной + резервный аппарат</a:t>
            </a:r>
          </a:p>
          <a:p>
            <a:pPr>
              <a:spcBef>
                <a:spcPts val="0"/>
              </a:spcBef>
              <a:spcAft>
                <a:spcPts val="500"/>
              </a:spcAft>
              <a:defRPr sz="1700" b="0">
                <a:solidFill>
                  <a:srgbClr val="092A20"/>
                </a:solidFill>
                <a:latin typeface="Arial"/>
              </a:defRPr>
            </a:pPr>
            <a:r>
              <a:t>Резерв не удваивает мощность</a:t>
            </a:r>
          </a:p>
        </p:txBody>
      </p:sp>
      <p:sp>
        <p:nvSpPr>
          <p:cNvPr id="12" name="Rounded Rectangle 11"/>
          <p:cNvSpPr/>
          <p:nvPr/>
        </p:nvSpPr>
        <p:spPr>
          <a:xfrm>
            <a:off x="4297680" y="1719072"/>
            <a:ext cx="3584448" cy="331927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480560" y="1901952"/>
            <a:ext cx="347472" cy="54864"/>
          </a:xfrm>
          <a:prstGeom prst="rect">
            <a:avLst/>
          </a:prstGeom>
          <a:solidFill>
            <a:srgbClr val="C8F2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498848" y="2075688"/>
            <a:ext cx="3182112" cy="658368"/>
          </a:xfrm>
          <a:prstGeom prst="rect">
            <a:avLst/>
          </a:prstGeom>
          <a:noFill/>
        </p:spPr>
        <p:txBody>
          <a:bodyPr wrap="square" lIns="13716" rIns="13716" tIns="0" bIns="0">
            <a:spAutoFit/>
          </a:bodyPr>
          <a:lstStyle/>
          <a:p>
            <a:pPr>
              <a:spcBef>
                <a:spcPts val="0"/>
              </a:spcBef>
              <a:spcAft>
                <a:spcPts val="500"/>
              </a:spcAft>
              <a:defRPr sz="3500" b="1">
                <a:solidFill>
                  <a:srgbClr val="164C38"/>
                </a:solidFill>
                <a:latin typeface="Arial"/>
              </a:defRPr>
            </a:pPr>
            <a:r>
              <a:t>10 000</a:t>
            </a:r>
          </a:p>
        </p:txBody>
      </p:sp>
      <p:sp>
        <p:nvSpPr>
          <p:cNvPr id="15" name="TextBox 14"/>
          <p:cNvSpPr txBox="1"/>
          <p:nvPr/>
        </p:nvSpPr>
        <p:spPr>
          <a:xfrm>
            <a:off x="4498848" y="2807208"/>
            <a:ext cx="3182112" cy="585216"/>
          </a:xfrm>
          <a:prstGeom prst="rect">
            <a:avLst/>
          </a:prstGeom>
          <a:noFill/>
        </p:spPr>
        <p:txBody>
          <a:bodyPr wrap="square" lIns="13716" rIns="13716" tIns="0" bIns="0">
            <a:spAutoFit/>
          </a:bodyPr>
          <a:lstStyle/>
          <a:p>
            <a:pPr>
              <a:spcBef>
                <a:spcPts val="0"/>
              </a:spcBef>
              <a:spcAft>
                <a:spcPts val="500"/>
              </a:spcAft>
              <a:defRPr sz="2000" b="1">
                <a:solidFill>
                  <a:srgbClr val="164C38"/>
                </a:solidFill>
                <a:latin typeface="Arial"/>
              </a:defRPr>
            </a:pPr>
            <a:r>
              <a:t>га-обследований</a:t>
            </a:r>
          </a:p>
        </p:txBody>
      </p:sp>
      <p:sp>
        <p:nvSpPr>
          <p:cNvPr id="16" name="TextBox 15"/>
          <p:cNvSpPr txBox="1"/>
          <p:nvPr/>
        </p:nvSpPr>
        <p:spPr>
          <a:xfrm>
            <a:off x="4498848" y="3410712"/>
            <a:ext cx="3182112" cy="1554479"/>
          </a:xfrm>
          <a:prstGeom prst="rect">
            <a:avLst/>
          </a:prstGeom>
          <a:noFill/>
        </p:spPr>
        <p:txBody>
          <a:bodyPr wrap="square" lIns="13716" rIns="13716" tIns="0" bIns="0">
            <a:spAutoFit/>
          </a:bodyPr>
          <a:lstStyle/>
          <a:p>
            <a:pPr>
              <a:spcBef>
                <a:spcPts val="0"/>
              </a:spcBef>
              <a:spcAft>
                <a:spcPts val="500"/>
              </a:spcAft>
              <a:defRPr sz="1700" b="0">
                <a:solidFill>
                  <a:srgbClr val="092A20"/>
                </a:solidFill>
                <a:latin typeface="Arial"/>
              </a:defRPr>
            </a:pPr>
            <a:r>
              <a:t>20 отдельных дней × 500 га</a:t>
            </a:r>
          </a:p>
          <a:p>
            <a:pPr>
              <a:spcBef>
                <a:spcPts val="0"/>
              </a:spcBef>
              <a:spcAft>
                <a:spcPts val="500"/>
              </a:spcAft>
              <a:defRPr sz="1700" b="0">
                <a:solidFill>
                  <a:srgbClr val="092A20"/>
                </a:solidFill>
                <a:latin typeface="Arial"/>
              </a:defRPr>
            </a:pPr>
            <a:r>
              <a:t>Без одновременных полетов</a:t>
            </a:r>
          </a:p>
          <a:p>
            <a:pPr>
              <a:spcBef>
                <a:spcPts val="0"/>
              </a:spcBef>
              <a:spcAft>
                <a:spcPts val="500"/>
              </a:spcAft>
              <a:defRPr sz="1700" b="0">
                <a:solidFill>
                  <a:srgbClr val="092A20"/>
                </a:solidFill>
                <a:latin typeface="Arial"/>
              </a:defRPr>
            </a:pPr>
            <a:r>
              <a:t>Одной бригадой — по очереди</a:t>
            </a:r>
          </a:p>
        </p:txBody>
      </p:sp>
      <p:sp>
        <p:nvSpPr>
          <p:cNvPr id="17" name="Rounded Rectangle 16"/>
          <p:cNvSpPr/>
          <p:nvPr/>
        </p:nvSpPr>
        <p:spPr>
          <a:xfrm>
            <a:off x="8092440" y="1719072"/>
            <a:ext cx="3584448" cy="331927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8275319" y="1901952"/>
            <a:ext cx="347472" cy="54864"/>
          </a:xfrm>
          <a:prstGeom prst="rect">
            <a:avLst/>
          </a:prstGeom>
          <a:solidFill>
            <a:srgbClr val="C8F2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293608" y="2075688"/>
            <a:ext cx="3182112" cy="658368"/>
          </a:xfrm>
          <a:prstGeom prst="rect">
            <a:avLst/>
          </a:prstGeom>
          <a:noFill/>
        </p:spPr>
        <p:txBody>
          <a:bodyPr wrap="square" lIns="13716" rIns="13716" tIns="0" bIns="0">
            <a:spAutoFit/>
          </a:bodyPr>
          <a:lstStyle/>
          <a:p>
            <a:pPr>
              <a:spcBef>
                <a:spcPts val="0"/>
              </a:spcBef>
              <a:spcAft>
                <a:spcPts val="500"/>
              </a:spcAft>
              <a:defRPr sz="3500" b="1">
                <a:solidFill>
                  <a:srgbClr val="164C38"/>
                </a:solidFill>
                <a:latin typeface="Arial"/>
              </a:defRPr>
            </a:pPr>
            <a:r>
              <a:t>34</a:t>
            </a:r>
          </a:p>
        </p:txBody>
      </p:sp>
      <p:sp>
        <p:nvSpPr>
          <p:cNvPr id="20" name="TextBox 19"/>
          <p:cNvSpPr txBox="1"/>
          <p:nvPr/>
        </p:nvSpPr>
        <p:spPr>
          <a:xfrm>
            <a:off x="8293608" y="2807208"/>
            <a:ext cx="3182112" cy="585216"/>
          </a:xfrm>
          <a:prstGeom prst="rect">
            <a:avLst/>
          </a:prstGeom>
          <a:noFill/>
        </p:spPr>
        <p:txBody>
          <a:bodyPr wrap="square" lIns="13716" rIns="13716" tIns="0" bIns="0">
            <a:spAutoFit/>
          </a:bodyPr>
          <a:lstStyle/>
          <a:p>
            <a:pPr>
              <a:spcBef>
                <a:spcPts val="0"/>
              </a:spcBef>
              <a:spcAft>
                <a:spcPts val="500"/>
              </a:spcAft>
              <a:defRPr sz="2000" b="1">
                <a:solidFill>
                  <a:srgbClr val="164C38"/>
                </a:solidFill>
                <a:latin typeface="Arial"/>
              </a:defRPr>
            </a:pPr>
            <a:r>
              <a:t>дня резерва</a:t>
            </a:r>
          </a:p>
        </p:txBody>
      </p:sp>
      <p:sp>
        <p:nvSpPr>
          <p:cNvPr id="21" name="TextBox 20"/>
          <p:cNvSpPr txBox="1"/>
          <p:nvPr/>
        </p:nvSpPr>
        <p:spPr>
          <a:xfrm>
            <a:off x="8293608" y="3410712"/>
            <a:ext cx="3182112" cy="1554479"/>
          </a:xfrm>
          <a:prstGeom prst="rect">
            <a:avLst/>
          </a:prstGeom>
          <a:noFill/>
        </p:spPr>
        <p:txBody>
          <a:bodyPr wrap="square" lIns="13716" rIns="13716" tIns="0" bIns="0">
            <a:spAutoFit/>
          </a:bodyPr>
          <a:lstStyle/>
          <a:p>
            <a:pPr>
              <a:spcBef>
                <a:spcPts val="0"/>
              </a:spcBef>
              <a:spcAft>
                <a:spcPts val="500"/>
              </a:spcAft>
              <a:defRPr sz="1700" b="0">
                <a:solidFill>
                  <a:srgbClr val="092A20"/>
                </a:solidFill>
                <a:latin typeface="Arial"/>
              </a:defRPr>
            </a:pPr>
            <a:r>
              <a:t>154 календарных дня сезона</a:t>
            </a:r>
          </a:p>
          <a:p>
            <a:pPr>
              <a:spcBef>
                <a:spcPts val="0"/>
              </a:spcBef>
              <a:spcAft>
                <a:spcPts val="500"/>
              </a:spcAft>
              <a:defRPr sz="1700" b="0">
                <a:solidFill>
                  <a:srgbClr val="092A20"/>
                </a:solidFill>
                <a:latin typeface="Arial"/>
              </a:defRPr>
            </a:pPr>
            <a:r>
              <a:t>− 100 дней внесения</a:t>
            </a:r>
          </a:p>
          <a:p>
            <a:pPr>
              <a:spcBef>
                <a:spcPts val="0"/>
              </a:spcBef>
              <a:spcAft>
                <a:spcPts val="500"/>
              </a:spcAft>
              <a:defRPr sz="1700" b="0">
                <a:solidFill>
                  <a:srgbClr val="092A20"/>
                </a:solidFill>
                <a:latin typeface="Arial"/>
              </a:defRPr>
            </a:pPr>
            <a:r>
              <a:t>− 20 дней мониторинга</a:t>
            </a:r>
          </a:p>
        </p:txBody>
      </p:sp>
      <p:sp>
        <p:nvSpPr>
          <p:cNvPr id="22" name="TextBox 21"/>
          <p:cNvSpPr txBox="1"/>
          <p:nvPr/>
        </p:nvSpPr>
        <p:spPr>
          <a:xfrm>
            <a:off x="594360" y="5175504"/>
            <a:ext cx="10972800" cy="457200"/>
          </a:xfrm>
          <a:prstGeom prst="rect">
            <a:avLst/>
          </a:prstGeom>
          <a:noFill/>
        </p:spPr>
        <p:txBody>
          <a:bodyPr wrap="square" lIns="13716" rIns="13716" tIns="0" bIns="0">
            <a:spAutoFit/>
          </a:bodyPr>
          <a:lstStyle/>
          <a:p>
            <a:pPr>
              <a:spcBef>
                <a:spcPts val="0"/>
              </a:spcBef>
              <a:spcAft>
                <a:spcPts val="500"/>
              </a:spcAft>
              <a:defRPr sz="2000" b="1">
                <a:solidFill>
                  <a:srgbClr val="FFFFFF"/>
                </a:solidFill>
                <a:latin typeface="Arial"/>
              </a:defRPr>
            </a:pPr>
            <a:r>
              <a:t>Проверка → обследование → подготовка → выполнение → контроль и акт</a:t>
            </a:r>
          </a:p>
        </p:txBody>
      </p:sp>
      <p:sp>
        <p:nvSpPr>
          <p:cNvPr id="23" name="Rounded Rectangle 22"/>
          <p:cNvSpPr/>
          <p:nvPr/>
        </p:nvSpPr>
        <p:spPr>
          <a:xfrm>
            <a:off x="502920" y="5733288"/>
            <a:ext cx="11183112" cy="448056"/>
          </a:xfrm>
          <a:prstGeom prst="roundRect">
            <a:avLst>
              <a:gd name="adj" fmla="val 8000"/>
            </a:avLst>
          </a:prstGeom>
          <a:solidFill>
            <a:srgbClr val="C8F2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58368" y="5815583"/>
            <a:ext cx="10881360" cy="320040"/>
          </a:xfrm>
          <a:prstGeom prst="rect">
            <a:avLst/>
          </a:prstGeom>
          <a:noFill/>
        </p:spPr>
        <p:txBody>
          <a:bodyPr wrap="square" lIns="13716" rIns="13716" tIns="0" bIns="0">
            <a:spAutoFit/>
          </a:bodyPr>
          <a:lstStyle/>
          <a:p>
            <a:pPr>
              <a:spcBef>
                <a:spcPts val="0"/>
              </a:spcBef>
              <a:spcAft>
                <a:spcPts val="500"/>
              </a:spcAft>
              <a:defRPr sz="1600" b="1">
                <a:solidFill>
                  <a:srgbClr val="092A20"/>
                </a:solidFill>
                <a:latin typeface="Arial"/>
              </a:defRPr>
            </a:pPr>
            <a:r>
              <a:t>Июнь 2031: 30 полевых дней из 30. Поздняя база ресурсно не подтверждена</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092A20"/>
        </a:solidFill>
        <a:effectLst/>
      </p:bgPr>
    </p:bg>
    <p:spTree>
      <p:nvGrpSpPr>
        <p:cNvPr id="1" name=""/>
        <p:cNvGrpSpPr/>
        <p:nvPr/>
      </p:nvGrpSpPr>
      <p:grpSpPr/>
      <p:sp>
        <p:nvSpPr>
          <p:cNvPr id="2" name="Rectangle 1"/>
          <p:cNvSpPr/>
          <p:nvPr/>
        </p:nvSpPr>
        <p:spPr>
          <a:xfrm>
            <a:off x="411480" y="393192"/>
            <a:ext cx="91440" cy="448056"/>
          </a:xfrm>
          <a:prstGeom prst="rect">
            <a:avLst/>
          </a:prstGeom>
          <a:solidFill>
            <a:srgbClr val="C8F2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58368" y="356616"/>
            <a:ext cx="10835640" cy="886968"/>
          </a:xfrm>
          <a:prstGeom prst="rect">
            <a:avLst/>
          </a:prstGeom>
          <a:noFill/>
        </p:spPr>
        <p:txBody>
          <a:bodyPr wrap="square" lIns="13716" rIns="13716" tIns="0" bIns="0">
            <a:spAutoFit/>
          </a:bodyPr>
          <a:lstStyle/>
          <a:p>
            <a:pPr>
              <a:spcBef>
                <a:spcPts val="0"/>
              </a:spcBef>
              <a:spcAft>
                <a:spcPts val="500"/>
              </a:spcAft>
              <a:defRPr sz="3000" b="1">
                <a:solidFill>
                  <a:srgbClr val="FFFFFF"/>
                </a:solidFill>
                <a:latin typeface="Arial"/>
              </a:defRPr>
            </a:pPr>
            <a:r>
              <a:t>Организационный план</a:t>
            </a:r>
          </a:p>
        </p:txBody>
      </p:sp>
      <p:sp>
        <p:nvSpPr>
          <p:cNvPr id="4" name="TextBox 3"/>
          <p:cNvSpPr txBox="1"/>
          <p:nvPr/>
        </p:nvSpPr>
        <p:spPr>
          <a:xfrm>
            <a:off x="658368" y="1161288"/>
            <a:ext cx="10881360" cy="329184"/>
          </a:xfrm>
          <a:prstGeom prst="rect">
            <a:avLst/>
          </a:prstGeom>
          <a:noFill/>
        </p:spPr>
        <p:txBody>
          <a:bodyPr wrap="square" lIns="13716" rIns="13716" tIns="0" bIns="0">
            <a:spAutoFit/>
          </a:bodyPr>
          <a:lstStyle/>
          <a:p>
            <a:pPr>
              <a:spcBef>
                <a:spcPts val="0"/>
              </a:spcBef>
              <a:spcAft>
                <a:spcPts val="500"/>
              </a:spcAft>
              <a:defRPr sz="1500" b="0">
                <a:solidFill>
                  <a:srgbClr val="C8F26B"/>
                </a:solidFill>
                <a:latin typeface="Arial"/>
              </a:defRPr>
            </a:pPr>
            <a:r>
              <a:t>[ДОПУЩЕНИЕ]</a:t>
            </a:r>
          </a:p>
        </p:txBody>
      </p:sp>
      <p:sp>
        <p:nvSpPr>
          <p:cNvPr id="5" name="TextBox 4"/>
          <p:cNvSpPr txBox="1"/>
          <p:nvPr/>
        </p:nvSpPr>
        <p:spPr>
          <a:xfrm>
            <a:off x="502920" y="6510528"/>
            <a:ext cx="10058400" cy="210312"/>
          </a:xfrm>
          <a:prstGeom prst="rect">
            <a:avLst/>
          </a:prstGeom>
          <a:noFill/>
        </p:spPr>
        <p:txBody>
          <a:bodyPr wrap="square" lIns="13716" rIns="13716" tIns="0" bIns="0">
            <a:spAutoFit/>
          </a:bodyPr>
          <a:lstStyle/>
          <a:p>
            <a:pPr>
              <a:spcBef>
                <a:spcPts val="0"/>
              </a:spcBef>
              <a:spcAft>
                <a:spcPts val="500"/>
              </a:spcAft>
              <a:defRPr sz="1000" b="0">
                <a:solidFill>
                  <a:srgbClr val="AFC5B8"/>
                </a:solidFill>
                <a:latin typeface="Arial"/>
              </a:defRPr>
            </a:pPr>
            <a:r>
              <a:t>АГРОВЕКТОР / инвестиционная гипотеза / 2027–2031 / редакция 20.10.2026</a:t>
            </a:r>
          </a:p>
        </p:txBody>
      </p:sp>
      <p:sp>
        <p:nvSpPr>
          <p:cNvPr id="6" name="TextBox 5"/>
          <p:cNvSpPr txBox="1"/>
          <p:nvPr/>
        </p:nvSpPr>
        <p:spPr>
          <a:xfrm>
            <a:off x="11018520" y="6483096"/>
            <a:ext cx="731520" cy="256032"/>
          </a:xfrm>
          <a:prstGeom prst="rect">
            <a:avLst/>
          </a:prstGeom>
          <a:noFill/>
        </p:spPr>
        <p:txBody>
          <a:bodyPr wrap="square" lIns="13716" rIns="13716" tIns="0" bIns="0">
            <a:spAutoFit/>
          </a:bodyPr>
          <a:lstStyle/>
          <a:p>
            <a:pPr>
              <a:spcBef>
                <a:spcPts val="0"/>
              </a:spcBef>
              <a:spcAft>
                <a:spcPts val="500"/>
              </a:spcAft>
              <a:defRPr sz="1100" b="1">
                <a:solidFill>
                  <a:srgbClr val="C8F26B"/>
                </a:solidFill>
                <a:latin typeface="Arial"/>
              </a:defRPr>
            </a:pPr>
            <a:r>
              <a:t>12 / 22</a:t>
            </a:r>
          </a:p>
        </p:txBody>
      </p:sp>
      <p:sp>
        <p:nvSpPr>
          <p:cNvPr id="7" name="TextBox 6"/>
          <p:cNvSpPr txBox="1"/>
          <p:nvPr/>
        </p:nvSpPr>
        <p:spPr>
          <a:xfrm>
            <a:off x="594360" y="1755648"/>
            <a:ext cx="3657600" cy="914400"/>
          </a:xfrm>
          <a:prstGeom prst="rect">
            <a:avLst/>
          </a:prstGeom>
          <a:noFill/>
        </p:spPr>
        <p:txBody>
          <a:bodyPr wrap="square" lIns="13716" rIns="13716" tIns="0" bIns="0">
            <a:spAutoFit/>
          </a:bodyPr>
          <a:lstStyle/>
          <a:p>
            <a:pPr>
              <a:spcBef>
                <a:spcPts val="0"/>
              </a:spcBef>
              <a:spcAft>
                <a:spcPts val="500"/>
              </a:spcAft>
              <a:defRPr sz="4400" b="1">
                <a:solidFill>
                  <a:srgbClr val="C8F26B"/>
                </a:solidFill>
                <a:latin typeface="Arial"/>
              </a:defRPr>
            </a:pPr>
            <a:r>
              <a:t>3 FTE</a:t>
            </a:r>
          </a:p>
        </p:txBody>
      </p:sp>
      <p:sp>
        <p:nvSpPr>
          <p:cNvPr id="8" name="TextBox 7"/>
          <p:cNvSpPr txBox="1"/>
          <p:nvPr/>
        </p:nvSpPr>
        <p:spPr>
          <a:xfrm>
            <a:off x="3200400" y="1847088"/>
            <a:ext cx="8321040" cy="786384"/>
          </a:xfrm>
          <a:prstGeom prst="rect">
            <a:avLst/>
          </a:prstGeom>
          <a:noFill/>
        </p:spPr>
        <p:txBody>
          <a:bodyPr wrap="square" lIns="13716" rIns="13716" tIns="0" bIns="0">
            <a:spAutoFit/>
          </a:bodyPr>
          <a:lstStyle/>
          <a:p>
            <a:pPr>
              <a:spcBef>
                <a:spcPts val="0"/>
              </a:spcBef>
              <a:spcAft>
                <a:spcPts val="500"/>
              </a:spcAft>
              <a:defRPr sz="2000" b="0">
                <a:solidFill>
                  <a:srgbClr val="FFFFFF"/>
                </a:solidFill>
                <a:latin typeface="Arial"/>
              </a:defRPr>
            </a:pPr>
            <a:r>
              <a:t>4.69 млн ₽ / год — полная стоимость работодателя; gross 3.60 млн ₽</a:t>
            </a:r>
          </a:p>
        </p:txBody>
      </p:sp>
      <p:graphicFrame>
        <p:nvGraphicFramePr>
          <p:cNvPr id="9" name="Table 8"/>
          <p:cNvGraphicFramePr>
            <a:graphicFrameLocks noGrp="1"/>
          </p:cNvGraphicFramePr>
          <p:nvPr/>
        </p:nvGraphicFramePr>
        <p:xfrm>
          <a:off x="502920" y="2761488"/>
          <a:ext cx="11183112" cy="1746504"/>
        </p:xfrm>
        <a:graphic>
          <a:graphicData uri="http://schemas.openxmlformats.org/drawingml/2006/table">
            <a:tbl>
              <a:tblPr firstRow="1" bandRow="1">
                <a:tableStyleId>{5C22544A-7EE6-4342-B048-85BDC9FD1C3A}</a:tableStyleId>
              </a:tblPr>
              <a:tblGrid>
                <a:gridCol w="3931920"/>
                <a:gridCol w="7251192"/>
              </a:tblGrid>
              <a:tr h="436626">
                <a:tc>
                  <a:txBody>
                    <a:bodyPr/>
                    <a:lstStyle/>
                    <a:p>
                      <a:pPr>
                        <a:spcAft>
                          <a:spcPts val="0"/>
                        </a:spcAft>
                        <a:defRPr sz="1800" b="1">
                          <a:solidFill>
                            <a:srgbClr val="FFFFFF"/>
                          </a:solidFill>
                          <a:latin typeface="Arial"/>
                        </a:defRPr>
                      </a:pPr>
                      <a:r>
                        <a:t>Штатная роль</a:t>
                      </a:r>
                    </a:p>
                  </a:txBody>
                  <a:tcPr marL="91440" marR="91440" marT="45720" marB="45720">
                    <a:solidFill>
                      <a:srgbClr val="164C38"/>
                    </a:solidFill>
                  </a:tcPr>
                </a:tc>
                <a:tc>
                  <a:txBody>
                    <a:bodyPr/>
                    <a:lstStyle/>
                    <a:p>
                      <a:pPr>
                        <a:spcAft>
                          <a:spcPts val="0"/>
                        </a:spcAft>
                        <a:defRPr sz="1800" b="1">
                          <a:solidFill>
                            <a:srgbClr val="FFFFFF"/>
                          </a:solidFill>
                          <a:latin typeface="Arial"/>
                        </a:defRPr>
                      </a:pPr>
                      <a:r>
                        <a:t>Функции</a:t>
                      </a:r>
                    </a:p>
                  </a:txBody>
                  <a:tcPr marL="91440" marR="91440" marT="45720" marB="45720">
                    <a:solidFill>
                      <a:srgbClr val="164C38"/>
                    </a:solidFill>
                  </a:tcPr>
                </a:tc>
              </a:tr>
              <a:tr h="436626">
                <a:tc>
                  <a:txBody>
                    <a:bodyPr/>
                    <a:lstStyle/>
                    <a:p>
                      <a:pPr>
                        <a:spcAft>
                          <a:spcPts val="0"/>
                        </a:spcAft>
                        <a:defRPr sz="1800" b="0">
                          <a:solidFill>
                            <a:srgbClr val="092A20"/>
                          </a:solidFill>
                          <a:latin typeface="Arial"/>
                        </a:defRPr>
                      </a:pPr>
                      <a:r>
                        <a:t>Директор</a:t>
                      </a:r>
                    </a:p>
                  </a:txBody>
                  <a:tcPr marL="91440" marR="91440" marT="45720" marB="45720">
                    <a:solidFill>
                      <a:srgbClr val="FFFFFF"/>
                    </a:solidFill>
                  </a:tcPr>
                </a:tc>
                <a:tc>
                  <a:txBody>
                    <a:bodyPr/>
                    <a:lstStyle/>
                    <a:p>
                      <a:pPr>
                        <a:spcAft>
                          <a:spcPts val="0"/>
                        </a:spcAft>
                        <a:defRPr sz="1800" b="0">
                          <a:solidFill>
                            <a:srgbClr val="092A20"/>
                          </a:solidFill>
                          <a:latin typeface="Arial"/>
                        </a:defRPr>
                      </a:pPr>
                      <a:r>
                        <a:t>Продажи, договоры, деньги и партнеры</a:t>
                      </a:r>
                    </a:p>
                  </a:txBody>
                  <a:tcPr marL="91440" marR="91440" marT="45720" marB="45720">
                    <a:solidFill>
                      <a:srgbClr val="FFFFFF"/>
                    </a:solidFill>
                  </a:tcPr>
                </a:tc>
              </a:tr>
              <a:tr h="436626">
                <a:tc>
                  <a:txBody>
                    <a:bodyPr/>
                    <a:lstStyle/>
                    <a:p>
                      <a:pPr>
                        <a:spcAft>
                          <a:spcPts val="0"/>
                        </a:spcAft>
                        <a:defRPr sz="1800" b="0">
                          <a:solidFill>
                            <a:srgbClr val="092A20"/>
                          </a:solidFill>
                          <a:latin typeface="Arial"/>
                        </a:defRPr>
                      </a:pPr>
                      <a:r>
                        <a:t>Оператор / операционный руководитель</a:t>
                      </a:r>
                    </a:p>
                  </a:txBody>
                  <a:tcPr marL="91440" marR="91440" marT="45720" marB="45720">
                    <a:solidFill>
                      <a:srgbClr val="EFF4EF"/>
                    </a:solidFill>
                  </a:tcPr>
                </a:tc>
                <a:tc>
                  <a:txBody>
                    <a:bodyPr/>
                    <a:lstStyle/>
                    <a:p>
                      <a:pPr>
                        <a:spcAft>
                          <a:spcPts val="0"/>
                        </a:spcAft>
                        <a:defRPr sz="1800" b="0">
                          <a:solidFill>
                            <a:srgbClr val="092A20"/>
                          </a:solidFill>
                          <a:latin typeface="Arial"/>
                        </a:defRPr>
                      </a:pPr>
                      <a:r>
                        <a:t>Календарь, техника, безопасность и наставник</a:t>
                      </a:r>
                    </a:p>
                  </a:txBody>
                  <a:tcPr marL="91440" marR="91440" marT="45720" marB="45720">
                    <a:solidFill>
                      <a:srgbClr val="EFF4EF"/>
                    </a:solidFill>
                  </a:tcPr>
                </a:tc>
              </a:tr>
              <a:tr h="436626">
                <a:tc>
                  <a:txBody>
                    <a:bodyPr/>
                    <a:lstStyle/>
                    <a:p>
                      <a:pPr>
                        <a:spcAft>
                          <a:spcPts val="0"/>
                        </a:spcAft>
                        <a:defRPr sz="1800" b="0">
                          <a:solidFill>
                            <a:srgbClr val="092A20"/>
                          </a:solidFill>
                          <a:latin typeface="Arial"/>
                        </a:defRPr>
                      </a:pPr>
                      <a:r>
                        <a:t>Второй оператор / помощник</a:t>
                      </a:r>
                    </a:p>
                  </a:txBody>
                  <a:tcPr marL="91440" marR="91440" marT="45720" marB="45720">
                    <a:solidFill>
                      <a:srgbClr val="FFFFFF"/>
                    </a:solidFill>
                  </a:tcPr>
                </a:tc>
                <a:tc>
                  <a:txBody>
                    <a:bodyPr/>
                    <a:lstStyle/>
                    <a:p>
                      <a:pPr>
                        <a:spcAft>
                          <a:spcPts val="0"/>
                        </a:spcAft>
                        <a:defRPr sz="1800" b="0">
                          <a:solidFill>
                            <a:srgbClr val="092A20"/>
                          </a:solidFill>
                          <a:latin typeface="Arial"/>
                        </a:defRPr>
                      </a:pPr>
                      <a:r>
                        <a:t>Подготовка; мониторинг в отдельных окнах</a:t>
                      </a:r>
                    </a:p>
                  </a:txBody>
                  <a:tcPr marL="91440" marR="91440" marT="45720" marB="45720">
                    <a:solidFill>
                      <a:srgbClr val="FFFFFF"/>
                    </a:solidFill>
                  </a:tcPr>
                </a:tc>
              </a:tr>
            </a:tbl>
          </a:graphicData>
        </a:graphic>
      </p:graphicFrame>
      <p:sp>
        <p:nvSpPr>
          <p:cNvPr id="10" name="TextBox 9"/>
          <p:cNvSpPr txBox="1"/>
          <p:nvPr/>
        </p:nvSpPr>
        <p:spPr>
          <a:xfrm>
            <a:off x="594360" y="4709160"/>
            <a:ext cx="10972800" cy="548640"/>
          </a:xfrm>
          <a:prstGeom prst="rect">
            <a:avLst/>
          </a:prstGeom>
          <a:noFill/>
        </p:spPr>
        <p:txBody>
          <a:bodyPr wrap="square" lIns="13716" rIns="13716" tIns="0" bIns="0">
            <a:spAutoFit/>
          </a:bodyPr>
          <a:lstStyle/>
          <a:p>
            <a:pPr>
              <a:spcBef>
                <a:spcPts val="0"/>
              </a:spcBef>
              <a:spcAft>
                <a:spcPts val="500"/>
              </a:spcAft>
              <a:defRPr sz="1800" b="0">
                <a:solidFill>
                  <a:srgbClr val="AFC5B8"/>
                </a:solidFill>
                <a:latin typeface="Arial"/>
              </a:defRPr>
            </a:pPr>
            <a:r>
              <a:t>Вне штата: агроном, юрист, бухгалтер и учебный партнер — оплачиваемые услуги.</a:t>
            </a:r>
          </a:p>
        </p:txBody>
      </p:sp>
      <p:sp>
        <p:nvSpPr>
          <p:cNvPr id="11" name="Rounded Rectangle 10"/>
          <p:cNvSpPr/>
          <p:nvPr/>
        </p:nvSpPr>
        <p:spPr>
          <a:xfrm>
            <a:off x="502920" y="5513832"/>
            <a:ext cx="11183112" cy="448056"/>
          </a:xfrm>
          <a:prstGeom prst="roundRect">
            <a:avLst>
              <a:gd name="adj" fmla="val 8000"/>
            </a:avLst>
          </a:prstGeom>
          <a:solidFill>
            <a:srgbClr val="C8F2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58368" y="5596128"/>
            <a:ext cx="10881360" cy="320040"/>
          </a:xfrm>
          <a:prstGeom prst="rect">
            <a:avLst/>
          </a:prstGeom>
          <a:noFill/>
        </p:spPr>
        <p:txBody>
          <a:bodyPr wrap="square" lIns="13716" rIns="13716" tIns="0" bIns="0">
            <a:spAutoFit/>
          </a:bodyPr>
          <a:lstStyle/>
          <a:p>
            <a:pPr>
              <a:spcBef>
                <a:spcPts val="0"/>
              </a:spcBef>
              <a:spcAft>
                <a:spcPts val="500"/>
              </a:spcAft>
              <a:defRPr sz="1600" b="1">
                <a:solidFill>
                  <a:srgbClr val="092A20"/>
                </a:solidFill>
                <a:latin typeface="Arial"/>
              </a:defRPr>
            </a:pPr>
            <a:r>
              <a:t>После СВО: добровольный отбор → гражданское обучение → наставник → проверка компетенций</a:t>
            </a:r>
          </a:p>
        </p:txBody>
      </p:sp>
      <p:sp>
        <p:nvSpPr>
          <p:cNvPr id="13" name="TextBox 12"/>
          <p:cNvSpPr txBox="1"/>
          <p:nvPr/>
        </p:nvSpPr>
        <p:spPr>
          <a:xfrm>
            <a:off x="594360" y="6080760"/>
            <a:ext cx="10972800" cy="356616"/>
          </a:xfrm>
          <a:prstGeom prst="rect">
            <a:avLst/>
          </a:prstGeom>
          <a:noFill/>
        </p:spPr>
        <p:txBody>
          <a:bodyPr wrap="square" lIns="13716" rIns="13716" tIns="0" bIns="0">
            <a:spAutoFit/>
          </a:bodyPr>
          <a:lstStyle/>
          <a:p>
            <a:pPr>
              <a:spcBef>
                <a:spcPts val="0"/>
              </a:spcBef>
              <a:spcAft>
                <a:spcPts val="500"/>
              </a:spcAft>
              <a:defRPr sz="1500" b="0">
                <a:solidFill>
                  <a:srgbClr val="AFC5B8"/>
                </a:solidFill>
                <a:latin typeface="Arial"/>
              </a:defRPr>
            </a:pPr>
            <a:r>
              <a:t>Одинаковые требования для всех; опыт не дает автоматического допуска. Личные данные — конфиденциально.</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092A20"/>
        </a:solidFill>
        <a:effectLst/>
      </p:bgPr>
    </p:bg>
    <p:spTree>
      <p:nvGrpSpPr>
        <p:cNvPr id="1" name=""/>
        <p:cNvGrpSpPr/>
        <p:nvPr/>
      </p:nvGrpSpPr>
      <p:grpSpPr/>
      <p:sp>
        <p:nvSpPr>
          <p:cNvPr id="2" name="Rectangle 1"/>
          <p:cNvSpPr/>
          <p:nvPr/>
        </p:nvSpPr>
        <p:spPr>
          <a:xfrm>
            <a:off x="411480" y="393192"/>
            <a:ext cx="91440" cy="448056"/>
          </a:xfrm>
          <a:prstGeom prst="rect">
            <a:avLst/>
          </a:prstGeom>
          <a:solidFill>
            <a:srgbClr val="C8F2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58368" y="356616"/>
            <a:ext cx="10835640" cy="886968"/>
          </a:xfrm>
          <a:prstGeom prst="rect">
            <a:avLst/>
          </a:prstGeom>
          <a:noFill/>
        </p:spPr>
        <p:txBody>
          <a:bodyPr wrap="square" lIns="13716" rIns="13716" tIns="0" bIns="0">
            <a:spAutoFit/>
          </a:bodyPr>
          <a:lstStyle/>
          <a:p>
            <a:pPr>
              <a:spcBef>
                <a:spcPts val="0"/>
              </a:spcBef>
              <a:spcAft>
                <a:spcPts val="500"/>
              </a:spcAft>
              <a:defRPr sz="3000" b="1">
                <a:solidFill>
                  <a:srgbClr val="FFFFFF"/>
                </a:solidFill>
                <a:latin typeface="Arial"/>
              </a:defRPr>
            </a:pPr>
            <a:r>
              <a:t>WBS / иерархическая структура работ</a:t>
            </a:r>
          </a:p>
        </p:txBody>
      </p:sp>
      <p:sp>
        <p:nvSpPr>
          <p:cNvPr id="4" name="TextBox 3"/>
          <p:cNvSpPr txBox="1"/>
          <p:nvPr/>
        </p:nvSpPr>
        <p:spPr>
          <a:xfrm>
            <a:off x="658368" y="1161288"/>
            <a:ext cx="10881360" cy="329184"/>
          </a:xfrm>
          <a:prstGeom prst="rect">
            <a:avLst/>
          </a:prstGeom>
          <a:noFill/>
        </p:spPr>
        <p:txBody>
          <a:bodyPr wrap="square" lIns="13716" rIns="13716" tIns="0" bIns="0">
            <a:spAutoFit/>
          </a:bodyPr>
          <a:lstStyle/>
          <a:p>
            <a:pPr>
              <a:spcBef>
                <a:spcPts val="0"/>
              </a:spcBef>
              <a:spcAft>
                <a:spcPts val="500"/>
              </a:spcAft>
              <a:defRPr sz="1500" b="0">
                <a:solidFill>
                  <a:srgbClr val="C8F26B"/>
                </a:solidFill>
                <a:latin typeface="Arial"/>
              </a:defRPr>
            </a:pPr>
            <a:r>
              <a:t>[ДОПУЩЕНИЕ] WBS из data/project_plan.csv; каждый пакет имеет результат</a:t>
            </a:r>
          </a:p>
        </p:txBody>
      </p:sp>
      <p:sp>
        <p:nvSpPr>
          <p:cNvPr id="5" name="TextBox 4"/>
          <p:cNvSpPr txBox="1"/>
          <p:nvPr/>
        </p:nvSpPr>
        <p:spPr>
          <a:xfrm>
            <a:off x="502920" y="6510528"/>
            <a:ext cx="10058400" cy="210312"/>
          </a:xfrm>
          <a:prstGeom prst="rect">
            <a:avLst/>
          </a:prstGeom>
          <a:noFill/>
        </p:spPr>
        <p:txBody>
          <a:bodyPr wrap="square" lIns="13716" rIns="13716" tIns="0" bIns="0">
            <a:spAutoFit/>
          </a:bodyPr>
          <a:lstStyle/>
          <a:p>
            <a:pPr>
              <a:spcBef>
                <a:spcPts val="0"/>
              </a:spcBef>
              <a:spcAft>
                <a:spcPts val="500"/>
              </a:spcAft>
              <a:defRPr sz="1000" b="0">
                <a:solidFill>
                  <a:srgbClr val="AFC5B8"/>
                </a:solidFill>
                <a:latin typeface="Arial"/>
              </a:defRPr>
            </a:pPr>
            <a:r>
              <a:t>АГРОВЕКТОР / инвестиционная гипотеза / 2027–2031 / редакция 20.10.2026</a:t>
            </a:r>
          </a:p>
        </p:txBody>
      </p:sp>
      <p:sp>
        <p:nvSpPr>
          <p:cNvPr id="6" name="TextBox 5"/>
          <p:cNvSpPr txBox="1"/>
          <p:nvPr/>
        </p:nvSpPr>
        <p:spPr>
          <a:xfrm>
            <a:off x="11018520" y="6483096"/>
            <a:ext cx="731520" cy="256032"/>
          </a:xfrm>
          <a:prstGeom prst="rect">
            <a:avLst/>
          </a:prstGeom>
          <a:noFill/>
        </p:spPr>
        <p:txBody>
          <a:bodyPr wrap="square" lIns="13716" rIns="13716" tIns="0" bIns="0">
            <a:spAutoFit/>
          </a:bodyPr>
          <a:lstStyle/>
          <a:p>
            <a:pPr>
              <a:spcBef>
                <a:spcPts val="0"/>
              </a:spcBef>
              <a:spcAft>
                <a:spcPts val="500"/>
              </a:spcAft>
              <a:defRPr sz="1100" b="1">
                <a:solidFill>
                  <a:srgbClr val="C8F26B"/>
                </a:solidFill>
                <a:latin typeface="Arial"/>
              </a:defRPr>
            </a:pPr>
            <a:r>
              <a:t>13 / 22</a:t>
            </a:r>
          </a:p>
        </p:txBody>
      </p:sp>
      <p:sp>
        <p:nvSpPr>
          <p:cNvPr id="7" name="Rounded Rectangle 6"/>
          <p:cNvSpPr/>
          <p:nvPr/>
        </p:nvSpPr>
        <p:spPr>
          <a:xfrm>
            <a:off x="502920" y="1719072"/>
            <a:ext cx="5477256" cy="1883664"/>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685800" y="1901952"/>
            <a:ext cx="347472" cy="54864"/>
          </a:xfrm>
          <a:prstGeom prst="rect">
            <a:avLst/>
          </a:prstGeom>
          <a:solidFill>
            <a:srgbClr val="C8F2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04088" y="2103120"/>
            <a:ext cx="5074920" cy="585216"/>
          </a:xfrm>
          <a:prstGeom prst="rect">
            <a:avLst/>
          </a:prstGeom>
          <a:noFill/>
        </p:spPr>
        <p:txBody>
          <a:bodyPr wrap="square" lIns="13716" rIns="13716" tIns="0" bIns="0">
            <a:spAutoFit/>
          </a:bodyPr>
          <a:lstStyle/>
          <a:p>
            <a:pPr>
              <a:spcBef>
                <a:spcPts val="0"/>
              </a:spcBef>
              <a:spcAft>
                <a:spcPts val="500"/>
              </a:spcAft>
              <a:defRPr sz="2000" b="1">
                <a:solidFill>
                  <a:srgbClr val="164C38"/>
                </a:solidFill>
                <a:latin typeface="Arial"/>
              </a:defRPr>
            </a:pPr>
            <a:r>
              <a:t>1 / Проверка модели</a:t>
            </a:r>
          </a:p>
        </p:txBody>
      </p:sp>
      <p:sp>
        <p:nvSpPr>
          <p:cNvPr id="10" name="TextBox 9"/>
          <p:cNvSpPr txBox="1"/>
          <p:nvPr/>
        </p:nvSpPr>
        <p:spPr>
          <a:xfrm>
            <a:off x="704088" y="2706624"/>
            <a:ext cx="5074920" cy="822960"/>
          </a:xfrm>
          <a:prstGeom prst="rect">
            <a:avLst/>
          </a:prstGeom>
          <a:noFill/>
        </p:spPr>
        <p:txBody>
          <a:bodyPr wrap="square" lIns="13716" rIns="13716" tIns="0" bIns="0">
            <a:spAutoFit/>
          </a:bodyPr>
          <a:lstStyle/>
          <a:p>
            <a:pPr>
              <a:spcBef>
                <a:spcPts val="0"/>
              </a:spcBef>
              <a:spcAft>
                <a:spcPts val="500"/>
              </a:spcAft>
              <a:defRPr sz="1700" b="0">
                <a:solidFill>
                  <a:srgbClr val="092A20"/>
                </a:solidFill>
                <a:latin typeface="Arial"/>
              </a:defRPr>
            </a:pPr>
            <a:r>
              <a:t>1.1 A — правовая карта</a:t>
            </a:r>
          </a:p>
          <a:p>
            <a:pPr>
              <a:spcBef>
                <a:spcPts val="0"/>
              </a:spcBef>
              <a:spcAft>
                <a:spcPts val="500"/>
              </a:spcAft>
              <a:defRPr sz="1700" b="0">
                <a:solidFill>
                  <a:srgbClr val="092A20"/>
                </a:solidFill>
                <a:latin typeface="Arial"/>
              </a:defRPr>
            </a:pPr>
            <a:r>
              <a:t>1.2 B — интервью и заявки</a:t>
            </a:r>
          </a:p>
          <a:p>
            <a:pPr>
              <a:spcBef>
                <a:spcPts val="0"/>
              </a:spcBef>
              <a:spcAft>
                <a:spcPts val="500"/>
              </a:spcAft>
              <a:defRPr sz="1700" b="0">
                <a:solidFill>
                  <a:srgbClr val="092A20"/>
                </a:solidFill>
                <a:latin typeface="Arial"/>
              </a:defRPr>
            </a:pPr>
            <a:r>
              <a:t>1.3 C — ООО и договоры</a:t>
            </a:r>
          </a:p>
        </p:txBody>
      </p:sp>
      <p:sp>
        <p:nvSpPr>
          <p:cNvPr id="11" name="Rounded Rectangle 10"/>
          <p:cNvSpPr/>
          <p:nvPr/>
        </p:nvSpPr>
        <p:spPr>
          <a:xfrm>
            <a:off x="6208776" y="1719072"/>
            <a:ext cx="5477256" cy="1883664"/>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6391656" y="1901952"/>
            <a:ext cx="347472" cy="54864"/>
          </a:xfrm>
          <a:prstGeom prst="rect">
            <a:avLst/>
          </a:prstGeom>
          <a:solidFill>
            <a:srgbClr val="C8F2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9944" y="2103120"/>
            <a:ext cx="5074920" cy="585216"/>
          </a:xfrm>
          <a:prstGeom prst="rect">
            <a:avLst/>
          </a:prstGeom>
          <a:noFill/>
        </p:spPr>
        <p:txBody>
          <a:bodyPr wrap="square" lIns="13716" rIns="13716" tIns="0" bIns="0">
            <a:spAutoFit/>
          </a:bodyPr>
          <a:lstStyle/>
          <a:p>
            <a:pPr>
              <a:spcBef>
                <a:spcPts val="0"/>
              </a:spcBef>
              <a:spcAft>
                <a:spcPts val="500"/>
              </a:spcAft>
              <a:defRPr sz="2000" b="1">
                <a:solidFill>
                  <a:srgbClr val="164C38"/>
                </a:solidFill>
                <a:latin typeface="Arial"/>
              </a:defRPr>
            </a:pPr>
            <a:r>
              <a:t>2 / Ресурсы</a:t>
            </a:r>
          </a:p>
        </p:txBody>
      </p:sp>
      <p:sp>
        <p:nvSpPr>
          <p:cNvPr id="14" name="TextBox 13"/>
          <p:cNvSpPr txBox="1"/>
          <p:nvPr/>
        </p:nvSpPr>
        <p:spPr>
          <a:xfrm>
            <a:off x="6409944" y="2706624"/>
            <a:ext cx="5074920" cy="822960"/>
          </a:xfrm>
          <a:prstGeom prst="rect">
            <a:avLst/>
          </a:prstGeom>
          <a:noFill/>
        </p:spPr>
        <p:txBody>
          <a:bodyPr wrap="square" lIns="13716" rIns="13716" tIns="0" bIns="0">
            <a:spAutoFit/>
          </a:bodyPr>
          <a:lstStyle/>
          <a:p>
            <a:pPr>
              <a:spcBef>
                <a:spcPts val="0"/>
              </a:spcBef>
              <a:spcAft>
                <a:spcPts val="500"/>
              </a:spcAft>
              <a:defRPr sz="1700" b="0">
                <a:solidFill>
                  <a:srgbClr val="092A20"/>
                </a:solidFill>
                <a:latin typeface="Arial"/>
              </a:defRPr>
            </a:pPr>
            <a:r>
              <a:t>2.1 D — инвестиционное решение</a:t>
            </a:r>
          </a:p>
          <a:p>
            <a:pPr>
              <a:spcBef>
                <a:spcPts val="0"/>
              </a:spcBef>
              <a:spcAft>
                <a:spcPts val="500"/>
              </a:spcAft>
              <a:defRPr sz="1700" b="0">
                <a:solidFill>
                  <a:srgbClr val="092A20"/>
                </a:solidFill>
                <a:latin typeface="Arial"/>
              </a:defRPr>
            </a:pPr>
            <a:r>
              <a:t>2.2 E — приемка техники</a:t>
            </a:r>
          </a:p>
          <a:p>
            <a:pPr>
              <a:spcBef>
                <a:spcPts val="0"/>
              </a:spcBef>
              <a:spcAft>
                <a:spcPts val="500"/>
              </a:spcAft>
              <a:defRPr sz="1700" b="0">
                <a:solidFill>
                  <a:srgbClr val="092A20"/>
                </a:solidFill>
                <a:latin typeface="Arial"/>
              </a:defRPr>
            </a:pPr>
            <a:r>
              <a:t>2.3 F — обучение</a:t>
            </a:r>
          </a:p>
          <a:p>
            <a:pPr>
              <a:spcBef>
                <a:spcPts val="0"/>
              </a:spcBef>
              <a:spcAft>
                <a:spcPts val="500"/>
              </a:spcAft>
              <a:defRPr sz="1700" b="0">
                <a:solidFill>
                  <a:srgbClr val="092A20"/>
                </a:solidFill>
                <a:latin typeface="Arial"/>
              </a:defRPr>
            </a:pPr>
            <a:r>
              <a:t>2.4 G — готовность БВС</a:t>
            </a:r>
          </a:p>
        </p:txBody>
      </p:sp>
      <p:sp>
        <p:nvSpPr>
          <p:cNvPr id="15" name="Rounded Rectangle 14"/>
          <p:cNvSpPr/>
          <p:nvPr/>
        </p:nvSpPr>
        <p:spPr>
          <a:xfrm>
            <a:off x="502920" y="3758183"/>
            <a:ext cx="5477256" cy="1883664"/>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685800" y="3941063"/>
            <a:ext cx="347472" cy="54864"/>
          </a:xfrm>
          <a:prstGeom prst="rect">
            <a:avLst/>
          </a:prstGeom>
          <a:solidFill>
            <a:srgbClr val="C8F2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04088" y="4142231"/>
            <a:ext cx="5074920" cy="585216"/>
          </a:xfrm>
          <a:prstGeom prst="rect">
            <a:avLst/>
          </a:prstGeom>
          <a:noFill/>
        </p:spPr>
        <p:txBody>
          <a:bodyPr wrap="square" lIns="13716" rIns="13716" tIns="0" bIns="0">
            <a:spAutoFit/>
          </a:bodyPr>
          <a:lstStyle/>
          <a:p>
            <a:pPr>
              <a:spcBef>
                <a:spcPts val="0"/>
              </a:spcBef>
              <a:spcAft>
                <a:spcPts val="500"/>
              </a:spcAft>
              <a:defRPr sz="2000" b="1">
                <a:solidFill>
                  <a:srgbClr val="164C38"/>
                </a:solidFill>
                <a:latin typeface="Arial"/>
              </a:defRPr>
            </a:pPr>
            <a:r>
              <a:t>3 / Предсезонная готовность</a:t>
            </a:r>
          </a:p>
        </p:txBody>
      </p:sp>
      <p:sp>
        <p:nvSpPr>
          <p:cNvPr id="18" name="TextBox 17"/>
          <p:cNvSpPr txBox="1"/>
          <p:nvPr/>
        </p:nvSpPr>
        <p:spPr>
          <a:xfrm>
            <a:off x="704088" y="4745736"/>
            <a:ext cx="5074920" cy="822960"/>
          </a:xfrm>
          <a:prstGeom prst="rect">
            <a:avLst/>
          </a:prstGeom>
          <a:noFill/>
        </p:spPr>
        <p:txBody>
          <a:bodyPr wrap="square" lIns="13716" rIns="13716" tIns="0" bIns="0">
            <a:spAutoFit/>
          </a:bodyPr>
          <a:lstStyle/>
          <a:p>
            <a:pPr>
              <a:spcBef>
                <a:spcPts val="0"/>
              </a:spcBef>
              <a:spcAft>
                <a:spcPts val="500"/>
              </a:spcAft>
              <a:defRPr sz="1700" b="0">
                <a:solidFill>
                  <a:srgbClr val="092A20"/>
                </a:solidFill>
                <a:latin typeface="Arial"/>
              </a:defRPr>
            </a:pPr>
            <a:r>
              <a:t>3.1 H — SOP, CRM, карты</a:t>
            </a:r>
          </a:p>
          <a:p>
            <a:pPr>
              <a:spcBef>
                <a:spcPts val="0"/>
              </a:spcBef>
              <a:spcAft>
                <a:spcPts val="500"/>
              </a:spcAft>
              <a:defRPr sz="1700" b="0">
                <a:solidFill>
                  <a:srgbClr val="092A20"/>
                </a:solidFill>
                <a:latin typeface="Arial"/>
              </a:defRPr>
            </a:pPr>
            <a:r>
              <a:t>3.2 I — приемочные испытания</a:t>
            </a:r>
          </a:p>
          <a:p>
            <a:pPr>
              <a:spcBef>
                <a:spcPts val="0"/>
              </a:spcBef>
              <a:spcAft>
                <a:spcPts val="500"/>
              </a:spcAft>
              <a:defRPr sz="1700" b="0">
                <a:solidFill>
                  <a:srgbClr val="092A20"/>
                </a:solidFill>
                <a:latin typeface="Arial"/>
              </a:defRPr>
            </a:pPr>
            <a:r>
              <a:t>3.3 J — договоры сезона</a:t>
            </a:r>
          </a:p>
          <a:p>
            <a:pPr>
              <a:spcBef>
                <a:spcPts val="0"/>
              </a:spcBef>
              <a:spcAft>
                <a:spcPts val="500"/>
              </a:spcAft>
              <a:defRPr sz="1700" b="0">
                <a:solidFill>
                  <a:srgbClr val="092A20"/>
                </a:solidFill>
                <a:latin typeface="Arial"/>
              </a:defRPr>
            </a:pPr>
            <a:r>
              <a:t>3.4 M — ожидание окна</a:t>
            </a:r>
          </a:p>
        </p:txBody>
      </p:sp>
      <p:sp>
        <p:nvSpPr>
          <p:cNvPr id="19" name="Rounded Rectangle 18"/>
          <p:cNvSpPr/>
          <p:nvPr/>
        </p:nvSpPr>
        <p:spPr>
          <a:xfrm>
            <a:off x="6208776" y="3758183"/>
            <a:ext cx="5477256" cy="1883664"/>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391656" y="3941063"/>
            <a:ext cx="347472" cy="54864"/>
          </a:xfrm>
          <a:prstGeom prst="rect">
            <a:avLst/>
          </a:prstGeom>
          <a:solidFill>
            <a:srgbClr val="C8F2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409944" y="4142231"/>
            <a:ext cx="5074920" cy="585216"/>
          </a:xfrm>
          <a:prstGeom prst="rect">
            <a:avLst/>
          </a:prstGeom>
          <a:noFill/>
        </p:spPr>
        <p:txBody>
          <a:bodyPr wrap="square" lIns="13716" rIns="13716" tIns="0" bIns="0">
            <a:spAutoFit/>
          </a:bodyPr>
          <a:lstStyle/>
          <a:p>
            <a:pPr>
              <a:spcBef>
                <a:spcPts val="0"/>
              </a:spcBef>
              <a:spcAft>
                <a:spcPts val="500"/>
              </a:spcAft>
              <a:defRPr sz="2000" b="1">
                <a:solidFill>
                  <a:srgbClr val="164C38"/>
                </a:solidFill>
                <a:latin typeface="Arial"/>
              </a:defRPr>
            </a:pPr>
            <a:r>
              <a:t>4 / Исполнение и контроль</a:t>
            </a:r>
          </a:p>
        </p:txBody>
      </p:sp>
      <p:sp>
        <p:nvSpPr>
          <p:cNvPr id="22" name="TextBox 21"/>
          <p:cNvSpPr txBox="1"/>
          <p:nvPr/>
        </p:nvSpPr>
        <p:spPr>
          <a:xfrm>
            <a:off x="6409944" y="4745736"/>
            <a:ext cx="5074920" cy="822960"/>
          </a:xfrm>
          <a:prstGeom prst="rect">
            <a:avLst/>
          </a:prstGeom>
          <a:noFill/>
        </p:spPr>
        <p:txBody>
          <a:bodyPr wrap="square" lIns="13716" rIns="13716" tIns="0" bIns="0">
            <a:spAutoFit/>
          </a:bodyPr>
          <a:lstStyle/>
          <a:p>
            <a:pPr>
              <a:spcBef>
                <a:spcPts val="0"/>
              </a:spcBef>
              <a:spcAft>
                <a:spcPts val="500"/>
              </a:spcAft>
              <a:defRPr sz="1700" b="0">
                <a:solidFill>
                  <a:srgbClr val="092A20"/>
                </a:solidFill>
                <a:latin typeface="Arial"/>
              </a:defRPr>
            </a:pPr>
            <a:r>
              <a:t>4.1 K — коммерческий сезон</a:t>
            </a:r>
          </a:p>
          <a:p>
            <a:pPr>
              <a:spcBef>
                <a:spcPts val="0"/>
              </a:spcBef>
              <a:spcAft>
                <a:spcPts val="500"/>
              </a:spcAft>
              <a:defRPr sz="1700" b="0">
                <a:solidFill>
                  <a:srgbClr val="092A20"/>
                </a:solidFill>
                <a:latin typeface="Arial"/>
              </a:defRPr>
            </a:pPr>
            <a:r>
              <a:t>4.2 L — аудит и решение</a:t>
            </a:r>
          </a:p>
        </p:txBody>
      </p:sp>
      <p:sp>
        <p:nvSpPr>
          <p:cNvPr id="23" name="TextBox 22"/>
          <p:cNvSpPr txBox="1"/>
          <p:nvPr/>
        </p:nvSpPr>
        <p:spPr>
          <a:xfrm>
            <a:off x="594360" y="5925312"/>
            <a:ext cx="10972800" cy="475488"/>
          </a:xfrm>
          <a:prstGeom prst="rect">
            <a:avLst/>
          </a:prstGeom>
          <a:noFill/>
        </p:spPr>
        <p:txBody>
          <a:bodyPr wrap="square" lIns="13716" rIns="13716" tIns="0" bIns="0">
            <a:spAutoFit/>
          </a:bodyPr>
          <a:lstStyle/>
          <a:p>
            <a:pPr>
              <a:spcBef>
                <a:spcPts val="0"/>
              </a:spcBef>
              <a:spcAft>
                <a:spcPts val="500"/>
              </a:spcAft>
              <a:defRPr sz="1500" b="0">
                <a:solidFill>
                  <a:srgbClr val="AFC5B8"/>
                </a:solidFill>
                <a:latin typeface="Arial"/>
              </a:defRPr>
            </a:pPr>
            <a:r>
              <a:t>Закупка ≠ разрешение на работы. Полевой пилот 100 га включен в апрельский сезон, не прибавлен сверху.</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092A20"/>
        </a:solidFill>
        <a:effectLst/>
      </p:bgPr>
    </p:bg>
    <p:spTree>
      <p:nvGrpSpPr>
        <p:cNvPr id="1" name=""/>
        <p:cNvGrpSpPr/>
        <p:nvPr/>
      </p:nvGrpSpPr>
      <p:grpSpPr/>
      <p:sp>
        <p:nvSpPr>
          <p:cNvPr id="2" name="Rectangle 1"/>
          <p:cNvSpPr/>
          <p:nvPr/>
        </p:nvSpPr>
        <p:spPr>
          <a:xfrm>
            <a:off x="411480" y="393192"/>
            <a:ext cx="91440" cy="448056"/>
          </a:xfrm>
          <a:prstGeom prst="rect">
            <a:avLst/>
          </a:prstGeom>
          <a:solidFill>
            <a:srgbClr val="C8F2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58368" y="356616"/>
            <a:ext cx="10835640" cy="886968"/>
          </a:xfrm>
          <a:prstGeom prst="rect">
            <a:avLst/>
          </a:prstGeom>
          <a:noFill/>
        </p:spPr>
        <p:txBody>
          <a:bodyPr wrap="square" lIns="13716" rIns="13716" tIns="0" bIns="0">
            <a:spAutoFit/>
          </a:bodyPr>
          <a:lstStyle/>
          <a:p>
            <a:pPr>
              <a:spcBef>
                <a:spcPts val="0"/>
              </a:spcBef>
              <a:spcAft>
                <a:spcPts val="500"/>
              </a:spcAft>
              <a:defRPr sz="3000" b="1">
                <a:solidFill>
                  <a:srgbClr val="FFFFFF"/>
                </a:solidFill>
                <a:latin typeface="Arial"/>
              </a:defRPr>
            </a:pPr>
            <a:r>
              <a:t>Диаграмма Ганта</a:t>
            </a:r>
          </a:p>
        </p:txBody>
      </p:sp>
      <p:sp>
        <p:nvSpPr>
          <p:cNvPr id="4" name="TextBox 3"/>
          <p:cNvSpPr txBox="1"/>
          <p:nvPr/>
        </p:nvSpPr>
        <p:spPr>
          <a:xfrm>
            <a:off x="658368" y="1161288"/>
            <a:ext cx="10881360" cy="329184"/>
          </a:xfrm>
          <a:prstGeom prst="rect">
            <a:avLst/>
          </a:prstGeom>
          <a:noFill/>
        </p:spPr>
        <p:txBody>
          <a:bodyPr wrap="square" lIns="13716" rIns="13716" tIns="0" bIns="0">
            <a:spAutoFit/>
          </a:bodyPr>
          <a:lstStyle/>
          <a:p>
            <a:pPr>
              <a:spcBef>
                <a:spcPts val="0"/>
              </a:spcBef>
              <a:spcAft>
                <a:spcPts val="500"/>
              </a:spcAft>
              <a:defRPr sz="1500" b="0">
                <a:solidFill>
                  <a:srgbClr val="C8F26B"/>
                </a:solidFill>
                <a:latin typeface="Arial"/>
              </a:defRPr>
            </a:pPr>
            <a:r>
              <a:t>[РАСЧЕТ] Гант из CSV  •  [ДОПУЩЕНИЕ] Даты и длительности — план, не выданные разрешения</a:t>
            </a:r>
          </a:p>
        </p:txBody>
      </p:sp>
      <p:sp>
        <p:nvSpPr>
          <p:cNvPr id="5" name="TextBox 4"/>
          <p:cNvSpPr txBox="1"/>
          <p:nvPr/>
        </p:nvSpPr>
        <p:spPr>
          <a:xfrm>
            <a:off x="502920" y="6510528"/>
            <a:ext cx="10058400" cy="210312"/>
          </a:xfrm>
          <a:prstGeom prst="rect">
            <a:avLst/>
          </a:prstGeom>
          <a:noFill/>
        </p:spPr>
        <p:txBody>
          <a:bodyPr wrap="square" lIns="13716" rIns="13716" tIns="0" bIns="0">
            <a:spAutoFit/>
          </a:bodyPr>
          <a:lstStyle/>
          <a:p>
            <a:pPr>
              <a:spcBef>
                <a:spcPts val="0"/>
              </a:spcBef>
              <a:spcAft>
                <a:spcPts val="500"/>
              </a:spcAft>
              <a:defRPr sz="1000" b="0">
                <a:solidFill>
                  <a:srgbClr val="AFC5B8"/>
                </a:solidFill>
                <a:latin typeface="Arial"/>
              </a:defRPr>
            </a:pPr>
            <a:r>
              <a:t>АГРОВЕКТОР / инвестиционная гипотеза / 2027–2031 / редакция 20.10.2026</a:t>
            </a:r>
          </a:p>
        </p:txBody>
      </p:sp>
      <p:sp>
        <p:nvSpPr>
          <p:cNvPr id="6" name="TextBox 5"/>
          <p:cNvSpPr txBox="1"/>
          <p:nvPr/>
        </p:nvSpPr>
        <p:spPr>
          <a:xfrm>
            <a:off x="11018520" y="6483096"/>
            <a:ext cx="731520" cy="256032"/>
          </a:xfrm>
          <a:prstGeom prst="rect">
            <a:avLst/>
          </a:prstGeom>
          <a:noFill/>
        </p:spPr>
        <p:txBody>
          <a:bodyPr wrap="square" lIns="13716" rIns="13716" tIns="0" bIns="0">
            <a:spAutoFit/>
          </a:bodyPr>
          <a:lstStyle/>
          <a:p>
            <a:pPr>
              <a:spcBef>
                <a:spcPts val="0"/>
              </a:spcBef>
              <a:spcAft>
                <a:spcPts val="500"/>
              </a:spcAft>
              <a:defRPr sz="1100" b="1">
                <a:solidFill>
                  <a:srgbClr val="C8F26B"/>
                </a:solidFill>
                <a:latin typeface="Arial"/>
              </a:defRPr>
            </a:pPr>
            <a:r>
              <a:t>14 / 22</a:t>
            </a:r>
          </a:p>
        </p:txBody>
      </p:sp>
      <p:sp>
        <p:nvSpPr>
          <p:cNvPr id="7" name="Rounded Rectangle 6"/>
          <p:cNvSpPr/>
          <p:nvPr/>
        </p:nvSpPr>
        <p:spPr>
          <a:xfrm>
            <a:off x="502920" y="1700784"/>
            <a:ext cx="11183112" cy="41605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3776472" y="1965960"/>
            <a:ext cx="7315" cy="3630168"/>
          </a:xfrm>
          <a:prstGeom prst="rect">
            <a:avLst/>
          </a:prstGeom>
          <a:solidFill>
            <a:srgbClr val="EFF4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3639312" y="1746504"/>
            <a:ext cx="365760" cy="228600"/>
          </a:xfrm>
          <a:prstGeom prst="rect">
            <a:avLst/>
          </a:prstGeom>
          <a:noFill/>
        </p:spPr>
        <p:txBody>
          <a:bodyPr wrap="square" lIns="13716" rIns="13716" tIns="0" bIns="0">
            <a:spAutoFit/>
          </a:bodyPr>
          <a:lstStyle/>
          <a:p>
            <a:pPr>
              <a:spcBef>
                <a:spcPts val="0"/>
              </a:spcBef>
              <a:spcAft>
                <a:spcPts val="500"/>
              </a:spcAft>
              <a:defRPr sz="1500" b="0">
                <a:solidFill>
                  <a:srgbClr val="164C38"/>
                </a:solidFill>
                <a:latin typeface="Arial"/>
              </a:defRPr>
            </a:pPr>
            <a:r>
              <a:t>0</a:t>
            </a:r>
          </a:p>
        </p:txBody>
      </p:sp>
      <p:sp>
        <p:nvSpPr>
          <p:cNvPr id="10" name="Rectangle 9"/>
          <p:cNvSpPr/>
          <p:nvPr/>
        </p:nvSpPr>
        <p:spPr>
          <a:xfrm>
            <a:off x="4536916" y="1965960"/>
            <a:ext cx="7315" cy="3630168"/>
          </a:xfrm>
          <a:prstGeom prst="rect">
            <a:avLst/>
          </a:prstGeom>
          <a:solidFill>
            <a:srgbClr val="EFF4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399756" y="1746504"/>
            <a:ext cx="365760" cy="228600"/>
          </a:xfrm>
          <a:prstGeom prst="rect">
            <a:avLst/>
          </a:prstGeom>
          <a:noFill/>
        </p:spPr>
        <p:txBody>
          <a:bodyPr wrap="square" lIns="13716" rIns="13716" tIns="0" bIns="0">
            <a:spAutoFit/>
          </a:bodyPr>
          <a:lstStyle/>
          <a:p>
            <a:pPr>
              <a:spcBef>
                <a:spcPts val="0"/>
              </a:spcBef>
              <a:spcAft>
                <a:spcPts val="500"/>
              </a:spcAft>
              <a:defRPr sz="1500" b="0">
                <a:solidFill>
                  <a:srgbClr val="164C38"/>
                </a:solidFill>
                <a:latin typeface="Arial"/>
              </a:defRPr>
            </a:pPr>
            <a:r>
              <a:t>5</a:t>
            </a:r>
          </a:p>
        </p:txBody>
      </p:sp>
      <p:sp>
        <p:nvSpPr>
          <p:cNvPr id="12" name="Rectangle 11"/>
          <p:cNvSpPr/>
          <p:nvPr/>
        </p:nvSpPr>
        <p:spPr>
          <a:xfrm>
            <a:off x="5297361" y="1965960"/>
            <a:ext cx="7315" cy="3630168"/>
          </a:xfrm>
          <a:prstGeom prst="rect">
            <a:avLst/>
          </a:prstGeom>
          <a:solidFill>
            <a:srgbClr val="EFF4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160201" y="1746504"/>
            <a:ext cx="365760" cy="228600"/>
          </a:xfrm>
          <a:prstGeom prst="rect">
            <a:avLst/>
          </a:prstGeom>
          <a:noFill/>
        </p:spPr>
        <p:txBody>
          <a:bodyPr wrap="square" lIns="13716" rIns="13716" tIns="0" bIns="0">
            <a:spAutoFit/>
          </a:bodyPr>
          <a:lstStyle/>
          <a:p>
            <a:pPr>
              <a:spcBef>
                <a:spcPts val="0"/>
              </a:spcBef>
              <a:spcAft>
                <a:spcPts val="500"/>
              </a:spcAft>
              <a:defRPr sz="1500" b="0">
                <a:solidFill>
                  <a:srgbClr val="164C38"/>
                </a:solidFill>
                <a:latin typeface="Arial"/>
              </a:defRPr>
            </a:pPr>
            <a:r>
              <a:t>10</a:t>
            </a:r>
          </a:p>
        </p:txBody>
      </p:sp>
      <p:sp>
        <p:nvSpPr>
          <p:cNvPr id="14" name="Rectangle 13"/>
          <p:cNvSpPr/>
          <p:nvPr/>
        </p:nvSpPr>
        <p:spPr>
          <a:xfrm>
            <a:off x="6057806" y="1965960"/>
            <a:ext cx="7315" cy="3630168"/>
          </a:xfrm>
          <a:prstGeom prst="rect">
            <a:avLst/>
          </a:prstGeom>
          <a:solidFill>
            <a:srgbClr val="EFF4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920646" y="1746504"/>
            <a:ext cx="365760" cy="228600"/>
          </a:xfrm>
          <a:prstGeom prst="rect">
            <a:avLst/>
          </a:prstGeom>
          <a:noFill/>
        </p:spPr>
        <p:txBody>
          <a:bodyPr wrap="square" lIns="13716" rIns="13716" tIns="0" bIns="0">
            <a:spAutoFit/>
          </a:bodyPr>
          <a:lstStyle/>
          <a:p>
            <a:pPr>
              <a:spcBef>
                <a:spcPts val="0"/>
              </a:spcBef>
              <a:spcAft>
                <a:spcPts val="500"/>
              </a:spcAft>
              <a:defRPr sz="1500" b="0">
                <a:solidFill>
                  <a:srgbClr val="164C38"/>
                </a:solidFill>
                <a:latin typeface="Arial"/>
              </a:defRPr>
            </a:pPr>
            <a:r>
              <a:t>15</a:t>
            </a:r>
          </a:p>
        </p:txBody>
      </p:sp>
      <p:sp>
        <p:nvSpPr>
          <p:cNvPr id="16" name="Rectangle 15"/>
          <p:cNvSpPr/>
          <p:nvPr/>
        </p:nvSpPr>
        <p:spPr>
          <a:xfrm>
            <a:off x="6818251" y="1965960"/>
            <a:ext cx="7315" cy="3630168"/>
          </a:xfrm>
          <a:prstGeom prst="rect">
            <a:avLst/>
          </a:prstGeom>
          <a:solidFill>
            <a:srgbClr val="EFF4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681091" y="1746504"/>
            <a:ext cx="365760" cy="228600"/>
          </a:xfrm>
          <a:prstGeom prst="rect">
            <a:avLst/>
          </a:prstGeom>
          <a:noFill/>
        </p:spPr>
        <p:txBody>
          <a:bodyPr wrap="square" lIns="13716" rIns="13716" tIns="0" bIns="0">
            <a:spAutoFit/>
          </a:bodyPr>
          <a:lstStyle/>
          <a:p>
            <a:pPr>
              <a:spcBef>
                <a:spcPts val="0"/>
              </a:spcBef>
              <a:spcAft>
                <a:spcPts val="500"/>
              </a:spcAft>
              <a:defRPr sz="1500" b="0">
                <a:solidFill>
                  <a:srgbClr val="164C38"/>
                </a:solidFill>
                <a:latin typeface="Arial"/>
              </a:defRPr>
            </a:pPr>
            <a:r>
              <a:t>20</a:t>
            </a:r>
          </a:p>
        </p:txBody>
      </p:sp>
      <p:sp>
        <p:nvSpPr>
          <p:cNvPr id="18" name="Rectangle 17"/>
          <p:cNvSpPr/>
          <p:nvPr/>
        </p:nvSpPr>
        <p:spPr>
          <a:xfrm>
            <a:off x="7578696" y="1965960"/>
            <a:ext cx="7315" cy="3630168"/>
          </a:xfrm>
          <a:prstGeom prst="rect">
            <a:avLst/>
          </a:prstGeom>
          <a:solidFill>
            <a:srgbClr val="EFF4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441536" y="1746504"/>
            <a:ext cx="365760" cy="228600"/>
          </a:xfrm>
          <a:prstGeom prst="rect">
            <a:avLst/>
          </a:prstGeom>
          <a:noFill/>
        </p:spPr>
        <p:txBody>
          <a:bodyPr wrap="square" lIns="13716" rIns="13716" tIns="0" bIns="0">
            <a:spAutoFit/>
          </a:bodyPr>
          <a:lstStyle/>
          <a:p>
            <a:pPr>
              <a:spcBef>
                <a:spcPts val="0"/>
              </a:spcBef>
              <a:spcAft>
                <a:spcPts val="500"/>
              </a:spcAft>
              <a:defRPr sz="1500" b="0">
                <a:solidFill>
                  <a:srgbClr val="164C38"/>
                </a:solidFill>
                <a:latin typeface="Arial"/>
              </a:defRPr>
            </a:pPr>
            <a:r>
              <a:t>25</a:t>
            </a:r>
          </a:p>
        </p:txBody>
      </p:sp>
      <p:sp>
        <p:nvSpPr>
          <p:cNvPr id="20" name="Rectangle 19"/>
          <p:cNvSpPr/>
          <p:nvPr/>
        </p:nvSpPr>
        <p:spPr>
          <a:xfrm>
            <a:off x="8339141" y="1965960"/>
            <a:ext cx="7315" cy="3630168"/>
          </a:xfrm>
          <a:prstGeom prst="rect">
            <a:avLst/>
          </a:prstGeom>
          <a:solidFill>
            <a:srgbClr val="EFF4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201981" y="1746504"/>
            <a:ext cx="365760" cy="228600"/>
          </a:xfrm>
          <a:prstGeom prst="rect">
            <a:avLst/>
          </a:prstGeom>
          <a:noFill/>
        </p:spPr>
        <p:txBody>
          <a:bodyPr wrap="square" lIns="13716" rIns="13716" tIns="0" bIns="0">
            <a:spAutoFit/>
          </a:bodyPr>
          <a:lstStyle/>
          <a:p>
            <a:pPr>
              <a:spcBef>
                <a:spcPts val="0"/>
              </a:spcBef>
              <a:spcAft>
                <a:spcPts val="500"/>
              </a:spcAft>
              <a:defRPr sz="1500" b="0">
                <a:solidFill>
                  <a:srgbClr val="164C38"/>
                </a:solidFill>
                <a:latin typeface="Arial"/>
              </a:defRPr>
            </a:pPr>
            <a:r>
              <a:t>30</a:t>
            </a:r>
          </a:p>
        </p:txBody>
      </p:sp>
      <p:sp>
        <p:nvSpPr>
          <p:cNvPr id="22" name="Rectangle 21"/>
          <p:cNvSpPr/>
          <p:nvPr/>
        </p:nvSpPr>
        <p:spPr>
          <a:xfrm>
            <a:off x="9099586" y="1965960"/>
            <a:ext cx="7315" cy="3630168"/>
          </a:xfrm>
          <a:prstGeom prst="rect">
            <a:avLst/>
          </a:prstGeom>
          <a:solidFill>
            <a:srgbClr val="EFF4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8962426" y="1746504"/>
            <a:ext cx="365760" cy="228600"/>
          </a:xfrm>
          <a:prstGeom prst="rect">
            <a:avLst/>
          </a:prstGeom>
          <a:noFill/>
        </p:spPr>
        <p:txBody>
          <a:bodyPr wrap="square" lIns="13716" rIns="13716" tIns="0" bIns="0">
            <a:spAutoFit/>
          </a:bodyPr>
          <a:lstStyle/>
          <a:p>
            <a:pPr>
              <a:spcBef>
                <a:spcPts val="0"/>
              </a:spcBef>
              <a:spcAft>
                <a:spcPts val="500"/>
              </a:spcAft>
              <a:defRPr sz="1500" b="0">
                <a:solidFill>
                  <a:srgbClr val="164C38"/>
                </a:solidFill>
                <a:latin typeface="Arial"/>
              </a:defRPr>
            </a:pPr>
            <a:r>
              <a:t>35</a:t>
            </a:r>
          </a:p>
        </p:txBody>
      </p:sp>
      <p:sp>
        <p:nvSpPr>
          <p:cNvPr id="24" name="Rectangle 23"/>
          <p:cNvSpPr/>
          <p:nvPr/>
        </p:nvSpPr>
        <p:spPr>
          <a:xfrm>
            <a:off x="9860031" y="1965960"/>
            <a:ext cx="7315" cy="3630168"/>
          </a:xfrm>
          <a:prstGeom prst="rect">
            <a:avLst/>
          </a:prstGeom>
          <a:solidFill>
            <a:srgbClr val="EFF4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9722871" y="1746504"/>
            <a:ext cx="365760" cy="228600"/>
          </a:xfrm>
          <a:prstGeom prst="rect">
            <a:avLst/>
          </a:prstGeom>
          <a:noFill/>
        </p:spPr>
        <p:txBody>
          <a:bodyPr wrap="square" lIns="13716" rIns="13716" tIns="0" bIns="0">
            <a:spAutoFit/>
          </a:bodyPr>
          <a:lstStyle/>
          <a:p>
            <a:pPr>
              <a:spcBef>
                <a:spcPts val="0"/>
              </a:spcBef>
              <a:spcAft>
                <a:spcPts val="500"/>
              </a:spcAft>
              <a:defRPr sz="1500" b="0">
                <a:solidFill>
                  <a:srgbClr val="164C38"/>
                </a:solidFill>
                <a:latin typeface="Arial"/>
              </a:defRPr>
            </a:pPr>
            <a:r>
              <a:t>40</a:t>
            </a:r>
          </a:p>
        </p:txBody>
      </p:sp>
      <p:sp>
        <p:nvSpPr>
          <p:cNvPr id="26" name="Rectangle 25"/>
          <p:cNvSpPr/>
          <p:nvPr/>
        </p:nvSpPr>
        <p:spPr>
          <a:xfrm>
            <a:off x="10620476" y="1965960"/>
            <a:ext cx="7315" cy="3630168"/>
          </a:xfrm>
          <a:prstGeom prst="rect">
            <a:avLst/>
          </a:prstGeom>
          <a:solidFill>
            <a:srgbClr val="EFF4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10483316" y="1746504"/>
            <a:ext cx="365760" cy="228600"/>
          </a:xfrm>
          <a:prstGeom prst="rect">
            <a:avLst/>
          </a:prstGeom>
          <a:noFill/>
        </p:spPr>
        <p:txBody>
          <a:bodyPr wrap="square" lIns="13716" rIns="13716" tIns="0" bIns="0">
            <a:spAutoFit/>
          </a:bodyPr>
          <a:lstStyle/>
          <a:p>
            <a:pPr>
              <a:spcBef>
                <a:spcPts val="0"/>
              </a:spcBef>
              <a:spcAft>
                <a:spcPts val="500"/>
              </a:spcAft>
              <a:defRPr sz="1500" b="0">
                <a:solidFill>
                  <a:srgbClr val="164C38"/>
                </a:solidFill>
                <a:latin typeface="Arial"/>
              </a:defRPr>
            </a:pPr>
            <a:r>
              <a:t>45</a:t>
            </a:r>
          </a:p>
        </p:txBody>
      </p:sp>
      <p:sp>
        <p:nvSpPr>
          <p:cNvPr id="28" name="TextBox 27"/>
          <p:cNvSpPr txBox="1"/>
          <p:nvPr/>
        </p:nvSpPr>
        <p:spPr>
          <a:xfrm>
            <a:off x="640080" y="1965960"/>
            <a:ext cx="3017520" cy="265176"/>
          </a:xfrm>
          <a:prstGeom prst="rect">
            <a:avLst/>
          </a:prstGeom>
          <a:noFill/>
        </p:spPr>
        <p:txBody>
          <a:bodyPr wrap="square" lIns="13716" rIns="13716" tIns="0" bIns="0">
            <a:spAutoFit/>
          </a:bodyPr>
          <a:lstStyle/>
          <a:p>
            <a:pPr>
              <a:spcBef>
                <a:spcPts val="0"/>
              </a:spcBef>
              <a:spcAft>
                <a:spcPts val="500"/>
              </a:spcAft>
              <a:defRPr sz="1500" b="0">
                <a:solidFill>
                  <a:srgbClr val="092A20"/>
                </a:solidFill>
                <a:latin typeface="Arial"/>
              </a:defRPr>
            </a:pPr>
            <a:r>
              <a:t>A  Правовой gate</a:t>
            </a:r>
          </a:p>
        </p:txBody>
      </p:sp>
      <p:sp>
        <p:nvSpPr>
          <p:cNvPr id="29" name="Rounded Rectangle 28"/>
          <p:cNvSpPr/>
          <p:nvPr/>
        </p:nvSpPr>
        <p:spPr>
          <a:xfrm>
            <a:off x="3776472" y="2007107"/>
            <a:ext cx="304177" cy="164592"/>
          </a:xfrm>
          <a:prstGeom prst="roundRect">
            <a:avLst>
              <a:gd name="adj" fmla="val 8000"/>
            </a:avLst>
          </a:prstGeom>
          <a:solidFill>
            <a:srgbClr val="91B66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640080" y="2231136"/>
            <a:ext cx="3017520" cy="265176"/>
          </a:xfrm>
          <a:prstGeom prst="rect">
            <a:avLst/>
          </a:prstGeom>
          <a:noFill/>
        </p:spPr>
        <p:txBody>
          <a:bodyPr wrap="square" lIns="13716" rIns="13716" tIns="0" bIns="0">
            <a:spAutoFit/>
          </a:bodyPr>
          <a:lstStyle/>
          <a:p>
            <a:pPr>
              <a:spcBef>
                <a:spcPts val="0"/>
              </a:spcBef>
              <a:spcAft>
                <a:spcPts val="500"/>
              </a:spcAft>
              <a:defRPr sz="1500" b="0">
                <a:solidFill>
                  <a:srgbClr val="092A20"/>
                </a:solidFill>
                <a:latin typeface="Arial"/>
              </a:defRPr>
            </a:pPr>
            <a:r>
              <a:t>B  Спрос / заявки</a:t>
            </a:r>
          </a:p>
        </p:txBody>
      </p:sp>
      <p:sp>
        <p:nvSpPr>
          <p:cNvPr id="31" name="Rounded Rectangle 30"/>
          <p:cNvSpPr/>
          <p:nvPr/>
        </p:nvSpPr>
        <p:spPr>
          <a:xfrm>
            <a:off x="3776472" y="2272284"/>
            <a:ext cx="912533" cy="164592"/>
          </a:xfrm>
          <a:prstGeom prst="roundRect">
            <a:avLst>
              <a:gd name="adj" fmla="val 8000"/>
            </a:avLst>
          </a:prstGeom>
          <a:solidFill>
            <a:srgbClr val="164C3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640080" y="2496312"/>
            <a:ext cx="3017520" cy="265176"/>
          </a:xfrm>
          <a:prstGeom prst="rect">
            <a:avLst/>
          </a:prstGeom>
          <a:noFill/>
        </p:spPr>
        <p:txBody>
          <a:bodyPr wrap="square" lIns="13716" rIns="13716" tIns="0" bIns="0">
            <a:spAutoFit/>
          </a:bodyPr>
          <a:lstStyle/>
          <a:p>
            <a:pPr>
              <a:spcBef>
                <a:spcPts val="0"/>
              </a:spcBef>
              <a:spcAft>
                <a:spcPts val="500"/>
              </a:spcAft>
              <a:defRPr sz="1500" b="0">
                <a:solidFill>
                  <a:srgbClr val="092A20"/>
                </a:solidFill>
                <a:latin typeface="Arial"/>
              </a:defRPr>
            </a:pPr>
            <a:r>
              <a:t>C  ООО и договоры</a:t>
            </a:r>
          </a:p>
        </p:txBody>
      </p:sp>
      <p:sp>
        <p:nvSpPr>
          <p:cNvPr id="33" name="Rounded Rectangle 32"/>
          <p:cNvSpPr/>
          <p:nvPr/>
        </p:nvSpPr>
        <p:spPr>
          <a:xfrm>
            <a:off x="4080649" y="2537460"/>
            <a:ext cx="456266" cy="164592"/>
          </a:xfrm>
          <a:prstGeom prst="roundRect">
            <a:avLst>
              <a:gd name="adj" fmla="val 8000"/>
            </a:avLst>
          </a:prstGeom>
          <a:solidFill>
            <a:srgbClr val="91B66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640080" y="2761487"/>
            <a:ext cx="3017520" cy="265176"/>
          </a:xfrm>
          <a:prstGeom prst="rect">
            <a:avLst/>
          </a:prstGeom>
          <a:noFill/>
        </p:spPr>
        <p:txBody>
          <a:bodyPr wrap="square" lIns="13716" rIns="13716" tIns="0" bIns="0">
            <a:spAutoFit/>
          </a:bodyPr>
          <a:lstStyle/>
          <a:p>
            <a:pPr>
              <a:spcBef>
                <a:spcPts val="0"/>
              </a:spcBef>
              <a:spcAft>
                <a:spcPts val="500"/>
              </a:spcAft>
              <a:defRPr sz="1500" b="0">
                <a:solidFill>
                  <a:srgbClr val="092A20"/>
                </a:solidFill>
                <a:latin typeface="Arial"/>
              </a:defRPr>
            </a:pPr>
            <a:r>
              <a:t>D  Финансирование</a:t>
            </a:r>
          </a:p>
        </p:txBody>
      </p:sp>
      <p:sp>
        <p:nvSpPr>
          <p:cNvPr id="35" name="Rounded Rectangle 34"/>
          <p:cNvSpPr/>
          <p:nvPr/>
        </p:nvSpPr>
        <p:spPr>
          <a:xfrm>
            <a:off x="4689005" y="2802635"/>
            <a:ext cx="152088" cy="164592"/>
          </a:xfrm>
          <a:prstGeom prst="roundRect">
            <a:avLst>
              <a:gd name="adj" fmla="val 8000"/>
            </a:avLst>
          </a:prstGeom>
          <a:solidFill>
            <a:srgbClr val="164C3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640080" y="3026663"/>
            <a:ext cx="3017520" cy="265176"/>
          </a:xfrm>
          <a:prstGeom prst="rect">
            <a:avLst/>
          </a:prstGeom>
          <a:noFill/>
        </p:spPr>
        <p:txBody>
          <a:bodyPr wrap="square" lIns="13716" rIns="13716" tIns="0" bIns="0">
            <a:spAutoFit/>
          </a:bodyPr>
          <a:lstStyle/>
          <a:p>
            <a:pPr>
              <a:spcBef>
                <a:spcPts val="0"/>
              </a:spcBef>
              <a:spcAft>
                <a:spcPts val="500"/>
              </a:spcAft>
              <a:defRPr sz="1500" b="0">
                <a:solidFill>
                  <a:srgbClr val="092A20"/>
                </a:solidFill>
                <a:latin typeface="Arial"/>
              </a:defRPr>
            </a:pPr>
            <a:r>
              <a:t>E  Закупка</a:t>
            </a:r>
          </a:p>
        </p:txBody>
      </p:sp>
      <p:sp>
        <p:nvSpPr>
          <p:cNvPr id="37" name="Rounded Rectangle 36"/>
          <p:cNvSpPr/>
          <p:nvPr/>
        </p:nvSpPr>
        <p:spPr>
          <a:xfrm>
            <a:off x="4841094" y="3067811"/>
            <a:ext cx="760444" cy="164592"/>
          </a:xfrm>
          <a:prstGeom prst="roundRect">
            <a:avLst>
              <a:gd name="adj" fmla="val 8000"/>
            </a:avLst>
          </a:prstGeom>
          <a:solidFill>
            <a:srgbClr val="164C3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640080" y="3291839"/>
            <a:ext cx="3017520" cy="265176"/>
          </a:xfrm>
          <a:prstGeom prst="rect">
            <a:avLst/>
          </a:prstGeom>
          <a:noFill/>
        </p:spPr>
        <p:txBody>
          <a:bodyPr wrap="square" lIns="13716" rIns="13716" tIns="0" bIns="0">
            <a:spAutoFit/>
          </a:bodyPr>
          <a:lstStyle/>
          <a:p>
            <a:pPr>
              <a:spcBef>
                <a:spcPts val="0"/>
              </a:spcBef>
              <a:spcAft>
                <a:spcPts val="500"/>
              </a:spcAft>
              <a:defRPr sz="1500" b="0">
                <a:solidFill>
                  <a:srgbClr val="092A20"/>
                </a:solidFill>
                <a:latin typeface="Arial"/>
              </a:defRPr>
            </a:pPr>
            <a:r>
              <a:t>F  Обучение</a:t>
            </a:r>
          </a:p>
        </p:txBody>
      </p:sp>
      <p:sp>
        <p:nvSpPr>
          <p:cNvPr id="39" name="Rounded Rectangle 38"/>
          <p:cNvSpPr/>
          <p:nvPr/>
        </p:nvSpPr>
        <p:spPr>
          <a:xfrm>
            <a:off x="4841094" y="3332987"/>
            <a:ext cx="912533" cy="164592"/>
          </a:xfrm>
          <a:prstGeom prst="roundRect">
            <a:avLst>
              <a:gd name="adj" fmla="val 8000"/>
            </a:avLst>
          </a:prstGeom>
          <a:solidFill>
            <a:srgbClr val="91B66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640080" y="3557015"/>
            <a:ext cx="3017520" cy="265176"/>
          </a:xfrm>
          <a:prstGeom prst="rect">
            <a:avLst/>
          </a:prstGeom>
          <a:noFill/>
        </p:spPr>
        <p:txBody>
          <a:bodyPr wrap="square" lIns="13716" rIns="13716" tIns="0" bIns="0">
            <a:spAutoFit/>
          </a:bodyPr>
          <a:lstStyle/>
          <a:p>
            <a:pPr>
              <a:spcBef>
                <a:spcPts val="0"/>
              </a:spcBef>
              <a:spcAft>
                <a:spcPts val="500"/>
              </a:spcAft>
              <a:defRPr sz="1500" b="0">
                <a:solidFill>
                  <a:srgbClr val="092A20"/>
                </a:solidFill>
                <a:latin typeface="Arial"/>
              </a:defRPr>
            </a:pPr>
            <a:r>
              <a:t>G  Готовность БВС</a:t>
            </a:r>
          </a:p>
        </p:txBody>
      </p:sp>
      <p:sp>
        <p:nvSpPr>
          <p:cNvPr id="41" name="Rounded Rectangle 40"/>
          <p:cNvSpPr/>
          <p:nvPr/>
        </p:nvSpPr>
        <p:spPr>
          <a:xfrm>
            <a:off x="5601539" y="3598163"/>
            <a:ext cx="912533" cy="164592"/>
          </a:xfrm>
          <a:prstGeom prst="roundRect">
            <a:avLst>
              <a:gd name="adj" fmla="val 8000"/>
            </a:avLst>
          </a:prstGeom>
          <a:solidFill>
            <a:srgbClr val="164C3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640080" y="3822191"/>
            <a:ext cx="3017520" cy="265176"/>
          </a:xfrm>
          <a:prstGeom prst="rect">
            <a:avLst/>
          </a:prstGeom>
          <a:noFill/>
        </p:spPr>
        <p:txBody>
          <a:bodyPr wrap="square" lIns="13716" rIns="13716" tIns="0" bIns="0">
            <a:spAutoFit/>
          </a:bodyPr>
          <a:lstStyle/>
          <a:p>
            <a:pPr>
              <a:spcBef>
                <a:spcPts val="0"/>
              </a:spcBef>
              <a:spcAft>
                <a:spcPts val="500"/>
              </a:spcAft>
              <a:defRPr sz="1500" b="0">
                <a:solidFill>
                  <a:srgbClr val="092A20"/>
                </a:solidFill>
                <a:latin typeface="Arial"/>
              </a:defRPr>
            </a:pPr>
            <a:r>
              <a:t>H  SOP / CRM</a:t>
            </a:r>
          </a:p>
        </p:txBody>
      </p:sp>
      <p:sp>
        <p:nvSpPr>
          <p:cNvPr id="43" name="Rounded Rectangle 42"/>
          <p:cNvSpPr/>
          <p:nvPr/>
        </p:nvSpPr>
        <p:spPr>
          <a:xfrm>
            <a:off x="5753628" y="3863339"/>
            <a:ext cx="456266" cy="164592"/>
          </a:xfrm>
          <a:prstGeom prst="roundRect">
            <a:avLst>
              <a:gd name="adj" fmla="val 8000"/>
            </a:avLst>
          </a:prstGeom>
          <a:solidFill>
            <a:srgbClr val="91B66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640080" y="4087368"/>
            <a:ext cx="3017520" cy="265176"/>
          </a:xfrm>
          <a:prstGeom prst="rect">
            <a:avLst/>
          </a:prstGeom>
          <a:noFill/>
        </p:spPr>
        <p:txBody>
          <a:bodyPr wrap="square" lIns="13716" rIns="13716" tIns="0" bIns="0">
            <a:spAutoFit/>
          </a:bodyPr>
          <a:lstStyle/>
          <a:p>
            <a:pPr>
              <a:spcBef>
                <a:spcPts val="0"/>
              </a:spcBef>
              <a:spcAft>
                <a:spcPts val="500"/>
              </a:spcAft>
              <a:defRPr sz="1500" b="0">
                <a:solidFill>
                  <a:srgbClr val="092A20"/>
                </a:solidFill>
                <a:latin typeface="Arial"/>
              </a:defRPr>
            </a:pPr>
            <a:r>
              <a:t>I  Испытания</a:t>
            </a:r>
          </a:p>
        </p:txBody>
      </p:sp>
      <p:sp>
        <p:nvSpPr>
          <p:cNvPr id="45" name="Rounded Rectangle 44"/>
          <p:cNvSpPr/>
          <p:nvPr/>
        </p:nvSpPr>
        <p:spPr>
          <a:xfrm>
            <a:off x="6514073" y="4128515"/>
            <a:ext cx="304177" cy="164592"/>
          </a:xfrm>
          <a:prstGeom prst="roundRect">
            <a:avLst>
              <a:gd name="adj" fmla="val 8000"/>
            </a:avLst>
          </a:prstGeom>
          <a:solidFill>
            <a:srgbClr val="164C3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640080" y="4352544"/>
            <a:ext cx="3017520" cy="265176"/>
          </a:xfrm>
          <a:prstGeom prst="rect">
            <a:avLst/>
          </a:prstGeom>
          <a:noFill/>
        </p:spPr>
        <p:txBody>
          <a:bodyPr wrap="square" lIns="13716" rIns="13716" tIns="0" bIns="0">
            <a:spAutoFit/>
          </a:bodyPr>
          <a:lstStyle/>
          <a:p>
            <a:pPr>
              <a:spcBef>
                <a:spcPts val="0"/>
              </a:spcBef>
              <a:spcAft>
                <a:spcPts val="500"/>
              </a:spcAft>
              <a:defRPr sz="1500" b="0">
                <a:solidFill>
                  <a:srgbClr val="092A20"/>
                </a:solidFill>
                <a:latin typeface="Arial"/>
              </a:defRPr>
            </a:pPr>
            <a:r>
              <a:t>J  Договоры сезона</a:t>
            </a:r>
          </a:p>
        </p:txBody>
      </p:sp>
      <p:sp>
        <p:nvSpPr>
          <p:cNvPr id="47" name="Rounded Rectangle 46"/>
          <p:cNvSpPr/>
          <p:nvPr/>
        </p:nvSpPr>
        <p:spPr>
          <a:xfrm>
            <a:off x="6818251" y="4393692"/>
            <a:ext cx="304177" cy="164592"/>
          </a:xfrm>
          <a:prstGeom prst="roundRect">
            <a:avLst>
              <a:gd name="adj" fmla="val 8000"/>
            </a:avLst>
          </a:prstGeom>
          <a:solidFill>
            <a:srgbClr val="164C3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640080" y="4617720"/>
            <a:ext cx="3017520" cy="265176"/>
          </a:xfrm>
          <a:prstGeom prst="rect">
            <a:avLst/>
          </a:prstGeom>
          <a:noFill/>
        </p:spPr>
        <p:txBody>
          <a:bodyPr wrap="square" lIns="13716" rIns="13716" tIns="0" bIns="0">
            <a:spAutoFit/>
          </a:bodyPr>
          <a:lstStyle/>
          <a:p>
            <a:pPr>
              <a:spcBef>
                <a:spcPts val="0"/>
              </a:spcBef>
              <a:spcAft>
                <a:spcPts val="500"/>
              </a:spcAft>
              <a:defRPr sz="1500" b="0">
                <a:solidFill>
                  <a:srgbClr val="092A20"/>
                </a:solidFill>
                <a:latin typeface="Arial"/>
              </a:defRPr>
            </a:pPr>
            <a:r>
              <a:t>M  Ожидание окна</a:t>
            </a:r>
          </a:p>
        </p:txBody>
      </p:sp>
      <p:sp>
        <p:nvSpPr>
          <p:cNvPr id="49" name="Rounded Rectangle 48"/>
          <p:cNvSpPr/>
          <p:nvPr/>
        </p:nvSpPr>
        <p:spPr>
          <a:xfrm>
            <a:off x="7122429" y="4658868"/>
            <a:ext cx="456266" cy="164592"/>
          </a:xfrm>
          <a:prstGeom prst="roundRect">
            <a:avLst>
              <a:gd name="adj" fmla="val 8000"/>
            </a:avLst>
          </a:prstGeom>
          <a:solidFill>
            <a:srgbClr val="164C3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640080" y="4882896"/>
            <a:ext cx="3017520" cy="265176"/>
          </a:xfrm>
          <a:prstGeom prst="rect">
            <a:avLst/>
          </a:prstGeom>
          <a:noFill/>
        </p:spPr>
        <p:txBody>
          <a:bodyPr wrap="square" lIns="13716" rIns="13716" tIns="0" bIns="0">
            <a:spAutoFit/>
          </a:bodyPr>
          <a:lstStyle/>
          <a:p>
            <a:pPr>
              <a:spcBef>
                <a:spcPts val="0"/>
              </a:spcBef>
              <a:spcAft>
                <a:spcPts val="500"/>
              </a:spcAft>
              <a:defRPr sz="1500" b="0">
                <a:solidFill>
                  <a:srgbClr val="092A20"/>
                </a:solidFill>
                <a:latin typeface="Arial"/>
              </a:defRPr>
            </a:pPr>
            <a:r>
              <a:t>K  Сезон</a:t>
            </a:r>
          </a:p>
        </p:txBody>
      </p:sp>
      <p:sp>
        <p:nvSpPr>
          <p:cNvPr id="51" name="Rounded Rectangle 50"/>
          <p:cNvSpPr/>
          <p:nvPr/>
        </p:nvSpPr>
        <p:spPr>
          <a:xfrm>
            <a:off x="7578696" y="4924044"/>
            <a:ext cx="3345957" cy="164592"/>
          </a:xfrm>
          <a:prstGeom prst="roundRect">
            <a:avLst>
              <a:gd name="adj" fmla="val 8000"/>
            </a:avLst>
          </a:prstGeom>
          <a:solidFill>
            <a:srgbClr val="164C3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TextBox 51"/>
          <p:cNvSpPr txBox="1"/>
          <p:nvPr/>
        </p:nvSpPr>
        <p:spPr>
          <a:xfrm>
            <a:off x="640080" y="5148071"/>
            <a:ext cx="3017520" cy="265176"/>
          </a:xfrm>
          <a:prstGeom prst="rect">
            <a:avLst/>
          </a:prstGeom>
          <a:noFill/>
        </p:spPr>
        <p:txBody>
          <a:bodyPr wrap="square" lIns="13716" rIns="13716" tIns="0" bIns="0">
            <a:spAutoFit/>
          </a:bodyPr>
          <a:lstStyle/>
          <a:p>
            <a:pPr>
              <a:spcBef>
                <a:spcPts val="0"/>
              </a:spcBef>
              <a:spcAft>
                <a:spcPts val="500"/>
              </a:spcAft>
              <a:defRPr sz="1500" b="0">
                <a:solidFill>
                  <a:srgbClr val="092A20"/>
                </a:solidFill>
                <a:latin typeface="Arial"/>
              </a:defRPr>
            </a:pPr>
            <a:r>
              <a:t>L  Аудит</a:t>
            </a:r>
          </a:p>
        </p:txBody>
      </p:sp>
      <p:sp>
        <p:nvSpPr>
          <p:cNvPr id="53" name="Rounded Rectangle 52"/>
          <p:cNvSpPr/>
          <p:nvPr/>
        </p:nvSpPr>
        <p:spPr>
          <a:xfrm>
            <a:off x="10924654" y="5189219"/>
            <a:ext cx="304177" cy="164592"/>
          </a:xfrm>
          <a:prstGeom prst="roundRect">
            <a:avLst>
              <a:gd name="adj" fmla="val 8000"/>
            </a:avLst>
          </a:prstGeom>
          <a:solidFill>
            <a:srgbClr val="164C3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TextBox 53"/>
          <p:cNvSpPr txBox="1"/>
          <p:nvPr/>
        </p:nvSpPr>
        <p:spPr>
          <a:xfrm>
            <a:off x="640080" y="5522976"/>
            <a:ext cx="10698480" cy="301752"/>
          </a:xfrm>
          <a:prstGeom prst="rect">
            <a:avLst/>
          </a:prstGeom>
          <a:noFill/>
        </p:spPr>
        <p:txBody>
          <a:bodyPr wrap="square" lIns="13716" rIns="13716" tIns="0" bIns="0">
            <a:spAutoFit/>
          </a:bodyPr>
          <a:lstStyle/>
          <a:p>
            <a:pPr>
              <a:spcBef>
                <a:spcPts val="0"/>
              </a:spcBef>
              <a:spcAft>
                <a:spcPts val="500"/>
              </a:spcAft>
              <a:defRPr sz="1500" b="0">
                <a:solidFill>
                  <a:srgbClr val="164C38"/>
                </a:solidFill>
                <a:latin typeface="Arial"/>
              </a:defRPr>
            </a:pPr>
            <a:r>
              <a:t>Недели от 2026-10-19  •  Конец 2027-09-26  •  Темный = критический путь</a:t>
            </a:r>
          </a:p>
        </p:txBody>
      </p:sp>
      <p:sp>
        <p:nvSpPr>
          <p:cNvPr id="55" name="TextBox 54"/>
          <p:cNvSpPr txBox="1"/>
          <p:nvPr/>
        </p:nvSpPr>
        <p:spPr>
          <a:xfrm>
            <a:off x="594360" y="6025896"/>
            <a:ext cx="10972800" cy="411480"/>
          </a:xfrm>
          <a:prstGeom prst="rect">
            <a:avLst/>
          </a:prstGeom>
          <a:noFill/>
        </p:spPr>
        <p:txBody>
          <a:bodyPr wrap="square" lIns="13716" rIns="13716" tIns="0" bIns="0">
            <a:spAutoFit/>
          </a:bodyPr>
          <a:lstStyle/>
          <a:p>
            <a:pPr>
              <a:spcBef>
                <a:spcPts val="0"/>
              </a:spcBef>
              <a:spcAft>
                <a:spcPts val="500"/>
              </a:spcAft>
              <a:defRPr sz="1600" b="0">
                <a:solidFill>
                  <a:srgbClr val="AFC5B8"/>
                </a:solidFill>
                <a:latin typeface="Arial"/>
              </a:defRPr>
            </a:pPr>
            <a:r>
              <a:t>Сезон K: 2027-04-12 — 2027-09-12; пакет M: 3 недель ожидания окна.</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092A20"/>
        </a:solidFill>
        <a:effectLst/>
      </p:bgPr>
    </p:bg>
    <p:spTree>
      <p:nvGrpSpPr>
        <p:cNvPr id="1" name=""/>
        <p:cNvGrpSpPr/>
        <p:nvPr/>
      </p:nvGrpSpPr>
      <p:grpSpPr/>
      <p:sp>
        <p:nvSpPr>
          <p:cNvPr id="2" name="Rectangle 1"/>
          <p:cNvSpPr/>
          <p:nvPr/>
        </p:nvSpPr>
        <p:spPr>
          <a:xfrm>
            <a:off x="411480" y="393192"/>
            <a:ext cx="91440" cy="448056"/>
          </a:xfrm>
          <a:prstGeom prst="rect">
            <a:avLst/>
          </a:prstGeom>
          <a:solidFill>
            <a:srgbClr val="C8F2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58368" y="356616"/>
            <a:ext cx="10835640" cy="886968"/>
          </a:xfrm>
          <a:prstGeom prst="rect">
            <a:avLst/>
          </a:prstGeom>
          <a:noFill/>
        </p:spPr>
        <p:txBody>
          <a:bodyPr wrap="square" lIns="13716" rIns="13716" tIns="0" bIns="0">
            <a:spAutoFit/>
          </a:bodyPr>
          <a:lstStyle/>
          <a:p>
            <a:pPr>
              <a:spcBef>
                <a:spcPts val="0"/>
              </a:spcBef>
              <a:spcAft>
                <a:spcPts val="500"/>
              </a:spcAft>
              <a:defRPr sz="3000" b="1">
                <a:solidFill>
                  <a:srgbClr val="FFFFFF"/>
                </a:solidFill>
                <a:latin typeface="Arial"/>
              </a:defRPr>
            </a:pPr>
            <a:r>
              <a:t>Сетевой график</a:t>
            </a:r>
          </a:p>
        </p:txBody>
      </p:sp>
      <p:sp>
        <p:nvSpPr>
          <p:cNvPr id="4" name="TextBox 3"/>
          <p:cNvSpPr txBox="1"/>
          <p:nvPr/>
        </p:nvSpPr>
        <p:spPr>
          <a:xfrm>
            <a:off x="658368" y="1161288"/>
            <a:ext cx="10881360" cy="329184"/>
          </a:xfrm>
          <a:prstGeom prst="rect">
            <a:avLst/>
          </a:prstGeom>
          <a:noFill/>
        </p:spPr>
        <p:txBody>
          <a:bodyPr wrap="square" lIns="13716" rIns="13716" tIns="0" bIns="0">
            <a:spAutoFit/>
          </a:bodyPr>
          <a:lstStyle/>
          <a:p>
            <a:pPr>
              <a:spcBef>
                <a:spcPts val="0"/>
              </a:spcBef>
              <a:spcAft>
                <a:spcPts val="500"/>
              </a:spcAft>
              <a:defRPr sz="1500" b="0">
                <a:solidFill>
                  <a:srgbClr val="C8F26B"/>
                </a:solidFill>
                <a:latin typeface="Arial"/>
              </a:defRPr>
            </a:pPr>
            <a:r>
              <a:t>[РАСЧЕТ] Сеть finish-to-start из CSV; длительности — календарные недели</a:t>
            </a:r>
          </a:p>
        </p:txBody>
      </p:sp>
      <p:sp>
        <p:nvSpPr>
          <p:cNvPr id="5" name="TextBox 4"/>
          <p:cNvSpPr txBox="1"/>
          <p:nvPr/>
        </p:nvSpPr>
        <p:spPr>
          <a:xfrm>
            <a:off x="502920" y="6510528"/>
            <a:ext cx="10058400" cy="210312"/>
          </a:xfrm>
          <a:prstGeom prst="rect">
            <a:avLst/>
          </a:prstGeom>
          <a:noFill/>
        </p:spPr>
        <p:txBody>
          <a:bodyPr wrap="square" lIns="13716" rIns="13716" tIns="0" bIns="0">
            <a:spAutoFit/>
          </a:bodyPr>
          <a:lstStyle/>
          <a:p>
            <a:pPr>
              <a:spcBef>
                <a:spcPts val="0"/>
              </a:spcBef>
              <a:spcAft>
                <a:spcPts val="500"/>
              </a:spcAft>
              <a:defRPr sz="1000" b="0">
                <a:solidFill>
                  <a:srgbClr val="AFC5B8"/>
                </a:solidFill>
                <a:latin typeface="Arial"/>
              </a:defRPr>
            </a:pPr>
            <a:r>
              <a:t>АГРОВЕКТОР / инвестиционная гипотеза / 2027–2031 / редакция 20.10.2026</a:t>
            </a:r>
          </a:p>
        </p:txBody>
      </p:sp>
      <p:sp>
        <p:nvSpPr>
          <p:cNvPr id="6" name="TextBox 5"/>
          <p:cNvSpPr txBox="1"/>
          <p:nvPr/>
        </p:nvSpPr>
        <p:spPr>
          <a:xfrm>
            <a:off x="11018520" y="6483096"/>
            <a:ext cx="731520" cy="256032"/>
          </a:xfrm>
          <a:prstGeom prst="rect">
            <a:avLst/>
          </a:prstGeom>
          <a:noFill/>
        </p:spPr>
        <p:txBody>
          <a:bodyPr wrap="square" lIns="13716" rIns="13716" tIns="0" bIns="0">
            <a:spAutoFit/>
          </a:bodyPr>
          <a:lstStyle/>
          <a:p>
            <a:pPr>
              <a:spcBef>
                <a:spcPts val="0"/>
              </a:spcBef>
              <a:spcAft>
                <a:spcPts val="500"/>
              </a:spcAft>
              <a:defRPr sz="1100" b="1">
                <a:solidFill>
                  <a:srgbClr val="C8F26B"/>
                </a:solidFill>
                <a:latin typeface="Arial"/>
              </a:defRPr>
            </a:pPr>
            <a:r>
              <a:t>15 / 22</a:t>
            </a:r>
          </a:p>
        </p:txBody>
      </p:sp>
      <p:cxnSp>
        <p:nvCxnSpPr>
          <p:cNvPr id="7" name="Connector 6"/>
          <p:cNvCxnSpPr/>
          <p:nvPr/>
        </p:nvCxnSpPr>
        <p:spPr>
          <a:xfrm>
            <a:off x="1472184" y="2770632"/>
            <a:ext cx="210311" cy="0"/>
          </a:xfrm>
          <a:prstGeom prst="line">
            <a:avLst/>
          </a:prstGeom>
          <a:ln w="21590">
            <a:solidFill>
              <a:srgbClr val="AFC5B8"/>
            </a:solidFill>
            <a:tailEnd type="triangle"/>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flipV="1">
            <a:off x="1472184" y="2770632"/>
            <a:ext cx="1298448" cy="1600199"/>
          </a:xfrm>
          <a:prstGeom prst="line">
            <a:avLst/>
          </a:prstGeom>
          <a:ln w="21590">
            <a:solidFill>
              <a:srgbClr val="C8F26B"/>
            </a:solidFill>
            <a:tailEnd type="triangle"/>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2560320" y="2770632"/>
            <a:ext cx="210312" cy="0"/>
          </a:xfrm>
          <a:prstGeom prst="line">
            <a:avLst/>
          </a:prstGeom>
          <a:ln w="21590">
            <a:solidFill>
              <a:srgbClr val="AFC5B8"/>
            </a:solidFill>
            <a:tailEnd type="triangle"/>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a:off x="3648456" y="2770632"/>
            <a:ext cx="210312" cy="0"/>
          </a:xfrm>
          <a:prstGeom prst="line">
            <a:avLst/>
          </a:prstGeom>
          <a:ln w="21590">
            <a:solidFill>
              <a:srgbClr val="C8F26B"/>
            </a:solidFill>
            <a:tailEnd type="triangle"/>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3648456" y="2770632"/>
            <a:ext cx="210312" cy="1600199"/>
          </a:xfrm>
          <a:prstGeom prst="line">
            <a:avLst/>
          </a:prstGeom>
          <a:ln w="21590">
            <a:solidFill>
              <a:srgbClr val="AFC5B8"/>
            </a:solidFill>
            <a:tailEnd type="triangle"/>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4736592" y="2770632"/>
            <a:ext cx="210312" cy="0"/>
          </a:xfrm>
          <a:prstGeom prst="line">
            <a:avLst/>
          </a:prstGeom>
          <a:ln w="21590">
            <a:solidFill>
              <a:srgbClr val="C8F26B"/>
            </a:solidFill>
            <a:tailEnd type="triangle"/>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a:off x="4736592" y="2770632"/>
            <a:ext cx="210312" cy="1600199"/>
          </a:xfrm>
          <a:prstGeom prst="line">
            <a:avLst/>
          </a:prstGeom>
          <a:ln w="21590">
            <a:solidFill>
              <a:srgbClr val="AFC5B8"/>
            </a:solidFill>
            <a:tailEnd type="triangle"/>
          </a:ln>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a:off x="4736592" y="4370831"/>
            <a:ext cx="210312" cy="0"/>
          </a:xfrm>
          <a:prstGeom prst="line">
            <a:avLst/>
          </a:prstGeom>
          <a:ln w="21590">
            <a:solidFill>
              <a:srgbClr val="AFC5B8"/>
            </a:solidFill>
            <a:tailEnd type="triangle"/>
          </a:ln>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a:off x="5824728" y="2770632"/>
            <a:ext cx="210312" cy="0"/>
          </a:xfrm>
          <a:prstGeom prst="line">
            <a:avLst/>
          </a:prstGeom>
          <a:ln w="21590">
            <a:solidFill>
              <a:srgbClr val="C8F26B"/>
            </a:solidFill>
            <a:tailEnd type="triangle"/>
          </a:ln>
        </p:spPr>
        <p:style>
          <a:lnRef idx="2">
            <a:schemeClr val="accent1"/>
          </a:lnRef>
          <a:fillRef idx="0">
            <a:schemeClr val="accent1"/>
          </a:fillRef>
          <a:effectRef idx="1">
            <a:schemeClr val="accent1"/>
          </a:effectRef>
          <a:fontRef idx="minor">
            <a:schemeClr val="tx1"/>
          </a:fontRef>
        </p:style>
      </p:cxnSp>
      <p:cxnSp>
        <p:nvCxnSpPr>
          <p:cNvPr id="16" name="Connector 15"/>
          <p:cNvCxnSpPr/>
          <p:nvPr/>
        </p:nvCxnSpPr>
        <p:spPr>
          <a:xfrm flipV="1">
            <a:off x="5824728" y="2770632"/>
            <a:ext cx="210312" cy="1600199"/>
          </a:xfrm>
          <a:prstGeom prst="line">
            <a:avLst/>
          </a:prstGeom>
          <a:ln w="21590">
            <a:solidFill>
              <a:srgbClr val="AFC5B8"/>
            </a:solidFill>
            <a:tailEnd type="triangle"/>
          </a:ln>
        </p:spPr>
        <p:style>
          <a:lnRef idx="2">
            <a:schemeClr val="accent1"/>
          </a:lnRef>
          <a:fillRef idx="0">
            <a:schemeClr val="accent1"/>
          </a:fillRef>
          <a:effectRef idx="1">
            <a:schemeClr val="accent1"/>
          </a:effectRef>
          <a:fontRef idx="minor">
            <a:schemeClr val="tx1"/>
          </a:fontRef>
        </p:style>
      </p:cxnSp>
      <p:cxnSp>
        <p:nvCxnSpPr>
          <p:cNvPr id="17" name="Connector 16"/>
          <p:cNvCxnSpPr/>
          <p:nvPr/>
        </p:nvCxnSpPr>
        <p:spPr>
          <a:xfrm>
            <a:off x="6912864" y="2770632"/>
            <a:ext cx="210312" cy="0"/>
          </a:xfrm>
          <a:prstGeom prst="line">
            <a:avLst/>
          </a:prstGeom>
          <a:ln w="21590">
            <a:solidFill>
              <a:srgbClr val="C8F26B"/>
            </a:solidFill>
            <a:tailEnd type="triangle"/>
          </a:ln>
        </p:spPr>
        <p:style>
          <a:lnRef idx="2">
            <a:schemeClr val="accent1"/>
          </a:lnRef>
          <a:fillRef idx="0">
            <a:schemeClr val="accent1"/>
          </a:fillRef>
          <a:effectRef idx="1">
            <a:schemeClr val="accent1"/>
          </a:effectRef>
          <a:fontRef idx="minor">
            <a:schemeClr val="tx1"/>
          </a:fontRef>
        </p:style>
      </p:cxnSp>
      <p:cxnSp>
        <p:nvCxnSpPr>
          <p:cNvPr id="18" name="Connector 17"/>
          <p:cNvCxnSpPr/>
          <p:nvPr/>
        </p:nvCxnSpPr>
        <p:spPr>
          <a:xfrm>
            <a:off x="8001000" y="2770632"/>
            <a:ext cx="210312" cy="0"/>
          </a:xfrm>
          <a:prstGeom prst="line">
            <a:avLst/>
          </a:prstGeom>
          <a:ln w="21590">
            <a:solidFill>
              <a:srgbClr val="C8F26B"/>
            </a:solidFill>
            <a:tailEnd type="triangle"/>
          </a:ln>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a:off x="9089136" y="2770632"/>
            <a:ext cx="210312" cy="0"/>
          </a:xfrm>
          <a:prstGeom prst="line">
            <a:avLst/>
          </a:prstGeom>
          <a:ln w="21590">
            <a:solidFill>
              <a:srgbClr val="C8F26B"/>
            </a:solidFill>
            <a:tailEnd type="triangle"/>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a:off x="10177272" y="2770632"/>
            <a:ext cx="210312" cy="0"/>
          </a:xfrm>
          <a:prstGeom prst="line">
            <a:avLst/>
          </a:prstGeom>
          <a:ln w="21590">
            <a:solidFill>
              <a:srgbClr val="C8F26B"/>
            </a:solidFill>
            <a:tailEnd type="triangle"/>
          </a:ln>
        </p:spPr>
        <p:style>
          <a:lnRef idx="2">
            <a:schemeClr val="accent1"/>
          </a:lnRef>
          <a:fillRef idx="0">
            <a:schemeClr val="accent1"/>
          </a:fillRef>
          <a:effectRef idx="1">
            <a:schemeClr val="accent1"/>
          </a:effectRef>
          <a:fontRef idx="minor">
            <a:schemeClr val="tx1"/>
          </a:fontRef>
        </p:style>
      </p:cxnSp>
      <p:sp>
        <p:nvSpPr>
          <p:cNvPr id="21" name="Rounded Rectangle 20"/>
          <p:cNvSpPr/>
          <p:nvPr/>
        </p:nvSpPr>
        <p:spPr>
          <a:xfrm>
            <a:off x="594360" y="2331720"/>
            <a:ext cx="877824" cy="877824"/>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76656" y="2432303"/>
            <a:ext cx="713232" cy="329184"/>
          </a:xfrm>
          <a:prstGeom prst="rect">
            <a:avLst/>
          </a:prstGeom>
          <a:noFill/>
        </p:spPr>
        <p:txBody>
          <a:bodyPr wrap="square" lIns="13716" rIns="13716" tIns="0" bIns="0">
            <a:spAutoFit/>
          </a:bodyPr>
          <a:lstStyle/>
          <a:p>
            <a:pPr>
              <a:spcBef>
                <a:spcPts val="0"/>
              </a:spcBef>
              <a:spcAft>
                <a:spcPts val="500"/>
              </a:spcAft>
              <a:defRPr sz="2400" b="1">
                <a:solidFill>
                  <a:srgbClr val="164C38"/>
                </a:solidFill>
                <a:latin typeface="Arial"/>
              </a:defRPr>
            </a:pPr>
            <a:r>
              <a:t>A</a:t>
            </a:r>
          </a:p>
        </p:txBody>
      </p:sp>
      <p:sp>
        <p:nvSpPr>
          <p:cNvPr id="23" name="TextBox 22"/>
          <p:cNvSpPr txBox="1"/>
          <p:nvPr/>
        </p:nvSpPr>
        <p:spPr>
          <a:xfrm>
            <a:off x="658368" y="2871215"/>
            <a:ext cx="768096" cy="274320"/>
          </a:xfrm>
          <a:prstGeom prst="rect">
            <a:avLst/>
          </a:prstGeom>
          <a:noFill/>
        </p:spPr>
        <p:txBody>
          <a:bodyPr wrap="square" lIns="13716" rIns="13716" tIns="0" bIns="0">
            <a:spAutoFit/>
          </a:bodyPr>
          <a:lstStyle/>
          <a:p>
            <a:pPr>
              <a:spcBef>
                <a:spcPts val="0"/>
              </a:spcBef>
              <a:spcAft>
                <a:spcPts val="500"/>
              </a:spcAft>
              <a:defRPr sz="1500" b="0">
                <a:solidFill>
                  <a:srgbClr val="092A20"/>
                </a:solidFill>
                <a:latin typeface="Arial"/>
              </a:defRPr>
            </a:pPr>
            <a:r>
              <a:t>2 нед.</a:t>
            </a:r>
          </a:p>
        </p:txBody>
      </p:sp>
      <p:sp>
        <p:nvSpPr>
          <p:cNvPr id="24" name="Rounded Rectangle 23"/>
          <p:cNvSpPr/>
          <p:nvPr/>
        </p:nvSpPr>
        <p:spPr>
          <a:xfrm>
            <a:off x="594360" y="3931920"/>
            <a:ext cx="877824" cy="877824"/>
          </a:xfrm>
          <a:prstGeom prst="roundRect">
            <a:avLst>
              <a:gd name="adj" fmla="val 8000"/>
            </a:avLst>
          </a:prstGeom>
          <a:solidFill>
            <a:srgbClr val="C8F2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76656" y="4032504"/>
            <a:ext cx="713232" cy="329184"/>
          </a:xfrm>
          <a:prstGeom prst="rect">
            <a:avLst/>
          </a:prstGeom>
          <a:noFill/>
        </p:spPr>
        <p:txBody>
          <a:bodyPr wrap="square" lIns="13716" rIns="13716" tIns="0" bIns="0">
            <a:spAutoFit/>
          </a:bodyPr>
          <a:lstStyle/>
          <a:p>
            <a:pPr>
              <a:spcBef>
                <a:spcPts val="0"/>
              </a:spcBef>
              <a:spcAft>
                <a:spcPts val="500"/>
              </a:spcAft>
              <a:defRPr sz="2400" b="1">
                <a:solidFill>
                  <a:srgbClr val="164C38"/>
                </a:solidFill>
                <a:latin typeface="Arial"/>
              </a:defRPr>
            </a:pPr>
            <a:r>
              <a:t>B</a:t>
            </a:r>
          </a:p>
        </p:txBody>
      </p:sp>
      <p:sp>
        <p:nvSpPr>
          <p:cNvPr id="26" name="TextBox 25"/>
          <p:cNvSpPr txBox="1"/>
          <p:nvPr/>
        </p:nvSpPr>
        <p:spPr>
          <a:xfrm>
            <a:off x="658368" y="4471416"/>
            <a:ext cx="768096" cy="274320"/>
          </a:xfrm>
          <a:prstGeom prst="rect">
            <a:avLst/>
          </a:prstGeom>
          <a:noFill/>
        </p:spPr>
        <p:txBody>
          <a:bodyPr wrap="square" lIns="13716" rIns="13716" tIns="0" bIns="0">
            <a:spAutoFit/>
          </a:bodyPr>
          <a:lstStyle/>
          <a:p>
            <a:pPr>
              <a:spcBef>
                <a:spcPts val="0"/>
              </a:spcBef>
              <a:spcAft>
                <a:spcPts val="500"/>
              </a:spcAft>
              <a:defRPr sz="1500" b="0">
                <a:solidFill>
                  <a:srgbClr val="092A20"/>
                </a:solidFill>
                <a:latin typeface="Arial"/>
              </a:defRPr>
            </a:pPr>
            <a:r>
              <a:t>6 нед.</a:t>
            </a:r>
          </a:p>
        </p:txBody>
      </p:sp>
      <p:sp>
        <p:nvSpPr>
          <p:cNvPr id="27" name="Rounded Rectangle 26"/>
          <p:cNvSpPr/>
          <p:nvPr/>
        </p:nvSpPr>
        <p:spPr>
          <a:xfrm>
            <a:off x="1682495" y="2331720"/>
            <a:ext cx="877824" cy="877824"/>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1764792" y="2432303"/>
            <a:ext cx="713232" cy="329184"/>
          </a:xfrm>
          <a:prstGeom prst="rect">
            <a:avLst/>
          </a:prstGeom>
          <a:noFill/>
        </p:spPr>
        <p:txBody>
          <a:bodyPr wrap="square" lIns="13716" rIns="13716" tIns="0" bIns="0">
            <a:spAutoFit/>
          </a:bodyPr>
          <a:lstStyle/>
          <a:p>
            <a:pPr>
              <a:spcBef>
                <a:spcPts val="0"/>
              </a:spcBef>
              <a:spcAft>
                <a:spcPts val="500"/>
              </a:spcAft>
              <a:defRPr sz="2400" b="1">
                <a:solidFill>
                  <a:srgbClr val="164C38"/>
                </a:solidFill>
                <a:latin typeface="Arial"/>
              </a:defRPr>
            </a:pPr>
            <a:r>
              <a:t>C</a:t>
            </a:r>
          </a:p>
        </p:txBody>
      </p:sp>
      <p:sp>
        <p:nvSpPr>
          <p:cNvPr id="29" name="TextBox 28"/>
          <p:cNvSpPr txBox="1"/>
          <p:nvPr/>
        </p:nvSpPr>
        <p:spPr>
          <a:xfrm>
            <a:off x="1746504" y="2871215"/>
            <a:ext cx="768096" cy="274320"/>
          </a:xfrm>
          <a:prstGeom prst="rect">
            <a:avLst/>
          </a:prstGeom>
          <a:noFill/>
        </p:spPr>
        <p:txBody>
          <a:bodyPr wrap="square" lIns="13716" rIns="13716" tIns="0" bIns="0">
            <a:spAutoFit/>
          </a:bodyPr>
          <a:lstStyle/>
          <a:p>
            <a:pPr>
              <a:spcBef>
                <a:spcPts val="0"/>
              </a:spcBef>
              <a:spcAft>
                <a:spcPts val="500"/>
              </a:spcAft>
              <a:defRPr sz="1500" b="0">
                <a:solidFill>
                  <a:srgbClr val="092A20"/>
                </a:solidFill>
                <a:latin typeface="Arial"/>
              </a:defRPr>
            </a:pPr>
            <a:r>
              <a:t>3 нед.</a:t>
            </a:r>
          </a:p>
        </p:txBody>
      </p:sp>
      <p:sp>
        <p:nvSpPr>
          <p:cNvPr id="30" name="Rounded Rectangle 29"/>
          <p:cNvSpPr/>
          <p:nvPr/>
        </p:nvSpPr>
        <p:spPr>
          <a:xfrm>
            <a:off x="2770632" y="2331720"/>
            <a:ext cx="877824" cy="877824"/>
          </a:xfrm>
          <a:prstGeom prst="roundRect">
            <a:avLst>
              <a:gd name="adj" fmla="val 8000"/>
            </a:avLst>
          </a:prstGeom>
          <a:solidFill>
            <a:srgbClr val="C8F2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2852927" y="2432303"/>
            <a:ext cx="713232" cy="329184"/>
          </a:xfrm>
          <a:prstGeom prst="rect">
            <a:avLst/>
          </a:prstGeom>
          <a:noFill/>
        </p:spPr>
        <p:txBody>
          <a:bodyPr wrap="square" lIns="13716" rIns="13716" tIns="0" bIns="0">
            <a:spAutoFit/>
          </a:bodyPr>
          <a:lstStyle/>
          <a:p>
            <a:pPr>
              <a:spcBef>
                <a:spcPts val="0"/>
              </a:spcBef>
              <a:spcAft>
                <a:spcPts val="500"/>
              </a:spcAft>
              <a:defRPr sz="2400" b="1">
                <a:solidFill>
                  <a:srgbClr val="164C38"/>
                </a:solidFill>
                <a:latin typeface="Arial"/>
              </a:defRPr>
            </a:pPr>
            <a:r>
              <a:t>D</a:t>
            </a:r>
          </a:p>
        </p:txBody>
      </p:sp>
      <p:sp>
        <p:nvSpPr>
          <p:cNvPr id="32" name="TextBox 31"/>
          <p:cNvSpPr txBox="1"/>
          <p:nvPr/>
        </p:nvSpPr>
        <p:spPr>
          <a:xfrm>
            <a:off x="2834639" y="2871215"/>
            <a:ext cx="768096" cy="274320"/>
          </a:xfrm>
          <a:prstGeom prst="rect">
            <a:avLst/>
          </a:prstGeom>
          <a:noFill/>
        </p:spPr>
        <p:txBody>
          <a:bodyPr wrap="square" lIns="13716" rIns="13716" tIns="0" bIns="0">
            <a:spAutoFit/>
          </a:bodyPr>
          <a:lstStyle/>
          <a:p>
            <a:pPr>
              <a:spcBef>
                <a:spcPts val="0"/>
              </a:spcBef>
              <a:spcAft>
                <a:spcPts val="500"/>
              </a:spcAft>
              <a:defRPr sz="1500" b="0">
                <a:solidFill>
                  <a:srgbClr val="092A20"/>
                </a:solidFill>
                <a:latin typeface="Arial"/>
              </a:defRPr>
            </a:pPr>
            <a:r>
              <a:t>1 нед.</a:t>
            </a:r>
          </a:p>
        </p:txBody>
      </p:sp>
      <p:sp>
        <p:nvSpPr>
          <p:cNvPr id="33" name="Rounded Rectangle 32"/>
          <p:cNvSpPr/>
          <p:nvPr/>
        </p:nvSpPr>
        <p:spPr>
          <a:xfrm>
            <a:off x="3858768" y="2331720"/>
            <a:ext cx="877824" cy="877824"/>
          </a:xfrm>
          <a:prstGeom prst="roundRect">
            <a:avLst>
              <a:gd name="adj" fmla="val 8000"/>
            </a:avLst>
          </a:prstGeom>
          <a:solidFill>
            <a:srgbClr val="C8F2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3941063" y="2432303"/>
            <a:ext cx="713232" cy="329184"/>
          </a:xfrm>
          <a:prstGeom prst="rect">
            <a:avLst/>
          </a:prstGeom>
          <a:noFill/>
        </p:spPr>
        <p:txBody>
          <a:bodyPr wrap="square" lIns="13716" rIns="13716" tIns="0" bIns="0">
            <a:spAutoFit/>
          </a:bodyPr>
          <a:lstStyle/>
          <a:p>
            <a:pPr>
              <a:spcBef>
                <a:spcPts val="0"/>
              </a:spcBef>
              <a:spcAft>
                <a:spcPts val="500"/>
              </a:spcAft>
              <a:defRPr sz="2400" b="1">
                <a:solidFill>
                  <a:srgbClr val="164C38"/>
                </a:solidFill>
                <a:latin typeface="Arial"/>
              </a:defRPr>
            </a:pPr>
            <a:r>
              <a:t>E</a:t>
            </a:r>
          </a:p>
        </p:txBody>
      </p:sp>
      <p:sp>
        <p:nvSpPr>
          <p:cNvPr id="35" name="TextBox 34"/>
          <p:cNvSpPr txBox="1"/>
          <p:nvPr/>
        </p:nvSpPr>
        <p:spPr>
          <a:xfrm>
            <a:off x="3922776" y="2871215"/>
            <a:ext cx="768096" cy="274320"/>
          </a:xfrm>
          <a:prstGeom prst="rect">
            <a:avLst/>
          </a:prstGeom>
          <a:noFill/>
        </p:spPr>
        <p:txBody>
          <a:bodyPr wrap="square" lIns="13716" rIns="13716" tIns="0" bIns="0">
            <a:spAutoFit/>
          </a:bodyPr>
          <a:lstStyle/>
          <a:p>
            <a:pPr>
              <a:spcBef>
                <a:spcPts val="0"/>
              </a:spcBef>
              <a:spcAft>
                <a:spcPts val="500"/>
              </a:spcAft>
              <a:defRPr sz="1500" b="0">
                <a:solidFill>
                  <a:srgbClr val="092A20"/>
                </a:solidFill>
                <a:latin typeface="Arial"/>
              </a:defRPr>
            </a:pPr>
            <a:r>
              <a:t>5 нед.</a:t>
            </a:r>
          </a:p>
        </p:txBody>
      </p:sp>
      <p:sp>
        <p:nvSpPr>
          <p:cNvPr id="36" name="Rounded Rectangle 35"/>
          <p:cNvSpPr/>
          <p:nvPr/>
        </p:nvSpPr>
        <p:spPr>
          <a:xfrm>
            <a:off x="3858768" y="3931920"/>
            <a:ext cx="877824" cy="877824"/>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3941063" y="4032504"/>
            <a:ext cx="713232" cy="329184"/>
          </a:xfrm>
          <a:prstGeom prst="rect">
            <a:avLst/>
          </a:prstGeom>
          <a:noFill/>
        </p:spPr>
        <p:txBody>
          <a:bodyPr wrap="square" lIns="13716" rIns="13716" tIns="0" bIns="0">
            <a:spAutoFit/>
          </a:bodyPr>
          <a:lstStyle/>
          <a:p>
            <a:pPr>
              <a:spcBef>
                <a:spcPts val="0"/>
              </a:spcBef>
              <a:spcAft>
                <a:spcPts val="500"/>
              </a:spcAft>
              <a:defRPr sz="2400" b="1">
                <a:solidFill>
                  <a:srgbClr val="164C38"/>
                </a:solidFill>
                <a:latin typeface="Arial"/>
              </a:defRPr>
            </a:pPr>
            <a:r>
              <a:t>F</a:t>
            </a:r>
          </a:p>
        </p:txBody>
      </p:sp>
      <p:sp>
        <p:nvSpPr>
          <p:cNvPr id="38" name="TextBox 37"/>
          <p:cNvSpPr txBox="1"/>
          <p:nvPr/>
        </p:nvSpPr>
        <p:spPr>
          <a:xfrm>
            <a:off x="3922776" y="4471416"/>
            <a:ext cx="768096" cy="274320"/>
          </a:xfrm>
          <a:prstGeom prst="rect">
            <a:avLst/>
          </a:prstGeom>
          <a:noFill/>
        </p:spPr>
        <p:txBody>
          <a:bodyPr wrap="square" lIns="13716" rIns="13716" tIns="0" bIns="0">
            <a:spAutoFit/>
          </a:bodyPr>
          <a:lstStyle/>
          <a:p>
            <a:pPr>
              <a:spcBef>
                <a:spcPts val="0"/>
              </a:spcBef>
              <a:spcAft>
                <a:spcPts val="500"/>
              </a:spcAft>
              <a:defRPr sz="1500" b="0">
                <a:solidFill>
                  <a:srgbClr val="092A20"/>
                </a:solidFill>
                <a:latin typeface="Arial"/>
              </a:defRPr>
            </a:pPr>
            <a:r>
              <a:t>6 нед.</a:t>
            </a:r>
          </a:p>
        </p:txBody>
      </p:sp>
      <p:sp>
        <p:nvSpPr>
          <p:cNvPr id="39" name="Rounded Rectangle 38"/>
          <p:cNvSpPr/>
          <p:nvPr/>
        </p:nvSpPr>
        <p:spPr>
          <a:xfrm>
            <a:off x="4946904" y="2331720"/>
            <a:ext cx="877824" cy="877824"/>
          </a:xfrm>
          <a:prstGeom prst="roundRect">
            <a:avLst>
              <a:gd name="adj" fmla="val 8000"/>
            </a:avLst>
          </a:prstGeom>
          <a:solidFill>
            <a:srgbClr val="C8F2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5029200" y="2432303"/>
            <a:ext cx="713232" cy="329184"/>
          </a:xfrm>
          <a:prstGeom prst="rect">
            <a:avLst/>
          </a:prstGeom>
          <a:noFill/>
        </p:spPr>
        <p:txBody>
          <a:bodyPr wrap="square" lIns="13716" rIns="13716" tIns="0" bIns="0">
            <a:spAutoFit/>
          </a:bodyPr>
          <a:lstStyle/>
          <a:p>
            <a:pPr>
              <a:spcBef>
                <a:spcPts val="0"/>
              </a:spcBef>
              <a:spcAft>
                <a:spcPts val="500"/>
              </a:spcAft>
              <a:defRPr sz="2400" b="1">
                <a:solidFill>
                  <a:srgbClr val="164C38"/>
                </a:solidFill>
                <a:latin typeface="Arial"/>
              </a:defRPr>
            </a:pPr>
            <a:r>
              <a:t>G</a:t>
            </a:r>
          </a:p>
        </p:txBody>
      </p:sp>
      <p:sp>
        <p:nvSpPr>
          <p:cNvPr id="41" name="TextBox 40"/>
          <p:cNvSpPr txBox="1"/>
          <p:nvPr/>
        </p:nvSpPr>
        <p:spPr>
          <a:xfrm>
            <a:off x="5010912" y="2871215"/>
            <a:ext cx="768096" cy="274320"/>
          </a:xfrm>
          <a:prstGeom prst="rect">
            <a:avLst/>
          </a:prstGeom>
          <a:noFill/>
        </p:spPr>
        <p:txBody>
          <a:bodyPr wrap="square" lIns="13716" rIns="13716" tIns="0" bIns="0">
            <a:spAutoFit/>
          </a:bodyPr>
          <a:lstStyle/>
          <a:p>
            <a:pPr>
              <a:spcBef>
                <a:spcPts val="0"/>
              </a:spcBef>
              <a:spcAft>
                <a:spcPts val="500"/>
              </a:spcAft>
              <a:defRPr sz="1500" b="0">
                <a:solidFill>
                  <a:srgbClr val="092A20"/>
                </a:solidFill>
                <a:latin typeface="Arial"/>
              </a:defRPr>
            </a:pPr>
            <a:r>
              <a:t>6 нед.</a:t>
            </a:r>
          </a:p>
        </p:txBody>
      </p:sp>
      <p:sp>
        <p:nvSpPr>
          <p:cNvPr id="42" name="Rounded Rectangle 41"/>
          <p:cNvSpPr/>
          <p:nvPr/>
        </p:nvSpPr>
        <p:spPr>
          <a:xfrm>
            <a:off x="4946904" y="3931920"/>
            <a:ext cx="877824" cy="877824"/>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5029200" y="4032504"/>
            <a:ext cx="713232" cy="329184"/>
          </a:xfrm>
          <a:prstGeom prst="rect">
            <a:avLst/>
          </a:prstGeom>
          <a:noFill/>
        </p:spPr>
        <p:txBody>
          <a:bodyPr wrap="square" lIns="13716" rIns="13716" tIns="0" bIns="0">
            <a:spAutoFit/>
          </a:bodyPr>
          <a:lstStyle/>
          <a:p>
            <a:pPr>
              <a:spcBef>
                <a:spcPts val="0"/>
              </a:spcBef>
              <a:spcAft>
                <a:spcPts val="500"/>
              </a:spcAft>
              <a:defRPr sz="2400" b="1">
                <a:solidFill>
                  <a:srgbClr val="164C38"/>
                </a:solidFill>
                <a:latin typeface="Arial"/>
              </a:defRPr>
            </a:pPr>
            <a:r>
              <a:t>H</a:t>
            </a:r>
          </a:p>
        </p:txBody>
      </p:sp>
      <p:sp>
        <p:nvSpPr>
          <p:cNvPr id="44" name="TextBox 43"/>
          <p:cNvSpPr txBox="1"/>
          <p:nvPr/>
        </p:nvSpPr>
        <p:spPr>
          <a:xfrm>
            <a:off x="5010912" y="4471416"/>
            <a:ext cx="768096" cy="274320"/>
          </a:xfrm>
          <a:prstGeom prst="rect">
            <a:avLst/>
          </a:prstGeom>
          <a:noFill/>
        </p:spPr>
        <p:txBody>
          <a:bodyPr wrap="square" lIns="13716" rIns="13716" tIns="0" bIns="0">
            <a:spAutoFit/>
          </a:bodyPr>
          <a:lstStyle/>
          <a:p>
            <a:pPr>
              <a:spcBef>
                <a:spcPts val="0"/>
              </a:spcBef>
              <a:spcAft>
                <a:spcPts val="500"/>
              </a:spcAft>
              <a:defRPr sz="1500" b="0">
                <a:solidFill>
                  <a:srgbClr val="092A20"/>
                </a:solidFill>
                <a:latin typeface="Arial"/>
              </a:defRPr>
            </a:pPr>
            <a:r>
              <a:t>3 нед.</a:t>
            </a:r>
          </a:p>
        </p:txBody>
      </p:sp>
      <p:sp>
        <p:nvSpPr>
          <p:cNvPr id="45" name="Rounded Rectangle 44"/>
          <p:cNvSpPr/>
          <p:nvPr/>
        </p:nvSpPr>
        <p:spPr>
          <a:xfrm>
            <a:off x="6035040" y="2331720"/>
            <a:ext cx="877824" cy="877824"/>
          </a:xfrm>
          <a:prstGeom prst="roundRect">
            <a:avLst>
              <a:gd name="adj" fmla="val 8000"/>
            </a:avLst>
          </a:prstGeom>
          <a:solidFill>
            <a:srgbClr val="C8F2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6117336" y="2432303"/>
            <a:ext cx="713232" cy="329184"/>
          </a:xfrm>
          <a:prstGeom prst="rect">
            <a:avLst/>
          </a:prstGeom>
          <a:noFill/>
        </p:spPr>
        <p:txBody>
          <a:bodyPr wrap="square" lIns="13716" rIns="13716" tIns="0" bIns="0">
            <a:spAutoFit/>
          </a:bodyPr>
          <a:lstStyle/>
          <a:p>
            <a:pPr>
              <a:spcBef>
                <a:spcPts val="0"/>
              </a:spcBef>
              <a:spcAft>
                <a:spcPts val="500"/>
              </a:spcAft>
              <a:defRPr sz="2400" b="1">
                <a:solidFill>
                  <a:srgbClr val="164C38"/>
                </a:solidFill>
                <a:latin typeface="Arial"/>
              </a:defRPr>
            </a:pPr>
            <a:r>
              <a:t>I</a:t>
            </a:r>
          </a:p>
        </p:txBody>
      </p:sp>
      <p:sp>
        <p:nvSpPr>
          <p:cNvPr id="47" name="TextBox 46"/>
          <p:cNvSpPr txBox="1"/>
          <p:nvPr/>
        </p:nvSpPr>
        <p:spPr>
          <a:xfrm>
            <a:off x="6099048" y="2871215"/>
            <a:ext cx="768096" cy="274320"/>
          </a:xfrm>
          <a:prstGeom prst="rect">
            <a:avLst/>
          </a:prstGeom>
          <a:noFill/>
        </p:spPr>
        <p:txBody>
          <a:bodyPr wrap="square" lIns="13716" rIns="13716" tIns="0" bIns="0">
            <a:spAutoFit/>
          </a:bodyPr>
          <a:lstStyle/>
          <a:p>
            <a:pPr>
              <a:spcBef>
                <a:spcPts val="0"/>
              </a:spcBef>
              <a:spcAft>
                <a:spcPts val="500"/>
              </a:spcAft>
              <a:defRPr sz="1500" b="0">
                <a:solidFill>
                  <a:srgbClr val="092A20"/>
                </a:solidFill>
                <a:latin typeface="Arial"/>
              </a:defRPr>
            </a:pPr>
            <a:r>
              <a:t>2 нед.</a:t>
            </a:r>
          </a:p>
        </p:txBody>
      </p:sp>
      <p:sp>
        <p:nvSpPr>
          <p:cNvPr id="48" name="Rounded Rectangle 47"/>
          <p:cNvSpPr/>
          <p:nvPr/>
        </p:nvSpPr>
        <p:spPr>
          <a:xfrm>
            <a:off x="7123176" y="2331720"/>
            <a:ext cx="877824" cy="877824"/>
          </a:xfrm>
          <a:prstGeom prst="roundRect">
            <a:avLst>
              <a:gd name="adj" fmla="val 8000"/>
            </a:avLst>
          </a:prstGeom>
          <a:solidFill>
            <a:srgbClr val="C8F2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7205472" y="2432303"/>
            <a:ext cx="713232" cy="329184"/>
          </a:xfrm>
          <a:prstGeom prst="rect">
            <a:avLst/>
          </a:prstGeom>
          <a:noFill/>
        </p:spPr>
        <p:txBody>
          <a:bodyPr wrap="square" lIns="13716" rIns="13716" tIns="0" bIns="0">
            <a:spAutoFit/>
          </a:bodyPr>
          <a:lstStyle/>
          <a:p>
            <a:pPr>
              <a:spcBef>
                <a:spcPts val="0"/>
              </a:spcBef>
              <a:spcAft>
                <a:spcPts val="500"/>
              </a:spcAft>
              <a:defRPr sz="2400" b="1">
                <a:solidFill>
                  <a:srgbClr val="164C38"/>
                </a:solidFill>
                <a:latin typeface="Arial"/>
              </a:defRPr>
            </a:pPr>
            <a:r>
              <a:t>J</a:t>
            </a:r>
          </a:p>
        </p:txBody>
      </p:sp>
      <p:sp>
        <p:nvSpPr>
          <p:cNvPr id="50" name="TextBox 49"/>
          <p:cNvSpPr txBox="1"/>
          <p:nvPr/>
        </p:nvSpPr>
        <p:spPr>
          <a:xfrm>
            <a:off x="7187184" y="2871215"/>
            <a:ext cx="768096" cy="274320"/>
          </a:xfrm>
          <a:prstGeom prst="rect">
            <a:avLst/>
          </a:prstGeom>
          <a:noFill/>
        </p:spPr>
        <p:txBody>
          <a:bodyPr wrap="square" lIns="13716" rIns="13716" tIns="0" bIns="0">
            <a:spAutoFit/>
          </a:bodyPr>
          <a:lstStyle/>
          <a:p>
            <a:pPr>
              <a:spcBef>
                <a:spcPts val="0"/>
              </a:spcBef>
              <a:spcAft>
                <a:spcPts val="500"/>
              </a:spcAft>
              <a:defRPr sz="1500" b="0">
                <a:solidFill>
                  <a:srgbClr val="092A20"/>
                </a:solidFill>
                <a:latin typeface="Arial"/>
              </a:defRPr>
            </a:pPr>
            <a:r>
              <a:t>2 нед.</a:t>
            </a:r>
          </a:p>
        </p:txBody>
      </p:sp>
      <p:sp>
        <p:nvSpPr>
          <p:cNvPr id="51" name="Rounded Rectangle 50"/>
          <p:cNvSpPr/>
          <p:nvPr/>
        </p:nvSpPr>
        <p:spPr>
          <a:xfrm>
            <a:off x="8211312" y="2331720"/>
            <a:ext cx="877824" cy="877824"/>
          </a:xfrm>
          <a:prstGeom prst="roundRect">
            <a:avLst>
              <a:gd name="adj" fmla="val 8000"/>
            </a:avLst>
          </a:prstGeom>
          <a:solidFill>
            <a:srgbClr val="C8F2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TextBox 51"/>
          <p:cNvSpPr txBox="1"/>
          <p:nvPr/>
        </p:nvSpPr>
        <p:spPr>
          <a:xfrm>
            <a:off x="8293608" y="2432303"/>
            <a:ext cx="713232" cy="329184"/>
          </a:xfrm>
          <a:prstGeom prst="rect">
            <a:avLst/>
          </a:prstGeom>
          <a:noFill/>
        </p:spPr>
        <p:txBody>
          <a:bodyPr wrap="square" lIns="13716" rIns="13716" tIns="0" bIns="0">
            <a:spAutoFit/>
          </a:bodyPr>
          <a:lstStyle/>
          <a:p>
            <a:pPr>
              <a:spcBef>
                <a:spcPts val="0"/>
              </a:spcBef>
              <a:spcAft>
                <a:spcPts val="500"/>
              </a:spcAft>
              <a:defRPr sz="2400" b="1">
                <a:solidFill>
                  <a:srgbClr val="164C38"/>
                </a:solidFill>
                <a:latin typeface="Arial"/>
              </a:defRPr>
            </a:pPr>
            <a:r>
              <a:t>M</a:t>
            </a:r>
          </a:p>
        </p:txBody>
      </p:sp>
      <p:sp>
        <p:nvSpPr>
          <p:cNvPr id="53" name="TextBox 52"/>
          <p:cNvSpPr txBox="1"/>
          <p:nvPr/>
        </p:nvSpPr>
        <p:spPr>
          <a:xfrm>
            <a:off x="8275320" y="2871215"/>
            <a:ext cx="768096" cy="274320"/>
          </a:xfrm>
          <a:prstGeom prst="rect">
            <a:avLst/>
          </a:prstGeom>
          <a:noFill/>
        </p:spPr>
        <p:txBody>
          <a:bodyPr wrap="square" lIns="13716" rIns="13716" tIns="0" bIns="0">
            <a:spAutoFit/>
          </a:bodyPr>
          <a:lstStyle/>
          <a:p>
            <a:pPr>
              <a:spcBef>
                <a:spcPts val="0"/>
              </a:spcBef>
              <a:spcAft>
                <a:spcPts val="500"/>
              </a:spcAft>
              <a:defRPr sz="1500" b="0">
                <a:solidFill>
                  <a:srgbClr val="092A20"/>
                </a:solidFill>
                <a:latin typeface="Arial"/>
              </a:defRPr>
            </a:pPr>
            <a:r>
              <a:t>3 нед.</a:t>
            </a:r>
          </a:p>
        </p:txBody>
      </p:sp>
      <p:sp>
        <p:nvSpPr>
          <p:cNvPr id="54" name="Rounded Rectangle 53"/>
          <p:cNvSpPr/>
          <p:nvPr/>
        </p:nvSpPr>
        <p:spPr>
          <a:xfrm>
            <a:off x="9299448" y="2331720"/>
            <a:ext cx="877824" cy="877824"/>
          </a:xfrm>
          <a:prstGeom prst="roundRect">
            <a:avLst>
              <a:gd name="adj" fmla="val 8000"/>
            </a:avLst>
          </a:prstGeom>
          <a:solidFill>
            <a:srgbClr val="C8F2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TextBox 54"/>
          <p:cNvSpPr txBox="1"/>
          <p:nvPr/>
        </p:nvSpPr>
        <p:spPr>
          <a:xfrm>
            <a:off x="9381744" y="2432303"/>
            <a:ext cx="713232" cy="329184"/>
          </a:xfrm>
          <a:prstGeom prst="rect">
            <a:avLst/>
          </a:prstGeom>
          <a:noFill/>
        </p:spPr>
        <p:txBody>
          <a:bodyPr wrap="square" lIns="13716" rIns="13716" tIns="0" bIns="0">
            <a:spAutoFit/>
          </a:bodyPr>
          <a:lstStyle/>
          <a:p>
            <a:pPr>
              <a:spcBef>
                <a:spcPts val="0"/>
              </a:spcBef>
              <a:spcAft>
                <a:spcPts val="500"/>
              </a:spcAft>
              <a:defRPr sz="2400" b="1">
                <a:solidFill>
                  <a:srgbClr val="164C38"/>
                </a:solidFill>
                <a:latin typeface="Arial"/>
              </a:defRPr>
            </a:pPr>
            <a:r>
              <a:t>K</a:t>
            </a:r>
          </a:p>
        </p:txBody>
      </p:sp>
      <p:sp>
        <p:nvSpPr>
          <p:cNvPr id="56" name="TextBox 55"/>
          <p:cNvSpPr txBox="1"/>
          <p:nvPr/>
        </p:nvSpPr>
        <p:spPr>
          <a:xfrm>
            <a:off x="9363456" y="2871215"/>
            <a:ext cx="768096" cy="274320"/>
          </a:xfrm>
          <a:prstGeom prst="rect">
            <a:avLst/>
          </a:prstGeom>
          <a:noFill/>
        </p:spPr>
        <p:txBody>
          <a:bodyPr wrap="square" lIns="13716" rIns="13716" tIns="0" bIns="0">
            <a:spAutoFit/>
          </a:bodyPr>
          <a:lstStyle/>
          <a:p>
            <a:pPr>
              <a:spcBef>
                <a:spcPts val="0"/>
              </a:spcBef>
              <a:spcAft>
                <a:spcPts val="500"/>
              </a:spcAft>
              <a:defRPr sz="1500" b="0">
                <a:solidFill>
                  <a:srgbClr val="092A20"/>
                </a:solidFill>
                <a:latin typeface="Arial"/>
              </a:defRPr>
            </a:pPr>
            <a:r>
              <a:t>22 нед.</a:t>
            </a:r>
          </a:p>
        </p:txBody>
      </p:sp>
      <p:sp>
        <p:nvSpPr>
          <p:cNvPr id="57" name="Rounded Rectangle 56"/>
          <p:cNvSpPr/>
          <p:nvPr/>
        </p:nvSpPr>
        <p:spPr>
          <a:xfrm>
            <a:off x="10387584" y="2331720"/>
            <a:ext cx="877824" cy="877824"/>
          </a:xfrm>
          <a:prstGeom prst="roundRect">
            <a:avLst>
              <a:gd name="adj" fmla="val 8000"/>
            </a:avLst>
          </a:prstGeom>
          <a:solidFill>
            <a:srgbClr val="C8F2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TextBox 57"/>
          <p:cNvSpPr txBox="1"/>
          <p:nvPr/>
        </p:nvSpPr>
        <p:spPr>
          <a:xfrm>
            <a:off x="10469880" y="2432303"/>
            <a:ext cx="713232" cy="329184"/>
          </a:xfrm>
          <a:prstGeom prst="rect">
            <a:avLst/>
          </a:prstGeom>
          <a:noFill/>
        </p:spPr>
        <p:txBody>
          <a:bodyPr wrap="square" lIns="13716" rIns="13716" tIns="0" bIns="0">
            <a:spAutoFit/>
          </a:bodyPr>
          <a:lstStyle/>
          <a:p>
            <a:pPr>
              <a:spcBef>
                <a:spcPts val="0"/>
              </a:spcBef>
              <a:spcAft>
                <a:spcPts val="500"/>
              </a:spcAft>
              <a:defRPr sz="2400" b="1">
                <a:solidFill>
                  <a:srgbClr val="164C38"/>
                </a:solidFill>
                <a:latin typeface="Arial"/>
              </a:defRPr>
            </a:pPr>
            <a:r>
              <a:t>L</a:t>
            </a:r>
          </a:p>
        </p:txBody>
      </p:sp>
      <p:sp>
        <p:nvSpPr>
          <p:cNvPr id="59" name="TextBox 58"/>
          <p:cNvSpPr txBox="1"/>
          <p:nvPr/>
        </p:nvSpPr>
        <p:spPr>
          <a:xfrm>
            <a:off x="10451592" y="2871215"/>
            <a:ext cx="768096" cy="274320"/>
          </a:xfrm>
          <a:prstGeom prst="rect">
            <a:avLst/>
          </a:prstGeom>
          <a:noFill/>
        </p:spPr>
        <p:txBody>
          <a:bodyPr wrap="square" lIns="13716" rIns="13716" tIns="0" bIns="0">
            <a:spAutoFit/>
          </a:bodyPr>
          <a:lstStyle/>
          <a:p>
            <a:pPr>
              <a:spcBef>
                <a:spcPts val="0"/>
              </a:spcBef>
              <a:spcAft>
                <a:spcPts val="500"/>
              </a:spcAft>
              <a:defRPr sz="1500" b="0">
                <a:solidFill>
                  <a:srgbClr val="092A20"/>
                </a:solidFill>
                <a:latin typeface="Arial"/>
              </a:defRPr>
            </a:pPr>
            <a:r>
              <a:t>2 нед.</a:t>
            </a:r>
          </a:p>
        </p:txBody>
      </p:sp>
      <p:sp>
        <p:nvSpPr>
          <p:cNvPr id="60" name="TextBox 59"/>
          <p:cNvSpPr txBox="1"/>
          <p:nvPr/>
        </p:nvSpPr>
        <p:spPr>
          <a:xfrm>
            <a:off x="594360" y="5138928"/>
            <a:ext cx="10972800" cy="402336"/>
          </a:xfrm>
          <a:prstGeom prst="rect">
            <a:avLst/>
          </a:prstGeom>
          <a:noFill/>
        </p:spPr>
        <p:txBody>
          <a:bodyPr wrap="square" lIns="13716" rIns="13716" tIns="0" bIns="0">
            <a:spAutoFit/>
          </a:bodyPr>
          <a:lstStyle/>
          <a:p>
            <a:pPr>
              <a:spcBef>
                <a:spcPts val="0"/>
              </a:spcBef>
              <a:spcAft>
                <a:spcPts val="500"/>
              </a:spcAft>
              <a:defRPr sz="2000" b="1">
                <a:solidFill>
                  <a:srgbClr val="FFFFFF"/>
                </a:solidFill>
                <a:latin typeface="Arial"/>
              </a:defRPr>
            </a:pPr>
            <a:r>
              <a:t>Критический путь: B → D → E → G → I → J → M → K → L</a:t>
            </a:r>
          </a:p>
        </p:txBody>
      </p:sp>
      <p:sp>
        <p:nvSpPr>
          <p:cNvPr id="61" name="Rounded Rectangle 60"/>
          <p:cNvSpPr/>
          <p:nvPr/>
        </p:nvSpPr>
        <p:spPr>
          <a:xfrm>
            <a:off x="502920" y="5733288"/>
            <a:ext cx="11183112" cy="448056"/>
          </a:xfrm>
          <a:prstGeom prst="roundRect">
            <a:avLst>
              <a:gd name="adj" fmla="val 8000"/>
            </a:avLst>
          </a:prstGeom>
          <a:solidFill>
            <a:srgbClr val="C8F2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TextBox 61"/>
          <p:cNvSpPr txBox="1"/>
          <p:nvPr/>
        </p:nvSpPr>
        <p:spPr>
          <a:xfrm>
            <a:off x="658368" y="5815583"/>
            <a:ext cx="10881360" cy="320040"/>
          </a:xfrm>
          <a:prstGeom prst="rect">
            <a:avLst/>
          </a:prstGeom>
          <a:noFill/>
        </p:spPr>
        <p:txBody>
          <a:bodyPr wrap="square" lIns="13716" rIns="13716" tIns="0" bIns="0">
            <a:spAutoFit/>
          </a:bodyPr>
          <a:lstStyle/>
          <a:p>
            <a:pPr>
              <a:spcBef>
                <a:spcPts val="0"/>
              </a:spcBef>
              <a:spcAft>
                <a:spcPts val="500"/>
              </a:spcAft>
              <a:defRPr sz="1600" b="1">
                <a:solidFill>
                  <a:srgbClr val="092A20"/>
                </a:solidFill>
                <a:latin typeface="Arial"/>
              </a:defRPr>
            </a:pPr>
            <a:r>
              <a:t>49 недель от проверки до аудита; M — явная работа ожидания, не свободный резерв</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092A20"/>
        </a:solidFill>
        <a:effectLst/>
      </p:bgPr>
    </p:bg>
    <p:spTree>
      <p:nvGrpSpPr>
        <p:cNvPr id="1" name=""/>
        <p:cNvGrpSpPr/>
        <p:nvPr/>
      </p:nvGrpSpPr>
      <p:grpSpPr/>
      <p:sp>
        <p:nvSpPr>
          <p:cNvPr id="2" name="Rectangle 1"/>
          <p:cNvSpPr/>
          <p:nvPr/>
        </p:nvSpPr>
        <p:spPr>
          <a:xfrm>
            <a:off x="411480" y="393192"/>
            <a:ext cx="91440" cy="448056"/>
          </a:xfrm>
          <a:prstGeom prst="rect">
            <a:avLst/>
          </a:prstGeom>
          <a:solidFill>
            <a:srgbClr val="C8F2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58368" y="356616"/>
            <a:ext cx="10835640" cy="886968"/>
          </a:xfrm>
          <a:prstGeom prst="rect">
            <a:avLst/>
          </a:prstGeom>
          <a:noFill/>
        </p:spPr>
        <p:txBody>
          <a:bodyPr wrap="square" lIns="13716" rIns="13716" tIns="0" bIns="0">
            <a:spAutoFit/>
          </a:bodyPr>
          <a:lstStyle/>
          <a:p>
            <a:pPr>
              <a:spcBef>
                <a:spcPts val="0"/>
              </a:spcBef>
              <a:spcAft>
                <a:spcPts val="500"/>
              </a:spcAft>
              <a:defRPr sz="3000" b="1">
                <a:solidFill>
                  <a:srgbClr val="FFFFFF"/>
                </a:solidFill>
                <a:latin typeface="Arial"/>
              </a:defRPr>
            </a:pPr>
            <a:r>
              <a:t>Матрица ответственности RACI</a:t>
            </a:r>
          </a:p>
        </p:txBody>
      </p:sp>
      <p:sp>
        <p:nvSpPr>
          <p:cNvPr id="4" name="TextBox 3"/>
          <p:cNvSpPr txBox="1"/>
          <p:nvPr/>
        </p:nvSpPr>
        <p:spPr>
          <a:xfrm>
            <a:off x="658368" y="1161288"/>
            <a:ext cx="10881360" cy="329184"/>
          </a:xfrm>
          <a:prstGeom prst="rect">
            <a:avLst/>
          </a:prstGeom>
          <a:noFill/>
        </p:spPr>
        <p:txBody>
          <a:bodyPr wrap="square" lIns="13716" rIns="13716" tIns="0" bIns="0">
            <a:spAutoFit/>
          </a:bodyPr>
          <a:lstStyle/>
          <a:p>
            <a:pPr>
              <a:spcBef>
                <a:spcPts val="0"/>
              </a:spcBef>
              <a:spcAft>
                <a:spcPts val="500"/>
              </a:spcAft>
              <a:defRPr sz="1500" b="0">
                <a:solidFill>
                  <a:srgbClr val="C8F26B"/>
                </a:solidFill>
                <a:latin typeface="Arial"/>
              </a:defRPr>
            </a:pPr>
            <a:r>
              <a:t>[ДОПУЩЕНИЕ] R — выполняет; A — принимает; C — консультирует; I — информируется</a:t>
            </a:r>
          </a:p>
        </p:txBody>
      </p:sp>
      <p:sp>
        <p:nvSpPr>
          <p:cNvPr id="5" name="TextBox 4"/>
          <p:cNvSpPr txBox="1"/>
          <p:nvPr/>
        </p:nvSpPr>
        <p:spPr>
          <a:xfrm>
            <a:off x="502920" y="6510528"/>
            <a:ext cx="10058400" cy="210312"/>
          </a:xfrm>
          <a:prstGeom prst="rect">
            <a:avLst/>
          </a:prstGeom>
          <a:noFill/>
        </p:spPr>
        <p:txBody>
          <a:bodyPr wrap="square" lIns="13716" rIns="13716" tIns="0" bIns="0">
            <a:spAutoFit/>
          </a:bodyPr>
          <a:lstStyle/>
          <a:p>
            <a:pPr>
              <a:spcBef>
                <a:spcPts val="0"/>
              </a:spcBef>
              <a:spcAft>
                <a:spcPts val="500"/>
              </a:spcAft>
              <a:defRPr sz="1000" b="0">
                <a:solidFill>
                  <a:srgbClr val="AFC5B8"/>
                </a:solidFill>
                <a:latin typeface="Arial"/>
              </a:defRPr>
            </a:pPr>
            <a:r>
              <a:t>АГРОВЕКТОР / инвестиционная гипотеза / 2027–2031 / редакция 20.10.2026</a:t>
            </a:r>
          </a:p>
        </p:txBody>
      </p:sp>
      <p:sp>
        <p:nvSpPr>
          <p:cNvPr id="6" name="TextBox 5"/>
          <p:cNvSpPr txBox="1"/>
          <p:nvPr/>
        </p:nvSpPr>
        <p:spPr>
          <a:xfrm>
            <a:off x="11018520" y="6483096"/>
            <a:ext cx="731520" cy="256032"/>
          </a:xfrm>
          <a:prstGeom prst="rect">
            <a:avLst/>
          </a:prstGeom>
          <a:noFill/>
        </p:spPr>
        <p:txBody>
          <a:bodyPr wrap="square" lIns="13716" rIns="13716" tIns="0" bIns="0">
            <a:spAutoFit/>
          </a:bodyPr>
          <a:lstStyle/>
          <a:p>
            <a:pPr>
              <a:spcBef>
                <a:spcPts val="0"/>
              </a:spcBef>
              <a:spcAft>
                <a:spcPts val="500"/>
              </a:spcAft>
              <a:defRPr sz="1100" b="1">
                <a:solidFill>
                  <a:srgbClr val="C8F26B"/>
                </a:solidFill>
                <a:latin typeface="Arial"/>
              </a:defRPr>
            </a:pPr>
            <a:r>
              <a:t>16 / 22</a:t>
            </a:r>
          </a:p>
        </p:txBody>
      </p:sp>
      <p:graphicFrame>
        <p:nvGraphicFramePr>
          <p:cNvPr id="7" name="Table 6"/>
          <p:cNvGraphicFramePr>
            <a:graphicFrameLocks noGrp="1"/>
          </p:cNvGraphicFramePr>
          <p:nvPr/>
        </p:nvGraphicFramePr>
        <p:xfrm>
          <a:off x="502920" y="1691640"/>
          <a:ext cx="11183112" cy="4251960"/>
        </p:xfrm>
        <a:graphic>
          <a:graphicData uri="http://schemas.openxmlformats.org/drawingml/2006/table">
            <a:tbl>
              <a:tblPr firstRow="1" bandRow="1">
                <a:tableStyleId>{5C22544A-7EE6-4342-B048-85BDC9FD1C3A}</a:tableStyleId>
              </a:tblPr>
              <a:tblGrid>
                <a:gridCol w="2395728"/>
                <a:gridCol w="1828800"/>
                <a:gridCol w="1737360"/>
                <a:gridCol w="3410712"/>
                <a:gridCol w="1810512"/>
              </a:tblGrid>
              <a:tr h="303711">
                <a:tc>
                  <a:txBody>
                    <a:bodyPr/>
                    <a:lstStyle/>
                    <a:p>
                      <a:pPr>
                        <a:spcAft>
                          <a:spcPts val="0"/>
                        </a:spcAft>
                        <a:defRPr sz="1200" b="1">
                          <a:solidFill>
                            <a:srgbClr val="FFFFFF"/>
                          </a:solidFill>
                          <a:latin typeface="Arial"/>
                        </a:defRPr>
                      </a:pPr>
                      <a:r>
                        <a:t>Работа</a:t>
                      </a:r>
                    </a:p>
                  </a:txBody>
                  <a:tcPr marL="91440" marR="91440" marT="45720" marB="45720">
                    <a:solidFill>
                      <a:srgbClr val="164C38"/>
                    </a:solidFill>
                  </a:tcPr>
                </a:tc>
                <a:tc>
                  <a:txBody>
                    <a:bodyPr/>
                    <a:lstStyle/>
                    <a:p>
                      <a:pPr>
                        <a:spcAft>
                          <a:spcPts val="0"/>
                        </a:spcAft>
                        <a:defRPr sz="1200" b="1">
                          <a:solidFill>
                            <a:srgbClr val="FFFFFF"/>
                          </a:solidFill>
                          <a:latin typeface="Arial"/>
                        </a:defRPr>
                      </a:pPr>
                      <a:r>
                        <a:t>R</a:t>
                      </a:r>
                    </a:p>
                  </a:txBody>
                  <a:tcPr marL="91440" marR="91440" marT="45720" marB="45720">
                    <a:solidFill>
                      <a:srgbClr val="164C38"/>
                    </a:solidFill>
                  </a:tcPr>
                </a:tc>
                <a:tc>
                  <a:txBody>
                    <a:bodyPr/>
                    <a:lstStyle/>
                    <a:p>
                      <a:pPr>
                        <a:spcAft>
                          <a:spcPts val="0"/>
                        </a:spcAft>
                        <a:defRPr sz="1200" b="1">
                          <a:solidFill>
                            <a:srgbClr val="FFFFFF"/>
                          </a:solidFill>
                          <a:latin typeface="Arial"/>
                        </a:defRPr>
                      </a:pPr>
                      <a:r>
                        <a:t>A</a:t>
                      </a:r>
                    </a:p>
                  </a:txBody>
                  <a:tcPr marL="91440" marR="91440" marT="45720" marB="45720">
                    <a:solidFill>
                      <a:srgbClr val="164C38"/>
                    </a:solidFill>
                  </a:tcPr>
                </a:tc>
                <a:tc>
                  <a:txBody>
                    <a:bodyPr/>
                    <a:lstStyle/>
                    <a:p>
                      <a:pPr>
                        <a:spcAft>
                          <a:spcPts val="0"/>
                        </a:spcAft>
                        <a:defRPr sz="1200" b="1">
                          <a:solidFill>
                            <a:srgbClr val="FFFFFF"/>
                          </a:solidFill>
                          <a:latin typeface="Arial"/>
                        </a:defRPr>
                      </a:pPr>
                      <a:r>
                        <a:t>C</a:t>
                      </a:r>
                    </a:p>
                  </a:txBody>
                  <a:tcPr marL="91440" marR="91440" marT="45720" marB="45720">
                    <a:solidFill>
                      <a:srgbClr val="164C38"/>
                    </a:solidFill>
                  </a:tcPr>
                </a:tc>
                <a:tc>
                  <a:txBody>
                    <a:bodyPr/>
                    <a:lstStyle/>
                    <a:p>
                      <a:pPr>
                        <a:spcAft>
                          <a:spcPts val="0"/>
                        </a:spcAft>
                        <a:defRPr sz="1200" b="1">
                          <a:solidFill>
                            <a:srgbClr val="FFFFFF"/>
                          </a:solidFill>
                          <a:latin typeface="Arial"/>
                        </a:defRPr>
                      </a:pPr>
                      <a:r>
                        <a:t>I</a:t>
                      </a:r>
                    </a:p>
                  </a:txBody>
                  <a:tcPr marL="91440" marR="91440" marT="45720" marB="45720">
                    <a:solidFill>
                      <a:srgbClr val="164C38"/>
                    </a:solidFill>
                  </a:tcPr>
                </a:tc>
              </a:tr>
              <a:tr h="303711">
                <a:tc>
                  <a:txBody>
                    <a:bodyPr/>
                    <a:lstStyle/>
                    <a:p>
                      <a:pPr>
                        <a:spcAft>
                          <a:spcPts val="0"/>
                        </a:spcAft>
                        <a:defRPr sz="1200" b="0">
                          <a:solidFill>
                            <a:srgbClr val="092A20"/>
                          </a:solidFill>
                          <a:latin typeface="Arial"/>
                        </a:defRPr>
                      </a:pPr>
                      <a:r>
                        <a:t>A Правовой gate</a:t>
                      </a:r>
                    </a:p>
                  </a:txBody>
                  <a:tcPr marL="91440" marR="91440" marT="45720" marB="45720">
                    <a:solidFill>
                      <a:srgbClr val="FFFFFF"/>
                    </a:solidFill>
                  </a:tcPr>
                </a:tc>
                <a:tc>
                  <a:txBody>
                    <a:bodyPr/>
                    <a:lstStyle/>
                    <a:p>
                      <a:pPr>
                        <a:spcAft>
                          <a:spcPts val="0"/>
                        </a:spcAft>
                        <a:defRPr sz="1200" b="0">
                          <a:solidFill>
                            <a:srgbClr val="092A20"/>
                          </a:solidFill>
                          <a:latin typeface="Arial"/>
                        </a:defRPr>
                      </a:pPr>
                      <a:r>
                        <a:t>Юрист</a:t>
                      </a:r>
                    </a:p>
                  </a:txBody>
                  <a:tcPr marL="91440" marR="91440" marT="45720" marB="45720">
                    <a:solidFill>
                      <a:srgbClr val="FFFFFF"/>
                    </a:solidFill>
                  </a:tcPr>
                </a:tc>
                <a:tc>
                  <a:txBody>
                    <a:bodyPr/>
                    <a:lstStyle/>
                    <a:p>
                      <a:pPr>
                        <a:spcAft>
                          <a:spcPts val="0"/>
                        </a:spcAft>
                        <a:defRPr sz="1200" b="0">
                          <a:solidFill>
                            <a:srgbClr val="092A20"/>
                          </a:solidFill>
                          <a:latin typeface="Arial"/>
                        </a:defRPr>
                      </a:pPr>
                      <a:r>
                        <a:t>Директор</a:t>
                      </a:r>
                    </a:p>
                  </a:txBody>
                  <a:tcPr marL="91440" marR="91440" marT="45720" marB="45720">
                    <a:solidFill>
                      <a:srgbClr val="FFFFFF"/>
                    </a:solidFill>
                  </a:tcPr>
                </a:tc>
                <a:tc>
                  <a:txBody>
                    <a:bodyPr/>
                    <a:lstStyle/>
                    <a:p>
                      <a:pPr>
                        <a:spcAft>
                          <a:spcPts val="0"/>
                        </a:spcAft>
                        <a:defRPr sz="1200" b="0">
                          <a:solidFill>
                            <a:srgbClr val="092A20"/>
                          </a:solidFill>
                          <a:latin typeface="Arial"/>
                        </a:defRPr>
                      </a:pPr>
                      <a:r>
                        <a:t>Агроном, Опер. рук.</a:t>
                      </a:r>
                    </a:p>
                  </a:txBody>
                  <a:tcPr marL="91440" marR="91440" marT="45720" marB="45720">
                    <a:solidFill>
                      <a:srgbClr val="FFFFFF"/>
                    </a:solidFill>
                  </a:tcPr>
                </a:tc>
                <a:tc>
                  <a:txBody>
                    <a:bodyPr/>
                    <a:lstStyle/>
                    <a:p>
                      <a:pPr>
                        <a:spcAft>
                          <a:spcPts val="0"/>
                        </a:spcAft>
                        <a:defRPr sz="1200" b="0">
                          <a:solidFill>
                            <a:srgbClr val="092A20"/>
                          </a:solidFill>
                          <a:latin typeface="Arial"/>
                        </a:defRPr>
                      </a:pPr>
                      <a:r>
                        <a:t>Инвестор</a:t>
                      </a:r>
                    </a:p>
                  </a:txBody>
                  <a:tcPr marL="91440" marR="91440" marT="45720" marB="45720">
                    <a:solidFill>
                      <a:srgbClr val="FFFFFF"/>
                    </a:solidFill>
                  </a:tcPr>
                </a:tc>
              </a:tr>
              <a:tr h="303711">
                <a:tc>
                  <a:txBody>
                    <a:bodyPr/>
                    <a:lstStyle/>
                    <a:p>
                      <a:pPr>
                        <a:spcAft>
                          <a:spcPts val="0"/>
                        </a:spcAft>
                        <a:defRPr sz="1200" b="0">
                          <a:solidFill>
                            <a:srgbClr val="092A20"/>
                          </a:solidFill>
                          <a:latin typeface="Arial"/>
                        </a:defRPr>
                      </a:pPr>
                      <a:r>
                        <a:t>B Спрос / заявки</a:t>
                      </a:r>
                    </a:p>
                  </a:txBody>
                  <a:tcPr marL="91440" marR="91440" marT="45720" marB="45720">
                    <a:solidFill>
                      <a:srgbClr val="EFF4EF"/>
                    </a:solidFill>
                  </a:tcPr>
                </a:tc>
                <a:tc>
                  <a:txBody>
                    <a:bodyPr/>
                    <a:lstStyle/>
                    <a:p>
                      <a:pPr>
                        <a:spcAft>
                          <a:spcPts val="0"/>
                        </a:spcAft>
                        <a:defRPr sz="1200" b="0">
                          <a:solidFill>
                            <a:srgbClr val="092A20"/>
                          </a:solidFill>
                          <a:latin typeface="Arial"/>
                        </a:defRPr>
                      </a:pPr>
                      <a:r>
                        <a:t>Продажи</a:t>
                      </a:r>
                    </a:p>
                  </a:txBody>
                  <a:tcPr marL="91440" marR="91440" marT="45720" marB="45720">
                    <a:solidFill>
                      <a:srgbClr val="EFF4EF"/>
                    </a:solidFill>
                  </a:tcPr>
                </a:tc>
                <a:tc>
                  <a:txBody>
                    <a:bodyPr/>
                    <a:lstStyle/>
                    <a:p>
                      <a:pPr>
                        <a:spcAft>
                          <a:spcPts val="0"/>
                        </a:spcAft>
                        <a:defRPr sz="1200" b="0">
                          <a:solidFill>
                            <a:srgbClr val="092A20"/>
                          </a:solidFill>
                          <a:latin typeface="Arial"/>
                        </a:defRPr>
                      </a:pPr>
                      <a:r>
                        <a:t>Директор</a:t>
                      </a:r>
                    </a:p>
                  </a:txBody>
                  <a:tcPr marL="91440" marR="91440" marT="45720" marB="45720">
                    <a:solidFill>
                      <a:srgbClr val="EFF4EF"/>
                    </a:solidFill>
                  </a:tcPr>
                </a:tc>
                <a:tc>
                  <a:txBody>
                    <a:bodyPr/>
                    <a:lstStyle/>
                    <a:p>
                      <a:pPr>
                        <a:spcAft>
                          <a:spcPts val="0"/>
                        </a:spcAft>
                        <a:defRPr sz="1200" b="0">
                          <a:solidFill>
                            <a:srgbClr val="092A20"/>
                          </a:solidFill>
                          <a:latin typeface="Arial"/>
                        </a:defRPr>
                      </a:pPr>
                      <a:r>
                        <a:t>Агроном</a:t>
                      </a:r>
                    </a:p>
                  </a:txBody>
                  <a:tcPr marL="91440" marR="91440" marT="45720" marB="45720">
                    <a:solidFill>
                      <a:srgbClr val="EFF4EF"/>
                    </a:solidFill>
                  </a:tcPr>
                </a:tc>
                <a:tc>
                  <a:txBody>
                    <a:bodyPr/>
                    <a:lstStyle/>
                    <a:p>
                      <a:pPr>
                        <a:spcAft>
                          <a:spcPts val="0"/>
                        </a:spcAft>
                        <a:defRPr sz="1200" b="0">
                          <a:solidFill>
                            <a:srgbClr val="092A20"/>
                          </a:solidFill>
                          <a:latin typeface="Arial"/>
                        </a:defRPr>
                      </a:pPr>
                      <a:r>
                        <a:t>Инвестор</a:t>
                      </a:r>
                    </a:p>
                  </a:txBody>
                  <a:tcPr marL="91440" marR="91440" marT="45720" marB="45720">
                    <a:solidFill>
                      <a:srgbClr val="EFF4EF"/>
                    </a:solidFill>
                  </a:tcPr>
                </a:tc>
              </a:tr>
              <a:tr h="303711">
                <a:tc>
                  <a:txBody>
                    <a:bodyPr/>
                    <a:lstStyle/>
                    <a:p>
                      <a:pPr>
                        <a:spcAft>
                          <a:spcPts val="0"/>
                        </a:spcAft>
                        <a:defRPr sz="1200" b="0">
                          <a:solidFill>
                            <a:srgbClr val="092A20"/>
                          </a:solidFill>
                          <a:latin typeface="Arial"/>
                        </a:defRPr>
                      </a:pPr>
                      <a:r>
                        <a:t>C ООО и договоры</a:t>
                      </a:r>
                    </a:p>
                  </a:txBody>
                  <a:tcPr marL="91440" marR="91440" marT="45720" marB="45720">
                    <a:solidFill>
                      <a:srgbClr val="FFFFFF"/>
                    </a:solidFill>
                  </a:tcPr>
                </a:tc>
                <a:tc>
                  <a:txBody>
                    <a:bodyPr/>
                    <a:lstStyle/>
                    <a:p>
                      <a:pPr>
                        <a:spcAft>
                          <a:spcPts val="0"/>
                        </a:spcAft>
                        <a:defRPr sz="1200" b="0">
                          <a:solidFill>
                            <a:srgbClr val="092A20"/>
                          </a:solidFill>
                          <a:latin typeface="Arial"/>
                        </a:defRPr>
                      </a:pPr>
                      <a:r>
                        <a:t>Юрист</a:t>
                      </a:r>
                    </a:p>
                  </a:txBody>
                  <a:tcPr marL="91440" marR="91440" marT="45720" marB="45720">
                    <a:solidFill>
                      <a:srgbClr val="FFFFFF"/>
                    </a:solidFill>
                  </a:tcPr>
                </a:tc>
                <a:tc>
                  <a:txBody>
                    <a:bodyPr/>
                    <a:lstStyle/>
                    <a:p>
                      <a:pPr>
                        <a:spcAft>
                          <a:spcPts val="0"/>
                        </a:spcAft>
                        <a:defRPr sz="1200" b="0">
                          <a:solidFill>
                            <a:srgbClr val="092A20"/>
                          </a:solidFill>
                          <a:latin typeface="Arial"/>
                        </a:defRPr>
                      </a:pPr>
                      <a:r>
                        <a:t>Директор</a:t>
                      </a:r>
                    </a:p>
                  </a:txBody>
                  <a:tcPr marL="91440" marR="91440" marT="45720" marB="45720">
                    <a:solidFill>
                      <a:srgbClr val="FFFFFF"/>
                    </a:solidFill>
                  </a:tcPr>
                </a:tc>
                <a:tc>
                  <a:txBody>
                    <a:bodyPr/>
                    <a:lstStyle/>
                    <a:p>
                      <a:pPr>
                        <a:spcAft>
                          <a:spcPts val="0"/>
                        </a:spcAft>
                        <a:defRPr sz="1200" b="0">
                          <a:solidFill>
                            <a:srgbClr val="092A20"/>
                          </a:solidFill>
                          <a:latin typeface="Arial"/>
                        </a:defRPr>
                      </a:pPr>
                      <a:r>
                        <a:t>Бухгалтер</a:t>
                      </a:r>
                    </a:p>
                  </a:txBody>
                  <a:tcPr marL="91440" marR="91440" marT="45720" marB="45720">
                    <a:solidFill>
                      <a:srgbClr val="FFFFFF"/>
                    </a:solidFill>
                  </a:tcPr>
                </a:tc>
                <a:tc>
                  <a:txBody>
                    <a:bodyPr/>
                    <a:lstStyle/>
                    <a:p>
                      <a:pPr>
                        <a:spcAft>
                          <a:spcPts val="0"/>
                        </a:spcAft>
                        <a:defRPr sz="1200" b="0">
                          <a:solidFill>
                            <a:srgbClr val="092A20"/>
                          </a:solidFill>
                          <a:latin typeface="Arial"/>
                        </a:defRPr>
                      </a:pPr>
                      <a:r>
                        <a:t>Инвестор</a:t>
                      </a:r>
                    </a:p>
                  </a:txBody>
                  <a:tcPr marL="91440" marR="91440" marT="45720" marB="45720">
                    <a:solidFill>
                      <a:srgbClr val="FFFFFF"/>
                    </a:solidFill>
                  </a:tcPr>
                </a:tc>
              </a:tr>
              <a:tr h="303711">
                <a:tc>
                  <a:txBody>
                    <a:bodyPr/>
                    <a:lstStyle/>
                    <a:p>
                      <a:pPr>
                        <a:spcAft>
                          <a:spcPts val="0"/>
                        </a:spcAft>
                        <a:defRPr sz="1200" b="0">
                          <a:solidFill>
                            <a:srgbClr val="092A20"/>
                          </a:solidFill>
                          <a:latin typeface="Arial"/>
                        </a:defRPr>
                      </a:pPr>
                      <a:r>
                        <a:t>D Финансирование</a:t>
                      </a:r>
                    </a:p>
                  </a:txBody>
                  <a:tcPr marL="91440" marR="91440" marT="45720" marB="45720">
                    <a:solidFill>
                      <a:srgbClr val="EFF4EF"/>
                    </a:solidFill>
                  </a:tcPr>
                </a:tc>
                <a:tc>
                  <a:txBody>
                    <a:bodyPr/>
                    <a:lstStyle/>
                    <a:p>
                      <a:pPr>
                        <a:spcAft>
                          <a:spcPts val="0"/>
                        </a:spcAft>
                        <a:defRPr sz="1200" b="0">
                          <a:solidFill>
                            <a:srgbClr val="092A20"/>
                          </a:solidFill>
                          <a:latin typeface="Arial"/>
                        </a:defRPr>
                      </a:pPr>
                      <a:r>
                        <a:t>Директор</a:t>
                      </a:r>
                    </a:p>
                  </a:txBody>
                  <a:tcPr marL="91440" marR="91440" marT="45720" marB="45720">
                    <a:solidFill>
                      <a:srgbClr val="EFF4EF"/>
                    </a:solidFill>
                  </a:tcPr>
                </a:tc>
                <a:tc>
                  <a:txBody>
                    <a:bodyPr/>
                    <a:lstStyle/>
                    <a:p>
                      <a:pPr>
                        <a:spcAft>
                          <a:spcPts val="0"/>
                        </a:spcAft>
                        <a:defRPr sz="1200" b="0">
                          <a:solidFill>
                            <a:srgbClr val="092A20"/>
                          </a:solidFill>
                          <a:latin typeface="Arial"/>
                        </a:defRPr>
                      </a:pPr>
                      <a:r>
                        <a:t>Инвестор</a:t>
                      </a:r>
                    </a:p>
                  </a:txBody>
                  <a:tcPr marL="91440" marR="91440" marT="45720" marB="45720">
                    <a:solidFill>
                      <a:srgbClr val="EFF4EF"/>
                    </a:solidFill>
                  </a:tcPr>
                </a:tc>
                <a:tc>
                  <a:txBody>
                    <a:bodyPr/>
                    <a:lstStyle/>
                    <a:p>
                      <a:pPr>
                        <a:spcAft>
                          <a:spcPts val="0"/>
                        </a:spcAft>
                        <a:defRPr sz="1200" b="0">
                          <a:solidFill>
                            <a:srgbClr val="092A20"/>
                          </a:solidFill>
                          <a:latin typeface="Arial"/>
                        </a:defRPr>
                      </a:pPr>
                      <a:r>
                        <a:t>Бухгалтер, Юрист</a:t>
                      </a:r>
                    </a:p>
                  </a:txBody>
                  <a:tcPr marL="91440" marR="91440" marT="45720" marB="45720">
                    <a:solidFill>
                      <a:srgbClr val="EFF4EF"/>
                    </a:solidFill>
                  </a:tcPr>
                </a:tc>
                <a:tc>
                  <a:txBody>
                    <a:bodyPr/>
                    <a:lstStyle/>
                    <a:p>
                      <a:pPr>
                        <a:spcAft>
                          <a:spcPts val="0"/>
                        </a:spcAft>
                        <a:defRPr sz="1200" b="0">
                          <a:solidFill>
                            <a:srgbClr val="092A20"/>
                          </a:solidFill>
                          <a:latin typeface="Arial"/>
                        </a:defRPr>
                      </a:pPr>
                      <a:r>
                        <a:t>Команда</a:t>
                      </a:r>
                    </a:p>
                  </a:txBody>
                  <a:tcPr marL="91440" marR="91440" marT="45720" marB="45720">
                    <a:solidFill>
                      <a:srgbClr val="EFF4EF"/>
                    </a:solidFill>
                  </a:tcPr>
                </a:tc>
              </a:tr>
              <a:tr h="303711">
                <a:tc>
                  <a:txBody>
                    <a:bodyPr/>
                    <a:lstStyle/>
                    <a:p>
                      <a:pPr>
                        <a:spcAft>
                          <a:spcPts val="0"/>
                        </a:spcAft>
                        <a:defRPr sz="1200" b="0">
                          <a:solidFill>
                            <a:srgbClr val="092A20"/>
                          </a:solidFill>
                          <a:latin typeface="Arial"/>
                        </a:defRPr>
                      </a:pPr>
                      <a:r>
                        <a:t>E Закупка</a:t>
                      </a:r>
                    </a:p>
                  </a:txBody>
                  <a:tcPr marL="91440" marR="91440" marT="45720" marB="45720">
                    <a:solidFill>
                      <a:srgbClr val="FFFFFF"/>
                    </a:solidFill>
                  </a:tcPr>
                </a:tc>
                <a:tc>
                  <a:txBody>
                    <a:bodyPr/>
                    <a:lstStyle/>
                    <a:p>
                      <a:pPr>
                        <a:spcAft>
                          <a:spcPts val="0"/>
                        </a:spcAft>
                        <a:defRPr sz="1200" b="0">
                          <a:solidFill>
                            <a:srgbClr val="092A20"/>
                          </a:solidFill>
                          <a:latin typeface="Arial"/>
                        </a:defRPr>
                      </a:pPr>
                      <a:r>
                        <a:t>Опер. рук.</a:t>
                      </a:r>
                    </a:p>
                  </a:txBody>
                  <a:tcPr marL="91440" marR="91440" marT="45720" marB="45720">
                    <a:solidFill>
                      <a:srgbClr val="FFFFFF"/>
                    </a:solidFill>
                  </a:tcPr>
                </a:tc>
                <a:tc>
                  <a:txBody>
                    <a:bodyPr/>
                    <a:lstStyle/>
                    <a:p>
                      <a:pPr>
                        <a:spcAft>
                          <a:spcPts val="0"/>
                        </a:spcAft>
                        <a:defRPr sz="1200" b="0">
                          <a:solidFill>
                            <a:srgbClr val="092A20"/>
                          </a:solidFill>
                          <a:latin typeface="Arial"/>
                        </a:defRPr>
                      </a:pPr>
                      <a:r>
                        <a:t>Директор</a:t>
                      </a:r>
                    </a:p>
                  </a:txBody>
                  <a:tcPr marL="91440" marR="91440" marT="45720" marB="45720">
                    <a:solidFill>
                      <a:srgbClr val="FFFFFF"/>
                    </a:solidFill>
                  </a:tcPr>
                </a:tc>
                <a:tc>
                  <a:txBody>
                    <a:bodyPr/>
                    <a:lstStyle/>
                    <a:p>
                      <a:pPr>
                        <a:spcAft>
                          <a:spcPts val="0"/>
                        </a:spcAft>
                        <a:defRPr sz="1200" b="0">
                          <a:solidFill>
                            <a:srgbClr val="092A20"/>
                          </a:solidFill>
                          <a:latin typeface="Arial"/>
                        </a:defRPr>
                      </a:pPr>
                      <a:r>
                        <a:t>Агроном</a:t>
                      </a:r>
                    </a:p>
                  </a:txBody>
                  <a:tcPr marL="91440" marR="91440" marT="45720" marB="45720">
                    <a:solidFill>
                      <a:srgbClr val="FFFFFF"/>
                    </a:solidFill>
                  </a:tcPr>
                </a:tc>
                <a:tc>
                  <a:txBody>
                    <a:bodyPr/>
                    <a:lstStyle/>
                    <a:p>
                      <a:pPr>
                        <a:spcAft>
                          <a:spcPts val="0"/>
                        </a:spcAft>
                        <a:defRPr sz="1200" b="0">
                          <a:solidFill>
                            <a:srgbClr val="092A20"/>
                          </a:solidFill>
                          <a:latin typeface="Arial"/>
                        </a:defRPr>
                      </a:pPr>
                      <a:r>
                        <a:t>Бухгалтер</a:t>
                      </a:r>
                    </a:p>
                  </a:txBody>
                  <a:tcPr marL="91440" marR="91440" marT="45720" marB="45720">
                    <a:solidFill>
                      <a:srgbClr val="FFFFFF"/>
                    </a:solidFill>
                  </a:tcPr>
                </a:tc>
              </a:tr>
              <a:tr h="303711">
                <a:tc>
                  <a:txBody>
                    <a:bodyPr/>
                    <a:lstStyle/>
                    <a:p>
                      <a:pPr>
                        <a:spcAft>
                          <a:spcPts val="0"/>
                        </a:spcAft>
                        <a:defRPr sz="1200" b="0">
                          <a:solidFill>
                            <a:srgbClr val="092A20"/>
                          </a:solidFill>
                          <a:latin typeface="Arial"/>
                        </a:defRPr>
                      </a:pPr>
                      <a:r>
                        <a:t>F Обучение</a:t>
                      </a:r>
                    </a:p>
                  </a:txBody>
                  <a:tcPr marL="91440" marR="91440" marT="45720" marB="45720">
                    <a:solidFill>
                      <a:srgbClr val="EFF4EF"/>
                    </a:solidFill>
                  </a:tcPr>
                </a:tc>
                <a:tc>
                  <a:txBody>
                    <a:bodyPr/>
                    <a:lstStyle/>
                    <a:p>
                      <a:pPr>
                        <a:spcAft>
                          <a:spcPts val="0"/>
                        </a:spcAft>
                        <a:defRPr sz="1200" b="0">
                          <a:solidFill>
                            <a:srgbClr val="092A20"/>
                          </a:solidFill>
                          <a:latin typeface="Arial"/>
                        </a:defRPr>
                      </a:pPr>
                      <a:r>
                        <a:t>Опер. рук.</a:t>
                      </a:r>
                    </a:p>
                  </a:txBody>
                  <a:tcPr marL="91440" marR="91440" marT="45720" marB="45720">
                    <a:solidFill>
                      <a:srgbClr val="EFF4EF"/>
                    </a:solidFill>
                  </a:tcPr>
                </a:tc>
                <a:tc>
                  <a:txBody>
                    <a:bodyPr/>
                    <a:lstStyle/>
                    <a:p>
                      <a:pPr>
                        <a:spcAft>
                          <a:spcPts val="0"/>
                        </a:spcAft>
                        <a:defRPr sz="1200" b="0">
                          <a:solidFill>
                            <a:srgbClr val="092A20"/>
                          </a:solidFill>
                          <a:latin typeface="Arial"/>
                        </a:defRPr>
                      </a:pPr>
                      <a:r>
                        <a:t>Директор</a:t>
                      </a:r>
                    </a:p>
                  </a:txBody>
                  <a:tcPr marL="91440" marR="91440" marT="45720" marB="45720">
                    <a:solidFill>
                      <a:srgbClr val="EFF4EF"/>
                    </a:solidFill>
                  </a:tcPr>
                </a:tc>
                <a:tc>
                  <a:txBody>
                    <a:bodyPr/>
                    <a:lstStyle/>
                    <a:p>
                      <a:pPr>
                        <a:spcAft>
                          <a:spcPts val="0"/>
                        </a:spcAft>
                        <a:defRPr sz="1200" b="0">
                          <a:solidFill>
                            <a:srgbClr val="092A20"/>
                          </a:solidFill>
                          <a:latin typeface="Arial"/>
                        </a:defRPr>
                      </a:pPr>
                      <a:r>
                        <a:t>Учеб. партнер, Агроном</a:t>
                      </a:r>
                    </a:p>
                  </a:txBody>
                  <a:tcPr marL="91440" marR="91440" marT="45720" marB="45720">
                    <a:solidFill>
                      <a:srgbClr val="EFF4EF"/>
                    </a:solidFill>
                  </a:tcPr>
                </a:tc>
                <a:tc>
                  <a:txBody>
                    <a:bodyPr/>
                    <a:lstStyle/>
                    <a:p>
                      <a:pPr>
                        <a:spcAft>
                          <a:spcPts val="0"/>
                        </a:spcAft>
                        <a:defRPr sz="1200" b="0">
                          <a:solidFill>
                            <a:srgbClr val="092A20"/>
                          </a:solidFill>
                          <a:latin typeface="Arial"/>
                        </a:defRPr>
                      </a:pPr>
                      <a:r>
                        <a:t>Инвестор</a:t>
                      </a:r>
                    </a:p>
                  </a:txBody>
                  <a:tcPr marL="91440" marR="91440" marT="45720" marB="45720">
                    <a:solidFill>
                      <a:srgbClr val="EFF4EF"/>
                    </a:solidFill>
                  </a:tcPr>
                </a:tc>
              </a:tr>
              <a:tr h="303711">
                <a:tc>
                  <a:txBody>
                    <a:bodyPr/>
                    <a:lstStyle/>
                    <a:p>
                      <a:pPr>
                        <a:spcAft>
                          <a:spcPts val="0"/>
                        </a:spcAft>
                        <a:defRPr sz="1200" b="0">
                          <a:solidFill>
                            <a:srgbClr val="092A20"/>
                          </a:solidFill>
                          <a:latin typeface="Arial"/>
                        </a:defRPr>
                      </a:pPr>
                      <a:r>
                        <a:t>G Готовность БВС</a:t>
                      </a:r>
                    </a:p>
                  </a:txBody>
                  <a:tcPr marL="91440" marR="91440" marT="45720" marB="45720">
                    <a:solidFill>
                      <a:srgbClr val="FFFFFF"/>
                    </a:solidFill>
                  </a:tcPr>
                </a:tc>
                <a:tc>
                  <a:txBody>
                    <a:bodyPr/>
                    <a:lstStyle/>
                    <a:p>
                      <a:pPr>
                        <a:spcAft>
                          <a:spcPts val="0"/>
                        </a:spcAft>
                        <a:defRPr sz="1200" b="0">
                          <a:solidFill>
                            <a:srgbClr val="092A20"/>
                          </a:solidFill>
                          <a:latin typeface="Arial"/>
                        </a:defRPr>
                      </a:pPr>
                      <a:r>
                        <a:t>Юрист</a:t>
                      </a:r>
                    </a:p>
                  </a:txBody>
                  <a:tcPr marL="91440" marR="91440" marT="45720" marB="45720">
                    <a:solidFill>
                      <a:srgbClr val="FFFFFF"/>
                    </a:solidFill>
                  </a:tcPr>
                </a:tc>
                <a:tc>
                  <a:txBody>
                    <a:bodyPr/>
                    <a:lstStyle/>
                    <a:p>
                      <a:pPr>
                        <a:spcAft>
                          <a:spcPts val="0"/>
                        </a:spcAft>
                        <a:defRPr sz="1200" b="0">
                          <a:solidFill>
                            <a:srgbClr val="092A20"/>
                          </a:solidFill>
                          <a:latin typeface="Arial"/>
                        </a:defRPr>
                      </a:pPr>
                      <a:r>
                        <a:t>Директор</a:t>
                      </a:r>
                    </a:p>
                  </a:txBody>
                  <a:tcPr marL="91440" marR="91440" marT="45720" marB="45720">
                    <a:solidFill>
                      <a:srgbClr val="FFFFFF"/>
                    </a:solidFill>
                  </a:tcPr>
                </a:tc>
                <a:tc>
                  <a:txBody>
                    <a:bodyPr/>
                    <a:lstStyle/>
                    <a:p>
                      <a:pPr>
                        <a:spcAft>
                          <a:spcPts val="0"/>
                        </a:spcAft>
                        <a:defRPr sz="1200" b="0">
                          <a:solidFill>
                            <a:srgbClr val="092A20"/>
                          </a:solidFill>
                          <a:latin typeface="Arial"/>
                        </a:defRPr>
                      </a:pPr>
                      <a:r>
                        <a:t>Опер. рук.</a:t>
                      </a:r>
                    </a:p>
                  </a:txBody>
                  <a:tcPr marL="91440" marR="91440" marT="45720" marB="45720">
                    <a:solidFill>
                      <a:srgbClr val="FFFFFF"/>
                    </a:solidFill>
                  </a:tcPr>
                </a:tc>
                <a:tc>
                  <a:txBody>
                    <a:bodyPr/>
                    <a:lstStyle/>
                    <a:p>
                      <a:pPr>
                        <a:spcAft>
                          <a:spcPts val="0"/>
                        </a:spcAft>
                        <a:defRPr sz="1200" b="0">
                          <a:solidFill>
                            <a:srgbClr val="092A20"/>
                          </a:solidFill>
                          <a:latin typeface="Arial"/>
                        </a:defRPr>
                      </a:pPr>
                      <a:r>
                        <a:t>Клиенты</a:t>
                      </a:r>
                    </a:p>
                  </a:txBody>
                  <a:tcPr marL="91440" marR="91440" marT="45720" marB="45720">
                    <a:solidFill>
                      <a:srgbClr val="FFFFFF"/>
                    </a:solidFill>
                  </a:tcPr>
                </a:tc>
              </a:tr>
              <a:tr h="303711">
                <a:tc>
                  <a:txBody>
                    <a:bodyPr/>
                    <a:lstStyle/>
                    <a:p>
                      <a:pPr>
                        <a:spcAft>
                          <a:spcPts val="0"/>
                        </a:spcAft>
                        <a:defRPr sz="1200" b="0">
                          <a:solidFill>
                            <a:srgbClr val="092A20"/>
                          </a:solidFill>
                          <a:latin typeface="Arial"/>
                        </a:defRPr>
                      </a:pPr>
                      <a:r>
                        <a:t>H SOP / CRM</a:t>
                      </a:r>
                    </a:p>
                  </a:txBody>
                  <a:tcPr marL="91440" marR="91440" marT="45720" marB="45720">
                    <a:solidFill>
                      <a:srgbClr val="EFF4EF"/>
                    </a:solidFill>
                  </a:tcPr>
                </a:tc>
                <a:tc>
                  <a:txBody>
                    <a:bodyPr/>
                    <a:lstStyle/>
                    <a:p>
                      <a:pPr>
                        <a:spcAft>
                          <a:spcPts val="0"/>
                        </a:spcAft>
                        <a:defRPr sz="1200" b="0">
                          <a:solidFill>
                            <a:srgbClr val="092A20"/>
                          </a:solidFill>
                          <a:latin typeface="Arial"/>
                        </a:defRPr>
                      </a:pPr>
                      <a:r>
                        <a:t>Агроном</a:t>
                      </a:r>
                    </a:p>
                  </a:txBody>
                  <a:tcPr marL="91440" marR="91440" marT="45720" marB="45720">
                    <a:solidFill>
                      <a:srgbClr val="EFF4EF"/>
                    </a:solidFill>
                  </a:tcPr>
                </a:tc>
                <a:tc>
                  <a:txBody>
                    <a:bodyPr/>
                    <a:lstStyle/>
                    <a:p>
                      <a:pPr>
                        <a:spcAft>
                          <a:spcPts val="0"/>
                        </a:spcAft>
                        <a:defRPr sz="1200" b="0">
                          <a:solidFill>
                            <a:srgbClr val="092A20"/>
                          </a:solidFill>
                          <a:latin typeface="Arial"/>
                        </a:defRPr>
                      </a:pPr>
                      <a:r>
                        <a:t>Опер. рук.</a:t>
                      </a:r>
                    </a:p>
                  </a:txBody>
                  <a:tcPr marL="91440" marR="91440" marT="45720" marB="45720">
                    <a:solidFill>
                      <a:srgbClr val="EFF4EF"/>
                    </a:solidFill>
                  </a:tcPr>
                </a:tc>
                <a:tc>
                  <a:txBody>
                    <a:bodyPr/>
                    <a:lstStyle/>
                    <a:p>
                      <a:pPr>
                        <a:spcAft>
                          <a:spcPts val="0"/>
                        </a:spcAft>
                        <a:defRPr sz="1200" b="0">
                          <a:solidFill>
                            <a:srgbClr val="092A20"/>
                          </a:solidFill>
                          <a:latin typeface="Arial"/>
                        </a:defRPr>
                      </a:pPr>
                      <a:r>
                        <a:t>Юрист</a:t>
                      </a:r>
                    </a:p>
                  </a:txBody>
                  <a:tcPr marL="91440" marR="91440" marT="45720" marB="45720">
                    <a:solidFill>
                      <a:srgbClr val="EFF4EF"/>
                    </a:solidFill>
                  </a:tcPr>
                </a:tc>
                <a:tc>
                  <a:txBody>
                    <a:bodyPr/>
                    <a:lstStyle/>
                    <a:p>
                      <a:pPr>
                        <a:spcAft>
                          <a:spcPts val="0"/>
                        </a:spcAft>
                        <a:defRPr sz="1200" b="0">
                          <a:solidFill>
                            <a:srgbClr val="092A20"/>
                          </a:solidFill>
                          <a:latin typeface="Arial"/>
                        </a:defRPr>
                      </a:pPr>
                      <a:r>
                        <a:t>Продажи</a:t>
                      </a:r>
                    </a:p>
                  </a:txBody>
                  <a:tcPr marL="91440" marR="91440" marT="45720" marB="45720">
                    <a:solidFill>
                      <a:srgbClr val="EFF4EF"/>
                    </a:solidFill>
                  </a:tcPr>
                </a:tc>
              </a:tr>
              <a:tr h="303711">
                <a:tc>
                  <a:txBody>
                    <a:bodyPr/>
                    <a:lstStyle/>
                    <a:p>
                      <a:pPr>
                        <a:spcAft>
                          <a:spcPts val="0"/>
                        </a:spcAft>
                        <a:defRPr sz="1200" b="0">
                          <a:solidFill>
                            <a:srgbClr val="092A20"/>
                          </a:solidFill>
                          <a:latin typeface="Arial"/>
                        </a:defRPr>
                      </a:pPr>
                      <a:r>
                        <a:t>I Испытания</a:t>
                      </a:r>
                    </a:p>
                  </a:txBody>
                  <a:tcPr marL="91440" marR="91440" marT="45720" marB="45720">
                    <a:solidFill>
                      <a:srgbClr val="FFFFFF"/>
                    </a:solidFill>
                  </a:tcPr>
                </a:tc>
                <a:tc>
                  <a:txBody>
                    <a:bodyPr/>
                    <a:lstStyle/>
                    <a:p>
                      <a:pPr>
                        <a:spcAft>
                          <a:spcPts val="0"/>
                        </a:spcAft>
                        <a:defRPr sz="1200" b="0">
                          <a:solidFill>
                            <a:srgbClr val="092A20"/>
                          </a:solidFill>
                          <a:latin typeface="Arial"/>
                        </a:defRPr>
                      </a:pPr>
                      <a:r>
                        <a:t>Второй оператор</a:t>
                      </a:r>
                    </a:p>
                  </a:txBody>
                  <a:tcPr marL="91440" marR="91440" marT="45720" marB="45720">
                    <a:solidFill>
                      <a:srgbClr val="FFFFFF"/>
                    </a:solidFill>
                  </a:tcPr>
                </a:tc>
                <a:tc>
                  <a:txBody>
                    <a:bodyPr/>
                    <a:lstStyle/>
                    <a:p>
                      <a:pPr>
                        <a:spcAft>
                          <a:spcPts val="0"/>
                        </a:spcAft>
                        <a:defRPr sz="1200" b="0">
                          <a:solidFill>
                            <a:srgbClr val="092A20"/>
                          </a:solidFill>
                          <a:latin typeface="Arial"/>
                        </a:defRPr>
                      </a:pPr>
                      <a:r>
                        <a:t>Опер. рук.</a:t>
                      </a:r>
                    </a:p>
                  </a:txBody>
                  <a:tcPr marL="91440" marR="91440" marT="45720" marB="45720">
                    <a:solidFill>
                      <a:srgbClr val="FFFFFF"/>
                    </a:solidFill>
                  </a:tcPr>
                </a:tc>
                <a:tc>
                  <a:txBody>
                    <a:bodyPr/>
                    <a:lstStyle/>
                    <a:p>
                      <a:pPr>
                        <a:spcAft>
                          <a:spcPts val="0"/>
                        </a:spcAft>
                        <a:defRPr sz="1200" b="0">
                          <a:solidFill>
                            <a:srgbClr val="092A20"/>
                          </a:solidFill>
                          <a:latin typeface="Arial"/>
                        </a:defRPr>
                      </a:pPr>
                      <a:r>
                        <a:t>Агроном, Клиент</a:t>
                      </a:r>
                    </a:p>
                  </a:txBody>
                  <a:tcPr marL="91440" marR="91440" marT="45720" marB="45720">
                    <a:solidFill>
                      <a:srgbClr val="FFFFFF"/>
                    </a:solidFill>
                  </a:tcPr>
                </a:tc>
                <a:tc>
                  <a:txBody>
                    <a:bodyPr/>
                    <a:lstStyle/>
                    <a:p>
                      <a:pPr>
                        <a:spcAft>
                          <a:spcPts val="0"/>
                        </a:spcAft>
                        <a:defRPr sz="1200" b="0">
                          <a:solidFill>
                            <a:srgbClr val="092A20"/>
                          </a:solidFill>
                          <a:latin typeface="Arial"/>
                        </a:defRPr>
                      </a:pPr>
                      <a:r>
                        <a:t>Директор</a:t>
                      </a:r>
                    </a:p>
                  </a:txBody>
                  <a:tcPr marL="91440" marR="91440" marT="45720" marB="45720">
                    <a:solidFill>
                      <a:srgbClr val="FFFFFF"/>
                    </a:solidFill>
                  </a:tcPr>
                </a:tc>
              </a:tr>
              <a:tr h="303711">
                <a:tc>
                  <a:txBody>
                    <a:bodyPr/>
                    <a:lstStyle/>
                    <a:p>
                      <a:pPr>
                        <a:spcAft>
                          <a:spcPts val="0"/>
                        </a:spcAft>
                        <a:defRPr sz="1200" b="0">
                          <a:solidFill>
                            <a:srgbClr val="092A20"/>
                          </a:solidFill>
                          <a:latin typeface="Arial"/>
                        </a:defRPr>
                      </a:pPr>
                      <a:r>
                        <a:t>J Договоры сезона</a:t>
                      </a:r>
                    </a:p>
                  </a:txBody>
                  <a:tcPr marL="91440" marR="91440" marT="45720" marB="45720">
                    <a:solidFill>
                      <a:srgbClr val="EFF4EF"/>
                    </a:solidFill>
                  </a:tcPr>
                </a:tc>
                <a:tc>
                  <a:txBody>
                    <a:bodyPr/>
                    <a:lstStyle/>
                    <a:p>
                      <a:pPr>
                        <a:spcAft>
                          <a:spcPts val="0"/>
                        </a:spcAft>
                        <a:defRPr sz="1200" b="0">
                          <a:solidFill>
                            <a:srgbClr val="092A20"/>
                          </a:solidFill>
                          <a:latin typeface="Arial"/>
                        </a:defRPr>
                      </a:pPr>
                      <a:r>
                        <a:t>Продажи</a:t>
                      </a:r>
                    </a:p>
                  </a:txBody>
                  <a:tcPr marL="91440" marR="91440" marT="45720" marB="45720">
                    <a:solidFill>
                      <a:srgbClr val="EFF4EF"/>
                    </a:solidFill>
                  </a:tcPr>
                </a:tc>
                <a:tc>
                  <a:txBody>
                    <a:bodyPr/>
                    <a:lstStyle/>
                    <a:p>
                      <a:pPr>
                        <a:spcAft>
                          <a:spcPts val="0"/>
                        </a:spcAft>
                        <a:defRPr sz="1200" b="0">
                          <a:solidFill>
                            <a:srgbClr val="092A20"/>
                          </a:solidFill>
                          <a:latin typeface="Arial"/>
                        </a:defRPr>
                      </a:pPr>
                      <a:r>
                        <a:t>Директор</a:t>
                      </a:r>
                    </a:p>
                  </a:txBody>
                  <a:tcPr marL="91440" marR="91440" marT="45720" marB="45720">
                    <a:solidFill>
                      <a:srgbClr val="EFF4EF"/>
                    </a:solidFill>
                  </a:tcPr>
                </a:tc>
                <a:tc>
                  <a:txBody>
                    <a:bodyPr/>
                    <a:lstStyle/>
                    <a:p>
                      <a:pPr>
                        <a:spcAft>
                          <a:spcPts val="0"/>
                        </a:spcAft>
                        <a:defRPr sz="1200" b="0">
                          <a:solidFill>
                            <a:srgbClr val="092A20"/>
                          </a:solidFill>
                          <a:latin typeface="Arial"/>
                        </a:defRPr>
                      </a:pPr>
                      <a:r>
                        <a:t>Агроном, Клиент</a:t>
                      </a:r>
                    </a:p>
                  </a:txBody>
                  <a:tcPr marL="91440" marR="91440" marT="45720" marB="45720">
                    <a:solidFill>
                      <a:srgbClr val="EFF4EF"/>
                    </a:solidFill>
                  </a:tcPr>
                </a:tc>
                <a:tc>
                  <a:txBody>
                    <a:bodyPr/>
                    <a:lstStyle/>
                    <a:p>
                      <a:pPr>
                        <a:spcAft>
                          <a:spcPts val="0"/>
                        </a:spcAft>
                        <a:defRPr sz="1200" b="0">
                          <a:solidFill>
                            <a:srgbClr val="092A20"/>
                          </a:solidFill>
                          <a:latin typeface="Arial"/>
                        </a:defRPr>
                      </a:pPr>
                      <a:r>
                        <a:t>Бухгалтер</a:t>
                      </a:r>
                    </a:p>
                  </a:txBody>
                  <a:tcPr marL="91440" marR="91440" marT="45720" marB="45720">
                    <a:solidFill>
                      <a:srgbClr val="EFF4EF"/>
                    </a:solidFill>
                  </a:tcPr>
                </a:tc>
              </a:tr>
              <a:tr h="303711">
                <a:tc>
                  <a:txBody>
                    <a:bodyPr/>
                    <a:lstStyle/>
                    <a:p>
                      <a:pPr>
                        <a:spcAft>
                          <a:spcPts val="0"/>
                        </a:spcAft>
                        <a:defRPr sz="1200" b="0">
                          <a:solidFill>
                            <a:srgbClr val="092A20"/>
                          </a:solidFill>
                          <a:latin typeface="Arial"/>
                        </a:defRPr>
                      </a:pPr>
                      <a:r>
                        <a:t>M Ожидание окна</a:t>
                      </a:r>
                    </a:p>
                  </a:txBody>
                  <a:tcPr marL="91440" marR="91440" marT="45720" marB="45720">
                    <a:solidFill>
                      <a:srgbClr val="FFFFFF"/>
                    </a:solidFill>
                  </a:tcPr>
                </a:tc>
                <a:tc>
                  <a:txBody>
                    <a:bodyPr/>
                    <a:lstStyle/>
                    <a:p>
                      <a:pPr>
                        <a:spcAft>
                          <a:spcPts val="0"/>
                        </a:spcAft>
                        <a:defRPr sz="1200" b="0">
                          <a:solidFill>
                            <a:srgbClr val="092A20"/>
                          </a:solidFill>
                          <a:latin typeface="Arial"/>
                        </a:defRPr>
                      </a:pPr>
                      <a:r>
                        <a:t>Опер. рук.</a:t>
                      </a:r>
                    </a:p>
                  </a:txBody>
                  <a:tcPr marL="91440" marR="91440" marT="45720" marB="45720">
                    <a:solidFill>
                      <a:srgbClr val="FFFFFF"/>
                    </a:solidFill>
                  </a:tcPr>
                </a:tc>
                <a:tc>
                  <a:txBody>
                    <a:bodyPr/>
                    <a:lstStyle/>
                    <a:p>
                      <a:pPr>
                        <a:spcAft>
                          <a:spcPts val="0"/>
                        </a:spcAft>
                        <a:defRPr sz="1200" b="0">
                          <a:solidFill>
                            <a:srgbClr val="092A20"/>
                          </a:solidFill>
                          <a:latin typeface="Arial"/>
                        </a:defRPr>
                      </a:pPr>
                      <a:r>
                        <a:t>Директор</a:t>
                      </a:r>
                    </a:p>
                  </a:txBody>
                  <a:tcPr marL="91440" marR="91440" marT="45720" marB="45720">
                    <a:solidFill>
                      <a:srgbClr val="FFFFFF"/>
                    </a:solidFill>
                  </a:tcPr>
                </a:tc>
                <a:tc>
                  <a:txBody>
                    <a:bodyPr/>
                    <a:lstStyle/>
                    <a:p>
                      <a:pPr>
                        <a:spcAft>
                          <a:spcPts val="0"/>
                        </a:spcAft>
                        <a:defRPr sz="1200" b="0">
                          <a:solidFill>
                            <a:srgbClr val="092A20"/>
                          </a:solidFill>
                          <a:latin typeface="Arial"/>
                        </a:defRPr>
                      </a:pPr>
                      <a:r>
                        <a:t>Агроном, Клиент</a:t>
                      </a:r>
                    </a:p>
                  </a:txBody>
                  <a:tcPr marL="91440" marR="91440" marT="45720" marB="45720">
                    <a:solidFill>
                      <a:srgbClr val="FFFFFF"/>
                    </a:solidFill>
                  </a:tcPr>
                </a:tc>
                <a:tc>
                  <a:txBody>
                    <a:bodyPr/>
                    <a:lstStyle/>
                    <a:p>
                      <a:pPr>
                        <a:spcAft>
                          <a:spcPts val="0"/>
                        </a:spcAft>
                        <a:defRPr sz="1200" b="0">
                          <a:solidFill>
                            <a:srgbClr val="092A20"/>
                          </a:solidFill>
                          <a:latin typeface="Arial"/>
                        </a:defRPr>
                      </a:pPr>
                      <a:r>
                        <a:t>Инвестор</a:t>
                      </a:r>
                    </a:p>
                  </a:txBody>
                  <a:tcPr marL="91440" marR="91440" marT="45720" marB="45720">
                    <a:solidFill>
                      <a:srgbClr val="FFFFFF"/>
                    </a:solidFill>
                  </a:tcPr>
                </a:tc>
              </a:tr>
              <a:tr h="303711">
                <a:tc>
                  <a:txBody>
                    <a:bodyPr/>
                    <a:lstStyle/>
                    <a:p>
                      <a:pPr>
                        <a:spcAft>
                          <a:spcPts val="0"/>
                        </a:spcAft>
                        <a:defRPr sz="1200" b="0">
                          <a:solidFill>
                            <a:srgbClr val="092A20"/>
                          </a:solidFill>
                          <a:latin typeface="Arial"/>
                        </a:defRPr>
                      </a:pPr>
                      <a:r>
                        <a:t>K Сезон</a:t>
                      </a:r>
                    </a:p>
                  </a:txBody>
                  <a:tcPr marL="91440" marR="91440" marT="45720" marB="45720">
                    <a:solidFill>
                      <a:srgbClr val="EFF4EF"/>
                    </a:solidFill>
                  </a:tcPr>
                </a:tc>
                <a:tc>
                  <a:txBody>
                    <a:bodyPr/>
                    <a:lstStyle/>
                    <a:p>
                      <a:pPr>
                        <a:spcAft>
                          <a:spcPts val="0"/>
                        </a:spcAft>
                        <a:defRPr sz="1200" b="0">
                          <a:solidFill>
                            <a:srgbClr val="092A20"/>
                          </a:solidFill>
                          <a:latin typeface="Arial"/>
                        </a:defRPr>
                      </a:pPr>
                      <a:r>
                        <a:t>Второй оператор</a:t>
                      </a:r>
                    </a:p>
                  </a:txBody>
                  <a:tcPr marL="91440" marR="91440" marT="45720" marB="45720">
                    <a:solidFill>
                      <a:srgbClr val="EFF4EF"/>
                    </a:solidFill>
                  </a:tcPr>
                </a:tc>
                <a:tc>
                  <a:txBody>
                    <a:bodyPr/>
                    <a:lstStyle/>
                    <a:p>
                      <a:pPr>
                        <a:spcAft>
                          <a:spcPts val="0"/>
                        </a:spcAft>
                        <a:defRPr sz="1200" b="0">
                          <a:solidFill>
                            <a:srgbClr val="092A20"/>
                          </a:solidFill>
                          <a:latin typeface="Arial"/>
                        </a:defRPr>
                      </a:pPr>
                      <a:r>
                        <a:t>Опер. рук.</a:t>
                      </a:r>
                    </a:p>
                  </a:txBody>
                  <a:tcPr marL="91440" marR="91440" marT="45720" marB="45720">
                    <a:solidFill>
                      <a:srgbClr val="EFF4EF"/>
                    </a:solidFill>
                  </a:tcPr>
                </a:tc>
                <a:tc>
                  <a:txBody>
                    <a:bodyPr/>
                    <a:lstStyle/>
                    <a:p>
                      <a:pPr>
                        <a:spcAft>
                          <a:spcPts val="0"/>
                        </a:spcAft>
                        <a:defRPr sz="1200" b="0">
                          <a:solidFill>
                            <a:srgbClr val="092A20"/>
                          </a:solidFill>
                          <a:latin typeface="Arial"/>
                        </a:defRPr>
                      </a:pPr>
                      <a:r>
                        <a:t>Агроном, Клиент</a:t>
                      </a:r>
                    </a:p>
                  </a:txBody>
                  <a:tcPr marL="91440" marR="91440" marT="45720" marB="45720">
                    <a:solidFill>
                      <a:srgbClr val="EFF4EF"/>
                    </a:solidFill>
                  </a:tcPr>
                </a:tc>
                <a:tc>
                  <a:txBody>
                    <a:bodyPr/>
                    <a:lstStyle/>
                    <a:p>
                      <a:pPr>
                        <a:spcAft>
                          <a:spcPts val="0"/>
                        </a:spcAft>
                        <a:defRPr sz="1200" b="0">
                          <a:solidFill>
                            <a:srgbClr val="092A20"/>
                          </a:solidFill>
                          <a:latin typeface="Arial"/>
                        </a:defRPr>
                      </a:pPr>
                      <a:r>
                        <a:t>Директор</a:t>
                      </a:r>
                    </a:p>
                  </a:txBody>
                  <a:tcPr marL="91440" marR="91440" marT="45720" marB="45720">
                    <a:solidFill>
                      <a:srgbClr val="EFF4EF"/>
                    </a:solidFill>
                  </a:tcPr>
                </a:tc>
              </a:tr>
              <a:tr h="303717">
                <a:tc>
                  <a:txBody>
                    <a:bodyPr/>
                    <a:lstStyle/>
                    <a:p>
                      <a:pPr>
                        <a:spcAft>
                          <a:spcPts val="0"/>
                        </a:spcAft>
                        <a:defRPr sz="1200" b="0">
                          <a:solidFill>
                            <a:srgbClr val="092A20"/>
                          </a:solidFill>
                          <a:latin typeface="Arial"/>
                        </a:defRPr>
                      </a:pPr>
                      <a:r>
                        <a:t>L Аудит</a:t>
                      </a:r>
                    </a:p>
                  </a:txBody>
                  <a:tcPr marL="91440" marR="91440" marT="45720" marB="45720">
                    <a:solidFill>
                      <a:srgbClr val="FFFFFF"/>
                    </a:solidFill>
                  </a:tcPr>
                </a:tc>
                <a:tc>
                  <a:txBody>
                    <a:bodyPr/>
                    <a:lstStyle/>
                    <a:p>
                      <a:pPr>
                        <a:spcAft>
                          <a:spcPts val="0"/>
                        </a:spcAft>
                        <a:defRPr sz="1200" b="0">
                          <a:solidFill>
                            <a:srgbClr val="092A20"/>
                          </a:solidFill>
                          <a:latin typeface="Arial"/>
                        </a:defRPr>
                      </a:pPr>
                      <a:r>
                        <a:t>Бухгалтер</a:t>
                      </a:r>
                    </a:p>
                  </a:txBody>
                  <a:tcPr marL="91440" marR="91440" marT="45720" marB="45720">
                    <a:solidFill>
                      <a:srgbClr val="FFFFFF"/>
                    </a:solidFill>
                  </a:tcPr>
                </a:tc>
                <a:tc>
                  <a:txBody>
                    <a:bodyPr/>
                    <a:lstStyle/>
                    <a:p>
                      <a:pPr>
                        <a:spcAft>
                          <a:spcPts val="0"/>
                        </a:spcAft>
                        <a:defRPr sz="1200" b="0">
                          <a:solidFill>
                            <a:srgbClr val="092A20"/>
                          </a:solidFill>
                          <a:latin typeface="Arial"/>
                        </a:defRPr>
                      </a:pPr>
                      <a:r>
                        <a:t>Директор</a:t>
                      </a:r>
                    </a:p>
                  </a:txBody>
                  <a:tcPr marL="91440" marR="91440" marT="45720" marB="45720">
                    <a:solidFill>
                      <a:srgbClr val="FFFFFF"/>
                    </a:solidFill>
                  </a:tcPr>
                </a:tc>
                <a:tc>
                  <a:txBody>
                    <a:bodyPr/>
                    <a:lstStyle/>
                    <a:p>
                      <a:pPr>
                        <a:spcAft>
                          <a:spcPts val="0"/>
                        </a:spcAft>
                        <a:defRPr sz="1200" b="0">
                          <a:solidFill>
                            <a:srgbClr val="092A20"/>
                          </a:solidFill>
                          <a:latin typeface="Arial"/>
                        </a:defRPr>
                      </a:pPr>
                      <a:r>
                        <a:t>Агроном, Опер. рук.</a:t>
                      </a:r>
                    </a:p>
                  </a:txBody>
                  <a:tcPr marL="91440" marR="91440" marT="45720" marB="45720">
                    <a:solidFill>
                      <a:srgbClr val="FFFFFF"/>
                    </a:solidFill>
                  </a:tcPr>
                </a:tc>
                <a:tc>
                  <a:txBody>
                    <a:bodyPr/>
                    <a:lstStyle/>
                    <a:p>
                      <a:pPr>
                        <a:spcAft>
                          <a:spcPts val="0"/>
                        </a:spcAft>
                        <a:defRPr sz="1200" b="0">
                          <a:solidFill>
                            <a:srgbClr val="092A20"/>
                          </a:solidFill>
                          <a:latin typeface="Arial"/>
                        </a:defRPr>
                      </a:pPr>
                      <a:r>
                        <a:t>Инвестор</a:t>
                      </a:r>
                    </a:p>
                  </a:txBody>
                  <a:tcPr marL="91440" marR="91440" marT="45720" marB="45720">
                    <a:solidFill>
                      <a:srgbClr val="FFFFFF"/>
                    </a:solidFill>
                  </a:tcPr>
                </a:tc>
              </a:tr>
            </a:tbl>
          </a:graphicData>
        </a:graphic>
      </p:graphicFrame>
      <p:sp>
        <p:nvSpPr>
          <p:cNvPr id="8" name="TextBox 7"/>
          <p:cNvSpPr txBox="1"/>
          <p:nvPr/>
        </p:nvSpPr>
        <p:spPr>
          <a:xfrm>
            <a:off x="594360" y="6062472"/>
            <a:ext cx="10972800" cy="384048"/>
          </a:xfrm>
          <a:prstGeom prst="rect">
            <a:avLst/>
          </a:prstGeom>
          <a:noFill/>
        </p:spPr>
        <p:txBody>
          <a:bodyPr wrap="square" lIns="13716" rIns="13716" tIns="0" bIns="0">
            <a:spAutoFit/>
          </a:bodyPr>
          <a:lstStyle/>
          <a:p>
            <a:pPr>
              <a:spcBef>
                <a:spcPts val="0"/>
              </a:spcBef>
              <a:spcAft>
                <a:spcPts val="500"/>
              </a:spcAft>
              <a:defRPr sz="1500" b="0">
                <a:solidFill>
                  <a:srgbClr val="AFC5B8"/>
                </a:solidFill>
                <a:latin typeface="Arial"/>
              </a:defRPr>
            </a:pPr>
            <a:r>
              <a:t>Все 13 задач; один A в каждой строке. Продажи = директор; опер. рук. = один из двух операторов.</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092A20"/>
        </a:solidFill>
        <a:effectLst/>
      </p:bgPr>
    </p:bg>
    <p:spTree>
      <p:nvGrpSpPr>
        <p:cNvPr id="1" name=""/>
        <p:cNvGrpSpPr/>
        <p:nvPr/>
      </p:nvGrpSpPr>
      <p:grpSpPr/>
      <p:sp>
        <p:nvSpPr>
          <p:cNvPr id="2" name="Rectangle 1"/>
          <p:cNvSpPr/>
          <p:nvPr/>
        </p:nvSpPr>
        <p:spPr>
          <a:xfrm>
            <a:off x="411480" y="393192"/>
            <a:ext cx="91440" cy="448056"/>
          </a:xfrm>
          <a:prstGeom prst="rect">
            <a:avLst/>
          </a:prstGeom>
          <a:solidFill>
            <a:srgbClr val="C8F2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58368" y="356616"/>
            <a:ext cx="10835640" cy="886968"/>
          </a:xfrm>
          <a:prstGeom prst="rect">
            <a:avLst/>
          </a:prstGeom>
          <a:noFill/>
        </p:spPr>
        <p:txBody>
          <a:bodyPr wrap="square" lIns="13716" rIns="13716" tIns="0" bIns="0">
            <a:spAutoFit/>
          </a:bodyPr>
          <a:lstStyle/>
          <a:p>
            <a:pPr>
              <a:spcBef>
                <a:spcPts val="0"/>
              </a:spcBef>
              <a:spcAft>
                <a:spcPts val="500"/>
              </a:spcAft>
              <a:defRPr sz="3000" b="1">
                <a:solidFill>
                  <a:srgbClr val="FFFFFF"/>
                </a:solidFill>
                <a:latin typeface="Arial"/>
              </a:defRPr>
            </a:pPr>
            <a:r>
              <a:t>Финансовая модель</a:t>
            </a:r>
          </a:p>
        </p:txBody>
      </p:sp>
      <p:sp>
        <p:nvSpPr>
          <p:cNvPr id="4" name="TextBox 3"/>
          <p:cNvSpPr txBox="1"/>
          <p:nvPr/>
        </p:nvSpPr>
        <p:spPr>
          <a:xfrm>
            <a:off x="658368" y="1161288"/>
            <a:ext cx="10881360" cy="329184"/>
          </a:xfrm>
          <a:prstGeom prst="rect">
            <a:avLst/>
          </a:prstGeom>
          <a:noFill/>
        </p:spPr>
        <p:txBody>
          <a:bodyPr wrap="square" lIns="13716" rIns="13716" tIns="0" bIns="0">
            <a:spAutoFit/>
          </a:bodyPr>
          <a:lstStyle/>
          <a:p>
            <a:pPr>
              <a:spcBef>
                <a:spcPts val="0"/>
              </a:spcBef>
              <a:spcAft>
                <a:spcPts val="500"/>
              </a:spcAft>
              <a:defRPr sz="1500" b="0">
                <a:solidFill>
                  <a:srgbClr val="C8F26B"/>
                </a:solidFill>
                <a:latin typeface="Arial"/>
              </a:defRPr>
            </a:pPr>
            <a:r>
              <a:t>[РАСЧЕТ] Базовый сценарий; млн ₽, выручка без НДС. Входные данные — допущения</a:t>
            </a:r>
          </a:p>
        </p:txBody>
      </p:sp>
      <p:sp>
        <p:nvSpPr>
          <p:cNvPr id="5" name="TextBox 4"/>
          <p:cNvSpPr txBox="1"/>
          <p:nvPr/>
        </p:nvSpPr>
        <p:spPr>
          <a:xfrm>
            <a:off x="502920" y="6510528"/>
            <a:ext cx="10058400" cy="210312"/>
          </a:xfrm>
          <a:prstGeom prst="rect">
            <a:avLst/>
          </a:prstGeom>
          <a:noFill/>
        </p:spPr>
        <p:txBody>
          <a:bodyPr wrap="square" lIns="13716" rIns="13716" tIns="0" bIns="0">
            <a:spAutoFit/>
          </a:bodyPr>
          <a:lstStyle/>
          <a:p>
            <a:pPr>
              <a:spcBef>
                <a:spcPts val="0"/>
              </a:spcBef>
              <a:spcAft>
                <a:spcPts val="500"/>
              </a:spcAft>
              <a:defRPr sz="1000" b="0">
                <a:solidFill>
                  <a:srgbClr val="AFC5B8"/>
                </a:solidFill>
                <a:latin typeface="Arial"/>
              </a:defRPr>
            </a:pPr>
            <a:r>
              <a:t>АГРОВЕКТОР / инвестиционная гипотеза / 2027–2031 / редакция 20.10.2026</a:t>
            </a:r>
          </a:p>
        </p:txBody>
      </p:sp>
      <p:sp>
        <p:nvSpPr>
          <p:cNvPr id="6" name="TextBox 5"/>
          <p:cNvSpPr txBox="1"/>
          <p:nvPr/>
        </p:nvSpPr>
        <p:spPr>
          <a:xfrm>
            <a:off x="11018520" y="6483096"/>
            <a:ext cx="731520" cy="256032"/>
          </a:xfrm>
          <a:prstGeom prst="rect">
            <a:avLst/>
          </a:prstGeom>
          <a:noFill/>
        </p:spPr>
        <p:txBody>
          <a:bodyPr wrap="square" lIns="13716" rIns="13716" tIns="0" bIns="0">
            <a:spAutoFit/>
          </a:bodyPr>
          <a:lstStyle/>
          <a:p>
            <a:pPr>
              <a:spcBef>
                <a:spcPts val="0"/>
              </a:spcBef>
              <a:spcAft>
                <a:spcPts val="500"/>
              </a:spcAft>
              <a:defRPr sz="1100" b="1">
                <a:solidFill>
                  <a:srgbClr val="C8F26B"/>
                </a:solidFill>
                <a:latin typeface="Arial"/>
              </a:defRPr>
            </a:pPr>
            <a:r>
              <a:t>17 / 22</a:t>
            </a:r>
          </a:p>
        </p:txBody>
      </p:sp>
      <p:sp>
        <p:nvSpPr>
          <p:cNvPr id="7" name="Rounded Rectangle 6"/>
          <p:cNvSpPr/>
          <p:nvPr/>
        </p:nvSpPr>
        <p:spPr>
          <a:xfrm>
            <a:off x="502920" y="1700784"/>
            <a:ext cx="6537960" cy="3758184"/>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8" name="Chart 7"/>
          <p:cNvGraphicFramePr>
            <a:graphicFrameLocks noGrp="1"/>
          </p:cNvGraphicFramePr>
          <p:nvPr/>
        </p:nvGraphicFramePr>
        <p:xfrm>
          <a:off x="640080" y="1810512"/>
          <a:ext cx="6263640" cy="3538728"/>
        </p:xfrm>
        <a:graphic>
          <a:graphicData uri="http://schemas.openxmlformats.org/drawingml/2006/chart">
            <c:chart xmlns:c="http://schemas.openxmlformats.org/drawingml/2006/chart" r:id="rId2"/>
          </a:graphicData>
        </a:graphic>
      </p:graphicFrame>
      <p:graphicFrame>
        <p:nvGraphicFramePr>
          <p:cNvPr id="9" name="Table 8"/>
          <p:cNvGraphicFramePr>
            <a:graphicFrameLocks noGrp="1"/>
          </p:cNvGraphicFramePr>
          <p:nvPr/>
        </p:nvGraphicFramePr>
        <p:xfrm>
          <a:off x="7251192" y="1700784"/>
          <a:ext cx="4434840" cy="2798064"/>
        </p:xfrm>
        <a:graphic>
          <a:graphicData uri="http://schemas.openxmlformats.org/drawingml/2006/table">
            <a:tbl>
              <a:tblPr firstRow="1" bandRow="1">
                <a:tableStyleId>{5C22544A-7EE6-4342-B048-85BDC9FD1C3A}</a:tableStyleId>
              </a:tblPr>
              <a:tblGrid>
                <a:gridCol w="868680"/>
                <a:gridCol w="1188720"/>
                <a:gridCol w="1188720"/>
                <a:gridCol w="1188720"/>
              </a:tblGrid>
              <a:tr h="466344">
                <a:tc>
                  <a:txBody>
                    <a:bodyPr/>
                    <a:lstStyle/>
                    <a:p>
                      <a:pPr>
                        <a:spcAft>
                          <a:spcPts val="0"/>
                        </a:spcAft>
                        <a:defRPr sz="1500" b="1">
                          <a:solidFill>
                            <a:srgbClr val="FFFFFF"/>
                          </a:solidFill>
                          <a:latin typeface="Arial"/>
                        </a:defRPr>
                      </a:pPr>
                      <a:r>
                        <a:t>Год</a:t>
                      </a:r>
                    </a:p>
                  </a:txBody>
                  <a:tcPr marL="91440" marR="91440" marT="45720" marB="45720">
                    <a:solidFill>
                      <a:srgbClr val="164C38"/>
                    </a:solidFill>
                  </a:tcPr>
                </a:tc>
                <a:tc>
                  <a:txBody>
                    <a:bodyPr/>
                    <a:lstStyle/>
                    <a:p>
                      <a:pPr>
                        <a:spcAft>
                          <a:spcPts val="0"/>
                        </a:spcAft>
                        <a:defRPr sz="1500" b="1">
                          <a:solidFill>
                            <a:srgbClr val="FFFFFF"/>
                          </a:solidFill>
                          <a:latin typeface="Arial"/>
                        </a:defRPr>
                      </a:pPr>
                      <a:r>
                        <a:t>Выручка</a:t>
                      </a:r>
                    </a:p>
                  </a:txBody>
                  <a:tcPr marL="91440" marR="91440" marT="45720" marB="45720">
                    <a:solidFill>
                      <a:srgbClr val="164C38"/>
                    </a:solidFill>
                  </a:tcPr>
                </a:tc>
                <a:tc>
                  <a:txBody>
                    <a:bodyPr/>
                    <a:lstStyle/>
                    <a:p>
                      <a:pPr>
                        <a:spcAft>
                          <a:spcPts val="0"/>
                        </a:spcAft>
                        <a:defRPr sz="1500" b="1">
                          <a:solidFill>
                            <a:srgbClr val="FFFFFF"/>
                          </a:solidFill>
                          <a:latin typeface="Arial"/>
                        </a:defRPr>
                      </a:pPr>
                      <a:r>
                        <a:t>EBITDA</a:t>
                      </a:r>
                    </a:p>
                  </a:txBody>
                  <a:tcPr marL="91440" marR="91440" marT="45720" marB="45720">
                    <a:solidFill>
                      <a:srgbClr val="164C38"/>
                    </a:solidFill>
                  </a:tcPr>
                </a:tc>
                <a:tc>
                  <a:txBody>
                    <a:bodyPr/>
                    <a:lstStyle/>
                    <a:p>
                      <a:pPr>
                        <a:spcAft>
                          <a:spcPts val="0"/>
                        </a:spcAft>
                        <a:defRPr sz="1500" b="1">
                          <a:solidFill>
                            <a:srgbClr val="FFFFFF"/>
                          </a:solidFill>
                          <a:latin typeface="Arial"/>
                        </a:defRPr>
                      </a:pPr>
                      <a:r>
                        <a:t>CF</a:t>
                      </a:r>
                    </a:p>
                  </a:txBody>
                  <a:tcPr marL="91440" marR="91440" marT="45720" marB="45720">
                    <a:solidFill>
                      <a:srgbClr val="164C38"/>
                    </a:solidFill>
                  </a:tcPr>
                </a:tc>
              </a:tr>
              <a:tr h="466344">
                <a:tc>
                  <a:txBody>
                    <a:bodyPr/>
                    <a:lstStyle/>
                    <a:p>
                      <a:pPr>
                        <a:spcAft>
                          <a:spcPts val="0"/>
                        </a:spcAft>
                        <a:defRPr sz="1500" b="0">
                          <a:solidFill>
                            <a:srgbClr val="092A20"/>
                          </a:solidFill>
                          <a:latin typeface="Arial"/>
                        </a:defRPr>
                      </a:pPr>
                      <a:r>
                        <a:t>2027</a:t>
                      </a:r>
                    </a:p>
                  </a:txBody>
                  <a:tcPr marL="91440" marR="91440" marT="45720" marB="45720">
                    <a:solidFill>
                      <a:srgbClr val="FFFFFF"/>
                    </a:solidFill>
                  </a:tcPr>
                </a:tc>
                <a:tc>
                  <a:txBody>
                    <a:bodyPr/>
                    <a:lstStyle/>
                    <a:p>
                      <a:pPr>
                        <a:spcAft>
                          <a:spcPts val="0"/>
                        </a:spcAft>
                        <a:defRPr sz="1500" b="0">
                          <a:solidFill>
                            <a:srgbClr val="092A20"/>
                          </a:solidFill>
                          <a:latin typeface="Arial"/>
                        </a:defRPr>
                      </a:pPr>
                      <a:r>
                        <a:t>8,80</a:t>
                      </a:r>
                    </a:p>
                  </a:txBody>
                  <a:tcPr marL="91440" marR="91440" marT="45720" marB="45720">
                    <a:solidFill>
                      <a:srgbClr val="FFFFFF"/>
                    </a:solidFill>
                  </a:tcPr>
                </a:tc>
                <a:tc>
                  <a:txBody>
                    <a:bodyPr/>
                    <a:lstStyle/>
                    <a:p>
                      <a:pPr>
                        <a:spcAft>
                          <a:spcPts val="0"/>
                        </a:spcAft>
                        <a:defRPr sz="1500" b="0">
                          <a:solidFill>
                            <a:srgbClr val="092A20"/>
                          </a:solidFill>
                          <a:latin typeface="Arial"/>
                        </a:defRPr>
                      </a:pPr>
                      <a:r>
                        <a:t>0,27</a:t>
                      </a:r>
                    </a:p>
                  </a:txBody>
                  <a:tcPr marL="91440" marR="91440" marT="45720" marB="45720">
                    <a:solidFill>
                      <a:srgbClr val="FFFFFF"/>
                    </a:solidFill>
                  </a:tcPr>
                </a:tc>
                <a:tc>
                  <a:txBody>
                    <a:bodyPr/>
                    <a:lstStyle/>
                    <a:p>
                      <a:pPr>
                        <a:spcAft>
                          <a:spcPts val="0"/>
                        </a:spcAft>
                        <a:defRPr sz="1500" b="0">
                          <a:solidFill>
                            <a:srgbClr val="092A20"/>
                          </a:solidFill>
                          <a:latin typeface="Arial"/>
                        </a:defRPr>
                      </a:pPr>
                      <a:r>
                        <a:t>-0,26</a:t>
                      </a:r>
                    </a:p>
                  </a:txBody>
                  <a:tcPr marL="91440" marR="91440" marT="45720" marB="45720">
                    <a:solidFill>
                      <a:srgbClr val="FFFFFF"/>
                    </a:solidFill>
                  </a:tcPr>
                </a:tc>
              </a:tr>
              <a:tr h="466344">
                <a:tc>
                  <a:txBody>
                    <a:bodyPr/>
                    <a:lstStyle/>
                    <a:p>
                      <a:pPr>
                        <a:spcAft>
                          <a:spcPts val="0"/>
                        </a:spcAft>
                        <a:defRPr sz="1500" b="0">
                          <a:solidFill>
                            <a:srgbClr val="092A20"/>
                          </a:solidFill>
                          <a:latin typeface="Arial"/>
                        </a:defRPr>
                      </a:pPr>
                      <a:r>
                        <a:t>2028</a:t>
                      </a:r>
                    </a:p>
                  </a:txBody>
                  <a:tcPr marL="91440" marR="91440" marT="45720" marB="45720">
                    <a:solidFill>
                      <a:srgbClr val="EFF4EF"/>
                    </a:solidFill>
                  </a:tcPr>
                </a:tc>
                <a:tc>
                  <a:txBody>
                    <a:bodyPr/>
                    <a:lstStyle/>
                    <a:p>
                      <a:pPr>
                        <a:spcAft>
                          <a:spcPts val="0"/>
                        </a:spcAft>
                        <a:defRPr sz="1500" b="0">
                          <a:solidFill>
                            <a:srgbClr val="092A20"/>
                          </a:solidFill>
                          <a:latin typeface="Arial"/>
                        </a:defRPr>
                      </a:pPr>
                      <a:r>
                        <a:t>13,73</a:t>
                      </a:r>
                    </a:p>
                  </a:txBody>
                  <a:tcPr marL="91440" marR="91440" marT="45720" marB="45720">
                    <a:solidFill>
                      <a:srgbClr val="EFF4EF"/>
                    </a:solidFill>
                  </a:tcPr>
                </a:tc>
                <a:tc>
                  <a:txBody>
                    <a:bodyPr/>
                    <a:lstStyle/>
                    <a:p>
                      <a:pPr>
                        <a:spcAft>
                          <a:spcPts val="0"/>
                        </a:spcAft>
                        <a:defRPr sz="1500" b="0">
                          <a:solidFill>
                            <a:srgbClr val="092A20"/>
                          </a:solidFill>
                          <a:latin typeface="Arial"/>
                        </a:defRPr>
                      </a:pPr>
                      <a:r>
                        <a:t>3,39</a:t>
                      </a:r>
                    </a:p>
                  </a:txBody>
                  <a:tcPr marL="91440" marR="91440" marT="45720" marB="45720">
                    <a:solidFill>
                      <a:srgbClr val="EFF4EF"/>
                    </a:solidFill>
                  </a:tcPr>
                </a:tc>
                <a:tc>
                  <a:txBody>
                    <a:bodyPr/>
                    <a:lstStyle/>
                    <a:p>
                      <a:pPr>
                        <a:spcAft>
                          <a:spcPts val="0"/>
                        </a:spcAft>
                        <a:defRPr sz="1500" b="0">
                          <a:solidFill>
                            <a:srgbClr val="092A20"/>
                          </a:solidFill>
                          <a:latin typeface="Arial"/>
                        </a:defRPr>
                      </a:pPr>
                      <a:r>
                        <a:t>2,26</a:t>
                      </a:r>
                    </a:p>
                  </a:txBody>
                  <a:tcPr marL="91440" marR="91440" marT="45720" marB="45720">
                    <a:solidFill>
                      <a:srgbClr val="EFF4EF"/>
                    </a:solidFill>
                  </a:tcPr>
                </a:tc>
              </a:tr>
              <a:tr h="466344">
                <a:tc>
                  <a:txBody>
                    <a:bodyPr/>
                    <a:lstStyle/>
                    <a:p>
                      <a:pPr>
                        <a:spcAft>
                          <a:spcPts val="0"/>
                        </a:spcAft>
                        <a:defRPr sz="1500" b="0">
                          <a:solidFill>
                            <a:srgbClr val="092A20"/>
                          </a:solidFill>
                          <a:latin typeface="Arial"/>
                        </a:defRPr>
                      </a:pPr>
                      <a:r>
                        <a:t>2029</a:t>
                      </a:r>
                    </a:p>
                  </a:txBody>
                  <a:tcPr marL="91440" marR="91440" marT="45720" marB="45720">
                    <a:solidFill>
                      <a:srgbClr val="FFFFFF"/>
                    </a:solidFill>
                  </a:tcPr>
                </a:tc>
                <a:tc>
                  <a:txBody>
                    <a:bodyPr/>
                    <a:lstStyle/>
                    <a:p>
                      <a:pPr>
                        <a:spcAft>
                          <a:spcPts val="0"/>
                        </a:spcAft>
                        <a:defRPr sz="1500" b="0">
                          <a:solidFill>
                            <a:srgbClr val="092A20"/>
                          </a:solidFill>
                          <a:latin typeface="Arial"/>
                        </a:defRPr>
                      </a:pPr>
                      <a:r>
                        <a:t>17,63</a:t>
                      </a:r>
                    </a:p>
                  </a:txBody>
                  <a:tcPr marL="91440" marR="91440" marT="45720" marB="45720">
                    <a:solidFill>
                      <a:srgbClr val="FFFFFF"/>
                    </a:solidFill>
                  </a:tcPr>
                </a:tc>
                <a:tc>
                  <a:txBody>
                    <a:bodyPr/>
                    <a:lstStyle/>
                    <a:p>
                      <a:pPr>
                        <a:spcAft>
                          <a:spcPts val="0"/>
                        </a:spcAft>
                        <a:defRPr sz="1500" b="0">
                          <a:solidFill>
                            <a:srgbClr val="092A20"/>
                          </a:solidFill>
                          <a:latin typeface="Arial"/>
                        </a:defRPr>
                      </a:pPr>
                      <a:r>
                        <a:t>5,76</a:t>
                      </a:r>
                    </a:p>
                  </a:txBody>
                  <a:tcPr marL="91440" marR="91440" marT="45720" marB="45720">
                    <a:solidFill>
                      <a:srgbClr val="FFFFFF"/>
                    </a:solidFill>
                  </a:tcPr>
                </a:tc>
                <a:tc>
                  <a:txBody>
                    <a:bodyPr/>
                    <a:lstStyle/>
                    <a:p>
                      <a:pPr>
                        <a:spcAft>
                          <a:spcPts val="0"/>
                        </a:spcAft>
                        <a:defRPr sz="1500" b="0">
                          <a:solidFill>
                            <a:srgbClr val="092A20"/>
                          </a:solidFill>
                          <a:latin typeface="Arial"/>
                        </a:defRPr>
                      </a:pPr>
                      <a:r>
                        <a:t>4,10</a:t>
                      </a:r>
                    </a:p>
                  </a:txBody>
                  <a:tcPr marL="91440" marR="91440" marT="45720" marB="45720">
                    <a:solidFill>
                      <a:srgbClr val="FFFFFF"/>
                    </a:solidFill>
                  </a:tcPr>
                </a:tc>
              </a:tr>
              <a:tr h="466344">
                <a:tc>
                  <a:txBody>
                    <a:bodyPr/>
                    <a:lstStyle/>
                    <a:p>
                      <a:pPr>
                        <a:spcAft>
                          <a:spcPts val="0"/>
                        </a:spcAft>
                        <a:defRPr sz="1500" b="0">
                          <a:solidFill>
                            <a:srgbClr val="092A20"/>
                          </a:solidFill>
                          <a:latin typeface="Arial"/>
                        </a:defRPr>
                      </a:pPr>
                      <a:r>
                        <a:t>2030</a:t>
                      </a:r>
                    </a:p>
                  </a:txBody>
                  <a:tcPr marL="91440" marR="91440" marT="45720" marB="45720">
                    <a:solidFill>
                      <a:srgbClr val="EFF4EF"/>
                    </a:solidFill>
                  </a:tcPr>
                </a:tc>
                <a:tc>
                  <a:txBody>
                    <a:bodyPr/>
                    <a:lstStyle/>
                    <a:p>
                      <a:pPr>
                        <a:spcAft>
                          <a:spcPts val="0"/>
                        </a:spcAft>
                        <a:defRPr sz="1500" b="0">
                          <a:solidFill>
                            <a:srgbClr val="092A20"/>
                          </a:solidFill>
                          <a:latin typeface="Arial"/>
                        </a:defRPr>
                      </a:pPr>
                      <a:r>
                        <a:t>20,08</a:t>
                      </a:r>
                    </a:p>
                  </a:txBody>
                  <a:tcPr marL="91440" marR="91440" marT="45720" marB="45720">
                    <a:solidFill>
                      <a:srgbClr val="EFF4EF"/>
                    </a:solidFill>
                  </a:tcPr>
                </a:tc>
                <a:tc>
                  <a:txBody>
                    <a:bodyPr/>
                    <a:lstStyle/>
                    <a:p>
                      <a:pPr>
                        <a:spcAft>
                          <a:spcPts val="0"/>
                        </a:spcAft>
                        <a:defRPr sz="1500" b="0">
                          <a:solidFill>
                            <a:srgbClr val="092A20"/>
                          </a:solidFill>
                          <a:latin typeface="Arial"/>
                        </a:defRPr>
                      </a:pPr>
                      <a:r>
                        <a:t>7,08</a:t>
                      </a:r>
                    </a:p>
                  </a:txBody>
                  <a:tcPr marL="91440" marR="91440" marT="45720" marB="45720">
                    <a:solidFill>
                      <a:srgbClr val="EFF4EF"/>
                    </a:solidFill>
                  </a:tcPr>
                </a:tc>
                <a:tc>
                  <a:txBody>
                    <a:bodyPr/>
                    <a:lstStyle/>
                    <a:p>
                      <a:pPr>
                        <a:spcAft>
                          <a:spcPts val="0"/>
                        </a:spcAft>
                        <a:defRPr sz="1500" b="0">
                          <a:solidFill>
                            <a:srgbClr val="092A20"/>
                          </a:solidFill>
                          <a:latin typeface="Arial"/>
                        </a:defRPr>
                      </a:pPr>
                      <a:r>
                        <a:t>4,98</a:t>
                      </a:r>
                    </a:p>
                  </a:txBody>
                  <a:tcPr marL="91440" marR="91440" marT="45720" marB="45720">
                    <a:solidFill>
                      <a:srgbClr val="EFF4EF"/>
                    </a:solidFill>
                  </a:tcPr>
                </a:tc>
              </a:tr>
              <a:tr h="466344">
                <a:tc>
                  <a:txBody>
                    <a:bodyPr/>
                    <a:lstStyle/>
                    <a:p>
                      <a:pPr>
                        <a:spcAft>
                          <a:spcPts val="0"/>
                        </a:spcAft>
                        <a:defRPr sz="1500" b="0">
                          <a:solidFill>
                            <a:srgbClr val="092A20"/>
                          </a:solidFill>
                          <a:latin typeface="Arial"/>
                        </a:defRPr>
                      </a:pPr>
                      <a:r>
                        <a:t>2031</a:t>
                      </a:r>
                    </a:p>
                  </a:txBody>
                  <a:tcPr marL="91440" marR="91440" marT="45720" marB="45720">
                    <a:solidFill>
                      <a:srgbClr val="FFFFFF"/>
                    </a:solidFill>
                  </a:tcPr>
                </a:tc>
                <a:tc>
                  <a:txBody>
                    <a:bodyPr/>
                    <a:lstStyle/>
                    <a:p>
                      <a:pPr>
                        <a:spcAft>
                          <a:spcPts val="0"/>
                        </a:spcAft>
                        <a:defRPr sz="1500" b="0">
                          <a:solidFill>
                            <a:srgbClr val="092A20"/>
                          </a:solidFill>
                          <a:latin typeface="Arial"/>
                        </a:defRPr>
                      </a:pPr>
                      <a:r>
                        <a:t>22,70</a:t>
                      </a:r>
                    </a:p>
                  </a:txBody>
                  <a:tcPr marL="91440" marR="91440" marT="45720" marB="45720">
                    <a:solidFill>
                      <a:srgbClr val="FFFFFF"/>
                    </a:solidFill>
                  </a:tcPr>
                </a:tc>
                <a:tc>
                  <a:txBody>
                    <a:bodyPr/>
                    <a:lstStyle/>
                    <a:p>
                      <a:pPr>
                        <a:spcAft>
                          <a:spcPts val="0"/>
                        </a:spcAft>
                        <a:defRPr sz="1500" b="0">
                          <a:solidFill>
                            <a:srgbClr val="092A20"/>
                          </a:solidFill>
                          <a:latin typeface="Arial"/>
                        </a:defRPr>
                      </a:pPr>
                      <a:r>
                        <a:t>8,49</a:t>
                      </a:r>
                    </a:p>
                  </a:txBody>
                  <a:tcPr marL="91440" marR="91440" marT="45720" marB="45720">
                    <a:solidFill>
                      <a:srgbClr val="FFFFFF"/>
                    </a:solidFill>
                  </a:tcPr>
                </a:tc>
                <a:tc>
                  <a:txBody>
                    <a:bodyPr/>
                    <a:lstStyle/>
                    <a:p>
                      <a:pPr>
                        <a:spcAft>
                          <a:spcPts val="0"/>
                        </a:spcAft>
                        <a:defRPr sz="1500" b="0">
                          <a:solidFill>
                            <a:srgbClr val="092A20"/>
                          </a:solidFill>
                          <a:latin typeface="Arial"/>
                        </a:defRPr>
                      </a:pPr>
                      <a:r>
                        <a:t>8,53</a:t>
                      </a:r>
                    </a:p>
                  </a:txBody>
                  <a:tcPr marL="91440" marR="91440" marT="45720" marB="45720">
                    <a:solidFill>
                      <a:srgbClr val="FFFFFF"/>
                    </a:solidFill>
                  </a:tcPr>
                </a:tc>
              </a:tr>
            </a:tbl>
          </a:graphicData>
        </a:graphic>
      </p:graphicFrame>
      <p:sp>
        <p:nvSpPr>
          <p:cNvPr id="10" name="TextBox 9"/>
          <p:cNvSpPr txBox="1"/>
          <p:nvPr/>
        </p:nvSpPr>
        <p:spPr>
          <a:xfrm>
            <a:off x="7342631" y="4663440"/>
            <a:ext cx="4160520" cy="850392"/>
          </a:xfrm>
          <a:prstGeom prst="rect">
            <a:avLst/>
          </a:prstGeom>
          <a:noFill/>
        </p:spPr>
        <p:txBody>
          <a:bodyPr wrap="square" lIns="13716" rIns="13716" tIns="0" bIns="0">
            <a:spAutoFit/>
          </a:bodyPr>
          <a:lstStyle/>
          <a:p>
            <a:pPr>
              <a:spcBef>
                <a:spcPts val="0"/>
              </a:spcBef>
              <a:spcAft>
                <a:spcPts val="500"/>
              </a:spcAft>
              <a:defRPr sz="1700" b="0">
                <a:solidFill>
                  <a:srgbClr val="FFFFFF"/>
                </a:solidFill>
                <a:latin typeface="Arial"/>
              </a:defRPr>
            </a:pPr>
            <a:r>
              <a:t>CF₀ = −9,50 млн ₽</a:t>
            </a:r>
          </a:p>
          <a:p>
            <a:pPr>
              <a:spcBef>
                <a:spcPts val="0"/>
              </a:spcBef>
              <a:spcAft>
                <a:spcPts val="500"/>
              </a:spcAft>
              <a:defRPr sz="1700" b="0">
                <a:solidFill>
                  <a:srgbClr val="FFFFFF"/>
                </a:solidFill>
                <a:latin typeface="Arial"/>
              </a:defRPr>
            </a:pPr>
            <a:r>
              <a:t>CF 2031 включает возврат</a:t>
            </a:r>
          </a:p>
          <a:p>
            <a:pPr>
              <a:spcBef>
                <a:spcPts val="0"/>
              </a:spcBef>
              <a:spcAft>
                <a:spcPts val="500"/>
              </a:spcAft>
              <a:defRPr sz="1700" b="0">
                <a:solidFill>
                  <a:srgbClr val="FFFFFF"/>
                </a:solidFill>
                <a:latin typeface="Arial"/>
              </a:defRPr>
            </a:pPr>
            <a:r>
              <a:t>резерва 2,00 млн ₽.</a:t>
            </a:r>
          </a:p>
        </p:txBody>
      </p:sp>
      <p:sp>
        <p:nvSpPr>
          <p:cNvPr id="11" name="Rounded Rectangle 10"/>
          <p:cNvSpPr/>
          <p:nvPr/>
        </p:nvSpPr>
        <p:spPr>
          <a:xfrm>
            <a:off x="502920" y="5733288"/>
            <a:ext cx="11183112" cy="448056"/>
          </a:xfrm>
          <a:prstGeom prst="roundRect">
            <a:avLst>
              <a:gd name="adj" fmla="val 8000"/>
            </a:avLst>
          </a:prstGeom>
          <a:solidFill>
            <a:srgbClr val="C8F2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58368" y="5815583"/>
            <a:ext cx="10881360" cy="320040"/>
          </a:xfrm>
          <a:prstGeom prst="rect">
            <a:avLst/>
          </a:prstGeom>
          <a:noFill/>
        </p:spPr>
        <p:txBody>
          <a:bodyPr wrap="square" lIns="13716" rIns="13716" tIns="0" bIns="0">
            <a:spAutoFit/>
          </a:bodyPr>
          <a:lstStyle/>
          <a:p>
            <a:pPr>
              <a:spcBef>
                <a:spcPts val="0"/>
              </a:spcBef>
              <a:spcAft>
                <a:spcPts val="500"/>
              </a:spcAft>
              <a:defRPr sz="1600" b="1">
                <a:solidFill>
                  <a:srgbClr val="092A20"/>
                </a:solidFill>
                <a:latin typeface="Arial"/>
              </a:defRPr>
            </a:pPr>
            <a:r>
              <a:t>Продажа оборудования в терминале = 0. Балансовая стоимость не превращена в денежный поток</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092A20"/>
        </a:solidFill>
        <a:effectLst/>
      </p:bgPr>
    </p:bg>
    <p:spTree>
      <p:nvGrpSpPr>
        <p:cNvPr id="1" name=""/>
        <p:cNvGrpSpPr/>
        <p:nvPr/>
      </p:nvGrpSpPr>
      <p:grpSpPr/>
      <p:sp>
        <p:nvSpPr>
          <p:cNvPr id="2" name="Rectangle 1"/>
          <p:cNvSpPr/>
          <p:nvPr/>
        </p:nvSpPr>
        <p:spPr>
          <a:xfrm>
            <a:off x="411480" y="393192"/>
            <a:ext cx="91440" cy="448056"/>
          </a:xfrm>
          <a:prstGeom prst="rect">
            <a:avLst/>
          </a:prstGeom>
          <a:solidFill>
            <a:srgbClr val="C8F2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58368" y="356616"/>
            <a:ext cx="10835640" cy="886968"/>
          </a:xfrm>
          <a:prstGeom prst="rect">
            <a:avLst/>
          </a:prstGeom>
          <a:noFill/>
        </p:spPr>
        <p:txBody>
          <a:bodyPr wrap="square" lIns="13716" rIns="13716" tIns="0" bIns="0">
            <a:spAutoFit/>
          </a:bodyPr>
          <a:lstStyle/>
          <a:p>
            <a:pPr>
              <a:spcBef>
                <a:spcPts val="0"/>
              </a:spcBef>
              <a:spcAft>
                <a:spcPts val="500"/>
              </a:spcAft>
              <a:defRPr sz="3000" b="1">
                <a:solidFill>
                  <a:srgbClr val="FFFFFF"/>
                </a:solidFill>
                <a:latin typeface="Arial"/>
              </a:defRPr>
            </a:pPr>
            <a:r>
              <a:t>NPV и окупаемость</a:t>
            </a:r>
          </a:p>
        </p:txBody>
      </p:sp>
      <p:sp>
        <p:nvSpPr>
          <p:cNvPr id="4" name="TextBox 3"/>
          <p:cNvSpPr txBox="1"/>
          <p:nvPr/>
        </p:nvSpPr>
        <p:spPr>
          <a:xfrm>
            <a:off x="658368" y="1161288"/>
            <a:ext cx="10881360" cy="329184"/>
          </a:xfrm>
          <a:prstGeom prst="rect">
            <a:avLst/>
          </a:prstGeom>
          <a:noFill/>
        </p:spPr>
        <p:txBody>
          <a:bodyPr wrap="square" lIns="13716" rIns="13716" tIns="0" bIns="0">
            <a:spAutoFit/>
          </a:bodyPr>
          <a:lstStyle/>
          <a:p>
            <a:pPr>
              <a:spcBef>
                <a:spcPts val="0"/>
              </a:spcBef>
              <a:spcAft>
                <a:spcPts val="500"/>
              </a:spcAft>
              <a:defRPr sz="1500" b="0">
                <a:solidFill>
                  <a:srgbClr val="C8F26B"/>
                </a:solidFill>
                <a:latin typeface="Arial"/>
              </a:defRPr>
            </a:pPr>
            <a:r>
              <a:t>[РАСЧЕТ] NPV на 5 лет; ставка дисконтирования 24%; млн ₽</a:t>
            </a:r>
          </a:p>
        </p:txBody>
      </p:sp>
      <p:sp>
        <p:nvSpPr>
          <p:cNvPr id="5" name="TextBox 4"/>
          <p:cNvSpPr txBox="1"/>
          <p:nvPr/>
        </p:nvSpPr>
        <p:spPr>
          <a:xfrm>
            <a:off x="502920" y="6510528"/>
            <a:ext cx="10058400" cy="210312"/>
          </a:xfrm>
          <a:prstGeom prst="rect">
            <a:avLst/>
          </a:prstGeom>
          <a:noFill/>
        </p:spPr>
        <p:txBody>
          <a:bodyPr wrap="square" lIns="13716" rIns="13716" tIns="0" bIns="0">
            <a:spAutoFit/>
          </a:bodyPr>
          <a:lstStyle/>
          <a:p>
            <a:pPr>
              <a:spcBef>
                <a:spcPts val="0"/>
              </a:spcBef>
              <a:spcAft>
                <a:spcPts val="500"/>
              </a:spcAft>
              <a:defRPr sz="1000" b="0">
                <a:solidFill>
                  <a:srgbClr val="AFC5B8"/>
                </a:solidFill>
                <a:latin typeface="Arial"/>
              </a:defRPr>
            </a:pPr>
            <a:r>
              <a:t>АГРОВЕКТОР / инвестиционная гипотеза / 2027–2031 / редакция 20.10.2026</a:t>
            </a:r>
          </a:p>
        </p:txBody>
      </p:sp>
      <p:sp>
        <p:nvSpPr>
          <p:cNvPr id="6" name="TextBox 5"/>
          <p:cNvSpPr txBox="1"/>
          <p:nvPr/>
        </p:nvSpPr>
        <p:spPr>
          <a:xfrm>
            <a:off x="11018520" y="6483096"/>
            <a:ext cx="731520" cy="256032"/>
          </a:xfrm>
          <a:prstGeom prst="rect">
            <a:avLst/>
          </a:prstGeom>
          <a:noFill/>
        </p:spPr>
        <p:txBody>
          <a:bodyPr wrap="square" lIns="13716" rIns="13716" tIns="0" bIns="0">
            <a:spAutoFit/>
          </a:bodyPr>
          <a:lstStyle/>
          <a:p>
            <a:pPr>
              <a:spcBef>
                <a:spcPts val="0"/>
              </a:spcBef>
              <a:spcAft>
                <a:spcPts val="500"/>
              </a:spcAft>
              <a:defRPr sz="1100" b="1">
                <a:solidFill>
                  <a:srgbClr val="C8F26B"/>
                </a:solidFill>
                <a:latin typeface="Arial"/>
              </a:defRPr>
            </a:pPr>
            <a:r>
              <a:t>18 / 22</a:t>
            </a:r>
          </a:p>
        </p:txBody>
      </p:sp>
      <p:sp>
        <p:nvSpPr>
          <p:cNvPr id="7" name="Rounded Rectangle 6"/>
          <p:cNvSpPr/>
          <p:nvPr/>
        </p:nvSpPr>
        <p:spPr>
          <a:xfrm>
            <a:off x="502920" y="1709928"/>
            <a:ext cx="6428232" cy="377647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8" name="Chart 7"/>
          <p:cNvGraphicFramePr>
            <a:graphicFrameLocks noGrp="1"/>
          </p:cNvGraphicFramePr>
          <p:nvPr/>
        </p:nvGraphicFramePr>
        <p:xfrm>
          <a:off x="640080" y="1819656"/>
          <a:ext cx="6153912" cy="3557015"/>
        </p:xfrm>
        <a:graphic>
          <a:graphicData uri="http://schemas.openxmlformats.org/drawingml/2006/chart">
            <c:chart xmlns:c="http://schemas.openxmlformats.org/drawingml/2006/chart" r:id="rId2"/>
          </a:graphicData>
        </a:graphic>
      </p:graphicFrame>
      <p:graphicFrame>
        <p:nvGraphicFramePr>
          <p:cNvPr id="9" name="Table 8"/>
          <p:cNvGraphicFramePr>
            <a:graphicFrameLocks noGrp="1"/>
          </p:cNvGraphicFramePr>
          <p:nvPr/>
        </p:nvGraphicFramePr>
        <p:xfrm>
          <a:off x="7141464" y="1709928"/>
          <a:ext cx="4544568" cy="2670048"/>
        </p:xfrm>
        <a:graphic>
          <a:graphicData uri="http://schemas.openxmlformats.org/drawingml/2006/table">
            <a:tbl>
              <a:tblPr firstRow="1" bandRow="1">
                <a:tableStyleId>{5C22544A-7EE6-4342-B048-85BDC9FD1C3A}</a:tableStyleId>
              </a:tblPr>
              <a:tblGrid>
                <a:gridCol w="3127248"/>
                <a:gridCol w="1417320"/>
              </a:tblGrid>
              <a:tr h="381435">
                <a:tc>
                  <a:txBody>
                    <a:bodyPr/>
                    <a:lstStyle/>
                    <a:p>
                      <a:pPr>
                        <a:spcAft>
                          <a:spcPts val="0"/>
                        </a:spcAft>
                        <a:defRPr sz="1600" b="1">
                          <a:solidFill>
                            <a:srgbClr val="FFFFFF"/>
                          </a:solidFill>
                          <a:latin typeface="Arial"/>
                        </a:defRPr>
                      </a:pPr>
                      <a:r>
                        <a:t>Сценарий</a:t>
                      </a:r>
                    </a:p>
                  </a:txBody>
                  <a:tcPr marL="91440" marR="91440" marT="45720" marB="45720">
                    <a:solidFill>
                      <a:srgbClr val="164C38"/>
                    </a:solidFill>
                  </a:tcPr>
                </a:tc>
                <a:tc>
                  <a:txBody>
                    <a:bodyPr/>
                    <a:lstStyle/>
                    <a:p>
                      <a:pPr>
                        <a:spcAft>
                          <a:spcPts val="0"/>
                        </a:spcAft>
                        <a:defRPr sz="1600" b="1">
                          <a:solidFill>
                            <a:srgbClr val="FFFFFF"/>
                          </a:solidFill>
                          <a:latin typeface="Arial"/>
                        </a:defRPr>
                      </a:pPr>
                      <a:r>
                        <a:t>NPV, млн ₽</a:t>
                      </a:r>
                    </a:p>
                  </a:txBody>
                  <a:tcPr marL="91440" marR="91440" marT="45720" marB="45720">
                    <a:solidFill>
                      <a:srgbClr val="164C38"/>
                    </a:solidFill>
                  </a:tcPr>
                </a:tc>
              </a:tr>
              <a:tr h="381435">
                <a:tc>
                  <a:txBody>
                    <a:bodyPr/>
                    <a:lstStyle/>
                    <a:p>
                      <a:pPr>
                        <a:spcAft>
                          <a:spcPts val="0"/>
                        </a:spcAft>
                        <a:defRPr sz="1600" b="0">
                          <a:solidFill>
                            <a:srgbClr val="092A20"/>
                          </a:solidFill>
                          <a:latin typeface="Arial"/>
                        </a:defRPr>
                      </a:pPr>
                      <a:r>
                        <a:t>База</a:t>
                      </a:r>
                    </a:p>
                  </a:txBody>
                  <a:tcPr marL="91440" marR="91440" marT="45720" marB="45720">
                    <a:solidFill>
                      <a:srgbClr val="FFFFFF"/>
                    </a:solidFill>
                  </a:tcPr>
                </a:tc>
                <a:tc>
                  <a:txBody>
                    <a:bodyPr/>
                    <a:lstStyle/>
                    <a:p>
                      <a:pPr>
                        <a:spcAft>
                          <a:spcPts val="0"/>
                        </a:spcAft>
                        <a:defRPr sz="1600" b="0">
                          <a:solidFill>
                            <a:srgbClr val="092A20"/>
                          </a:solidFill>
                          <a:latin typeface="Arial"/>
                        </a:defRPr>
                      </a:pPr>
                      <a:r>
                        <a:t>-1,068</a:t>
                      </a:r>
                    </a:p>
                  </a:txBody>
                  <a:tcPr marL="91440" marR="91440" marT="45720" marB="45720">
                    <a:solidFill>
                      <a:srgbClr val="FFFFFF"/>
                    </a:solidFill>
                  </a:tcPr>
                </a:tc>
              </a:tr>
              <a:tr h="381435">
                <a:tc>
                  <a:txBody>
                    <a:bodyPr/>
                    <a:lstStyle/>
                    <a:p>
                      <a:pPr>
                        <a:spcAft>
                          <a:spcPts val="0"/>
                        </a:spcAft>
                        <a:defRPr sz="1600" b="0">
                          <a:solidFill>
                            <a:srgbClr val="092A20"/>
                          </a:solidFill>
                          <a:latin typeface="Arial"/>
                        </a:defRPr>
                      </a:pPr>
                      <a:r>
                        <a:t>Цена −10%</a:t>
                      </a:r>
                    </a:p>
                  </a:txBody>
                  <a:tcPr marL="91440" marR="91440" marT="45720" marB="45720">
                    <a:solidFill>
                      <a:srgbClr val="EFF4EF"/>
                    </a:solidFill>
                  </a:tcPr>
                </a:tc>
                <a:tc>
                  <a:txBody>
                    <a:bodyPr/>
                    <a:lstStyle/>
                    <a:p>
                      <a:pPr>
                        <a:spcAft>
                          <a:spcPts val="0"/>
                        </a:spcAft>
                        <a:defRPr sz="1600" b="0">
                          <a:solidFill>
                            <a:srgbClr val="092A20"/>
                          </a:solidFill>
                          <a:latin typeface="Arial"/>
                        </a:defRPr>
                      </a:pPr>
                      <a:r>
                        <a:t>-4,969</a:t>
                      </a:r>
                    </a:p>
                  </a:txBody>
                  <a:tcPr marL="91440" marR="91440" marT="45720" marB="45720">
                    <a:solidFill>
                      <a:srgbClr val="EFF4EF"/>
                    </a:solidFill>
                  </a:tcPr>
                </a:tc>
              </a:tr>
              <a:tr h="381435">
                <a:tc>
                  <a:txBody>
                    <a:bodyPr/>
                    <a:lstStyle/>
                    <a:p>
                      <a:pPr>
                        <a:spcAft>
                          <a:spcPts val="0"/>
                        </a:spcAft>
                        <a:defRPr sz="1600" b="0">
                          <a:solidFill>
                            <a:srgbClr val="092A20"/>
                          </a:solidFill>
                          <a:latin typeface="Arial"/>
                        </a:defRPr>
                      </a:pPr>
                      <a:r>
                        <a:t>Объем −25%</a:t>
                      </a:r>
                    </a:p>
                  </a:txBody>
                  <a:tcPr marL="91440" marR="91440" marT="45720" marB="45720">
                    <a:solidFill>
                      <a:srgbClr val="FFFFFF"/>
                    </a:solidFill>
                  </a:tcPr>
                </a:tc>
                <a:tc>
                  <a:txBody>
                    <a:bodyPr/>
                    <a:lstStyle/>
                    <a:p>
                      <a:pPr>
                        <a:spcAft>
                          <a:spcPts val="0"/>
                        </a:spcAft>
                        <a:defRPr sz="1600" b="0">
                          <a:solidFill>
                            <a:srgbClr val="092A20"/>
                          </a:solidFill>
                          <a:latin typeface="Arial"/>
                        </a:defRPr>
                      </a:pPr>
                      <a:r>
                        <a:t>-7,653</a:t>
                      </a:r>
                    </a:p>
                  </a:txBody>
                  <a:tcPr marL="91440" marR="91440" marT="45720" marB="45720">
                    <a:solidFill>
                      <a:srgbClr val="FFFFFF"/>
                    </a:solidFill>
                  </a:tcPr>
                </a:tc>
              </a:tr>
              <a:tr h="381435">
                <a:tc>
                  <a:txBody>
                    <a:bodyPr/>
                    <a:lstStyle/>
                    <a:p>
                      <a:pPr>
                        <a:spcAft>
                          <a:spcPts val="0"/>
                        </a:spcAft>
                        <a:defRPr sz="1600" b="0">
                          <a:solidFill>
                            <a:srgbClr val="092A20"/>
                          </a:solidFill>
                          <a:latin typeface="Arial"/>
                        </a:defRPr>
                      </a:pPr>
                      <a:r>
                        <a:t>Переменные +20%</a:t>
                      </a:r>
                    </a:p>
                  </a:txBody>
                  <a:tcPr marL="91440" marR="91440" marT="45720" marB="45720">
                    <a:solidFill>
                      <a:srgbClr val="EFF4EF"/>
                    </a:solidFill>
                  </a:tcPr>
                </a:tc>
                <a:tc>
                  <a:txBody>
                    <a:bodyPr/>
                    <a:lstStyle/>
                    <a:p>
                      <a:pPr>
                        <a:spcAft>
                          <a:spcPts val="0"/>
                        </a:spcAft>
                        <a:defRPr sz="1600" b="0">
                          <a:solidFill>
                            <a:srgbClr val="092A20"/>
                          </a:solidFill>
                          <a:latin typeface="Arial"/>
                        </a:defRPr>
                      </a:pPr>
                      <a:r>
                        <a:t>-3,603</a:t>
                      </a:r>
                    </a:p>
                  </a:txBody>
                  <a:tcPr marL="91440" marR="91440" marT="45720" marB="45720">
                    <a:solidFill>
                      <a:srgbClr val="EFF4EF"/>
                    </a:solidFill>
                  </a:tcPr>
                </a:tc>
              </a:tr>
              <a:tr h="381435">
                <a:tc>
                  <a:txBody>
                    <a:bodyPr/>
                    <a:lstStyle/>
                    <a:p>
                      <a:pPr>
                        <a:spcAft>
                          <a:spcPts val="0"/>
                        </a:spcAft>
                        <a:defRPr sz="1600" b="0">
                          <a:solidFill>
                            <a:srgbClr val="092A20"/>
                          </a:solidFill>
                          <a:latin typeface="Arial"/>
                        </a:defRPr>
                      </a:pPr>
                      <a:r>
                        <a:t>Задержка на год</a:t>
                      </a:r>
                    </a:p>
                  </a:txBody>
                  <a:tcPr marL="91440" marR="91440" marT="45720" marB="45720">
                    <a:solidFill>
                      <a:srgbClr val="FFFFFF"/>
                    </a:solidFill>
                  </a:tcPr>
                </a:tc>
                <a:tc>
                  <a:txBody>
                    <a:bodyPr/>
                    <a:lstStyle/>
                    <a:p>
                      <a:pPr>
                        <a:spcAft>
                          <a:spcPts val="0"/>
                        </a:spcAft>
                        <a:defRPr sz="1600" b="0">
                          <a:solidFill>
                            <a:srgbClr val="092A20"/>
                          </a:solidFill>
                          <a:latin typeface="Arial"/>
                        </a:defRPr>
                      </a:pPr>
                      <a:r>
                        <a:t>-5,086</a:t>
                      </a:r>
                    </a:p>
                  </a:txBody>
                  <a:tcPr marL="91440" marR="91440" marT="45720" marB="45720">
                    <a:solidFill>
                      <a:srgbClr val="FFFFFF"/>
                    </a:solidFill>
                  </a:tcPr>
                </a:tc>
              </a:tr>
              <a:tr h="381438">
                <a:tc>
                  <a:txBody>
                    <a:bodyPr/>
                    <a:lstStyle/>
                    <a:p>
                      <a:pPr>
                        <a:spcAft>
                          <a:spcPts val="0"/>
                        </a:spcAft>
                        <a:defRPr sz="1600" b="0">
                          <a:solidFill>
                            <a:srgbClr val="092A20"/>
                          </a:solidFill>
                          <a:latin typeface="Arial"/>
                        </a:defRPr>
                      </a:pPr>
                      <a:r>
                        <a:t>Внесение 900 ₽/га</a:t>
                      </a:r>
                    </a:p>
                  </a:txBody>
                  <a:tcPr marL="91440" marR="91440" marT="45720" marB="45720">
                    <a:solidFill>
                      <a:srgbClr val="EFF4EF"/>
                    </a:solidFill>
                  </a:tcPr>
                </a:tc>
                <a:tc>
                  <a:txBody>
                    <a:bodyPr/>
                    <a:lstStyle/>
                    <a:p>
                      <a:pPr>
                        <a:spcAft>
                          <a:spcPts val="0"/>
                        </a:spcAft>
                        <a:defRPr sz="1600" b="0">
                          <a:solidFill>
                            <a:srgbClr val="092A20"/>
                          </a:solidFill>
                          <a:latin typeface="Arial"/>
                        </a:defRPr>
                      </a:pPr>
                      <a:r>
                        <a:t>-11,619</a:t>
                      </a:r>
                    </a:p>
                  </a:txBody>
                  <a:tcPr marL="91440" marR="91440" marT="45720" marB="45720">
                    <a:solidFill>
                      <a:srgbClr val="EFF4EF"/>
                    </a:solidFill>
                  </a:tcPr>
                </a:tc>
              </a:tr>
            </a:tbl>
          </a:graphicData>
        </a:graphic>
      </p:graphicFrame>
      <p:sp>
        <p:nvSpPr>
          <p:cNvPr id="10" name="TextBox 9"/>
          <p:cNvSpPr txBox="1"/>
          <p:nvPr/>
        </p:nvSpPr>
        <p:spPr>
          <a:xfrm>
            <a:off x="7251192" y="4617720"/>
            <a:ext cx="4224528" cy="868680"/>
          </a:xfrm>
          <a:prstGeom prst="rect">
            <a:avLst/>
          </a:prstGeom>
          <a:noFill/>
        </p:spPr>
        <p:txBody>
          <a:bodyPr wrap="square" lIns="13716" rIns="13716" tIns="0" bIns="0">
            <a:spAutoFit/>
          </a:bodyPr>
          <a:lstStyle/>
          <a:p>
            <a:pPr>
              <a:spcBef>
                <a:spcPts val="0"/>
              </a:spcBef>
              <a:spcAft>
                <a:spcPts val="500"/>
              </a:spcAft>
              <a:defRPr sz="1800" b="0">
                <a:solidFill>
                  <a:srgbClr val="FFFFFF"/>
                </a:solidFill>
                <a:latin typeface="Arial"/>
              </a:defRPr>
            </a:pPr>
            <a:r>
              <a:t>Окупаемость базы: 3,68 года</a:t>
            </a:r>
          </a:p>
          <a:p>
            <a:pPr>
              <a:spcBef>
                <a:spcPts val="0"/>
              </a:spcBef>
              <a:spcAft>
                <a:spcPts val="500"/>
              </a:spcAft>
              <a:defRPr sz="1800" b="0">
                <a:solidFill>
                  <a:srgbClr val="FFFFFF"/>
                </a:solidFill>
                <a:latin typeface="Arial"/>
              </a:defRPr>
            </a:pPr>
            <a:r>
              <a:t>Дисконтированная: не достигнута за 5 лет</a:t>
            </a:r>
          </a:p>
        </p:txBody>
      </p:sp>
      <p:sp>
        <p:nvSpPr>
          <p:cNvPr id="11" name="Rounded Rectangle 10"/>
          <p:cNvSpPr/>
          <p:nvPr/>
        </p:nvSpPr>
        <p:spPr>
          <a:xfrm>
            <a:off x="502920" y="5733288"/>
            <a:ext cx="11183112" cy="448056"/>
          </a:xfrm>
          <a:prstGeom prst="roundRect">
            <a:avLst>
              <a:gd name="adj" fmla="val 8000"/>
            </a:avLst>
          </a:prstGeom>
          <a:solidFill>
            <a:srgbClr val="C8F2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58368" y="5815583"/>
            <a:ext cx="10881360" cy="320040"/>
          </a:xfrm>
          <a:prstGeom prst="rect">
            <a:avLst/>
          </a:prstGeom>
          <a:noFill/>
        </p:spPr>
        <p:txBody>
          <a:bodyPr wrap="square" lIns="13716" rIns="13716" tIns="0" bIns="0">
            <a:spAutoFit/>
          </a:bodyPr>
          <a:lstStyle/>
          <a:p>
            <a:pPr>
              <a:spcBef>
                <a:spcPts val="0"/>
              </a:spcBef>
              <a:spcAft>
                <a:spcPts val="500"/>
              </a:spcAft>
              <a:defRPr sz="1600" b="1">
                <a:solidFill>
                  <a:srgbClr val="092A20"/>
                </a:solidFill>
                <a:latin typeface="Arial"/>
              </a:defRPr>
            </a:pPr>
            <a:r>
              <a:t>Комбинированный стресс: NPV -12,56 млн ₽; цена −10%, объем −25%, CAPEX +1,98 млн</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092A20"/>
        </a:solidFill>
        <a:effectLst/>
      </p:bgPr>
    </p:bg>
    <p:spTree>
      <p:nvGrpSpPr>
        <p:cNvPr id="1" name=""/>
        <p:cNvGrpSpPr/>
        <p:nvPr/>
      </p:nvGrpSpPr>
      <p:grpSpPr/>
      <p:sp>
        <p:nvSpPr>
          <p:cNvPr id="2" name="Rectangle 1"/>
          <p:cNvSpPr/>
          <p:nvPr/>
        </p:nvSpPr>
        <p:spPr>
          <a:xfrm>
            <a:off x="411480" y="393192"/>
            <a:ext cx="91440" cy="448056"/>
          </a:xfrm>
          <a:prstGeom prst="rect">
            <a:avLst/>
          </a:prstGeom>
          <a:solidFill>
            <a:srgbClr val="C8F2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58368" y="356616"/>
            <a:ext cx="10835640" cy="886968"/>
          </a:xfrm>
          <a:prstGeom prst="rect">
            <a:avLst/>
          </a:prstGeom>
          <a:noFill/>
        </p:spPr>
        <p:txBody>
          <a:bodyPr wrap="square" lIns="13716" rIns="13716" tIns="0" bIns="0">
            <a:spAutoFit/>
          </a:bodyPr>
          <a:lstStyle/>
          <a:p>
            <a:pPr>
              <a:spcBef>
                <a:spcPts val="0"/>
              </a:spcBef>
              <a:spcAft>
                <a:spcPts val="500"/>
              </a:spcAft>
              <a:defRPr sz="3000" b="1">
                <a:solidFill>
                  <a:srgbClr val="FFFFFF"/>
                </a:solidFill>
                <a:latin typeface="Arial"/>
              </a:defRPr>
            </a:pPr>
            <a:r>
              <a:t>Потребность в инвестициях</a:t>
            </a:r>
          </a:p>
        </p:txBody>
      </p:sp>
      <p:sp>
        <p:nvSpPr>
          <p:cNvPr id="4" name="TextBox 3"/>
          <p:cNvSpPr txBox="1"/>
          <p:nvPr/>
        </p:nvSpPr>
        <p:spPr>
          <a:xfrm>
            <a:off x="658368" y="1161288"/>
            <a:ext cx="10881360" cy="329184"/>
          </a:xfrm>
          <a:prstGeom prst="rect">
            <a:avLst/>
          </a:prstGeom>
          <a:noFill/>
        </p:spPr>
        <p:txBody>
          <a:bodyPr wrap="square" lIns="13716" rIns="13716" tIns="0" bIns="0">
            <a:spAutoFit/>
          </a:bodyPr>
          <a:lstStyle/>
          <a:p>
            <a:pPr>
              <a:spcBef>
                <a:spcPts val="0"/>
              </a:spcBef>
              <a:spcAft>
                <a:spcPts val="500"/>
              </a:spcAft>
              <a:defRPr sz="1500" b="0">
                <a:solidFill>
                  <a:srgbClr val="C8F26B"/>
                </a:solidFill>
                <a:latin typeface="Arial"/>
              </a:defRPr>
            </a:pPr>
            <a:r>
              <a:t>[ДОПУЩЕНИЕ] Бюджет до коммерческих предложений  •  [РАСЧЕТ] Сумма потребности</a:t>
            </a:r>
          </a:p>
        </p:txBody>
      </p:sp>
      <p:sp>
        <p:nvSpPr>
          <p:cNvPr id="5" name="TextBox 4"/>
          <p:cNvSpPr txBox="1"/>
          <p:nvPr/>
        </p:nvSpPr>
        <p:spPr>
          <a:xfrm>
            <a:off x="502920" y="6510528"/>
            <a:ext cx="10058400" cy="210312"/>
          </a:xfrm>
          <a:prstGeom prst="rect">
            <a:avLst/>
          </a:prstGeom>
          <a:noFill/>
        </p:spPr>
        <p:txBody>
          <a:bodyPr wrap="square" lIns="13716" rIns="13716" tIns="0" bIns="0">
            <a:spAutoFit/>
          </a:bodyPr>
          <a:lstStyle/>
          <a:p>
            <a:pPr>
              <a:spcBef>
                <a:spcPts val="0"/>
              </a:spcBef>
              <a:spcAft>
                <a:spcPts val="500"/>
              </a:spcAft>
              <a:defRPr sz="1000" b="0">
                <a:solidFill>
                  <a:srgbClr val="AFC5B8"/>
                </a:solidFill>
                <a:latin typeface="Arial"/>
              </a:defRPr>
            </a:pPr>
            <a:r>
              <a:t>АГРОВЕКТОР / инвестиционная гипотеза / 2027–2031 / редакция 20.10.2026</a:t>
            </a:r>
          </a:p>
        </p:txBody>
      </p:sp>
      <p:sp>
        <p:nvSpPr>
          <p:cNvPr id="6" name="TextBox 5"/>
          <p:cNvSpPr txBox="1"/>
          <p:nvPr/>
        </p:nvSpPr>
        <p:spPr>
          <a:xfrm>
            <a:off x="11018520" y="6483096"/>
            <a:ext cx="731520" cy="256032"/>
          </a:xfrm>
          <a:prstGeom prst="rect">
            <a:avLst/>
          </a:prstGeom>
          <a:noFill/>
        </p:spPr>
        <p:txBody>
          <a:bodyPr wrap="square" lIns="13716" rIns="13716" tIns="0" bIns="0">
            <a:spAutoFit/>
          </a:bodyPr>
          <a:lstStyle/>
          <a:p>
            <a:pPr>
              <a:spcBef>
                <a:spcPts val="0"/>
              </a:spcBef>
              <a:spcAft>
                <a:spcPts val="500"/>
              </a:spcAft>
              <a:defRPr sz="1100" b="1">
                <a:solidFill>
                  <a:srgbClr val="C8F26B"/>
                </a:solidFill>
                <a:latin typeface="Arial"/>
              </a:defRPr>
            </a:pPr>
            <a:r>
              <a:t>19 / 22</a:t>
            </a:r>
          </a:p>
        </p:txBody>
      </p:sp>
      <p:graphicFrame>
        <p:nvGraphicFramePr>
          <p:cNvPr id="7" name="Table 6"/>
          <p:cNvGraphicFramePr>
            <a:graphicFrameLocks noGrp="1"/>
          </p:cNvGraphicFramePr>
          <p:nvPr/>
        </p:nvGraphicFramePr>
        <p:xfrm>
          <a:off x="502920" y="1737360"/>
          <a:ext cx="6583680" cy="3584448"/>
        </p:xfrm>
        <a:graphic>
          <a:graphicData uri="http://schemas.openxmlformats.org/drawingml/2006/table">
            <a:tbl>
              <a:tblPr firstRow="1" bandRow="1">
                <a:tableStyleId>{5C22544A-7EE6-4342-B048-85BDC9FD1C3A}</a:tableStyleId>
              </a:tblPr>
              <a:tblGrid>
                <a:gridCol w="5029200"/>
                <a:gridCol w="1554480"/>
              </a:tblGrid>
              <a:tr h="512064">
                <a:tc>
                  <a:txBody>
                    <a:bodyPr/>
                    <a:lstStyle/>
                    <a:p>
                      <a:pPr>
                        <a:spcAft>
                          <a:spcPts val="0"/>
                        </a:spcAft>
                        <a:defRPr sz="1700" b="1">
                          <a:solidFill>
                            <a:srgbClr val="FFFFFF"/>
                          </a:solidFill>
                          <a:latin typeface="Arial"/>
                        </a:defRPr>
                      </a:pPr>
                      <a:r>
                        <a:t>CAPEX</a:t>
                      </a:r>
                    </a:p>
                  </a:txBody>
                  <a:tcPr marL="91440" marR="91440" marT="45720" marB="45720">
                    <a:solidFill>
                      <a:srgbClr val="164C38"/>
                    </a:solidFill>
                  </a:tcPr>
                </a:tc>
                <a:tc>
                  <a:txBody>
                    <a:bodyPr/>
                    <a:lstStyle/>
                    <a:p>
                      <a:pPr>
                        <a:spcAft>
                          <a:spcPts val="0"/>
                        </a:spcAft>
                        <a:defRPr sz="1700" b="1">
                          <a:solidFill>
                            <a:srgbClr val="FFFFFF"/>
                          </a:solidFill>
                          <a:latin typeface="Arial"/>
                        </a:defRPr>
                      </a:pPr>
                      <a:r>
                        <a:t>млн ₽</a:t>
                      </a:r>
                    </a:p>
                  </a:txBody>
                  <a:tcPr marL="91440" marR="91440" marT="45720" marB="45720">
                    <a:solidFill>
                      <a:srgbClr val="164C38"/>
                    </a:solidFill>
                  </a:tcPr>
                </a:tc>
              </a:tr>
              <a:tr h="512064">
                <a:tc>
                  <a:txBody>
                    <a:bodyPr/>
                    <a:lstStyle/>
                    <a:p>
                      <a:pPr>
                        <a:spcAft>
                          <a:spcPts val="0"/>
                        </a:spcAft>
                        <a:defRPr sz="1700" b="0">
                          <a:solidFill>
                            <a:srgbClr val="092A20"/>
                          </a:solidFill>
                          <a:latin typeface="Arial"/>
                        </a:defRPr>
                      </a:pPr>
                      <a:r>
                        <a:t>2 агродрона с АКБ / зарядкой</a:t>
                      </a:r>
                    </a:p>
                  </a:txBody>
                  <a:tcPr marL="91440" marR="91440" marT="45720" marB="45720">
                    <a:solidFill>
                      <a:srgbClr val="FFFFFF"/>
                    </a:solidFill>
                  </a:tcPr>
                </a:tc>
                <a:tc>
                  <a:txBody>
                    <a:bodyPr/>
                    <a:lstStyle/>
                    <a:p>
                      <a:pPr>
                        <a:spcAft>
                          <a:spcPts val="0"/>
                        </a:spcAft>
                        <a:defRPr sz="1700" b="0">
                          <a:solidFill>
                            <a:srgbClr val="092A20"/>
                          </a:solidFill>
                          <a:latin typeface="Arial"/>
                        </a:defRPr>
                      </a:pPr>
                      <a:r>
                        <a:t>4,0</a:t>
                      </a:r>
                    </a:p>
                  </a:txBody>
                  <a:tcPr marL="91440" marR="91440" marT="45720" marB="45720">
                    <a:solidFill>
                      <a:srgbClr val="FFFFFF"/>
                    </a:solidFill>
                  </a:tcPr>
                </a:tc>
              </a:tr>
              <a:tr h="512064">
                <a:tc>
                  <a:txBody>
                    <a:bodyPr/>
                    <a:lstStyle/>
                    <a:p>
                      <a:pPr>
                        <a:spcAft>
                          <a:spcPts val="0"/>
                        </a:spcAft>
                        <a:defRPr sz="1700" b="0">
                          <a:solidFill>
                            <a:srgbClr val="092A20"/>
                          </a:solidFill>
                          <a:latin typeface="Arial"/>
                        </a:defRPr>
                      </a:pPr>
                      <a:r>
                        <a:t>Транспорт / прицеп</a:t>
                      </a:r>
                    </a:p>
                  </a:txBody>
                  <a:tcPr marL="91440" marR="91440" marT="45720" marB="45720">
                    <a:solidFill>
                      <a:srgbClr val="EFF4EF"/>
                    </a:solidFill>
                  </a:tcPr>
                </a:tc>
                <a:tc>
                  <a:txBody>
                    <a:bodyPr/>
                    <a:lstStyle/>
                    <a:p>
                      <a:pPr>
                        <a:spcAft>
                          <a:spcPts val="0"/>
                        </a:spcAft>
                        <a:defRPr sz="1700" b="0">
                          <a:solidFill>
                            <a:srgbClr val="092A20"/>
                          </a:solidFill>
                          <a:latin typeface="Arial"/>
                        </a:defRPr>
                      </a:pPr>
                      <a:r>
                        <a:t>1,4</a:t>
                      </a:r>
                    </a:p>
                  </a:txBody>
                  <a:tcPr marL="91440" marR="91440" marT="45720" marB="45720">
                    <a:solidFill>
                      <a:srgbClr val="EFF4EF"/>
                    </a:solidFill>
                  </a:tcPr>
                </a:tc>
              </a:tr>
              <a:tr h="512064">
                <a:tc>
                  <a:txBody>
                    <a:bodyPr/>
                    <a:lstStyle/>
                    <a:p>
                      <a:pPr>
                        <a:spcAft>
                          <a:spcPts val="0"/>
                        </a:spcAft>
                        <a:defRPr sz="1700" b="0">
                          <a:solidFill>
                            <a:srgbClr val="092A20"/>
                          </a:solidFill>
                          <a:latin typeface="Arial"/>
                        </a:defRPr>
                      </a:pPr>
                      <a:r>
                        <a:t>Мониторинговый БВС</a:t>
                      </a:r>
                    </a:p>
                  </a:txBody>
                  <a:tcPr marL="91440" marR="91440" marT="45720" marB="45720">
                    <a:solidFill>
                      <a:srgbClr val="FFFFFF"/>
                    </a:solidFill>
                  </a:tcPr>
                </a:tc>
                <a:tc>
                  <a:txBody>
                    <a:bodyPr/>
                    <a:lstStyle/>
                    <a:p>
                      <a:pPr>
                        <a:spcAft>
                          <a:spcPts val="0"/>
                        </a:spcAft>
                        <a:defRPr sz="1700" b="0">
                          <a:solidFill>
                            <a:srgbClr val="092A20"/>
                          </a:solidFill>
                          <a:latin typeface="Arial"/>
                        </a:defRPr>
                      </a:pPr>
                      <a:r>
                        <a:t>0,6</a:t>
                      </a:r>
                    </a:p>
                  </a:txBody>
                  <a:tcPr marL="91440" marR="91440" marT="45720" marB="45720">
                    <a:solidFill>
                      <a:srgbClr val="FFFFFF"/>
                    </a:solidFill>
                  </a:tcPr>
                </a:tc>
              </a:tr>
              <a:tr h="512064">
                <a:tc>
                  <a:txBody>
                    <a:bodyPr/>
                    <a:lstStyle/>
                    <a:p>
                      <a:pPr>
                        <a:spcAft>
                          <a:spcPts val="0"/>
                        </a:spcAft>
                        <a:defRPr sz="1700" b="0">
                          <a:solidFill>
                            <a:srgbClr val="092A20"/>
                          </a:solidFill>
                          <a:latin typeface="Arial"/>
                        </a:defRPr>
                      </a:pPr>
                      <a:r>
                        <a:t>Подготовка состава / безопасность</a:t>
                      </a:r>
                    </a:p>
                  </a:txBody>
                  <a:tcPr marL="91440" marR="91440" marT="45720" marB="45720">
                    <a:solidFill>
                      <a:srgbClr val="EFF4EF"/>
                    </a:solidFill>
                  </a:tcPr>
                </a:tc>
                <a:tc>
                  <a:txBody>
                    <a:bodyPr/>
                    <a:lstStyle/>
                    <a:p>
                      <a:pPr>
                        <a:spcAft>
                          <a:spcPts val="0"/>
                        </a:spcAft>
                        <a:defRPr sz="1700" b="0">
                          <a:solidFill>
                            <a:srgbClr val="092A20"/>
                          </a:solidFill>
                          <a:latin typeface="Arial"/>
                        </a:defRPr>
                      </a:pPr>
                      <a:r>
                        <a:t>0,4</a:t>
                      </a:r>
                    </a:p>
                  </a:txBody>
                  <a:tcPr marL="91440" marR="91440" marT="45720" marB="45720">
                    <a:solidFill>
                      <a:srgbClr val="EFF4EF"/>
                    </a:solidFill>
                  </a:tcPr>
                </a:tc>
              </a:tr>
              <a:tr h="512064">
                <a:tc>
                  <a:txBody>
                    <a:bodyPr/>
                    <a:lstStyle/>
                    <a:p>
                      <a:pPr>
                        <a:spcAft>
                          <a:spcPts val="0"/>
                        </a:spcAft>
                        <a:defRPr sz="1700" b="0">
                          <a:solidFill>
                            <a:srgbClr val="092A20"/>
                          </a:solidFill>
                          <a:latin typeface="Arial"/>
                        </a:defRPr>
                      </a:pPr>
                      <a:r>
                        <a:t>ИТ</a:t>
                      </a:r>
                    </a:p>
                  </a:txBody>
                  <a:tcPr marL="91440" marR="91440" marT="45720" marB="45720">
                    <a:solidFill>
                      <a:srgbClr val="FFFFFF"/>
                    </a:solidFill>
                  </a:tcPr>
                </a:tc>
                <a:tc>
                  <a:txBody>
                    <a:bodyPr/>
                    <a:lstStyle/>
                    <a:p>
                      <a:pPr>
                        <a:spcAft>
                          <a:spcPts val="0"/>
                        </a:spcAft>
                        <a:defRPr sz="1700" b="0">
                          <a:solidFill>
                            <a:srgbClr val="092A20"/>
                          </a:solidFill>
                          <a:latin typeface="Arial"/>
                        </a:defRPr>
                      </a:pPr>
                      <a:r>
                        <a:t>0,2</a:t>
                      </a:r>
                    </a:p>
                  </a:txBody>
                  <a:tcPr marL="91440" marR="91440" marT="45720" marB="45720">
                    <a:solidFill>
                      <a:srgbClr val="FFFFFF"/>
                    </a:solidFill>
                  </a:tcPr>
                </a:tc>
              </a:tr>
              <a:tr h="512064">
                <a:tc>
                  <a:txBody>
                    <a:bodyPr/>
                    <a:lstStyle/>
                    <a:p>
                      <a:pPr>
                        <a:spcAft>
                          <a:spcPts val="0"/>
                        </a:spcAft>
                        <a:defRPr sz="1700" b="0">
                          <a:solidFill>
                            <a:srgbClr val="092A20"/>
                          </a:solidFill>
                          <a:latin typeface="Arial"/>
                        </a:defRPr>
                      </a:pPr>
                      <a:r>
                        <a:t>Капитальные запчасти</a:t>
                      </a:r>
                    </a:p>
                  </a:txBody>
                  <a:tcPr marL="91440" marR="91440" marT="45720" marB="45720">
                    <a:solidFill>
                      <a:srgbClr val="EFF4EF"/>
                    </a:solidFill>
                  </a:tcPr>
                </a:tc>
                <a:tc>
                  <a:txBody>
                    <a:bodyPr/>
                    <a:lstStyle/>
                    <a:p>
                      <a:pPr>
                        <a:spcAft>
                          <a:spcPts val="0"/>
                        </a:spcAft>
                        <a:defRPr sz="1700" b="0">
                          <a:solidFill>
                            <a:srgbClr val="092A20"/>
                          </a:solidFill>
                          <a:latin typeface="Arial"/>
                        </a:defRPr>
                      </a:pPr>
                      <a:r>
                        <a:t>0,4</a:t>
                      </a:r>
                    </a:p>
                  </a:txBody>
                  <a:tcPr marL="91440" marR="91440" marT="45720" marB="45720">
                    <a:solidFill>
                      <a:srgbClr val="EFF4EF"/>
                    </a:solidFill>
                  </a:tcPr>
                </a:tc>
              </a:tr>
            </a:tbl>
          </a:graphicData>
        </a:graphic>
      </p:graphicFrame>
      <p:sp>
        <p:nvSpPr>
          <p:cNvPr id="8" name="Rounded Rectangle 7"/>
          <p:cNvSpPr/>
          <p:nvPr/>
        </p:nvSpPr>
        <p:spPr>
          <a:xfrm>
            <a:off x="7315200" y="1737360"/>
            <a:ext cx="4370832" cy="1033271"/>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498079" y="1929384"/>
            <a:ext cx="1143000" cy="585216"/>
          </a:xfrm>
          <a:prstGeom prst="rect">
            <a:avLst/>
          </a:prstGeom>
          <a:noFill/>
        </p:spPr>
        <p:txBody>
          <a:bodyPr wrap="square" lIns="13716" rIns="13716" tIns="0" bIns="0">
            <a:spAutoFit/>
          </a:bodyPr>
          <a:lstStyle/>
          <a:p>
            <a:pPr>
              <a:spcBef>
                <a:spcPts val="0"/>
              </a:spcBef>
              <a:spcAft>
                <a:spcPts val="500"/>
              </a:spcAft>
              <a:defRPr sz="3200" b="1">
                <a:solidFill>
                  <a:srgbClr val="164C38"/>
                </a:solidFill>
                <a:latin typeface="Arial"/>
              </a:defRPr>
            </a:pPr>
            <a:r>
              <a:t>7,0</a:t>
            </a:r>
          </a:p>
        </p:txBody>
      </p:sp>
      <p:sp>
        <p:nvSpPr>
          <p:cNvPr id="10" name="TextBox 9"/>
          <p:cNvSpPr txBox="1"/>
          <p:nvPr/>
        </p:nvSpPr>
        <p:spPr>
          <a:xfrm>
            <a:off x="8796528" y="2002536"/>
            <a:ext cx="2697480" cy="585216"/>
          </a:xfrm>
          <a:prstGeom prst="rect">
            <a:avLst/>
          </a:prstGeom>
          <a:noFill/>
        </p:spPr>
        <p:txBody>
          <a:bodyPr wrap="square" lIns="13716" rIns="13716" tIns="0" bIns="0">
            <a:spAutoFit/>
          </a:bodyPr>
          <a:lstStyle/>
          <a:p>
            <a:pPr>
              <a:spcBef>
                <a:spcPts val="0"/>
              </a:spcBef>
              <a:spcAft>
                <a:spcPts val="500"/>
              </a:spcAft>
              <a:defRPr sz="1900" b="0">
                <a:solidFill>
                  <a:srgbClr val="164C38"/>
                </a:solidFill>
                <a:latin typeface="Arial"/>
              </a:defRPr>
            </a:pPr>
            <a:r>
              <a:t>CAPEX</a:t>
            </a:r>
          </a:p>
        </p:txBody>
      </p:sp>
      <p:sp>
        <p:nvSpPr>
          <p:cNvPr id="11" name="Rounded Rectangle 10"/>
          <p:cNvSpPr/>
          <p:nvPr/>
        </p:nvSpPr>
        <p:spPr>
          <a:xfrm>
            <a:off x="7315200" y="2953512"/>
            <a:ext cx="4370832" cy="1033271"/>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498079" y="3145536"/>
            <a:ext cx="1143000" cy="585216"/>
          </a:xfrm>
          <a:prstGeom prst="rect">
            <a:avLst/>
          </a:prstGeom>
          <a:noFill/>
        </p:spPr>
        <p:txBody>
          <a:bodyPr wrap="square" lIns="13716" rIns="13716" tIns="0" bIns="0">
            <a:spAutoFit/>
          </a:bodyPr>
          <a:lstStyle/>
          <a:p>
            <a:pPr>
              <a:spcBef>
                <a:spcPts val="0"/>
              </a:spcBef>
              <a:spcAft>
                <a:spcPts val="500"/>
              </a:spcAft>
              <a:defRPr sz="3200" b="1">
                <a:solidFill>
                  <a:srgbClr val="164C38"/>
                </a:solidFill>
                <a:latin typeface="Arial"/>
              </a:defRPr>
            </a:pPr>
            <a:r>
              <a:t>0,5</a:t>
            </a:r>
          </a:p>
        </p:txBody>
      </p:sp>
      <p:sp>
        <p:nvSpPr>
          <p:cNvPr id="13" name="TextBox 12"/>
          <p:cNvSpPr txBox="1"/>
          <p:nvPr/>
        </p:nvSpPr>
        <p:spPr>
          <a:xfrm>
            <a:off x="8796528" y="3218688"/>
            <a:ext cx="2697480" cy="585216"/>
          </a:xfrm>
          <a:prstGeom prst="rect">
            <a:avLst/>
          </a:prstGeom>
          <a:noFill/>
        </p:spPr>
        <p:txBody>
          <a:bodyPr wrap="square" lIns="13716" rIns="13716" tIns="0" bIns="0">
            <a:spAutoFit/>
          </a:bodyPr>
          <a:lstStyle/>
          <a:p>
            <a:pPr>
              <a:spcBef>
                <a:spcPts val="0"/>
              </a:spcBef>
              <a:spcAft>
                <a:spcPts val="500"/>
              </a:spcAft>
              <a:defRPr sz="1900" b="0">
                <a:solidFill>
                  <a:srgbClr val="164C38"/>
                </a:solidFill>
                <a:latin typeface="Arial"/>
              </a:defRPr>
            </a:pPr>
            <a:r>
              <a:t>Стартовые расходы</a:t>
            </a:r>
          </a:p>
        </p:txBody>
      </p:sp>
      <p:sp>
        <p:nvSpPr>
          <p:cNvPr id="14" name="Rounded Rectangle 13"/>
          <p:cNvSpPr/>
          <p:nvPr/>
        </p:nvSpPr>
        <p:spPr>
          <a:xfrm>
            <a:off x="7315200" y="4169664"/>
            <a:ext cx="4370832" cy="1033271"/>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498079" y="4361688"/>
            <a:ext cx="1143000" cy="585216"/>
          </a:xfrm>
          <a:prstGeom prst="rect">
            <a:avLst/>
          </a:prstGeom>
          <a:noFill/>
        </p:spPr>
        <p:txBody>
          <a:bodyPr wrap="square" lIns="13716" rIns="13716" tIns="0" bIns="0">
            <a:spAutoFit/>
          </a:bodyPr>
          <a:lstStyle/>
          <a:p>
            <a:pPr>
              <a:spcBef>
                <a:spcPts val="0"/>
              </a:spcBef>
              <a:spcAft>
                <a:spcPts val="500"/>
              </a:spcAft>
              <a:defRPr sz="3200" b="1">
                <a:solidFill>
                  <a:srgbClr val="164C38"/>
                </a:solidFill>
                <a:latin typeface="Arial"/>
              </a:defRPr>
            </a:pPr>
            <a:r>
              <a:t>2,0</a:t>
            </a:r>
          </a:p>
        </p:txBody>
      </p:sp>
      <p:sp>
        <p:nvSpPr>
          <p:cNvPr id="16" name="TextBox 15"/>
          <p:cNvSpPr txBox="1"/>
          <p:nvPr/>
        </p:nvSpPr>
        <p:spPr>
          <a:xfrm>
            <a:off x="8796528" y="4434840"/>
            <a:ext cx="2697480" cy="585216"/>
          </a:xfrm>
          <a:prstGeom prst="rect">
            <a:avLst/>
          </a:prstGeom>
          <a:noFill/>
        </p:spPr>
        <p:txBody>
          <a:bodyPr wrap="square" lIns="13716" rIns="13716" tIns="0" bIns="0">
            <a:spAutoFit/>
          </a:bodyPr>
          <a:lstStyle/>
          <a:p>
            <a:pPr>
              <a:spcBef>
                <a:spcPts val="0"/>
              </a:spcBef>
              <a:spcAft>
                <a:spcPts val="500"/>
              </a:spcAft>
              <a:defRPr sz="1900" b="0">
                <a:solidFill>
                  <a:srgbClr val="164C38"/>
                </a:solidFill>
                <a:latin typeface="Arial"/>
              </a:defRPr>
            </a:pPr>
            <a:r>
              <a:t>Оборотный резерв</a:t>
            </a:r>
          </a:p>
        </p:txBody>
      </p:sp>
      <p:sp>
        <p:nvSpPr>
          <p:cNvPr id="17" name="Rounded Rectangle 16"/>
          <p:cNvSpPr/>
          <p:nvPr/>
        </p:nvSpPr>
        <p:spPr>
          <a:xfrm>
            <a:off x="502920" y="5733288"/>
            <a:ext cx="11183112" cy="448056"/>
          </a:xfrm>
          <a:prstGeom prst="roundRect">
            <a:avLst>
              <a:gd name="adj" fmla="val 8000"/>
            </a:avLst>
          </a:prstGeom>
          <a:solidFill>
            <a:srgbClr val="C8F2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58368" y="5815583"/>
            <a:ext cx="10881360" cy="320040"/>
          </a:xfrm>
          <a:prstGeom prst="rect">
            <a:avLst/>
          </a:prstGeom>
          <a:noFill/>
        </p:spPr>
        <p:txBody>
          <a:bodyPr wrap="square" lIns="13716" rIns="13716" tIns="0" bIns="0">
            <a:spAutoFit/>
          </a:bodyPr>
          <a:lstStyle/>
          <a:p>
            <a:pPr>
              <a:spcBef>
                <a:spcPts val="0"/>
              </a:spcBef>
              <a:spcAft>
                <a:spcPts val="500"/>
              </a:spcAft>
              <a:defRPr sz="1600" b="1">
                <a:solidFill>
                  <a:srgbClr val="092A20"/>
                </a:solidFill>
                <a:latin typeface="Arial"/>
              </a:defRPr>
            </a:pPr>
            <a:r>
              <a:t>Итого 9,5 млн ₽. Резерв — ликвидность, не повторный расход и не бюджет расширения</a:t>
            </a:r>
          </a:p>
        </p:txBody>
      </p:sp>
      <p:sp>
        <p:nvSpPr>
          <p:cNvPr id="19" name="TextBox 18"/>
          <p:cNvSpPr txBox="1"/>
          <p:nvPr/>
        </p:nvSpPr>
        <p:spPr>
          <a:xfrm>
            <a:off x="594360" y="5349240"/>
            <a:ext cx="10972800" cy="347472"/>
          </a:xfrm>
          <a:prstGeom prst="rect">
            <a:avLst/>
          </a:prstGeom>
          <a:noFill/>
        </p:spPr>
        <p:txBody>
          <a:bodyPr wrap="square" lIns="13716" rIns="13716" tIns="0" bIns="0">
            <a:spAutoFit/>
          </a:bodyPr>
          <a:lstStyle/>
          <a:p>
            <a:pPr>
              <a:spcBef>
                <a:spcPts val="0"/>
              </a:spcBef>
              <a:spcAft>
                <a:spcPts val="500"/>
              </a:spcAft>
              <a:defRPr sz="1500" b="0">
                <a:solidFill>
                  <a:srgbClr val="FFFFFF"/>
                </a:solidFill>
                <a:latin typeface="Arial"/>
              </a:defRPr>
            </a:pPr>
            <a:r>
              <a:t>Пара XAG P100 Pro: ориентир 5,98 млн ₽ вместо лимита 4,0; финансирование 11,48 млн ₽.</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092A20"/>
        </a:solidFill>
        <a:effectLst/>
      </p:bgPr>
    </p:bg>
    <p:spTree>
      <p:nvGrpSpPr>
        <p:cNvPr id="1" name=""/>
        <p:cNvGrpSpPr/>
        <p:nvPr/>
      </p:nvGrpSpPr>
      <p:grpSpPr/>
      <p:sp>
        <p:nvSpPr>
          <p:cNvPr id="2" name="Rectangle 1"/>
          <p:cNvSpPr/>
          <p:nvPr/>
        </p:nvSpPr>
        <p:spPr>
          <a:xfrm>
            <a:off x="411480" y="393192"/>
            <a:ext cx="91440" cy="448056"/>
          </a:xfrm>
          <a:prstGeom prst="rect">
            <a:avLst/>
          </a:prstGeom>
          <a:solidFill>
            <a:srgbClr val="C8F2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58368" y="356616"/>
            <a:ext cx="10835640" cy="886968"/>
          </a:xfrm>
          <a:prstGeom prst="rect">
            <a:avLst/>
          </a:prstGeom>
          <a:noFill/>
        </p:spPr>
        <p:txBody>
          <a:bodyPr wrap="square" lIns="13716" rIns="13716" tIns="0" bIns="0">
            <a:spAutoFit/>
          </a:bodyPr>
          <a:lstStyle/>
          <a:p>
            <a:pPr>
              <a:spcBef>
                <a:spcPts val="0"/>
              </a:spcBef>
              <a:spcAft>
                <a:spcPts val="500"/>
              </a:spcAft>
              <a:defRPr sz="3000" b="1">
                <a:solidFill>
                  <a:srgbClr val="FFFFFF"/>
                </a:solidFill>
                <a:latin typeface="Arial"/>
              </a:defRPr>
            </a:pPr>
            <a:r>
              <a:t>Структура источников инвестиций</a:t>
            </a:r>
          </a:p>
        </p:txBody>
      </p:sp>
      <p:sp>
        <p:nvSpPr>
          <p:cNvPr id="4" name="TextBox 3"/>
          <p:cNvSpPr txBox="1"/>
          <p:nvPr/>
        </p:nvSpPr>
        <p:spPr>
          <a:xfrm>
            <a:off x="658368" y="1161288"/>
            <a:ext cx="10881360" cy="329184"/>
          </a:xfrm>
          <a:prstGeom prst="rect">
            <a:avLst/>
          </a:prstGeom>
          <a:noFill/>
        </p:spPr>
        <p:txBody>
          <a:bodyPr wrap="square" lIns="13716" rIns="13716" tIns="0" bIns="0">
            <a:spAutoFit/>
          </a:bodyPr>
          <a:lstStyle/>
          <a:p>
            <a:pPr>
              <a:spcBef>
                <a:spcPts val="0"/>
              </a:spcBef>
              <a:spcAft>
                <a:spcPts val="500"/>
              </a:spcAft>
              <a:defRPr sz="1500" b="0">
                <a:solidFill>
                  <a:srgbClr val="C8F26B"/>
                </a:solidFill>
                <a:latin typeface="Arial"/>
              </a:defRPr>
            </a:pPr>
            <a:r>
              <a:t>[ДОПУЩЕНИЕ]</a:t>
            </a:r>
          </a:p>
        </p:txBody>
      </p:sp>
      <p:sp>
        <p:nvSpPr>
          <p:cNvPr id="5" name="TextBox 4"/>
          <p:cNvSpPr txBox="1"/>
          <p:nvPr/>
        </p:nvSpPr>
        <p:spPr>
          <a:xfrm>
            <a:off x="502920" y="6510528"/>
            <a:ext cx="10058400" cy="210312"/>
          </a:xfrm>
          <a:prstGeom prst="rect">
            <a:avLst/>
          </a:prstGeom>
          <a:noFill/>
        </p:spPr>
        <p:txBody>
          <a:bodyPr wrap="square" lIns="13716" rIns="13716" tIns="0" bIns="0">
            <a:spAutoFit/>
          </a:bodyPr>
          <a:lstStyle/>
          <a:p>
            <a:pPr>
              <a:spcBef>
                <a:spcPts val="0"/>
              </a:spcBef>
              <a:spcAft>
                <a:spcPts val="500"/>
              </a:spcAft>
              <a:defRPr sz="1000" b="0">
                <a:solidFill>
                  <a:srgbClr val="AFC5B8"/>
                </a:solidFill>
                <a:latin typeface="Arial"/>
              </a:defRPr>
            </a:pPr>
            <a:r>
              <a:t>АГРОВЕКТОР / инвестиционная гипотеза / 2027–2031 / редакция 20.10.2026</a:t>
            </a:r>
          </a:p>
        </p:txBody>
      </p:sp>
      <p:sp>
        <p:nvSpPr>
          <p:cNvPr id="6" name="TextBox 5"/>
          <p:cNvSpPr txBox="1"/>
          <p:nvPr/>
        </p:nvSpPr>
        <p:spPr>
          <a:xfrm>
            <a:off x="11018520" y="6483096"/>
            <a:ext cx="731520" cy="256032"/>
          </a:xfrm>
          <a:prstGeom prst="rect">
            <a:avLst/>
          </a:prstGeom>
          <a:noFill/>
        </p:spPr>
        <p:txBody>
          <a:bodyPr wrap="square" lIns="13716" rIns="13716" tIns="0" bIns="0">
            <a:spAutoFit/>
          </a:bodyPr>
          <a:lstStyle/>
          <a:p>
            <a:pPr>
              <a:spcBef>
                <a:spcPts val="0"/>
              </a:spcBef>
              <a:spcAft>
                <a:spcPts val="500"/>
              </a:spcAft>
              <a:defRPr sz="1100" b="1">
                <a:solidFill>
                  <a:srgbClr val="C8F26B"/>
                </a:solidFill>
                <a:latin typeface="Arial"/>
              </a:defRPr>
            </a:pPr>
            <a:r>
              <a:t>20 / 22</a:t>
            </a:r>
          </a:p>
        </p:txBody>
      </p:sp>
      <p:sp>
        <p:nvSpPr>
          <p:cNvPr id="7" name="Rounded Rectangle 6"/>
          <p:cNvSpPr/>
          <p:nvPr/>
        </p:nvSpPr>
        <p:spPr>
          <a:xfrm>
            <a:off x="502920" y="1737360"/>
            <a:ext cx="5477256" cy="3264408"/>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685800" y="1920240"/>
            <a:ext cx="347472" cy="54864"/>
          </a:xfrm>
          <a:prstGeom prst="rect">
            <a:avLst/>
          </a:prstGeom>
          <a:solidFill>
            <a:srgbClr val="C8F2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04088" y="2093976"/>
            <a:ext cx="5074920" cy="658368"/>
          </a:xfrm>
          <a:prstGeom prst="rect">
            <a:avLst/>
          </a:prstGeom>
          <a:noFill/>
        </p:spPr>
        <p:txBody>
          <a:bodyPr wrap="square" lIns="13716" rIns="13716" tIns="0" bIns="0">
            <a:spAutoFit/>
          </a:bodyPr>
          <a:lstStyle/>
          <a:p>
            <a:pPr>
              <a:spcBef>
                <a:spcPts val="0"/>
              </a:spcBef>
              <a:spcAft>
                <a:spcPts val="500"/>
              </a:spcAft>
              <a:defRPr sz="3500" b="1">
                <a:solidFill>
                  <a:srgbClr val="164C38"/>
                </a:solidFill>
                <a:latin typeface="Arial"/>
              </a:defRPr>
            </a:pPr>
            <a:r>
              <a:t>2,5</a:t>
            </a:r>
          </a:p>
        </p:txBody>
      </p:sp>
      <p:sp>
        <p:nvSpPr>
          <p:cNvPr id="10" name="TextBox 9"/>
          <p:cNvSpPr txBox="1"/>
          <p:nvPr/>
        </p:nvSpPr>
        <p:spPr>
          <a:xfrm>
            <a:off x="704088" y="2825496"/>
            <a:ext cx="5074920" cy="585216"/>
          </a:xfrm>
          <a:prstGeom prst="rect">
            <a:avLst/>
          </a:prstGeom>
          <a:noFill/>
        </p:spPr>
        <p:txBody>
          <a:bodyPr wrap="square" lIns="13716" rIns="13716" tIns="0" bIns="0">
            <a:spAutoFit/>
          </a:bodyPr>
          <a:lstStyle/>
          <a:p>
            <a:pPr>
              <a:spcBef>
                <a:spcPts val="0"/>
              </a:spcBef>
              <a:spcAft>
                <a:spcPts val="500"/>
              </a:spcAft>
              <a:defRPr sz="2000" b="1">
                <a:solidFill>
                  <a:srgbClr val="164C38"/>
                </a:solidFill>
                <a:latin typeface="Arial"/>
              </a:defRPr>
            </a:pPr>
            <a:r>
              <a:t>млн ₽ / учредитель</a:t>
            </a:r>
          </a:p>
        </p:txBody>
      </p:sp>
      <p:sp>
        <p:nvSpPr>
          <p:cNvPr id="11" name="TextBox 10"/>
          <p:cNvSpPr txBox="1"/>
          <p:nvPr/>
        </p:nvSpPr>
        <p:spPr>
          <a:xfrm>
            <a:off x="704088" y="3429000"/>
            <a:ext cx="5074920" cy="1499616"/>
          </a:xfrm>
          <a:prstGeom prst="rect">
            <a:avLst/>
          </a:prstGeom>
          <a:noFill/>
        </p:spPr>
        <p:txBody>
          <a:bodyPr wrap="square" lIns="13716" rIns="13716" tIns="0" bIns="0">
            <a:spAutoFit/>
          </a:bodyPr>
          <a:lstStyle/>
          <a:p>
            <a:pPr>
              <a:spcBef>
                <a:spcPts val="0"/>
              </a:spcBef>
              <a:spcAft>
                <a:spcPts val="500"/>
              </a:spcAft>
              <a:defRPr sz="2000" b="0">
                <a:solidFill>
                  <a:srgbClr val="092A20"/>
                </a:solidFill>
                <a:latin typeface="Arial"/>
              </a:defRPr>
            </a:pPr>
            <a:r>
              <a:t>Подтвердить наличие денег</a:t>
            </a:r>
          </a:p>
          <a:p>
            <a:pPr>
              <a:spcBef>
                <a:spcPts val="0"/>
              </a:spcBef>
              <a:spcAft>
                <a:spcPts val="500"/>
              </a:spcAft>
              <a:defRPr sz="2000" b="0">
                <a:solidFill>
                  <a:srgbClr val="092A20"/>
                </a:solidFill>
                <a:latin typeface="Arial"/>
              </a:defRPr>
            </a:pPr>
            <a:r>
              <a:t>и оформить вклад</a:t>
            </a:r>
          </a:p>
        </p:txBody>
      </p:sp>
      <p:sp>
        <p:nvSpPr>
          <p:cNvPr id="12" name="Rounded Rectangle 11"/>
          <p:cNvSpPr/>
          <p:nvPr/>
        </p:nvSpPr>
        <p:spPr>
          <a:xfrm>
            <a:off x="6208776" y="1737360"/>
            <a:ext cx="5477256" cy="3264408"/>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391656" y="1920240"/>
            <a:ext cx="347472" cy="54864"/>
          </a:xfrm>
          <a:prstGeom prst="rect">
            <a:avLst/>
          </a:prstGeom>
          <a:solidFill>
            <a:srgbClr val="C8F2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409944" y="2093976"/>
            <a:ext cx="5074920" cy="658368"/>
          </a:xfrm>
          <a:prstGeom prst="rect">
            <a:avLst/>
          </a:prstGeom>
          <a:noFill/>
        </p:spPr>
        <p:txBody>
          <a:bodyPr wrap="square" lIns="13716" rIns="13716" tIns="0" bIns="0">
            <a:spAutoFit/>
          </a:bodyPr>
          <a:lstStyle/>
          <a:p>
            <a:pPr>
              <a:spcBef>
                <a:spcPts val="0"/>
              </a:spcBef>
              <a:spcAft>
                <a:spcPts val="500"/>
              </a:spcAft>
              <a:defRPr sz="3500" b="1">
                <a:solidFill>
                  <a:srgbClr val="164C38"/>
                </a:solidFill>
                <a:latin typeface="Arial"/>
              </a:defRPr>
            </a:pPr>
            <a:r>
              <a:t>7,0</a:t>
            </a:r>
          </a:p>
        </p:txBody>
      </p:sp>
      <p:sp>
        <p:nvSpPr>
          <p:cNvPr id="15" name="TextBox 14"/>
          <p:cNvSpPr txBox="1"/>
          <p:nvPr/>
        </p:nvSpPr>
        <p:spPr>
          <a:xfrm>
            <a:off x="6409944" y="2825496"/>
            <a:ext cx="5074920" cy="585216"/>
          </a:xfrm>
          <a:prstGeom prst="rect">
            <a:avLst/>
          </a:prstGeom>
          <a:noFill/>
        </p:spPr>
        <p:txBody>
          <a:bodyPr wrap="square" lIns="13716" rIns="13716" tIns="0" bIns="0">
            <a:spAutoFit/>
          </a:bodyPr>
          <a:lstStyle/>
          <a:p>
            <a:pPr>
              <a:spcBef>
                <a:spcPts val="0"/>
              </a:spcBef>
              <a:spcAft>
                <a:spcPts val="500"/>
              </a:spcAft>
              <a:defRPr sz="2000" b="1">
                <a:solidFill>
                  <a:srgbClr val="164C38"/>
                </a:solidFill>
                <a:latin typeface="Arial"/>
              </a:defRPr>
            </a:pPr>
            <a:r>
              <a:t>млн ₽ / внешний инвестор</a:t>
            </a:r>
          </a:p>
        </p:txBody>
      </p:sp>
      <p:sp>
        <p:nvSpPr>
          <p:cNvPr id="16" name="TextBox 15"/>
          <p:cNvSpPr txBox="1"/>
          <p:nvPr/>
        </p:nvSpPr>
        <p:spPr>
          <a:xfrm>
            <a:off x="6409944" y="3429000"/>
            <a:ext cx="5074920" cy="1499616"/>
          </a:xfrm>
          <a:prstGeom prst="rect">
            <a:avLst/>
          </a:prstGeom>
          <a:noFill/>
        </p:spPr>
        <p:txBody>
          <a:bodyPr wrap="square" lIns="13716" rIns="13716" tIns="0" bIns="0">
            <a:spAutoFit/>
          </a:bodyPr>
          <a:lstStyle/>
          <a:p>
            <a:pPr>
              <a:spcBef>
                <a:spcPts val="0"/>
              </a:spcBef>
              <a:spcAft>
                <a:spcPts val="500"/>
              </a:spcAft>
              <a:defRPr sz="2000" b="0">
                <a:solidFill>
                  <a:srgbClr val="092A20"/>
                </a:solidFill>
                <a:latin typeface="Arial"/>
              </a:defRPr>
            </a:pPr>
            <a:r>
              <a:t>Долевое финансирование</a:t>
            </a:r>
          </a:p>
          <a:p>
            <a:pPr>
              <a:spcBef>
                <a:spcPts val="0"/>
              </a:spcBef>
              <a:spcAft>
                <a:spcPts val="500"/>
              </a:spcAft>
              <a:defRPr sz="2000" b="0">
                <a:solidFill>
                  <a:srgbClr val="092A20"/>
                </a:solidFill>
                <a:latin typeface="Arial"/>
              </a:defRPr>
            </a:pPr>
            <a:r>
              <a:t>после проверки условий</a:t>
            </a:r>
          </a:p>
        </p:txBody>
      </p:sp>
      <p:sp>
        <p:nvSpPr>
          <p:cNvPr id="17" name="TextBox 16"/>
          <p:cNvSpPr txBox="1"/>
          <p:nvPr/>
        </p:nvSpPr>
        <p:spPr>
          <a:xfrm>
            <a:off x="594360" y="5175504"/>
            <a:ext cx="10972800" cy="758952"/>
          </a:xfrm>
          <a:prstGeom prst="rect">
            <a:avLst/>
          </a:prstGeom>
          <a:noFill/>
        </p:spPr>
        <p:txBody>
          <a:bodyPr wrap="square" lIns="13716" rIns="13716" tIns="0" bIns="0">
            <a:spAutoFit/>
          </a:bodyPr>
          <a:lstStyle/>
          <a:p>
            <a:pPr>
              <a:spcBef>
                <a:spcPts val="0"/>
              </a:spcBef>
              <a:spcAft>
                <a:spcPts val="500"/>
              </a:spcAft>
              <a:defRPr sz="1600" b="0">
                <a:solidFill>
                  <a:srgbClr val="FFFFFF"/>
                </a:solidFill>
                <a:latin typeface="Arial"/>
              </a:defRPr>
            </a:pPr>
            <a:r>
              <a:t>База: 2,5 + 7,0 = 9,5 млн ₽; деньги не подтверждены.</a:t>
            </a:r>
          </a:p>
          <a:p>
            <a:pPr>
              <a:spcBef>
                <a:spcPts val="0"/>
              </a:spcBef>
              <a:spcAft>
                <a:spcPts val="500"/>
              </a:spcAft>
              <a:defRPr sz="1600" b="0">
                <a:solidFill>
                  <a:srgbClr val="FFFFFF"/>
                </a:solidFill>
                <a:latin typeface="Arial"/>
              </a:defRPr>
            </a:pPr>
            <a:r>
              <a:t>Закупочный стресс: внешний вклад 8,98 млн ₽; нужно еще 1,98 млн ₽.</a:t>
            </a:r>
          </a:p>
          <a:p>
            <a:pPr>
              <a:spcBef>
                <a:spcPts val="0"/>
              </a:spcBef>
              <a:spcAft>
                <a:spcPts val="500"/>
              </a:spcAft>
              <a:defRPr sz="1600" b="0">
                <a:solidFill>
                  <a:srgbClr val="FFFFFF"/>
                </a:solidFill>
                <a:latin typeface="Arial"/>
              </a:defRPr>
            </a:pPr>
            <a:r>
              <a:t>Долг и гранты исключены; доля инвестора определяется отдельно.</a:t>
            </a:r>
          </a:p>
        </p:txBody>
      </p:sp>
      <p:sp>
        <p:nvSpPr>
          <p:cNvPr id="18" name="Rounded Rectangle 17"/>
          <p:cNvSpPr/>
          <p:nvPr/>
        </p:nvSpPr>
        <p:spPr>
          <a:xfrm>
            <a:off x="502920" y="6044184"/>
            <a:ext cx="11183112" cy="448056"/>
          </a:xfrm>
          <a:prstGeom prst="roundRect">
            <a:avLst>
              <a:gd name="adj" fmla="val 8000"/>
            </a:avLst>
          </a:prstGeom>
          <a:solidFill>
            <a:srgbClr val="C8F2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58368" y="6126480"/>
            <a:ext cx="10881360" cy="320040"/>
          </a:xfrm>
          <a:prstGeom prst="rect">
            <a:avLst/>
          </a:prstGeom>
          <a:noFill/>
        </p:spPr>
        <p:txBody>
          <a:bodyPr wrap="square" lIns="13716" rIns="13716" tIns="0" bIns="0">
            <a:spAutoFit/>
          </a:bodyPr>
          <a:lstStyle/>
          <a:p>
            <a:pPr>
              <a:spcBef>
                <a:spcPts val="0"/>
              </a:spcBef>
              <a:spcAft>
                <a:spcPts val="500"/>
              </a:spcAft>
              <a:defRPr sz="1600" b="1">
                <a:solidFill>
                  <a:srgbClr val="092A20"/>
                </a:solidFill>
                <a:latin typeface="Arial"/>
              </a:defRPr>
            </a:pPr>
            <a:r>
              <a:t>Это суммы источников, НЕ доли в капитале. Крупные закупки — только после инвестиционного gate</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092A20"/>
        </a:solidFill>
        <a:effectLst/>
      </p:bgPr>
    </p:bg>
    <p:spTree>
      <p:nvGrpSpPr>
        <p:cNvPr id="1" name=""/>
        <p:cNvGrpSpPr/>
        <p:nvPr/>
      </p:nvGrpSpPr>
      <p:grpSpPr/>
      <p:sp>
        <p:nvSpPr>
          <p:cNvPr id="2" name="Rectangle 1"/>
          <p:cNvSpPr/>
          <p:nvPr/>
        </p:nvSpPr>
        <p:spPr>
          <a:xfrm>
            <a:off x="411480" y="393192"/>
            <a:ext cx="91440" cy="448056"/>
          </a:xfrm>
          <a:prstGeom prst="rect">
            <a:avLst/>
          </a:prstGeom>
          <a:solidFill>
            <a:srgbClr val="C8F2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58368" y="356616"/>
            <a:ext cx="10835640" cy="886968"/>
          </a:xfrm>
          <a:prstGeom prst="rect">
            <a:avLst/>
          </a:prstGeom>
          <a:noFill/>
        </p:spPr>
        <p:txBody>
          <a:bodyPr wrap="square" lIns="13716" rIns="13716" tIns="0" bIns="0">
            <a:spAutoFit/>
          </a:bodyPr>
          <a:lstStyle/>
          <a:p>
            <a:pPr>
              <a:spcBef>
                <a:spcPts val="0"/>
              </a:spcBef>
              <a:spcAft>
                <a:spcPts val="500"/>
              </a:spcAft>
              <a:defRPr sz="3000" b="1">
                <a:solidFill>
                  <a:srgbClr val="FFFFFF"/>
                </a:solidFill>
                <a:latin typeface="Arial"/>
              </a:defRPr>
            </a:pPr>
            <a:r>
              <a:t>Основные технико-экономические показатели</a:t>
            </a:r>
          </a:p>
        </p:txBody>
      </p:sp>
      <p:sp>
        <p:nvSpPr>
          <p:cNvPr id="4" name="TextBox 3"/>
          <p:cNvSpPr txBox="1"/>
          <p:nvPr/>
        </p:nvSpPr>
        <p:spPr>
          <a:xfrm>
            <a:off x="658368" y="1161288"/>
            <a:ext cx="10881360" cy="329184"/>
          </a:xfrm>
          <a:prstGeom prst="rect">
            <a:avLst/>
          </a:prstGeom>
          <a:noFill/>
        </p:spPr>
        <p:txBody>
          <a:bodyPr wrap="square" lIns="13716" rIns="13716" tIns="0" bIns="0">
            <a:spAutoFit/>
          </a:bodyPr>
          <a:lstStyle/>
          <a:p>
            <a:pPr>
              <a:spcBef>
                <a:spcPts val="0"/>
              </a:spcBef>
              <a:spcAft>
                <a:spcPts val="500"/>
              </a:spcAft>
              <a:defRPr sz="1500" b="0">
                <a:solidFill>
                  <a:srgbClr val="C8F26B"/>
                </a:solidFill>
                <a:latin typeface="Arial"/>
              </a:defRPr>
            </a:pPr>
            <a:r>
              <a:t>[РАСЧЕТ] Финансовые KPI базы  •  [ДОПУЩЕНИЕ] Плановые операционные пороги</a:t>
            </a:r>
          </a:p>
        </p:txBody>
      </p:sp>
      <p:sp>
        <p:nvSpPr>
          <p:cNvPr id="5" name="TextBox 4"/>
          <p:cNvSpPr txBox="1"/>
          <p:nvPr/>
        </p:nvSpPr>
        <p:spPr>
          <a:xfrm>
            <a:off x="502920" y="6510528"/>
            <a:ext cx="10058400" cy="210312"/>
          </a:xfrm>
          <a:prstGeom prst="rect">
            <a:avLst/>
          </a:prstGeom>
          <a:noFill/>
        </p:spPr>
        <p:txBody>
          <a:bodyPr wrap="square" lIns="13716" rIns="13716" tIns="0" bIns="0">
            <a:spAutoFit/>
          </a:bodyPr>
          <a:lstStyle/>
          <a:p>
            <a:pPr>
              <a:spcBef>
                <a:spcPts val="0"/>
              </a:spcBef>
              <a:spcAft>
                <a:spcPts val="500"/>
              </a:spcAft>
              <a:defRPr sz="1000" b="0">
                <a:solidFill>
                  <a:srgbClr val="AFC5B8"/>
                </a:solidFill>
                <a:latin typeface="Arial"/>
              </a:defRPr>
            </a:pPr>
            <a:r>
              <a:t>АГРОВЕКТОР / инвестиционная гипотеза / 2027–2031 / редакция 20.10.2026</a:t>
            </a:r>
          </a:p>
        </p:txBody>
      </p:sp>
      <p:sp>
        <p:nvSpPr>
          <p:cNvPr id="6" name="TextBox 5"/>
          <p:cNvSpPr txBox="1"/>
          <p:nvPr/>
        </p:nvSpPr>
        <p:spPr>
          <a:xfrm>
            <a:off x="11018520" y="6483096"/>
            <a:ext cx="731520" cy="256032"/>
          </a:xfrm>
          <a:prstGeom prst="rect">
            <a:avLst/>
          </a:prstGeom>
          <a:noFill/>
        </p:spPr>
        <p:txBody>
          <a:bodyPr wrap="square" lIns="13716" rIns="13716" tIns="0" bIns="0">
            <a:spAutoFit/>
          </a:bodyPr>
          <a:lstStyle/>
          <a:p>
            <a:pPr>
              <a:spcBef>
                <a:spcPts val="0"/>
              </a:spcBef>
              <a:spcAft>
                <a:spcPts val="500"/>
              </a:spcAft>
              <a:defRPr sz="1100" b="1">
                <a:solidFill>
                  <a:srgbClr val="C8F26B"/>
                </a:solidFill>
                <a:latin typeface="Arial"/>
              </a:defRPr>
            </a:pPr>
            <a:r>
              <a:t>21 / 22</a:t>
            </a:r>
          </a:p>
        </p:txBody>
      </p:sp>
      <p:sp>
        <p:nvSpPr>
          <p:cNvPr id="7" name="Rounded Rectangle 6"/>
          <p:cNvSpPr/>
          <p:nvPr/>
        </p:nvSpPr>
        <p:spPr>
          <a:xfrm>
            <a:off x="502920" y="1719072"/>
            <a:ext cx="3593592" cy="1883664"/>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85800" y="1883664"/>
            <a:ext cx="3227832" cy="530352"/>
          </a:xfrm>
          <a:prstGeom prst="rect">
            <a:avLst/>
          </a:prstGeom>
          <a:noFill/>
        </p:spPr>
        <p:txBody>
          <a:bodyPr wrap="square" lIns="13716" rIns="13716" tIns="0" bIns="0">
            <a:spAutoFit/>
          </a:bodyPr>
          <a:lstStyle/>
          <a:p>
            <a:pPr>
              <a:spcBef>
                <a:spcPts val="0"/>
              </a:spcBef>
              <a:spcAft>
                <a:spcPts val="500"/>
              </a:spcAft>
              <a:defRPr sz="2900" b="1">
                <a:solidFill>
                  <a:srgbClr val="164C38"/>
                </a:solidFill>
                <a:latin typeface="Arial"/>
              </a:defRPr>
            </a:pPr>
            <a:r>
              <a:t>8.80 млн ₽</a:t>
            </a:r>
          </a:p>
        </p:txBody>
      </p:sp>
      <p:sp>
        <p:nvSpPr>
          <p:cNvPr id="9" name="TextBox 8"/>
          <p:cNvSpPr txBox="1"/>
          <p:nvPr/>
        </p:nvSpPr>
        <p:spPr>
          <a:xfrm>
            <a:off x="685800" y="2478024"/>
            <a:ext cx="3227832" cy="393192"/>
          </a:xfrm>
          <a:prstGeom prst="rect">
            <a:avLst/>
          </a:prstGeom>
          <a:noFill/>
        </p:spPr>
        <p:txBody>
          <a:bodyPr wrap="square" lIns="13716" rIns="13716" tIns="0" bIns="0">
            <a:spAutoFit/>
          </a:bodyPr>
          <a:lstStyle/>
          <a:p>
            <a:pPr>
              <a:spcBef>
                <a:spcPts val="0"/>
              </a:spcBef>
              <a:spcAft>
                <a:spcPts val="500"/>
              </a:spcAft>
              <a:defRPr sz="1800" b="1">
                <a:solidFill>
                  <a:srgbClr val="164C38"/>
                </a:solidFill>
                <a:latin typeface="Arial"/>
              </a:defRPr>
            </a:pPr>
            <a:r>
              <a:t>Выручка 2027</a:t>
            </a:r>
          </a:p>
        </p:txBody>
      </p:sp>
      <p:sp>
        <p:nvSpPr>
          <p:cNvPr id="10" name="TextBox 9"/>
          <p:cNvSpPr txBox="1"/>
          <p:nvPr/>
        </p:nvSpPr>
        <p:spPr>
          <a:xfrm>
            <a:off x="685800" y="2962656"/>
            <a:ext cx="3227832" cy="557784"/>
          </a:xfrm>
          <a:prstGeom prst="rect">
            <a:avLst/>
          </a:prstGeom>
          <a:noFill/>
        </p:spPr>
        <p:txBody>
          <a:bodyPr wrap="square" lIns="13716" rIns="13716" tIns="0" bIns="0">
            <a:spAutoFit/>
          </a:bodyPr>
          <a:lstStyle/>
          <a:p>
            <a:pPr>
              <a:spcBef>
                <a:spcPts val="0"/>
              </a:spcBef>
              <a:spcAft>
                <a:spcPts val="500"/>
              </a:spcAft>
              <a:defRPr sz="1600" b="0">
                <a:solidFill>
                  <a:srgbClr val="092A20"/>
                </a:solidFill>
                <a:latin typeface="Arial"/>
              </a:defRPr>
            </a:pPr>
            <a:r>
              <a:t>6 000 га-проходов + 4 000 обследований</a:t>
            </a:r>
          </a:p>
        </p:txBody>
      </p:sp>
      <p:sp>
        <p:nvSpPr>
          <p:cNvPr id="11" name="Rounded Rectangle 10"/>
          <p:cNvSpPr/>
          <p:nvPr/>
        </p:nvSpPr>
        <p:spPr>
          <a:xfrm>
            <a:off x="4297680" y="1719072"/>
            <a:ext cx="3593592" cy="1883664"/>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480560" y="1883664"/>
            <a:ext cx="3227832" cy="530352"/>
          </a:xfrm>
          <a:prstGeom prst="rect">
            <a:avLst/>
          </a:prstGeom>
          <a:noFill/>
        </p:spPr>
        <p:txBody>
          <a:bodyPr wrap="square" lIns="13716" rIns="13716" tIns="0" bIns="0">
            <a:spAutoFit/>
          </a:bodyPr>
          <a:lstStyle/>
          <a:p>
            <a:pPr>
              <a:spcBef>
                <a:spcPts val="0"/>
              </a:spcBef>
              <a:spcAft>
                <a:spcPts val="500"/>
              </a:spcAft>
              <a:defRPr sz="2900" b="1">
                <a:solidFill>
                  <a:srgbClr val="164C38"/>
                </a:solidFill>
                <a:latin typeface="Arial"/>
              </a:defRPr>
            </a:pPr>
            <a:r>
              <a:t>3,1%</a:t>
            </a:r>
          </a:p>
        </p:txBody>
      </p:sp>
      <p:sp>
        <p:nvSpPr>
          <p:cNvPr id="13" name="TextBox 12"/>
          <p:cNvSpPr txBox="1"/>
          <p:nvPr/>
        </p:nvSpPr>
        <p:spPr>
          <a:xfrm>
            <a:off x="4480560" y="2478024"/>
            <a:ext cx="3227832" cy="393192"/>
          </a:xfrm>
          <a:prstGeom prst="rect">
            <a:avLst/>
          </a:prstGeom>
          <a:noFill/>
        </p:spPr>
        <p:txBody>
          <a:bodyPr wrap="square" lIns="13716" rIns="13716" tIns="0" bIns="0">
            <a:spAutoFit/>
          </a:bodyPr>
          <a:lstStyle/>
          <a:p>
            <a:pPr>
              <a:spcBef>
                <a:spcPts val="0"/>
              </a:spcBef>
              <a:spcAft>
                <a:spcPts val="500"/>
              </a:spcAft>
              <a:defRPr sz="1800" b="1">
                <a:solidFill>
                  <a:srgbClr val="164C38"/>
                </a:solidFill>
                <a:latin typeface="Arial"/>
              </a:defRPr>
            </a:pPr>
            <a:r>
              <a:t>Маржа EBITDA 2027</a:t>
            </a:r>
          </a:p>
        </p:txBody>
      </p:sp>
      <p:sp>
        <p:nvSpPr>
          <p:cNvPr id="14" name="TextBox 13"/>
          <p:cNvSpPr txBox="1"/>
          <p:nvPr/>
        </p:nvSpPr>
        <p:spPr>
          <a:xfrm>
            <a:off x="4480560" y="2962656"/>
            <a:ext cx="3227832" cy="557784"/>
          </a:xfrm>
          <a:prstGeom prst="rect">
            <a:avLst/>
          </a:prstGeom>
          <a:noFill/>
        </p:spPr>
        <p:txBody>
          <a:bodyPr wrap="square" lIns="13716" rIns="13716" tIns="0" bIns="0">
            <a:spAutoFit/>
          </a:bodyPr>
          <a:lstStyle/>
          <a:p>
            <a:pPr>
              <a:spcBef>
                <a:spcPts val="0"/>
              </a:spcBef>
              <a:spcAft>
                <a:spcPts val="500"/>
              </a:spcAft>
              <a:defRPr sz="1600" b="0">
                <a:solidFill>
                  <a:srgbClr val="092A20"/>
                </a:solidFill>
                <a:latin typeface="Arial"/>
              </a:defRPr>
            </a:pPr>
            <a:r>
              <a:t>До амортизации и налога УСН</a:t>
            </a:r>
          </a:p>
        </p:txBody>
      </p:sp>
      <p:sp>
        <p:nvSpPr>
          <p:cNvPr id="15" name="Rounded Rectangle 14"/>
          <p:cNvSpPr/>
          <p:nvPr/>
        </p:nvSpPr>
        <p:spPr>
          <a:xfrm>
            <a:off x="8092440" y="1719072"/>
            <a:ext cx="3593592" cy="1883664"/>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275320" y="1883664"/>
            <a:ext cx="3227832" cy="530352"/>
          </a:xfrm>
          <a:prstGeom prst="rect">
            <a:avLst/>
          </a:prstGeom>
          <a:noFill/>
        </p:spPr>
        <p:txBody>
          <a:bodyPr wrap="square" lIns="13716" rIns="13716" tIns="0" bIns="0">
            <a:spAutoFit/>
          </a:bodyPr>
          <a:lstStyle/>
          <a:p>
            <a:pPr>
              <a:spcBef>
                <a:spcPts val="0"/>
              </a:spcBef>
              <a:spcAft>
                <a:spcPts val="500"/>
              </a:spcAft>
              <a:defRPr sz="2900" b="1">
                <a:solidFill>
                  <a:srgbClr val="164C38"/>
                </a:solidFill>
                <a:latin typeface="Arial"/>
              </a:defRPr>
            </a:pPr>
            <a:r>
              <a:t>-0.255 млн ₽</a:t>
            </a:r>
          </a:p>
        </p:txBody>
      </p:sp>
      <p:sp>
        <p:nvSpPr>
          <p:cNvPr id="17" name="TextBox 16"/>
          <p:cNvSpPr txBox="1"/>
          <p:nvPr/>
        </p:nvSpPr>
        <p:spPr>
          <a:xfrm>
            <a:off x="8275320" y="2478024"/>
            <a:ext cx="3227832" cy="393192"/>
          </a:xfrm>
          <a:prstGeom prst="rect">
            <a:avLst/>
          </a:prstGeom>
          <a:noFill/>
        </p:spPr>
        <p:txBody>
          <a:bodyPr wrap="square" lIns="13716" rIns="13716" tIns="0" bIns="0">
            <a:spAutoFit/>
          </a:bodyPr>
          <a:lstStyle/>
          <a:p>
            <a:pPr>
              <a:spcBef>
                <a:spcPts val="0"/>
              </a:spcBef>
              <a:spcAft>
                <a:spcPts val="500"/>
              </a:spcAft>
              <a:defRPr sz="1800" b="1">
                <a:solidFill>
                  <a:srgbClr val="164C38"/>
                </a:solidFill>
                <a:latin typeface="Arial"/>
              </a:defRPr>
            </a:pPr>
            <a:r>
              <a:t>Свободный CF 2027</a:t>
            </a:r>
          </a:p>
        </p:txBody>
      </p:sp>
      <p:sp>
        <p:nvSpPr>
          <p:cNvPr id="18" name="TextBox 17"/>
          <p:cNvSpPr txBox="1"/>
          <p:nvPr/>
        </p:nvSpPr>
        <p:spPr>
          <a:xfrm>
            <a:off x="8275320" y="2962656"/>
            <a:ext cx="3227832" cy="557784"/>
          </a:xfrm>
          <a:prstGeom prst="rect">
            <a:avLst/>
          </a:prstGeom>
          <a:noFill/>
        </p:spPr>
        <p:txBody>
          <a:bodyPr wrap="square" lIns="13716" rIns="13716" tIns="0" bIns="0">
            <a:spAutoFit/>
          </a:bodyPr>
          <a:lstStyle/>
          <a:p>
            <a:pPr>
              <a:spcBef>
                <a:spcPts val="0"/>
              </a:spcBef>
              <a:spcAft>
                <a:spcPts val="500"/>
              </a:spcAft>
              <a:defRPr sz="1600" b="0">
                <a:solidFill>
                  <a:srgbClr val="092A20"/>
                </a:solidFill>
                <a:latin typeface="Arial"/>
              </a:defRPr>
            </a:pPr>
            <a:r>
              <a:t>После налога; до выплат инвесторам</a:t>
            </a:r>
          </a:p>
        </p:txBody>
      </p:sp>
      <p:sp>
        <p:nvSpPr>
          <p:cNvPr id="19" name="Rounded Rectangle 18"/>
          <p:cNvSpPr/>
          <p:nvPr/>
        </p:nvSpPr>
        <p:spPr>
          <a:xfrm>
            <a:off x="502920" y="3776472"/>
            <a:ext cx="3593592" cy="1883664"/>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85800" y="3941063"/>
            <a:ext cx="3227832" cy="530352"/>
          </a:xfrm>
          <a:prstGeom prst="rect">
            <a:avLst/>
          </a:prstGeom>
          <a:noFill/>
        </p:spPr>
        <p:txBody>
          <a:bodyPr wrap="square" lIns="13716" rIns="13716" tIns="0" bIns="0">
            <a:spAutoFit/>
          </a:bodyPr>
          <a:lstStyle/>
          <a:p>
            <a:pPr>
              <a:spcBef>
                <a:spcPts val="0"/>
              </a:spcBef>
              <a:spcAft>
                <a:spcPts val="500"/>
              </a:spcAft>
              <a:defRPr sz="2900" b="1">
                <a:solidFill>
                  <a:srgbClr val="164C38"/>
                </a:solidFill>
                <a:latin typeface="Arial"/>
              </a:defRPr>
            </a:pPr>
            <a:r>
              <a:t>6 000</a:t>
            </a:r>
          </a:p>
        </p:txBody>
      </p:sp>
      <p:sp>
        <p:nvSpPr>
          <p:cNvPr id="21" name="TextBox 20"/>
          <p:cNvSpPr txBox="1"/>
          <p:nvPr/>
        </p:nvSpPr>
        <p:spPr>
          <a:xfrm>
            <a:off x="685800" y="4535424"/>
            <a:ext cx="3227832" cy="393192"/>
          </a:xfrm>
          <a:prstGeom prst="rect">
            <a:avLst/>
          </a:prstGeom>
          <a:noFill/>
        </p:spPr>
        <p:txBody>
          <a:bodyPr wrap="square" lIns="13716" rIns="13716" tIns="0" bIns="0">
            <a:spAutoFit/>
          </a:bodyPr>
          <a:lstStyle/>
          <a:p>
            <a:pPr>
              <a:spcBef>
                <a:spcPts val="0"/>
              </a:spcBef>
              <a:spcAft>
                <a:spcPts val="500"/>
              </a:spcAft>
              <a:defRPr sz="1800" b="1">
                <a:solidFill>
                  <a:srgbClr val="164C38"/>
                </a:solidFill>
                <a:latin typeface="Arial"/>
              </a:defRPr>
            </a:pPr>
            <a:r>
              <a:t>План га-проходов</a:t>
            </a:r>
          </a:p>
        </p:txBody>
      </p:sp>
      <p:sp>
        <p:nvSpPr>
          <p:cNvPr id="22" name="TextBox 21"/>
          <p:cNvSpPr txBox="1"/>
          <p:nvPr/>
        </p:nvSpPr>
        <p:spPr>
          <a:xfrm>
            <a:off x="685800" y="5020056"/>
            <a:ext cx="3227832" cy="557784"/>
          </a:xfrm>
          <a:prstGeom prst="rect">
            <a:avLst/>
          </a:prstGeom>
          <a:noFill/>
        </p:spPr>
        <p:txBody>
          <a:bodyPr wrap="square" lIns="13716" rIns="13716" tIns="0" bIns="0">
            <a:spAutoFit/>
          </a:bodyPr>
          <a:lstStyle/>
          <a:p>
            <a:pPr>
              <a:spcBef>
                <a:spcPts val="0"/>
              </a:spcBef>
              <a:spcAft>
                <a:spcPts val="500"/>
              </a:spcAft>
              <a:defRPr sz="1600" b="0">
                <a:solidFill>
                  <a:srgbClr val="092A20"/>
                </a:solidFill>
                <a:latin typeface="Arial"/>
              </a:defRPr>
            </a:pPr>
            <a:r>
              <a:t>Объем из финансового сценария</a:t>
            </a:r>
          </a:p>
        </p:txBody>
      </p:sp>
      <p:sp>
        <p:nvSpPr>
          <p:cNvPr id="23" name="Rounded Rectangle 22"/>
          <p:cNvSpPr/>
          <p:nvPr/>
        </p:nvSpPr>
        <p:spPr>
          <a:xfrm>
            <a:off x="4297680" y="3776472"/>
            <a:ext cx="3593592" cy="1883664"/>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4480560" y="3941063"/>
            <a:ext cx="3227832" cy="530352"/>
          </a:xfrm>
          <a:prstGeom prst="rect">
            <a:avLst/>
          </a:prstGeom>
          <a:noFill/>
        </p:spPr>
        <p:txBody>
          <a:bodyPr wrap="square" lIns="13716" rIns="13716" tIns="0" bIns="0">
            <a:spAutoFit/>
          </a:bodyPr>
          <a:lstStyle/>
          <a:p>
            <a:pPr>
              <a:spcBef>
                <a:spcPts val="0"/>
              </a:spcBef>
              <a:spcAft>
                <a:spcPts val="500"/>
              </a:spcAft>
              <a:defRPr sz="2900" b="1">
                <a:solidFill>
                  <a:srgbClr val="164C38"/>
                </a:solidFill>
                <a:latin typeface="Arial"/>
              </a:defRPr>
            </a:pPr>
            <a:r>
              <a:t>10 клиентов</a:t>
            </a:r>
          </a:p>
        </p:txBody>
      </p:sp>
      <p:sp>
        <p:nvSpPr>
          <p:cNvPr id="25" name="TextBox 24"/>
          <p:cNvSpPr txBox="1"/>
          <p:nvPr/>
        </p:nvSpPr>
        <p:spPr>
          <a:xfrm>
            <a:off x="4480560" y="4535424"/>
            <a:ext cx="3227832" cy="393192"/>
          </a:xfrm>
          <a:prstGeom prst="rect">
            <a:avLst/>
          </a:prstGeom>
          <a:noFill/>
        </p:spPr>
        <p:txBody>
          <a:bodyPr wrap="square" lIns="13716" rIns="13716" tIns="0" bIns="0">
            <a:spAutoFit/>
          </a:bodyPr>
          <a:lstStyle/>
          <a:p>
            <a:pPr>
              <a:spcBef>
                <a:spcPts val="0"/>
              </a:spcBef>
              <a:spcAft>
                <a:spcPts val="500"/>
              </a:spcAft>
              <a:defRPr sz="1800" b="1">
                <a:solidFill>
                  <a:srgbClr val="164C38"/>
                </a:solidFill>
                <a:latin typeface="Arial"/>
              </a:defRPr>
            </a:pPr>
            <a:r>
              <a:t>Портфель первого сезона</a:t>
            </a:r>
          </a:p>
        </p:txBody>
      </p:sp>
      <p:sp>
        <p:nvSpPr>
          <p:cNvPr id="26" name="TextBox 25"/>
          <p:cNvSpPr txBox="1"/>
          <p:nvPr/>
        </p:nvSpPr>
        <p:spPr>
          <a:xfrm>
            <a:off x="4480560" y="5020056"/>
            <a:ext cx="3227832" cy="557784"/>
          </a:xfrm>
          <a:prstGeom prst="rect">
            <a:avLst/>
          </a:prstGeom>
          <a:noFill/>
        </p:spPr>
        <p:txBody>
          <a:bodyPr wrap="square" lIns="13716" rIns="13716" tIns="0" bIns="0">
            <a:spAutoFit/>
          </a:bodyPr>
          <a:lstStyle/>
          <a:p>
            <a:pPr>
              <a:spcBef>
                <a:spcPts val="0"/>
              </a:spcBef>
              <a:spcAft>
                <a:spcPts val="500"/>
              </a:spcAft>
              <a:defRPr sz="1600" b="0">
                <a:solidFill>
                  <a:srgbClr val="092A20"/>
                </a:solidFill>
                <a:latin typeface="Arial"/>
              </a:defRPr>
            </a:pPr>
            <a:r>
              <a:t>Договоры; календарь; актирование</a:t>
            </a:r>
          </a:p>
        </p:txBody>
      </p:sp>
      <p:sp>
        <p:nvSpPr>
          <p:cNvPr id="27" name="Rounded Rectangle 26"/>
          <p:cNvSpPr/>
          <p:nvPr/>
        </p:nvSpPr>
        <p:spPr>
          <a:xfrm>
            <a:off x="8092440" y="3776472"/>
            <a:ext cx="3593592" cy="1883664"/>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8275320" y="3941063"/>
            <a:ext cx="3227832" cy="530352"/>
          </a:xfrm>
          <a:prstGeom prst="rect">
            <a:avLst/>
          </a:prstGeom>
          <a:noFill/>
        </p:spPr>
        <p:txBody>
          <a:bodyPr wrap="square" lIns="13716" rIns="13716" tIns="0" bIns="0">
            <a:spAutoFit/>
          </a:bodyPr>
          <a:lstStyle/>
          <a:p>
            <a:pPr>
              <a:spcBef>
                <a:spcPts val="0"/>
              </a:spcBef>
              <a:spcAft>
                <a:spcPts val="500"/>
              </a:spcAft>
              <a:defRPr sz="2900" b="1">
                <a:solidFill>
                  <a:srgbClr val="164C38"/>
                </a:solidFill>
                <a:latin typeface="Arial"/>
              </a:defRPr>
            </a:pPr>
            <a:r>
              <a:t>0 работ</a:t>
            </a:r>
          </a:p>
        </p:txBody>
      </p:sp>
      <p:sp>
        <p:nvSpPr>
          <p:cNvPr id="29" name="TextBox 28"/>
          <p:cNvSpPr txBox="1"/>
          <p:nvPr/>
        </p:nvSpPr>
        <p:spPr>
          <a:xfrm>
            <a:off x="8275320" y="4535424"/>
            <a:ext cx="3227832" cy="393192"/>
          </a:xfrm>
          <a:prstGeom prst="rect">
            <a:avLst/>
          </a:prstGeom>
          <a:noFill/>
        </p:spPr>
        <p:txBody>
          <a:bodyPr wrap="square" lIns="13716" rIns="13716" tIns="0" bIns="0">
            <a:spAutoFit/>
          </a:bodyPr>
          <a:lstStyle/>
          <a:p>
            <a:pPr>
              <a:spcBef>
                <a:spcPts val="0"/>
              </a:spcBef>
              <a:spcAft>
                <a:spcPts val="500"/>
              </a:spcAft>
              <a:defRPr sz="1800" b="1">
                <a:solidFill>
                  <a:srgbClr val="164C38"/>
                </a:solidFill>
                <a:latin typeface="Arial"/>
              </a:defRPr>
            </a:pPr>
            <a:r>
              <a:t>Без требуемой готовности</a:t>
            </a:r>
          </a:p>
        </p:txBody>
      </p:sp>
      <p:sp>
        <p:nvSpPr>
          <p:cNvPr id="30" name="TextBox 29"/>
          <p:cNvSpPr txBox="1"/>
          <p:nvPr/>
        </p:nvSpPr>
        <p:spPr>
          <a:xfrm>
            <a:off x="8275320" y="5020056"/>
            <a:ext cx="3227832" cy="557784"/>
          </a:xfrm>
          <a:prstGeom prst="rect">
            <a:avLst/>
          </a:prstGeom>
          <a:noFill/>
        </p:spPr>
        <p:txBody>
          <a:bodyPr wrap="square" lIns="13716" rIns="13716" tIns="0" bIns="0">
            <a:spAutoFit/>
          </a:bodyPr>
          <a:lstStyle/>
          <a:p>
            <a:pPr>
              <a:spcBef>
                <a:spcPts val="0"/>
              </a:spcBef>
              <a:spcAft>
                <a:spcPts val="500"/>
              </a:spcAft>
              <a:defRPr sz="1600" b="0">
                <a:solidFill>
                  <a:srgbClr val="092A20"/>
                </a:solidFill>
                <a:latin typeface="Arial"/>
              </a:defRPr>
            </a:pPr>
            <a:r>
              <a:t>Учитывать также предотвращенные события</a:t>
            </a:r>
          </a:p>
        </p:txBody>
      </p:sp>
      <p:sp>
        <p:nvSpPr>
          <p:cNvPr id="31" name="TextBox 30"/>
          <p:cNvSpPr txBox="1"/>
          <p:nvPr/>
        </p:nvSpPr>
        <p:spPr>
          <a:xfrm>
            <a:off x="594360" y="6044184"/>
            <a:ext cx="10972800" cy="393192"/>
          </a:xfrm>
          <a:prstGeom prst="rect">
            <a:avLst/>
          </a:prstGeom>
          <a:noFill/>
        </p:spPr>
        <p:txBody>
          <a:bodyPr wrap="square" lIns="13716" rIns="13716" tIns="0" bIns="0">
            <a:spAutoFit/>
          </a:bodyPr>
          <a:lstStyle/>
          <a:p>
            <a:pPr>
              <a:spcBef>
                <a:spcPts val="0"/>
              </a:spcBef>
              <a:spcAft>
                <a:spcPts val="500"/>
              </a:spcAft>
              <a:defRPr sz="1600" b="0">
                <a:solidFill>
                  <a:srgbClr val="AFC5B8"/>
                </a:solidFill>
                <a:latin typeface="Arial"/>
              </a:defRPr>
            </a:pPr>
            <a:r>
              <a:t>KPI подтверждаются актами, журналами, банковской выпиской и план-фактом — не презентацией.</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092A20"/>
        </a:solidFill>
        <a:effectLst/>
      </p:bgPr>
    </p:bg>
    <p:spTree>
      <p:nvGrpSpPr>
        <p:cNvPr id="1" name=""/>
        <p:cNvGrpSpPr/>
        <p:nvPr/>
      </p:nvGrpSpPr>
      <p:grpSpPr/>
      <p:sp>
        <p:nvSpPr>
          <p:cNvPr id="2" name="Rectangle 1"/>
          <p:cNvSpPr/>
          <p:nvPr/>
        </p:nvSpPr>
        <p:spPr>
          <a:xfrm>
            <a:off x="411480" y="393192"/>
            <a:ext cx="91440" cy="448056"/>
          </a:xfrm>
          <a:prstGeom prst="rect">
            <a:avLst/>
          </a:prstGeom>
          <a:solidFill>
            <a:srgbClr val="C8F2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58368" y="356616"/>
            <a:ext cx="10835640" cy="886968"/>
          </a:xfrm>
          <a:prstGeom prst="rect">
            <a:avLst/>
          </a:prstGeom>
          <a:noFill/>
        </p:spPr>
        <p:txBody>
          <a:bodyPr wrap="square" lIns="13716" rIns="13716" tIns="0" bIns="0">
            <a:spAutoFit/>
          </a:bodyPr>
          <a:lstStyle/>
          <a:p>
            <a:pPr>
              <a:spcBef>
                <a:spcPts val="0"/>
              </a:spcBef>
              <a:spcAft>
                <a:spcPts val="500"/>
              </a:spcAft>
              <a:defRPr sz="3000" b="1">
                <a:solidFill>
                  <a:srgbClr val="FFFFFF"/>
                </a:solidFill>
                <a:latin typeface="Arial"/>
              </a:defRPr>
            </a:pPr>
            <a:r>
              <a:t>Анализ рисков</a:t>
            </a:r>
          </a:p>
        </p:txBody>
      </p:sp>
      <p:sp>
        <p:nvSpPr>
          <p:cNvPr id="4" name="TextBox 3"/>
          <p:cNvSpPr txBox="1"/>
          <p:nvPr/>
        </p:nvSpPr>
        <p:spPr>
          <a:xfrm>
            <a:off x="658368" y="1161288"/>
            <a:ext cx="10881360" cy="329184"/>
          </a:xfrm>
          <a:prstGeom prst="rect">
            <a:avLst/>
          </a:prstGeom>
          <a:noFill/>
        </p:spPr>
        <p:txBody>
          <a:bodyPr wrap="square" lIns="13716" rIns="13716" tIns="0" bIns="0">
            <a:spAutoFit/>
          </a:bodyPr>
          <a:lstStyle/>
          <a:p>
            <a:pPr>
              <a:spcBef>
                <a:spcPts val="0"/>
              </a:spcBef>
              <a:spcAft>
                <a:spcPts val="500"/>
              </a:spcAft>
              <a:defRPr sz="1500" b="0">
                <a:solidFill>
                  <a:srgbClr val="C8F26B"/>
                </a:solidFill>
                <a:latin typeface="Arial"/>
              </a:defRPr>
            </a:pPr>
            <a:r>
              <a:t>[ДОПУЩЕНИЕ] Риск-рейтинг экспертный; инвестиционное решение условное</a:t>
            </a:r>
          </a:p>
        </p:txBody>
      </p:sp>
      <p:sp>
        <p:nvSpPr>
          <p:cNvPr id="5" name="TextBox 4"/>
          <p:cNvSpPr txBox="1"/>
          <p:nvPr/>
        </p:nvSpPr>
        <p:spPr>
          <a:xfrm>
            <a:off x="502920" y="6510528"/>
            <a:ext cx="10058400" cy="210312"/>
          </a:xfrm>
          <a:prstGeom prst="rect">
            <a:avLst/>
          </a:prstGeom>
          <a:noFill/>
        </p:spPr>
        <p:txBody>
          <a:bodyPr wrap="square" lIns="13716" rIns="13716" tIns="0" bIns="0">
            <a:spAutoFit/>
          </a:bodyPr>
          <a:lstStyle/>
          <a:p>
            <a:pPr>
              <a:spcBef>
                <a:spcPts val="0"/>
              </a:spcBef>
              <a:spcAft>
                <a:spcPts val="500"/>
              </a:spcAft>
              <a:defRPr sz="1000" b="0">
                <a:solidFill>
                  <a:srgbClr val="AFC5B8"/>
                </a:solidFill>
                <a:latin typeface="Arial"/>
              </a:defRPr>
            </a:pPr>
            <a:r>
              <a:t>АГРОВЕКТОР / инвестиционная гипотеза / 2027–2031 / редакция 20.10.2026</a:t>
            </a:r>
          </a:p>
        </p:txBody>
      </p:sp>
      <p:sp>
        <p:nvSpPr>
          <p:cNvPr id="6" name="TextBox 5"/>
          <p:cNvSpPr txBox="1"/>
          <p:nvPr/>
        </p:nvSpPr>
        <p:spPr>
          <a:xfrm>
            <a:off x="11018520" y="6483096"/>
            <a:ext cx="731520" cy="256032"/>
          </a:xfrm>
          <a:prstGeom prst="rect">
            <a:avLst/>
          </a:prstGeom>
          <a:noFill/>
        </p:spPr>
        <p:txBody>
          <a:bodyPr wrap="square" lIns="13716" rIns="13716" tIns="0" bIns="0">
            <a:spAutoFit/>
          </a:bodyPr>
          <a:lstStyle/>
          <a:p>
            <a:pPr>
              <a:spcBef>
                <a:spcPts val="0"/>
              </a:spcBef>
              <a:spcAft>
                <a:spcPts val="500"/>
              </a:spcAft>
              <a:defRPr sz="1100" b="1">
                <a:solidFill>
                  <a:srgbClr val="C8F26B"/>
                </a:solidFill>
                <a:latin typeface="Arial"/>
              </a:defRPr>
            </a:pPr>
            <a:r>
              <a:t>22 / 22</a:t>
            </a:r>
          </a:p>
        </p:txBody>
      </p:sp>
      <p:graphicFrame>
        <p:nvGraphicFramePr>
          <p:cNvPr id="7" name="Table 6"/>
          <p:cNvGraphicFramePr>
            <a:graphicFrameLocks noGrp="1"/>
          </p:cNvGraphicFramePr>
          <p:nvPr/>
        </p:nvGraphicFramePr>
        <p:xfrm>
          <a:off x="502920" y="1728216"/>
          <a:ext cx="6665976" cy="3493008"/>
        </p:xfrm>
        <a:graphic>
          <a:graphicData uri="http://schemas.openxmlformats.org/drawingml/2006/table">
            <a:tbl>
              <a:tblPr firstRow="1" bandRow="1">
                <a:tableStyleId>{5C22544A-7EE6-4342-B048-85BDC9FD1C3A}</a:tableStyleId>
              </a:tblPr>
              <a:tblGrid>
                <a:gridCol w="3337560"/>
                <a:gridCol w="3328416"/>
              </a:tblGrid>
              <a:tr h="582168">
                <a:tc>
                  <a:txBody>
                    <a:bodyPr/>
                    <a:lstStyle/>
                    <a:p>
                      <a:pPr>
                        <a:spcAft>
                          <a:spcPts val="0"/>
                        </a:spcAft>
                        <a:defRPr sz="1700" b="1">
                          <a:solidFill>
                            <a:srgbClr val="FFFFFF"/>
                          </a:solidFill>
                          <a:latin typeface="Arial"/>
                        </a:defRPr>
                      </a:pPr>
                      <a:r>
                        <a:t>Риск / триггер</a:t>
                      </a:r>
                    </a:p>
                  </a:txBody>
                  <a:tcPr marL="91440" marR="91440" marT="45720" marB="45720">
                    <a:solidFill>
                      <a:srgbClr val="164C38"/>
                    </a:solidFill>
                  </a:tcPr>
                </a:tc>
                <a:tc>
                  <a:txBody>
                    <a:bodyPr/>
                    <a:lstStyle/>
                    <a:p>
                      <a:pPr>
                        <a:spcAft>
                          <a:spcPts val="0"/>
                        </a:spcAft>
                        <a:defRPr sz="1700" b="1">
                          <a:solidFill>
                            <a:srgbClr val="FFFFFF"/>
                          </a:solidFill>
                          <a:latin typeface="Arial"/>
                        </a:defRPr>
                      </a:pPr>
                      <a:r>
                        <a:t>Ответ / владелец</a:t>
                      </a:r>
                    </a:p>
                  </a:txBody>
                  <a:tcPr marL="91440" marR="91440" marT="45720" marB="45720">
                    <a:solidFill>
                      <a:srgbClr val="164C38"/>
                    </a:solidFill>
                  </a:tcPr>
                </a:tc>
              </a:tr>
              <a:tr h="582168">
                <a:tc>
                  <a:txBody>
                    <a:bodyPr/>
                    <a:lstStyle/>
                    <a:p>
                      <a:pPr>
                        <a:spcAft>
                          <a:spcPts val="0"/>
                        </a:spcAft>
                        <a:defRPr sz="1700" b="0">
                          <a:solidFill>
                            <a:srgbClr val="092A20"/>
                          </a:solidFill>
                          <a:latin typeface="Arial"/>
                        </a:defRPr>
                      </a:pPr>
                      <a:r>
                        <a:t>Нет правового основания</a:t>
                      </a:r>
                    </a:p>
                  </a:txBody>
                  <a:tcPr marL="91440" marR="91440" marT="45720" marB="45720">
                    <a:solidFill>
                      <a:srgbClr val="FFFFFF"/>
                    </a:solidFill>
                  </a:tcPr>
                </a:tc>
                <a:tc>
                  <a:txBody>
                    <a:bodyPr/>
                    <a:lstStyle/>
                    <a:p>
                      <a:pPr>
                        <a:spcAft>
                          <a:spcPts val="0"/>
                        </a:spcAft>
                        <a:defRPr sz="1700" b="0">
                          <a:solidFill>
                            <a:srgbClr val="092A20"/>
                          </a:solidFill>
                          <a:latin typeface="Arial"/>
                        </a:defRPr>
                      </a:pPr>
                      <a:r>
                        <a:t>NO-GO; директор + юрист</a:t>
                      </a:r>
                    </a:p>
                  </a:txBody>
                  <a:tcPr marL="91440" marR="91440" marT="45720" marB="45720">
                    <a:solidFill>
                      <a:srgbClr val="FFFFFF"/>
                    </a:solidFill>
                  </a:tcPr>
                </a:tc>
              </a:tr>
              <a:tr h="582168">
                <a:tc>
                  <a:txBody>
                    <a:bodyPr/>
                    <a:lstStyle/>
                    <a:p>
                      <a:pPr>
                        <a:spcAft>
                          <a:spcPts val="0"/>
                        </a:spcAft>
                        <a:defRPr sz="1700" b="0">
                          <a:solidFill>
                            <a:srgbClr val="092A20"/>
                          </a:solidFill>
                          <a:latin typeface="Arial"/>
                        </a:defRPr>
                      </a:pPr>
                      <a:r>
                        <a:t>Погода / конфликт окон</a:t>
                      </a:r>
                    </a:p>
                  </a:txBody>
                  <a:tcPr marL="91440" marR="91440" marT="45720" marB="45720">
                    <a:solidFill>
                      <a:srgbClr val="EFF4EF"/>
                    </a:solidFill>
                  </a:tcPr>
                </a:tc>
                <a:tc>
                  <a:txBody>
                    <a:bodyPr/>
                    <a:lstStyle/>
                    <a:p>
                      <a:pPr>
                        <a:spcAft>
                          <a:spcPts val="0"/>
                        </a:spcAft>
                        <a:defRPr sz="1700" b="0">
                          <a:solidFill>
                            <a:srgbClr val="092A20"/>
                          </a:solidFill>
                          <a:latin typeface="Arial"/>
                        </a:defRPr>
                      </a:pPr>
                      <a:r>
                        <a:t>Перепланирование; опер. руководитель</a:t>
                      </a:r>
                    </a:p>
                  </a:txBody>
                  <a:tcPr marL="91440" marR="91440" marT="45720" marB="45720">
                    <a:solidFill>
                      <a:srgbClr val="EFF4EF"/>
                    </a:solidFill>
                  </a:tcPr>
                </a:tc>
              </a:tr>
              <a:tr h="582168">
                <a:tc>
                  <a:txBody>
                    <a:bodyPr/>
                    <a:lstStyle/>
                    <a:p>
                      <a:pPr>
                        <a:spcAft>
                          <a:spcPts val="0"/>
                        </a:spcAft>
                        <a:defRPr sz="1700" b="0">
                          <a:solidFill>
                            <a:srgbClr val="092A20"/>
                          </a:solidFill>
                          <a:latin typeface="Arial"/>
                        </a:defRPr>
                      </a:pPr>
                      <a:r>
                        <a:t>Заказы ниже плана / цена падает</a:t>
                      </a:r>
                    </a:p>
                  </a:txBody>
                  <a:tcPr marL="91440" marR="91440" marT="45720" marB="45720">
                    <a:solidFill>
                      <a:srgbClr val="FFFFFF"/>
                    </a:solidFill>
                  </a:tcPr>
                </a:tc>
                <a:tc>
                  <a:txBody>
                    <a:bodyPr/>
                    <a:lstStyle/>
                    <a:p>
                      <a:pPr>
                        <a:spcAft>
                          <a:spcPts val="0"/>
                        </a:spcAft>
                        <a:defRPr sz="1700" b="0">
                          <a:solidFill>
                            <a:srgbClr val="092A20"/>
                          </a:solidFill>
                          <a:latin typeface="Arial"/>
                        </a:defRPr>
                      </a:pPr>
                      <a:r>
                        <a:t>Пересчет NPV; директор</a:t>
                      </a:r>
                    </a:p>
                  </a:txBody>
                  <a:tcPr marL="91440" marR="91440" marT="45720" marB="45720">
                    <a:solidFill>
                      <a:srgbClr val="FFFFFF"/>
                    </a:solidFill>
                  </a:tcPr>
                </a:tc>
              </a:tr>
              <a:tr h="582168">
                <a:tc>
                  <a:txBody>
                    <a:bodyPr/>
                    <a:lstStyle/>
                    <a:p>
                      <a:pPr>
                        <a:spcAft>
                          <a:spcPts val="0"/>
                        </a:spcAft>
                        <a:defRPr sz="1700" b="0">
                          <a:solidFill>
                            <a:srgbClr val="092A20"/>
                          </a:solidFill>
                          <a:latin typeface="Arial"/>
                        </a:defRPr>
                      </a:pPr>
                      <a:r>
                        <a:t>Поломка / ошибка внесения</a:t>
                      </a:r>
                    </a:p>
                  </a:txBody>
                  <a:tcPr marL="91440" marR="91440" marT="45720" marB="45720">
                    <a:solidFill>
                      <a:srgbClr val="EFF4EF"/>
                    </a:solidFill>
                  </a:tcPr>
                </a:tc>
                <a:tc>
                  <a:txBody>
                    <a:bodyPr/>
                    <a:lstStyle/>
                    <a:p>
                      <a:pPr>
                        <a:spcAft>
                          <a:spcPts val="0"/>
                        </a:spcAft>
                        <a:defRPr sz="1700" b="0">
                          <a:solidFill>
                            <a:srgbClr val="092A20"/>
                          </a:solidFill>
                          <a:latin typeface="Arial"/>
                        </a:defRPr>
                      </a:pPr>
                      <a:r>
                        <a:t>Резерв, SOP, остановка; опер. руководитель</a:t>
                      </a:r>
                    </a:p>
                  </a:txBody>
                  <a:tcPr marL="91440" marR="91440" marT="45720" marB="45720">
                    <a:solidFill>
                      <a:srgbClr val="EFF4EF"/>
                    </a:solidFill>
                  </a:tcPr>
                </a:tc>
              </a:tr>
              <a:tr h="582168">
                <a:tc>
                  <a:txBody>
                    <a:bodyPr/>
                    <a:lstStyle/>
                    <a:p>
                      <a:pPr>
                        <a:spcAft>
                          <a:spcPts val="0"/>
                        </a:spcAft>
                        <a:defRPr sz="1700" b="0">
                          <a:solidFill>
                            <a:srgbClr val="092A20"/>
                          </a:solidFill>
                          <a:latin typeface="Arial"/>
                        </a:defRPr>
                      </a:pPr>
                      <a:r>
                        <a:t>Перегрузка / дефицит ликвидности</a:t>
                      </a:r>
                    </a:p>
                  </a:txBody>
                  <a:tcPr marL="91440" marR="91440" marT="45720" marB="45720">
                    <a:solidFill>
                      <a:srgbClr val="FFFFFF"/>
                    </a:solidFill>
                  </a:tcPr>
                </a:tc>
                <a:tc>
                  <a:txBody>
                    <a:bodyPr/>
                    <a:lstStyle/>
                    <a:p>
                      <a:pPr>
                        <a:spcAft>
                          <a:spcPts val="0"/>
                        </a:spcAft>
                        <a:defRPr sz="1700" b="0">
                          <a:solidFill>
                            <a:srgbClr val="092A20"/>
                          </a:solidFill>
                          <a:latin typeface="Arial"/>
                        </a:defRPr>
                      </a:pPr>
                      <a:r>
                        <a:t>Лимит заказов, кассовый план; директор</a:t>
                      </a:r>
                    </a:p>
                  </a:txBody>
                  <a:tcPr marL="91440" marR="91440" marT="45720" marB="45720">
                    <a:solidFill>
                      <a:srgbClr val="FFFFFF"/>
                    </a:solidFill>
                  </a:tcPr>
                </a:tc>
              </a:tr>
            </a:tbl>
          </a:graphicData>
        </a:graphic>
      </p:graphicFrame>
      <p:sp>
        <p:nvSpPr>
          <p:cNvPr id="8" name="Rounded Rectangle 7"/>
          <p:cNvSpPr/>
          <p:nvPr/>
        </p:nvSpPr>
        <p:spPr>
          <a:xfrm>
            <a:off x="7388352" y="1728216"/>
            <a:ext cx="4297680" cy="3493008"/>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7571231" y="1911095"/>
            <a:ext cx="347472" cy="54864"/>
          </a:xfrm>
          <a:prstGeom prst="rect">
            <a:avLst/>
          </a:prstGeom>
          <a:solidFill>
            <a:srgbClr val="C8F2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589520" y="2112264"/>
            <a:ext cx="3895344" cy="585216"/>
          </a:xfrm>
          <a:prstGeom prst="rect">
            <a:avLst/>
          </a:prstGeom>
          <a:noFill/>
        </p:spPr>
        <p:txBody>
          <a:bodyPr wrap="square" lIns="13716" rIns="13716" tIns="0" bIns="0">
            <a:spAutoFit/>
          </a:bodyPr>
          <a:lstStyle/>
          <a:p>
            <a:pPr>
              <a:spcBef>
                <a:spcPts val="0"/>
              </a:spcBef>
              <a:spcAft>
                <a:spcPts val="500"/>
              </a:spcAft>
              <a:defRPr sz="2000" b="1">
                <a:solidFill>
                  <a:srgbClr val="164C38"/>
                </a:solidFill>
                <a:latin typeface="Arial"/>
              </a:defRPr>
            </a:pPr>
            <a:r>
              <a:t>INVESTMENT GATE</a:t>
            </a:r>
          </a:p>
        </p:txBody>
      </p:sp>
      <p:sp>
        <p:nvSpPr>
          <p:cNvPr id="11" name="TextBox 10"/>
          <p:cNvSpPr txBox="1"/>
          <p:nvPr/>
        </p:nvSpPr>
        <p:spPr>
          <a:xfrm>
            <a:off x="7589520" y="2715768"/>
            <a:ext cx="3895344" cy="2432304"/>
          </a:xfrm>
          <a:prstGeom prst="rect">
            <a:avLst/>
          </a:prstGeom>
          <a:noFill/>
        </p:spPr>
        <p:txBody>
          <a:bodyPr wrap="square" lIns="13716" rIns="13716" tIns="0" bIns="0">
            <a:spAutoFit/>
          </a:bodyPr>
          <a:lstStyle/>
          <a:p>
            <a:pPr>
              <a:spcBef>
                <a:spcPts val="0"/>
              </a:spcBef>
              <a:spcAft>
                <a:spcPts val="500"/>
              </a:spcAft>
              <a:defRPr sz="1800" b="0">
                <a:solidFill>
                  <a:srgbClr val="092A20"/>
                </a:solidFill>
                <a:latin typeface="Arial"/>
              </a:defRPr>
            </a:pPr>
            <a:r>
              <a:t>1  Письменная правовая карта</a:t>
            </a:r>
          </a:p>
          <a:p>
            <a:pPr>
              <a:spcBef>
                <a:spcPts val="0"/>
              </a:spcBef>
              <a:spcAft>
                <a:spcPts val="500"/>
              </a:spcAft>
              <a:defRPr sz="1800" b="0">
                <a:solidFill>
                  <a:srgbClr val="092A20"/>
                </a:solidFill>
                <a:latin typeface="Arial"/>
              </a:defRPr>
            </a:pPr>
            <a:r>
              <a:t>2  Заявки на доступные 6 000 га</a:t>
            </a:r>
          </a:p>
          <a:p>
            <a:pPr>
              <a:spcBef>
                <a:spcPts val="0"/>
              </a:spcBef>
              <a:spcAft>
                <a:spcPts val="500"/>
              </a:spcAft>
              <a:defRPr sz="1800" b="0">
                <a:solidFill>
                  <a:srgbClr val="092A20"/>
                </a:solidFill>
                <a:latin typeface="Arial"/>
              </a:defRPr>
            </a:pPr>
            <a:r>
              <a:t>3  Подтвержденные КП и кадры</a:t>
            </a:r>
          </a:p>
          <a:p>
            <a:pPr>
              <a:spcBef>
                <a:spcPts val="0"/>
              </a:spcBef>
              <a:spcAft>
                <a:spcPts val="500"/>
              </a:spcAft>
              <a:defRPr sz="1800" b="0">
                <a:solidFill>
                  <a:srgbClr val="092A20"/>
                </a:solidFill>
                <a:latin typeface="Arial"/>
              </a:defRPr>
            </a:pPr>
            <a:r>
              <a:t>4  Кассовый план и резерв</a:t>
            </a:r>
          </a:p>
          <a:p>
            <a:pPr>
              <a:spcBef>
                <a:spcPts val="0"/>
              </a:spcBef>
              <a:spcAft>
                <a:spcPts val="500"/>
              </a:spcAft>
              <a:defRPr sz="1800" b="0">
                <a:solidFill>
                  <a:srgbClr val="092A20"/>
                </a:solidFill>
                <a:latin typeface="Arial"/>
              </a:defRPr>
            </a:pPr>
            <a:r>
              <a:t>5  Приемка + апрельский пилот</a:t>
            </a:r>
          </a:p>
        </p:txBody>
      </p:sp>
      <p:sp>
        <p:nvSpPr>
          <p:cNvPr id="12" name="Rounded Rectangle 11"/>
          <p:cNvSpPr/>
          <p:nvPr/>
        </p:nvSpPr>
        <p:spPr>
          <a:xfrm>
            <a:off x="502920" y="5532120"/>
            <a:ext cx="11183112" cy="448056"/>
          </a:xfrm>
          <a:prstGeom prst="roundRect">
            <a:avLst>
              <a:gd name="adj" fmla="val 8000"/>
            </a:avLst>
          </a:prstGeom>
          <a:solidFill>
            <a:srgbClr val="C8F2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58368" y="5614416"/>
            <a:ext cx="10881360" cy="320040"/>
          </a:xfrm>
          <a:prstGeom prst="rect">
            <a:avLst/>
          </a:prstGeom>
          <a:noFill/>
        </p:spPr>
        <p:txBody>
          <a:bodyPr wrap="square" lIns="13716" rIns="13716" tIns="0" bIns="0">
            <a:spAutoFit/>
          </a:bodyPr>
          <a:lstStyle/>
          <a:p>
            <a:pPr>
              <a:spcBef>
                <a:spcPts val="0"/>
              </a:spcBef>
              <a:spcAft>
                <a:spcPts val="500"/>
              </a:spcAft>
              <a:defRPr sz="1600" b="1">
                <a:solidFill>
                  <a:srgbClr val="092A20"/>
                </a:solidFill>
                <a:latin typeface="Arial"/>
              </a:defRPr>
            </a:pPr>
            <a:r>
              <a:t>Нет готовности → отложить капиталоемкий запуск. Мониторинг-only не доказан как прибыльная замена</a:t>
            </a:r>
          </a:p>
        </p:txBody>
      </p:sp>
      <p:sp>
        <p:nvSpPr>
          <p:cNvPr id="14" name="TextBox 13"/>
          <p:cNvSpPr txBox="1"/>
          <p:nvPr/>
        </p:nvSpPr>
        <p:spPr>
          <a:xfrm>
            <a:off x="594360" y="6117336"/>
            <a:ext cx="10972800" cy="329184"/>
          </a:xfrm>
          <a:prstGeom prst="rect">
            <a:avLst/>
          </a:prstGeom>
          <a:noFill/>
        </p:spPr>
        <p:txBody>
          <a:bodyPr wrap="square" lIns="13716" rIns="13716" tIns="0" bIns="0">
            <a:spAutoFit/>
          </a:bodyPr>
          <a:lstStyle/>
          <a:p>
            <a:pPr>
              <a:spcBef>
                <a:spcPts val="0"/>
              </a:spcBef>
              <a:spcAft>
                <a:spcPts val="500"/>
              </a:spcAft>
              <a:defRPr sz="1500" b="0">
                <a:solidFill>
                  <a:srgbClr val="AFC5B8"/>
                </a:solidFill>
                <a:latin typeface="Arial"/>
              </a:defRPr>
            </a:pPr>
            <a:r>
              <a:t>Масштабирование — после фактического сезона, проверки претензий, загрузки и продлений.</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